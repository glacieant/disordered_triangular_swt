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72" r:id="rId4"/>
    <p:sldId id="261" r:id="rId5"/>
    <p:sldId id="262" r:id="rId6"/>
    <p:sldId id="264" r:id="rId7"/>
    <p:sldId id="265" r:id="rId8"/>
    <p:sldId id="266" r:id="rId9"/>
    <p:sldId id="273" r:id="rId10"/>
    <p:sldId id="267" r:id="rId11"/>
    <p:sldId id="268" r:id="rId12"/>
    <p:sldId id="269" r:id="rId13"/>
    <p:sldId id="270" r:id="rId14"/>
    <p:sldId id="274" r:id="rId15"/>
    <p:sldId id="275" r:id="rId16"/>
    <p:sldId id="276" r:id="rId17"/>
    <p:sldId id="277" r:id="rId18"/>
    <p:sldId id="278" r:id="rId19"/>
    <p:sldId id="279" r:id="rId20"/>
    <p:sldId id="28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3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-1">4518 1723,'-2'3</inkml:trace>
  <inkml:trace contextRef="#ctx0" brushRef="#br0" timeOffset="-3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 timeOffset="-11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 timeOffset="-20045.5966">4869 1225,'-1'1,"-14"16</inkml:trace>
  <inkml:trace contextRef="#ctx0" brushRef="#br0" timeOffset="-20047.5966">4851 1245,'-2'3</inkml:trace>
  <inkml:trace contextRef="#ctx0" brushRef="#br0" timeOffset="-20049.5966">4843 1254,'-17'22,"-4"4,4 1,5-3,-2-2,3 2,9-21</inkml:trace>
  <inkml:trace contextRef="#ctx0" brushRef="#br0" timeOffset="-19">4526 1720,'2'-4</inkml:trace>
  <inkml:trace contextRef="#ctx0" brushRef="#br0" timeOffset="-2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 timeOffset="-26">4589 1647,'1'-1</inkml:trace>
  <inkml:trace contextRef="#ctx0" brushRef="#br0" timeOffset="16654.9779">4602 1634,'2'-2</inkml:trace>
  <inkml:trace contextRef="#ctx0" brushRef="#br0" timeOffset="-31">4834 1317,'4'-6,"5"-6</inkml:trace>
  <inkml:trace contextRef="#ctx0" brushRef="#br0" timeOffset="-32">4860 1280,'0'0</inkml:trace>
  <inkml:trace contextRef="#ctx0" brushRef="#br0" timeOffset="-34">4863 1276,'4'-6</inkml:trace>
  <inkml:trace contextRef="#ctx0" brushRef="#br0" timeOffset="1614.2639">4871 1265,'4'-6</inkml:trace>
  <inkml:trace contextRef="#ctx0" brushRef="#br0" timeOffset="1613.2639">4876 1257,'1'-1</inkml:trace>
  <inkml:trace contextRef="#ctx0" brushRef="#br0" timeOffset="-42">4986 1080,'-1'0,"-2"2</inkml:trace>
  <inkml:trace contextRef="#ctx0" brushRef="#br0" timeOffset="-45">4585 1647,'5'-6</inkml:trace>
  <inkml:trace contextRef="#ctx0" brushRef="#br0" timeOffset="-46">4595 1634,'7'-9,"-5"6</inkml:trace>
  <inkml:trace contextRef="#ctx0" brushRef="#br0" timeOffset="-48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 timeOffset="-52">4650 1558,'0'0</inkml:trace>
  <inkml:trace contextRef="#ctx0" brushRef="#br0" timeOffset="-54">4658 1548,'0'-1,"2"-2</inkml:trace>
  <inkml:trace contextRef="#ctx0" brushRef="#br0" timeOffset="-56">4665 1538,'8'-13</inkml:trace>
  <inkml:trace contextRef="#ctx0" brushRef="#br0" timeOffset="-58">4686 1509,'9'-13,"3"-3</inkml:trace>
  <inkml:trace contextRef="#ctx0" brushRef="#br0" timeOffset="-60">4721 1463,'9'-11</inkml:trace>
  <inkml:trace contextRef="#ctx0" brushRef="#br0" timeOffset="-62">4743 1436,'4'-5</inkml:trace>
  <inkml:trace contextRef="#ctx0" brushRef="#br0" timeOffset="-64">4751 1426,'3'-4,"-1"2</inkml:trace>
  <inkml:trace contextRef="#ctx0" brushRef="#br0" timeOffset="-66">4809 1343,'0'0</inkml:trace>
  <inkml:trace contextRef="#ctx0" brushRef="#br0" timeOffset="-68">4822 1320,'6'-11,"5"-12,1 1,0-1,2 1,1 1,1-1,1-1,0 0,-11 15</inkml:trace>
  <inkml:trace contextRef="#ctx0" brushRef="#br0" timeOffset="-70">4955 1112,'4'-6,"-3"5</inkml:trace>
  <inkml:trace contextRef="#ctx0" brushRef="#br0" timeOffset="-72">4963 1101,'4'-5</inkml:trace>
  <inkml:trace contextRef="#ctx0" brushRef="#br0" timeOffset="-74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 timeOffset="-80">4756 1394,'-2'3,"-15"22,0 0,0-1,1-1,-1-1,0-1,2 0,0 1,1-1,-1-1,0 0,10-14</inkml:trace>
  <inkml:trace contextRef="#ctx0" brushRef="#br0" timeOffset="-82">4564 1659,'-16'19,"5"-6</inkml:trace>
  <inkml:trace contextRef="#ctx0" brushRef="#br0" timeOffset="-84">4528 1702,'-9'11,"-1"3</inkml:trace>
  <inkml:trace contextRef="#ctx0" brushRef="#br0" timeOffset="-86">4492 1753,'-7'10</inkml:trace>
  <inkml:trace contextRef="#ctx0" brushRef="#br0" timeOffset="-90">4826 1320,'8'-13,"3"-8,-9 18</inkml:trace>
  <inkml:trace contextRef="#ctx0" brushRef="#br0" timeOffset="-92">4849 1280,'8'-14,"5"-6,-1 1,-6 10</inkml:trace>
  <inkml:trace contextRef="#ctx0" brushRef="#br0" timeOffset="-94">4888 1218,'7'-10,"-5"7</inkml:trace>
  <inkml:trace contextRef="#ctx0" brushRef="#br0" timeOffset="-96">4900 1201,'8'-12,"6"-9,-13 20</inkml:trace>
  <inkml:trace contextRef="#ctx0" brushRef="#br0" timeOffset="-98">4930 1157,'4'-6</inkml:trace>
  <inkml:trace contextRef="#ctx0" brushRef="#br0" timeOffset="-100">4938 1145,'10'-16</inkml:trace>
  <inkml:trace contextRef="#ctx0" brushRef="#br0" timeOffset="-102">4958 1112,'2'-4</inkml:trace>
  <inkml:trace contextRef="#ctx0" brushRef="#br0" timeOffset="-104">4965 1101,'1'-3,"0"1</inkml:trace>
  <inkml:trace contextRef="#ctx0" brushRef="#br0" timeOffset="-106">4975 1082,'5'-9,"1"0</inkml:trace>
  <inkml:trace contextRef="#ctx0" brushRef="#br0" timeOffset="-108">4993 1052,'1'-1</inkml:trace>
  <inkml:trace contextRef="#ctx0" brushRef="#br0" timeOffset="-11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-1">4518 1723,'-2'3</inkml:trace>
  <inkml:trace contextRef="#ctx0" brushRef="#br0" timeOffset="-3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 timeOffset="-11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 timeOffset="-20045.5966">4869 1225,'-1'1,"-14"16</inkml:trace>
  <inkml:trace contextRef="#ctx0" brushRef="#br0" timeOffset="-20047.5966">4851 1245,'-2'3</inkml:trace>
  <inkml:trace contextRef="#ctx0" brushRef="#br0" timeOffset="-20049.5966">4843 1254,'-17'22,"-4"4,4 1,5-3,-2-2,3 2,9-21</inkml:trace>
  <inkml:trace contextRef="#ctx0" brushRef="#br0" timeOffset="-19">4526 1720,'2'-4</inkml:trace>
  <inkml:trace contextRef="#ctx0" brushRef="#br0" timeOffset="-2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 timeOffset="-26">4589 1647,'1'-1</inkml:trace>
  <inkml:trace contextRef="#ctx0" brushRef="#br0" timeOffset="16654.9779">4602 1634,'2'-2</inkml:trace>
  <inkml:trace contextRef="#ctx0" brushRef="#br0" timeOffset="-31">4834 1317,'4'-6,"5"-6</inkml:trace>
  <inkml:trace contextRef="#ctx0" brushRef="#br0" timeOffset="-32">4860 1280,'0'0</inkml:trace>
  <inkml:trace contextRef="#ctx0" brushRef="#br0" timeOffset="-34">4863 1276,'4'-6</inkml:trace>
  <inkml:trace contextRef="#ctx0" brushRef="#br0" timeOffset="1614.2639">4871 1265,'4'-6</inkml:trace>
  <inkml:trace contextRef="#ctx0" brushRef="#br0" timeOffset="1613.2639">4876 1257,'1'-1</inkml:trace>
  <inkml:trace contextRef="#ctx0" brushRef="#br0" timeOffset="-42">4986 1080,'-1'0,"-2"2</inkml:trace>
  <inkml:trace contextRef="#ctx0" brushRef="#br0" timeOffset="-45">4585 1647,'5'-6</inkml:trace>
  <inkml:trace contextRef="#ctx0" brushRef="#br0" timeOffset="-46">4595 1634,'7'-9,"-5"6</inkml:trace>
  <inkml:trace contextRef="#ctx0" brushRef="#br0" timeOffset="-48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 timeOffset="-52">4650 1558,'0'0</inkml:trace>
  <inkml:trace contextRef="#ctx0" brushRef="#br0" timeOffset="-54">4658 1548,'0'-1,"2"-2</inkml:trace>
  <inkml:trace contextRef="#ctx0" brushRef="#br0" timeOffset="-56">4665 1538,'8'-13</inkml:trace>
  <inkml:trace contextRef="#ctx0" brushRef="#br0" timeOffset="-58">4686 1509,'9'-13,"3"-3</inkml:trace>
  <inkml:trace contextRef="#ctx0" brushRef="#br0" timeOffset="-60">4721 1463,'9'-11</inkml:trace>
  <inkml:trace contextRef="#ctx0" brushRef="#br0" timeOffset="-62">4743 1436,'4'-5</inkml:trace>
  <inkml:trace contextRef="#ctx0" brushRef="#br0" timeOffset="-64">4751 1426,'3'-4,"-1"2</inkml:trace>
  <inkml:trace contextRef="#ctx0" brushRef="#br0" timeOffset="-66">4809 1343,'0'0</inkml:trace>
  <inkml:trace contextRef="#ctx0" brushRef="#br0" timeOffset="-68">4822 1320,'6'-11,"5"-12,1 1,0-1,2 1,1 1,1-1,1-1,0 0,-11 15</inkml:trace>
  <inkml:trace contextRef="#ctx0" brushRef="#br0" timeOffset="-70">4955 1112,'4'-6,"-3"5</inkml:trace>
  <inkml:trace contextRef="#ctx0" brushRef="#br0" timeOffset="-72">4963 1101,'4'-5</inkml:trace>
  <inkml:trace contextRef="#ctx0" brushRef="#br0" timeOffset="-74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 timeOffset="-80">4756 1394,'-2'3,"-15"22,0 0,0-1,1-1,-1-1,0-1,2 0,0 1,1-1,-1-1,0 0,10-14</inkml:trace>
  <inkml:trace contextRef="#ctx0" brushRef="#br0" timeOffset="-82">4564 1659,'-16'19,"5"-6</inkml:trace>
  <inkml:trace contextRef="#ctx0" brushRef="#br0" timeOffset="-84">4528 1702,'-9'11,"-1"3</inkml:trace>
  <inkml:trace contextRef="#ctx0" brushRef="#br0" timeOffset="-86">4492 1753,'-7'10</inkml:trace>
  <inkml:trace contextRef="#ctx0" brushRef="#br0" timeOffset="-90">4826 1320,'8'-13,"3"-8,-9 18</inkml:trace>
  <inkml:trace contextRef="#ctx0" brushRef="#br0" timeOffset="-92">4849 1280,'8'-14,"5"-6,-1 1,-6 10</inkml:trace>
  <inkml:trace contextRef="#ctx0" brushRef="#br0" timeOffset="-94">4888 1218,'7'-10,"-5"7</inkml:trace>
  <inkml:trace contextRef="#ctx0" brushRef="#br0" timeOffset="-96">4900 1201,'8'-12,"6"-9,-13 20</inkml:trace>
  <inkml:trace contextRef="#ctx0" brushRef="#br0" timeOffset="-98">4930 1157,'4'-6</inkml:trace>
  <inkml:trace contextRef="#ctx0" brushRef="#br0" timeOffset="-100">4938 1145,'10'-16</inkml:trace>
  <inkml:trace contextRef="#ctx0" brushRef="#br0" timeOffset="-102">4958 1112,'2'-4</inkml:trace>
  <inkml:trace contextRef="#ctx0" brushRef="#br0" timeOffset="-104">4965 1101,'1'-3,"0"1</inkml:trace>
  <inkml:trace contextRef="#ctx0" brushRef="#br0" timeOffset="-106">4975 1082,'5'-9,"1"0</inkml:trace>
  <inkml:trace contextRef="#ctx0" brushRef="#br0" timeOffset="-108">4993 1052,'1'-1</inkml:trace>
  <inkml:trace contextRef="#ctx0" brushRef="#br0" timeOffset="-11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-1">4518 1723,'-2'3</inkml:trace>
  <inkml:trace contextRef="#ctx0" brushRef="#br0" timeOffset="-3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 timeOffset="-11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 timeOffset="-20045.5966">4869 1225,'-1'1,"-14"16</inkml:trace>
  <inkml:trace contextRef="#ctx0" brushRef="#br0" timeOffset="-20047.5966">4851 1245,'-2'3</inkml:trace>
  <inkml:trace contextRef="#ctx0" brushRef="#br0" timeOffset="-20049.5966">4843 1254,'-17'22,"-4"4,4 1,5-3,-2-2,3 2,9-21</inkml:trace>
  <inkml:trace contextRef="#ctx0" brushRef="#br0" timeOffset="-19">4526 1720,'2'-4</inkml:trace>
  <inkml:trace contextRef="#ctx0" brushRef="#br0" timeOffset="-2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 timeOffset="-26">4589 1647,'1'-1</inkml:trace>
  <inkml:trace contextRef="#ctx0" brushRef="#br0" timeOffset="16654.9779">4602 1634,'2'-2</inkml:trace>
  <inkml:trace contextRef="#ctx0" brushRef="#br0" timeOffset="-31">4834 1317,'4'-6,"5"-6</inkml:trace>
  <inkml:trace contextRef="#ctx0" brushRef="#br0" timeOffset="-32">4860 1280,'0'0</inkml:trace>
  <inkml:trace contextRef="#ctx0" brushRef="#br0" timeOffset="-34">4863 1276,'4'-6</inkml:trace>
  <inkml:trace contextRef="#ctx0" brushRef="#br0" timeOffset="1614.2639">4871 1265,'4'-6</inkml:trace>
  <inkml:trace contextRef="#ctx0" brushRef="#br0" timeOffset="1613.2639">4876 1257,'1'-1</inkml:trace>
  <inkml:trace contextRef="#ctx0" brushRef="#br0" timeOffset="-42">4986 1080,'-1'0,"-2"2</inkml:trace>
  <inkml:trace contextRef="#ctx0" brushRef="#br0" timeOffset="-45">4585 1647,'5'-6</inkml:trace>
  <inkml:trace contextRef="#ctx0" brushRef="#br0" timeOffset="-46">4595 1634,'7'-9,"-5"6</inkml:trace>
  <inkml:trace contextRef="#ctx0" brushRef="#br0" timeOffset="-48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 timeOffset="-52">4650 1558,'0'0</inkml:trace>
  <inkml:trace contextRef="#ctx0" brushRef="#br0" timeOffset="-54">4658 1548,'0'-1,"2"-2</inkml:trace>
  <inkml:trace contextRef="#ctx0" brushRef="#br0" timeOffset="-56">4665 1538,'8'-13</inkml:trace>
  <inkml:trace contextRef="#ctx0" brushRef="#br0" timeOffset="-58">4686 1509,'9'-13,"3"-3</inkml:trace>
  <inkml:trace contextRef="#ctx0" brushRef="#br0" timeOffset="-60">4721 1463,'9'-11</inkml:trace>
  <inkml:trace contextRef="#ctx0" brushRef="#br0" timeOffset="-62">4743 1436,'4'-5</inkml:trace>
  <inkml:trace contextRef="#ctx0" brushRef="#br0" timeOffset="-64">4751 1426,'3'-4,"-1"2</inkml:trace>
  <inkml:trace contextRef="#ctx0" brushRef="#br0" timeOffset="-66">4809 1343,'0'0</inkml:trace>
  <inkml:trace contextRef="#ctx0" brushRef="#br0" timeOffset="-68">4822 1320,'6'-11,"5"-12,1 1,0-1,2 1,1 1,1-1,1-1,0 0,-11 15</inkml:trace>
  <inkml:trace contextRef="#ctx0" brushRef="#br0" timeOffset="-70">4955 1112,'4'-6,"-3"5</inkml:trace>
  <inkml:trace contextRef="#ctx0" brushRef="#br0" timeOffset="-72">4963 1101,'4'-5</inkml:trace>
  <inkml:trace contextRef="#ctx0" brushRef="#br0" timeOffset="-74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 timeOffset="-80">4756 1394,'-2'3,"-15"22,0 0,0-1,1-1,-1-1,0-1,2 0,0 1,1-1,-1-1,0 0,10-14</inkml:trace>
  <inkml:trace contextRef="#ctx0" brushRef="#br0" timeOffset="-82">4564 1659,'-16'19,"5"-6</inkml:trace>
  <inkml:trace contextRef="#ctx0" brushRef="#br0" timeOffset="-84">4528 1702,'-9'11,"-1"3</inkml:trace>
  <inkml:trace contextRef="#ctx0" brushRef="#br0" timeOffset="-86">4492 1753,'-7'10</inkml:trace>
  <inkml:trace contextRef="#ctx0" brushRef="#br0" timeOffset="-90">4826 1320,'8'-13,"3"-8,-9 18</inkml:trace>
  <inkml:trace contextRef="#ctx0" brushRef="#br0" timeOffset="-92">4849 1280,'8'-14,"5"-6,-1 1,-6 10</inkml:trace>
  <inkml:trace contextRef="#ctx0" brushRef="#br0" timeOffset="-94">4888 1218,'7'-10,"-5"7</inkml:trace>
  <inkml:trace contextRef="#ctx0" brushRef="#br0" timeOffset="-96">4900 1201,'8'-12,"6"-9,-13 20</inkml:trace>
  <inkml:trace contextRef="#ctx0" brushRef="#br0" timeOffset="-98">4930 1157,'4'-6</inkml:trace>
  <inkml:trace contextRef="#ctx0" brushRef="#br0" timeOffset="-100">4938 1145,'10'-16</inkml:trace>
  <inkml:trace contextRef="#ctx0" brushRef="#br0" timeOffset="-102">4958 1112,'2'-4</inkml:trace>
  <inkml:trace contextRef="#ctx0" brushRef="#br0" timeOffset="-104">4965 1101,'1'-3,"0"1</inkml:trace>
  <inkml:trace contextRef="#ctx0" brushRef="#br0" timeOffset="-106">4975 1082,'5'-9,"1"0</inkml:trace>
  <inkml:trace contextRef="#ctx0" brushRef="#br0" timeOffset="-108">4993 1052,'1'-1</inkml:trace>
  <inkml:trace contextRef="#ctx0" brushRef="#br0" timeOffset="-11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20:17:19.051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20:18:21.800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8-01-01T21:06:22.470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6FAA3-1522-47CE-AE5E-83B08EDDFB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921F06-3EE9-4B26-A276-295DF756D7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6D102-A62D-479E-B867-29308A247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FE8CB-A717-4008-B7A6-8B266DD26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011396-60CB-4D89-BE39-E23D390FE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207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DA403-3E94-4617-A2E1-34CE7C635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E362B-934F-4060-AB42-732603207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71B31-1840-4C25-93F6-179FABDD1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C77E51-954A-4125-950D-B8CCC4C74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FD49BF-D987-4B0E-9262-E7207729F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4240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828EE-AE31-4A28-A890-CFDC5B11E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B32E06-82AB-44F1-9E24-9ED2E60E1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EC13B6-885B-4B78-A7B1-537B8EA90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1439-65AE-4E8A-81FD-74D2B9F63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4D3DD-6C85-4891-8EF2-91840624E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57674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C9FEB-8A68-4F2E-A904-2F861315F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7AE05-5261-4D14-9D1A-08C858CC34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FA557C-6116-4401-96E9-4CC465C869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059F40-EA09-4F32-8FEB-3B145C34B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5EED2F-3273-4CD8-A7E1-11AE8C898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590B97-EE07-4BF1-8301-D1BC071C3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45722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37617-17DC-4F3C-9C5D-897BC026A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CA2678-AC50-41DA-AB8E-6B83C66D1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CC35A4-623D-4752-A1AE-2070E59202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EA2481-0B6F-4B7F-8560-8F1925AFEF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77C0BE-07F2-4157-A646-1DB0F58213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A401D9-F480-47C1-8F73-E070D6B1D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841643-EF07-4CE0-9694-EA2717CD6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E4CF00-4444-4523-806F-545CBAFED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70205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012B7-9800-488D-BA99-B4DF03238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895F6D-7C5D-4006-A87B-349F44FE5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9607D6-D2DB-4C6E-B0FB-E076F247A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4D8E5F-B697-46C5-8228-3A586DD07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97433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72874-26BB-4331-84F8-071BD7D61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C966F2-71E2-4793-8917-465D4A45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B79BC-4A74-432F-B59E-FA4AA2BBF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4948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DDF8B-6807-48E0-B8FC-165161D4B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B1988-54DD-4432-A27F-744CF342E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A27D5B-9AD5-4C38-B91B-965A5CB255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A8AFF9-C2E8-4A42-8618-FF22F2B23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A4815-B5D4-4391-8831-3233C14C3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609176-D43D-45B2-95A7-8DC485EC0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44087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CAA46-8A16-43F5-9CB9-A34FABC99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9B75DB-E0B0-4339-A619-74AEB332D8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E99C73-0D3B-44E9-B11B-58B9B7BEA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5F7543-36CF-455E-9A97-9FF9B7627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ECC21-DDB0-4FFB-8D2B-8C7FEC28C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0AB910-2886-4E19-9C81-191FC437C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174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084CD-1E8C-4A7E-B437-7E442B873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E12E93-6ADF-476D-8363-879360D4B6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34495-0665-4650-BA00-BA04BB501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AA44A-AB8E-4CC5-9C77-1D34F59CA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F3B30-9EEB-4DA6-9A2A-3473F1909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1297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A5D253-0E45-4209-83AA-2CFB0B0438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0C01A5-51A9-4206-AEFF-2E52A31C6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02940-9535-4027-9E9B-846BF6156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B5E2F-6D85-4F02-B0E3-0FF19D94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2145E-5186-41B0-B073-35607700C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58267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3135C8-BB37-45CA-9A36-54FD7FC94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DFCCC3-0F14-4657-A999-0ABE6D16D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5300A-C008-4003-AC71-6CF4CE37C8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77EC4-EC0D-4F28-8F13-53533F30B7B6}" type="datetimeFigureOut">
              <a:rPr lang="LID4096" smtClean="0"/>
              <a:t>01/01/2018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5623A-A12A-4417-AA2E-9B60BB847A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AC9A77-3937-4AF3-96BA-9B9C6A9C92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CF9D4-B403-4ED6-BA34-CB166153BD6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9933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7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customXml" Target="../ink/ink4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customXml" Target="../ink/ink6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.xml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customXml" Target="../ink/ink7.xml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9.png"/><Relationship Id="rId3" Type="http://schemas.openxmlformats.org/officeDocument/2006/relationships/image" Target="../media/image21.png"/><Relationship Id="rId7" Type="http://schemas.openxmlformats.org/officeDocument/2006/relationships/image" Target="../media/image33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22.png"/><Relationship Id="rId9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615095"/>
            <a:ext cx="9440411" cy="2268414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Bond Disorder in Frustrated Non-Collinear Magnets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3" y="3813053"/>
            <a:ext cx="9144000" cy="165576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Santanu Dey</a:t>
            </a:r>
          </a:p>
          <a:p>
            <a:pPr algn="l"/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Technische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Universität Dresden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DC655DA-9C82-4575-97A3-8057E2A71008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9914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Content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140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Quenched disorder: Random fields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Random fields and the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-Ma criterion.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Separate critical dimension for discrete and continuous symmetry.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Quenched disorder: Random couplings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Bond disorder in frustrated non-collinear magnets.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Rigid in-commensurability domains.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 example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Experimental observation from </a:t>
            </a:r>
            <a:r>
              <a:rPr lang="en-US" dirty="0" err="1"/>
              <a:t>Yb</a:t>
            </a:r>
            <a:r>
              <a:rPr lang="en-US" dirty="0"/>
              <a:t> compounds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Disordered triangular lattice Heisenberg antiferromagnet.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143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LID4096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3" y="3813053"/>
            <a:ext cx="9144000" cy="56180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5B3AE-7BD3-414D-8C84-8BAC6069E752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205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A simple picture with </a:t>
                </a:r>
                <a:r>
                  <a:rPr lang="en-US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Ising</a:t>
                </a: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spins: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absence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5" name="Arrow: Up 64">
            <a:extLst>
              <a:ext uri="{FF2B5EF4-FFF2-40B4-BE49-F238E27FC236}">
                <a16:creationId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Arrow: Up 65">
            <a:extLst>
              <a:ext uri="{FF2B5EF4-FFF2-40B4-BE49-F238E27FC236}">
                <a16:creationId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Arrow: Up 66">
            <a:extLst>
              <a:ext uri="{FF2B5EF4-FFF2-40B4-BE49-F238E27FC236}">
                <a16:creationId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Arrow: Up 67">
            <a:extLst>
              <a:ext uri="{FF2B5EF4-FFF2-40B4-BE49-F238E27FC236}">
                <a16:creationId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Arrow: Up 68">
            <a:extLst>
              <a:ext uri="{FF2B5EF4-FFF2-40B4-BE49-F238E27FC236}">
                <a16:creationId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Arrow: Up 69">
            <a:extLst>
              <a:ext uri="{FF2B5EF4-FFF2-40B4-BE49-F238E27FC236}">
                <a16:creationId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1" name="Arrow: Up 70">
            <a:extLst>
              <a:ext uri="{FF2B5EF4-FFF2-40B4-BE49-F238E27FC236}">
                <a16:creationId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2" name="Arrow: Up 71">
            <a:extLst>
              <a:ext uri="{FF2B5EF4-FFF2-40B4-BE49-F238E27FC236}">
                <a16:creationId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Arrow: Up 72">
            <a:extLst>
              <a:ext uri="{FF2B5EF4-FFF2-40B4-BE49-F238E27FC236}">
                <a16:creationId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Arrow: Up 73">
            <a:extLst>
              <a:ext uri="{FF2B5EF4-FFF2-40B4-BE49-F238E27FC236}">
                <a16:creationId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4" name="Arrow: Up 93">
            <a:extLst>
              <a:ext uri="{FF2B5EF4-FFF2-40B4-BE49-F238E27FC236}">
                <a16:creationId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Arrow: Up 94">
            <a:extLst>
              <a:ext uri="{FF2B5EF4-FFF2-40B4-BE49-F238E27FC236}">
                <a16:creationId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Arrow: Up 95">
            <a:extLst>
              <a:ext uri="{FF2B5EF4-FFF2-40B4-BE49-F238E27FC236}">
                <a16:creationId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Arrow: Up 96">
            <a:extLst>
              <a:ext uri="{FF2B5EF4-FFF2-40B4-BE49-F238E27FC236}">
                <a16:creationId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Arrow: Up 97">
            <a:extLst>
              <a:ext uri="{FF2B5EF4-FFF2-40B4-BE49-F238E27FC236}">
                <a16:creationId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Arrow: Up 98">
            <a:extLst>
              <a:ext uri="{FF2B5EF4-FFF2-40B4-BE49-F238E27FC236}">
                <a16:creationId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Arrow: Up 99">
            <a:extLst>
              <a:ext uri="{FF2B5EF4-FFF2-40B4-BE49-F238E27FC236}">
                <a16:creationId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Arrow: Up 100">
            <a:extLst>
              <a:ext uri="{FF2B5EF4-FFF2-40B4-BE49-F238E27FC236}">
                <a16:creationId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2" name="Arrow: Up 101">
            <a:extLst>
              <a:ext uri="{FF2B5EF4-FFF2-40B4-BE49-F238E27FC236}">
                <a16:creationId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3" name="Arrow: Up 102">
            <a:extLst>
              <a:ext uri="{FF2B5EF4-FFF2-40B4-BE49-F238E27FC236}">
                <a16:creationId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4" name="Arrow: Up 103">
            <a:extLst>
              <a:ext uri="{FF2B5EF4-FFF2-40B4-BE49-F238E27FC236}">
                <a16:creationId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Arrow: Up 104">
            <a:extLst>
              <a:ext uri="{FF2B5EF4-FFF2-40B4-BE49-F238E27FC236}">
                <a16:creationId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Arrow: Up 105">
            <a:extLst>
              <a:ext uri="{FF2B5EF4-FFF2-40B4-BE49-F238E27FC236}">
                <a16:creationId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Arrow: Up 107">
            <a:extLst>
              <a:ext uri="{FF2B5EF4-FFF2-40B4-BE49-F238E27FC236}">
                <a16:creationId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Arrow: Up 108">
            <a:extLst>
              <a:ext uri="{FF2B5EF4-FFF2-40B4-BE49-F238E27FC236}">
                <a16:creationId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Arrow: Up 111">
            <a:extLst>
              <a:ext uri="{FF2B5EF4-FFF2-40B4-BE49-F238E27FC236}">
                <a16:creationId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Arrow: Up 112">
            <a:extLst>
              <a:ext uri="{FF2B5EF4-FFF2-40B4-BE49-F238E27FC236}">
                <a16:creationId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4" name="Arrow: Up 113">
            <a:extLst>
              <a:ext uri="{FF2B5EF4-FFF2-40B4-BE49-F238E27FC236}">
                <a16:creationId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5" name="Arrow: Up 114">
            <a:extLst>
              <a:ext uri="{FF2B5EF4-FFF2-40B4-BE49-F238E27FC236}">
                <a16:creationId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6" name="Arrow: Up 115">
            <a:extLst>
              <a:ext uri="{FF2B5EF4-FFF2-40B4-BE49-F238E27FC236}">
                <a16:creationId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7" name="Arrow: Up 116">
            <a:extLst>
              <a:ext uri="{FF2B5EF4-FFF2-40B4-BE49-F238E27FC236}">
                <a16:creationId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8" name="Arrow: Up 117">
            <a:extLst>
              <a:ext uri="{FF2B5EF4-FFF2-40B4-BE49-F238E27FC236}">
                <a16:creationId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Arrow: Up 118">
            <a:extLst>
              <a:ext uri="{FF2B5EF4-FFF2-40B4-BE49-F238E27FC236}">
                <a16:creationId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Arrow: Up 119">
            <a:extLst>
              <a:ext uri="{FF2B5EF4-FFF2-40B4-BE49-F238E27FC236}">
                <a16:creationId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Arrow: Up 121">
            <a:extLst>
              <a:ext uri="{FF2B5EF4-FFF2-40B4-BE49-F238E27FC236}">
                <a16:creationId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Arrow: Up 122">
            <a:extLst>
              <a:ext uri="{FF2B5EF4-FFF2-40B4-BE49-F238E27FC236}">
                <a16:creationId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4" name="Arrow: Up 123">
            <a:extLst>
              <a:ext uri="{FF2B5EF4-FFF2-40B4-BE49-F238E27FC236}">
                <a16:creationId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5" name="Arrow: Up 124">
            <a:extLst>
              <a:ext uri="{FF2B5EF4-FFF2-40B4-BE49-F238E27FC236}">
                <a16:creationId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6" name="Arrow: Up 125">
            <a:extLst>
              <a:ext uri="{FF2B5EF4-FFF2-40B4-BE49-F238E27FC236}">
                <a16:creationId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Arrow: Up 126">
            <a:extLst>
              <a:ext uri="{FF2B5EF4-FFF2-40B4-BE49-F238E27FC236}">
                <a16:creationId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Arrow: Up 127">
            <a:extLst>
              <a:ext uri="{FF2B5EF4-FFF2-40B4-BE49-F238E27FC236}">
                <a16:creationId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9" name="Arrow: Up 128">
            <a:extLst>
              <a:ext uri="{FF2B5EF4-FFF2-40B4-BE49-F238E27FC236}">
                <a16:creationId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Arrow: Up 129">
            <a:extLst>
              <a:ext uri="{FF2B5EF4-FFF2-40B4-BE49-F238E27FC236}">
                <a16:creationId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Arrow: Up 130">
            <a:extLst>
              <a:ext uri="{FF2B5EF4-FFF2-40B4-BE49-F238E27FC236}">
                <a16:creationId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Up 131">
            <a:extLst>
              <a:ext uri="{FF2B5EF4-FFF2-40B4-BE49-F238E27FC236}">
                <a16:creationId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Arrow: Up 132">
            <a:extLst>
              <a:ext uri="{FF2B5EF4-FFF2-40B4-BE49-F238E27FC236}">
                <a16:creationId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4" name="Arrow: Up 133">
            <a:extLst>
              <a:ext uri="{FF2B5EF4-FFF2-40B4-BE49-F238E27FC236}">
                <a16:creationId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5" name="Arrow: Up 134">
            <a:extLst>
              <a:ext uri="{FF2B5EF4-FFF2-40B4-BE49-F238E27FC236}">
                <a16:creationId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6" name="Arrow: Up 135">
            <a:extLst>
              <a:ext uri="{FF2B5EF4-FFF2-40B4-BE49-F238E27FC236}">
                <a16:creationId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Arrow: Striped Right 136">
            <a:extLst>
              <a:ext uri="{FF2B5EF4-FFF2-40B4-BE49-F238E27FC236}">
                <a16:creationId xmlns:a16="http://schemas.microsoft.com/office/drawing/2014/main" id="{EB20183C-82A6-4293-8B99-C5B6F040B72C}"/>
              </a:ext>
            </a:extLst>
          </p:cNvPr>
          <p:cNvSpPr/>
          <p:nvPr/>
        </p:nvSpPr>
        <p:spPr>
          <a:xfrm>
            <a:off x="4969237" y="4981525"/>
            <a:ext cx="2245297" cy="143670"/>
          </a:xfrm>
          <a:prstGeom prst="stripedRightArrow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/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/>
              <p:nvPr/>
            </p:nvSpPr>
            <p:spPr>
              <a:xfrm>
                <a:off x="4951752" y="3957084"/>
                <a:ext cx="21406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752" y="3957084"/>
                <a:ext cx="214068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948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</a:t>
            </a:r>
            <a:r>
              <a:rPr lang="en-US" dirty="0"/>
              <a:t>D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isorder: Random Fields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A simple picture with </a:t>
                </a:r>
                <a:r>
                  <a:rPr lang="en-US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Ising</a:t>
                </a: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spins: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presence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5" name="Arrow: Up 64">
            <a:extLst>
              <a:ext uri="{FF2B5EF4-FFF2-40B4-BE49-F238E27FC236}">
                <a16:creationId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Arrow: Up 65">
            <a:extLst>
              <a:ext uri="{FF2B5EF4-FFF2-40B4-BE49-F238E27FC236}">
                <a16:creationId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Arrow: Up 66">
            <a:extLst>
              <a:ext uri="{FF2B5EF4-FFF2-40B4-BE49-F238E27FC236}">
                <a16:creationId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Arrow: Up 67">
            <a:extLst>
              <a:ext uri="{FF2B5EF4-FFF2-40B4-BE49-F238E27FC236}">
                <a16:creationId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Arrow: Up 68">
            <a:extLst>
              <a:ext uri="{FF2B5EF4-FFF2-40B4-BE49-F238E27FC236}">
                <a16:creationId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Arrow: Up 69">
            <a:extLst>
              <a:ext uri="{FF2B5EF4-FFF2-40B4-BE49-F238E27FC236}">
                <a16:creationId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1" name="Arrow: Up 70">
            <a:extLst>
              <a:ext uri="{FF2B5EF4-FFF2-40B4-BE49-F238E27FC236}">
                <a16:creationId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2" name="Arrow: Up 71">
            <a:extLst>
              <a:ext uri="{FF2B5EF4-FFF2-40B4-BE49-F238E27FC236}">
                <a16:creationId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Arrow: Up 72">
            <a:extLst>
              <a:ext uri="{FF2B5EF4-FFF2-40B4-BE49-F238E27FC236}">
                <a16:creationId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Arrow: Up 73">
            <a:extLst>
              <a:ext uri="{FF2B5EF4-FFF2-40B4-BE49-F238E27FC236}">
                <a16:creationId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4" name="Arrow: Up 93">
            <a:extLst>
              <a:ext uri="{FF2B5EF4-FFF2-40B4-BE49-F238E27FC236}">
                <a16:creationId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Arrow: Up 94">
            <a:extLst>
              <a:ext uri="{FF2B5EF4-FFF2-40B4-BE49-F238E27FC236}">
                <a16:creationId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Arrow: Up 95">
            <a:extLst>
              <a:ext uri="{FF2B5EF4-FFF2-40B4-BE49-F238E27FC236}">
                <a16:creationId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Arrow: Up 96">
            <a:extLst>
              <a:ext uri="{FF2B5EF4-FFF2-40B4-BE49-F238E27FC236}">
                <a16:creationId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Arrow: Up 97">
            <a:extLst>
              <a:ext uri="{FF2B5EF4-FFF2-40B4-BE49-F238E27FC236}">
                <a16:creationId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Arrow: Up 98">
            <a:extLst>
              <a:ext uri="{FF2B5EF4-FFF2-40B4-BE49-F238E27FC236}">
                <a16:creationId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Arrow: Up 99">
            <a:extLst>
              <a:ext uri="{FF2B5EF4-FFF2-40B4-BE49-F238E27FC236}">
                <a16:creationId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Arrow: Up 100">
            <a:extLst>
              <a:ext uri="{FF2B5EF4-FFF2-40B4-BE49-F238E27FC236}">
                <a16:creationId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2" name="Arrow: Up 101">
            <a:extLst>
              <a:ext uri="{FF2B5EF4-FFF2-40B4-BE49-F238E27FC236}">
                <a16:creationId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3" name="Arrow: Up 102">
            <a:extLst>
              <a:ext uri="{FF2B5EF4-FFF2-40B4-BE49-F238E27FC236}">
                <a16:creationId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4" name="Arrow: Up 103">
            <a:extLst>
              <a:ext uri="{FF2B5EF4-FFF2-40B4-BE49-F238E27FC236}">
                <a16:creationId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Arrow: Up 104">
            <a:extLst>
              <a:ext uri="{FF2B5EF4-FFF2-40B4-BE49-F238E27FC236}">
                <a16:creationId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Arrow: Up 105">
            <a:extLst>
              <a:ext uri="{FF2B5EF4-FFF2-40B4-BE49-F238E27FC236}">
                <a16:creationId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Arrow: Up 107">
            <a:extLst>
              <a:ext uri="{FF2B5EF4-FFF2-40B4-BE49-F238E27FC236}">
                <a16:creationId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Arrow: Up 108">
            <a:extLst>
              <a:ext uri="{FF2B5EF4-FFF2-40B4-BE49-F238E27FC236}">
                <a16:creationId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Arrow: Up 111">
            <a:extLst>
              <a:ext uri="{FF2B5EF4-FFF2-40B4-BE49-F238E27FC236}">
                <a16:creationId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Arrow: Up 112">
            <a:extLst>
              <a:ext uri="{FF2B5EF4-FFF2-40B4-BE49-F238E27FC236}">
                <a16:creationId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4" name="Arrow: Up 113">
            <a:extLst>
              <a:ext uri="{FF2B5EF4-FFF2-40B4-BE49-F238E27FC236}">
                <a16:creationId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5" name="Arrow: Up 114">
            <a:extLst>
              <a:ext uri="{FF2B5EF4-FFF2-40B4-BE49-F238E27FC236}">
                <a16:creationId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6" name="Arrow: Up 115">
            <a:extLst>
              <a:ext uri="{FF2B5EF4-FFF2-40B4-BE49-F238E27FC236}">
                <a16:creationId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7" name="Arrow: Up 116">
            <a:extLst>
              <a:ext uri="{FF2B5EF4-FFF2-40B4-BE49-F238E27FC236}">
                <a16:creationId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8" name="Arrow: Up 117">
            <a:extLst>
              <a:ext uri="{FF2B5EF4-FFF2-40B4-BE49-F238E27FC236}">
                <a16:creationId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Arrow: Up 118">
            <a:extLst>
              <a:ext uri="{FF2B5EF4-FFF2-40B4-BE49-F238E27FC236}">
                <a16:creationId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Arrow: Up 119">
            <a:extLst>
              <a:ext uri="{FF2B5EF4-FFF2-40B4-BE49-F238E27FC236}">
                <a16:creationId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Arrow: Up 121">
            <a:extLst>
              <a:ext uri="{FF2B5EF4-FFF2-40B4-BE49-F238E27FC236}">
                <a16:creationId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Arrow: Up 122">
            <a:extLst>
              <a:ext uri="{FF2B5EF4-FFF2-40B4-BE49-F238E27FC236}">
                <a16:creationId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4" name="Arrow: Up 123">
            <a:extLst>
              <a:ext uri="{FF2B5EF4-FFF2-40B4-BE49-F238E27FC236}">
                <a16:creationId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5" name="Arrow: Up 124">
            <a:extLst>
              <a:ext uri="{FF2B5EF4-FFF2-40B4-BE49-F238E27FC236}">
                <a16:creationId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6" name="Arrow: Up 125">
            <a:extLst>
              <a:ext uri="{FF2B5EF4-FFF2-40B4-BE49-F238E27FC236}">
                <a16:creationId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Arrow: Up 126">
            <a:extLst>
              <a:ext uri="{FF2B5EF4-FFF2-40B4-BE49-F238E27FC236}">
                <a16:creationId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Arrow: Up 127">
            <a:extLst>
              <a:ext uri="{FF2B5EF4-FFF2-40B4-BE49-F238E27FC236}">
                <a16:creationId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9" name="Arrow: Up 128">
            <a:extLst>
              <a:ext uri="{FF2B5EF4-FFF2-40B4-BE49-F238E27FC236}">
                <a16:creationId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Arrow: Up 129">
            <a:extLst>
              <a:ext uri="{FF2B5EF4-FFF2-40B4-BE49-F238E27FC236}">
                <a16:creationId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Arrow: Up 130">
            <a:extLst>
              <a:ext uri="{FF2B5EF4-FFF2-40B4-BE49-F238E27FC236}">
                <a16:creationId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Up 131">
            <a:extLst>
              <a:ext uri="{FF2B5EF4-FFF2-40B4-BE49-F238E27FC236}">
                <a16:creationId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Arrow: Up 132">
            <a:extLst>
              <a:ext uri="{FF2B5EF4-FFF2-40B4-BE49-F238E27FC236}">
                <a16:creationId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4" name="Arrow: Up 133">
            <a:extLst>
              <a:ext uri="{FF2B5EF4-FFF2-40B4-BE49-F238E27FC236}">
                <a16:creationId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5" name="Arrow: Up 134">
            <a:extLst>
              <a:ext uri="{FF2B5EF4-FFF2-40B4-BE49-F238E27FC236}">
                <a16:creationId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6" name="Arrow: Up 135">
            <a:extLst>
              <a:ext uri="{FF2B5EF4-FFF2-40B4-BE49-F238E27FC236}">
                <a16:creationId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Arrow: Striped Right 136">
            <a:extLst>
              <a:ext uri="{FF2B5EF4-FFF2-40B4-BE49-F238E27FC236}">
                <a16:creationId xmlns:a16="http://schemas.microsoft.com/office/drawing/2014/main" id="{EB20183C-82A6-4293-8B99-C5B6F040B72C}"/>
              </a:ext>
            </a:extLst>
          </p:cNvPr>
          <p:cNvSpPr/>
          <p:nvPr/>
        </p:nvSpPr>
        <p:spPr>
          <a:xfrm>
            <a:off x="4969237" y="4981525"/>
            <a:ext cx="2245297" cy="143670"/>
          </a:xfrm>
          <a:prstGeom prst="stripedRightArrow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/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/>
              <p:nvPr/>
            </p:nvSpPr>
            <p:spPr>
              <a:xfrm>
                <a:off x="5105944" y="3722759"/>
                <a:ext cx="2140683" cy="604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</m:oMath>
                  </m:oMathPara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endParaRPr lang="LID4096" dirty="0"/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944" y="3722759"/>
                <a:ext cx="2140683" cy="60452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3442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 lnSpcReduction="10000"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A simple picture with </a:t>
                </a:r>
                <a:r>
                  <a:rPr lang="en-US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Ising</a:t>
                </a: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spins: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presence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long range order is destroyed if,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			       ,the critical dimension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for discrete symmetries.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3240" b="-250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5" name="Arrow: Up 64">
            <a:extLst>
              <a:ext uri="{FF2B5EF4-FFF2-40B4-BE49-F238E27FC236}">
                <a16:creationId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Arrow: Up 65">
            <a:extLst>
              <a:ext uri="{FF2B5EF4-FFF2-40B4-BE49-F238E27FC236}">
                <a16:creationId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Arrow: Up 66">
            <a:extLst>
              <a:ext uri="{FF2B5EF4-FFF2-40B4-BE49-F238E27FC236}">
                <a16:creationId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Arrow: Up 67">
            <a:extLst>
              <a:ext uri="{FF2B5EF4-FFF2-40B4-BE49-F238E27FC236}">
                <a16:creationId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Arrow: Up 68">
            <a:extLst>
              <a:ext uri="{FF2B5EF4-FFF2-40B4-BE49-F238E27FC236}">
                <a16:creationId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Arrow: Up 69">
            <a:extLst>
              <a:ext uri="{FF2B5EF4-FFF2-40B4-BE49-F238E27FC236}">
                <a16:creationId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1" name="Arrow: Up 70">
            <a:extLst>
              <a:ext uri="{FF2B5EF4-FFF2-40B4-BE49-F238E27FC236}">
                <a16:creationId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2" name="Arrow: Up 71">
            <a:extLst>
              <a:ext uri="{FF2B5EF4-FFF2-40B4-BE49-F238E27FC236}">
                <a16:creationId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Arrow: Up 72">
            <a:extLst>
              <a:ext uri="{FF2B5EF4-FFF2-40B4-BE49-F238E27FC236}">
                <a16:creationId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Arrow: Up 73">
            <a:extLst>
              <a:ext uri="{FF2B5EF4-FFF2-40B4-BE49-F238E27FC236}">
                <a16:creationId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4" name="Arrow: Up 93">
            <a:extLst>
              <a:ext uri="{FF2B5EF4-FFF2-40B4-BE49-F238E27FC236}">
                <a16:creationId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Arrow: Up 94">
            <a:extLst>
              <a:ext uri="{FF2B5EF4-FFF2-40B4-BE49-F238E27FC236}">
                <a16:creationId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Arrow: Up 95">
            <a:extLst>
              <a:ext uri="{FF2B5EF4-FFF2-40B4-BE49-F238E27FC236}">
                <a16:creationId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Arrow: Up 96">
            <a:extLst>
              <a:ext uri="{FF2B5EF4-FFF2-40B4-BE49-F238E27FC236}">
                <a16:creationId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Arrow: Up 97">
            <a:extLst>
              <a:ext uri="{FF2B5EF4-FFF2-40B4-BE49-F238E27FC236}">
                <a16:creationId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Arrow: Up 98">
            <a:extLst>
              <a:ext uri="{FF2B5EF4-FFF2-40B4-BE49-F238E27FC236}">
                <a16:creationId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Arrow: Up 99">
            <a:extLst>
              <a:ext uri="{FF2B5EF4-FFF2-40B4-BE49-F238E27FC236}">
                <a16:creationId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Arrow: Up 100">
            <a:extLst>
              <a:ext uri="{FF2B5EF4-FFF2-40B4-BE49-F238E27FC236}">
                <a16:creationId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2" name="Arrow: Up 101">
            <a:extLst>
              <a:ext uri="{FF2B5EF4-FFF2-40B4-BE49-F238E27FC236}">
                <a16:creationId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3" name="Arrow: Up 102">
            <a:extLst>
              <a:ext uri="{FF2B5EF4-FFF2-40B4-BE49-F238E27FC236}">
                <a16:creationId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4" name="Arrow: Up 103">
            <a:extLst>
              <a:ext uri="{FF2B5EF4-FFF2-40B4-BE49-F238E27FC236}">
                <a16:creationId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Arrow: Up 104">
            <a:extLst>
              <a:ext uri="{FF2B5EF4-FFF2-40B4-BE49-F238E27FC236}">
                <a16:creationId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Arrow: Up 105">
            <a:extLst>
              <a:ext uri="{FF2B5EF4-FFF2-40B4-BE49-F238E27FC236}">
                <a16:creationId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Arrow: Up 107">
            <a:extLst>
              <a:ext uri="{FF2B5EF4-FFF2-40B4-BE49-F238E27FC236}">
                <a16:creationId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Arrow: Up 108">
            <a:extLst>
              <a:ext uri="{FF2B5EF4-FFF2-40B4-BE49-F238E27FC236}">
                <a16:creationId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Arrow: Up 111">
            <a:extLst>
              <a:ext uri="{FF2B5EF4-FFF2-40B4-BE49-F238E27FC236}">
                <a16:creationId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Arrow: Up 112">
            <a:extLst>
              <a:ext uri="{FF2B5EF4-FFF2-40B4-BE49-F238E27FC236}">
                <a16:creationId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4" name="Arrow: Up 113">
            <a:extLst>
              <a:ext uri="{FF2B5EF4-FFF2-40B4-BE49-F238E27FC236}">
                <a16:creationId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5" name="Arrow: Up 114">
            <a:extLst>
              <a:ext uri="{FF2B5EF4-FFF2-40B4-BE49-F238E27FC236}">
                <a16:creationId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6" name="Arrow: Up 115">
            <a:extLst>
              <a:ext uri="{FF2B5EF4-FFF2-40B4-BE49-F238E27FC236}">
                <a16:creationId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7" name="Arrow: Up 116">
            <a:extLst>
              <a:ext uri="{FF2B5EF4-FFF2-40B4-BE49-F238E27FC236}">
                <a16:creationId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8" name="Arrow: Up 117">
            <a:extLst>
              <a:ext uri="{FF2B5EF4-FFF2-40B4-BE49-F238E27FC236}">
                <a16:creationId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Arrow: Up 118">
            <a:extLst>
              <a:ext uri="{FF2B5EF4-FFF2-40B4-BE49-F238E27FC236}">
                <a16:creationId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Arrow: Up 119">
            <a:extLst>
              <a:ext uri="{FF2B5EF4-FFF2-40B4-BE49-F238E27FC236}">
                <a16:creationId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Arrow: Up 121">
            <a:extLst>
              <a:ext uri="{FF2B5EF4-FFF2-40B4-BE49-F238E27FC236}">
                <a16:creationId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Arrow: Up 122">
            <a:extLst>
              <a:ext uri="{FF2B5EF4-FFF2-40B4-BE49-F238E27FC236}">
                <a16:creationId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4" name="Arrow: Up 123">
            <a:extLst>
              <a:ext uri="{FF2B5EF4-FFF2-40B4-BE49-F238E27FC236}">
                <a16:creationId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5" name="Arrow: Up 124">
            <a:extLst>
              <a:ext uri="{FF2B5EF4-FFF2-40B4-BE49-F238E27FC236}">
                <a16:creationId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6" name="Arrow: Up 125">
            <a:extLst>
              <a:ext uri="{FF2B5EF4-FFF2-40B4-BE49-F238E27FC236}">
                <a16:creationId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Arrow: Up 126">
            <a:extLst>
              <a:ext uri="{FF2B5EF4-FFF2-40B4-BE49-F238E27FC236}">
                <a16:creationId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Arrow: Up 127">
            <a:extLst>
              <a:ext uri="{FF2B5EF4-FFF2-40B4-BE49-F238E27FC236}">
                <a16:creationId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9" name="Arrow: Up 128">
            <a:extLst>
              <a:ext uri="{FF2B5EF4-FFF2-40B4-BE49-F238E27FC236}">
                <a16:creationId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Arrow: Up 129">
            <a:extLst>
              <a:ext uri="{FF2B5EF4-FFF2-40B4-BE49-F238E27FC236}">
                <a16:creationId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Arrow: Up 130">
            <a:extLst>
              <a:ext uri="{FF2B5EF4-FFF2-40B4-BE49-F238E27FC236}">
                <a16:creationId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Up 131">
            <a:extLst>
              <a:ext uri="{FF2B5EF4-FFF2-40B4-BE49-F238E27FC236}">
                <a16:creationId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Arrow: Up 132">
            <a:extLst>
              <a:ext uri="{FF2B5EF4-FFF2-40B4-BE49-F238E27FC236}">
                <a16:creationId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4" name="Arrow: Up 133">
            <a:extLst>
              <a:ext uri="{FF2B5EF4-FFF2-40B4-BE49-F238E27FC236}">
                <a16:creationId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5" name="Arrow: Up 134">
            <a:extLst>
              <a:ext uri="{FF2B5EF4-FFF2-40B4-BE49-F238E27FC236}">
                <a16:creationId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6" name="Arrow: Up 135">
            <a:extLst>
              <a:ext uri="{FF2B5EF4-FFF2-40B4-BE49-F238E27FC236}">
                <a16:creationId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/>
              <p:nvPr/>
            </p:nvSpPr>
            <p:spPr>
              <a:xfrm>
                <a:off x="5105085" y="3792797"/>
                <a:ext cx="2140683" cy="16299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085" y="3792797"/>
                <a:ext cx="2140683" cy="16299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6A4D84A-1A13-485C-9AE3-D0C4103BA756}"/>
              </a:ext>
            </a:extLst>
          </p:cNvPr>
          <p:cNvSpPr txBox="1"/>
          <p:nvPr/>
        </p:nvSpPr>
        <p:spPr>
          <a:xfrm>
            <a:off x="9429704" y="2611956"/>
            <a:ext cx="1493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Favoured</a:t>
            </a:r>
            <a:r>
              <a:rPr lang="en-US" sz="2400" dirty="0"/>
              <a:t>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040824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 lnSpcReduction="10000"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For continuous symmetries: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 Heisenberg model for illustration,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So the critical dimension for 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                  continuous symmetries is,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                                           </a:t>
                </a:r>
                <a:r>
                  <a:rPr lang="en-US" sz="2000" i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(</a:t>
                </a:r>
                <a:r>
                  <a:rPr lang="en-US" sz="2000" i="1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Imry</a:t>
                </a:r>
                <a:r>
                  <a:rPr lang="en-US" sz="2000" i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and Ma,PRL,1975)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32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/>
              <p:nvPr/>
            </p:nvSpPr>
            <p:spPr>
              <a:xfrm>
                <a:off x="5186412" y="3393482"/>
                <a:ext cx="2140683" cy="12441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6412" y="3393482"/>
                <a:ext cx="2140683" cy="12441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36D6A4EF-FF31-4D85-9EA7-011A1C2AED8F}"/>
                  </a:ext>
                </a:extLst>
              </p14:cNvPr>
              <p14:cNvContentPartPr/>
              <p14:nvPr/>
            </p14:nvContentPartPr>
            <p14:xfrm>
              <a:off x="7797290" y="2582352"/>
              <a:ext cx="3687840" cy="30826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36D6A4EF-FF31-4D85-9EA7-011A1C2AED8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88290" y="2573352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72" name="Arrow: Up 171">
            <a:extLst>
              <a:ext uri="{FF2B5EF4-FFF2-40B4-BE49-F238E27FC236}">
                <a16:creationId xmlns:a16="http://schemas.microsoft.com/office/drawing/2014/main" id="{7A00A1F6-B35F-490B-974A-FF114A009BD6}"/>
              </a:ext>
            </a:extLst>
          </p:cNvPr>
          <p:cNvSpPr/>
          <p:nvPr/>
        </p:nvSpPr>
        <p:spPr>
          <a:xfrm rot="20239931">
            <a:off x="8405180" y="433149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3" name="Arrow: Up 172">
            <a:extLst>
              <a:ext uri="{FF2B5EF4-FFF2-40B4-BE49-F238E27FC236}">
                <a16:creationId xmlns:a16="http://schemas.microsoft.com/office/drawing/2014/main" id="{0289087C-749D-4E87-92D5-400745279345}"/>
              </a:ext>
            </a:extLst>
          </p:cNvPr>
          <p:cNvSpPr/>
          <p:nvPr/>
        </p:nvSpPr>
        <p:spPr>
          <a:xfrm>
            <a:off x="8697501" y="40834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4" name="Arrow: Up 173">
            <a:extLst>
              <a:ext uri="{FF2B5EF4-FFF2-40B4-BE49-F238E27FC236}">
                <a16:creationId xmlns:a16="http://schemas.microsoft.com/office/drawing/2014/main" id="{259E5CF2-2A4F-4FA0-ABA0-1AAC41D4F7DC}"/>
              </a:ext>
            </a:extLst>
          </p:cNvPr>
          <p:cNvSpPr/>
          <p:nvPr/>
        </p:nvSpPr>
        <p:spPr>
          <a:xfrm rot="1652651">
            <a:off x="9013070" y="442181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5" name="Arrow: Up 174">
            <a:extLst>
              <a:ext uri="{FF2B5EF4-FFF2-40B4-BE49-F238E27FC236}">
                <a16:creationId xmlns:a16="http://schemas.microsoft.com/office/drawing/2014/main" id="{9D1E1B25-A72B-42AF-B258-9F0F547CD69D}"/>
              </a:ext>
            </a:extLst>
          </p:cNvPr>
          <p:cNvSpPr/>
          <p:nvPr/>
        </p:nvSpPr>
        <p:spPr>
          <a:xfrm>
            <a:off x="8697501" y="48517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6" name="Arrow: Up 175">
            <a:extLst>
              <a:ext uri="{FF2B5EF4-FFF2-40B4-BE49-F238E27FC236}">
                <a16:creationId xmlns:a16="http://schemas.microsoft.com/office/drawing/2014/main" id="{92F6E157-F5EB-4F99-B992-1147F818CA87}"/>
              </a:ext>
            </a:extLst>
          </p:cNvPr>
          <p:cNvSpPr/>
          <p:nvPr/>
        </p:nvSpPr>
        <p:spPr>
          <a:xfrm rot="18694737">
            <a:off x="8090205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7" name="Arrow: Up 176">
            <a:extLst>
              <a:ext uri="{FF2B5EF4-FFF2-40B4-BE49-F238E27FC236}">
                <a16:creationId xmlns:a16="http://schemas.microsoft.com/office/drawing/2014/main" id="{911E6645-1E13-4124-9E3B-80E28040FF88}"/>
              </a:ext>
            </a:extLst>
          </p:cNvPr>
          <p:cNvSpPr/>
          <p:nvPr/>
        </p:nvSpPr>
        <p:spPr>
          <a:xfrm rot="2948130">
            <a:off x="9282297" y="366784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Arrow: Up 177">
            <a:extLst>
              <a:ext uri="{FF2B5EF4-FFF2-40B4-BE49-F238E27FC236}">
                <a16:creationId xmlns:a16="http://schemas.microsoft.com/office/drawing/2014/main" id="{A269CDDD-DC29-42D7-B184-43B8006FB27C}"/>
              </a:ext>
            </a:extLst>
          </p:cNvPr>
          <p:cNvSpPr/>
          <p:nvPr/>
        </p:nvSpPr>
        <p:spPr>
          <a:xfrm rot="4365331">
            <a:off x="9484019" y="42140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9" name="Arrow: Up 178">
            <a:extLst>
              <a:ext uri="{FF2B5EF4-FFF2-40B4-BE49-F238E27FC236}">
                <a16:creationId xmlns:a16="http://schemas.microsoft.com/office/drawing/2014/main" id="{5B2F95B1-D347-45E9-9912-7C63250EBFE7}"/>
              </a:ext>
            </a:extLst>
          </p:cNvPr>
          <p:cNvSpPr/>
          <p:nvPr/>
        </p:nvSpPr>
        <p:spPr>
          <a:xfrm rot="2948130">
            <a:off x="9332733" y="48200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0" name="Arrow: Up 179">
            <a:extLst>
              <a:ext uri="{FF2B5EF4-FFF2-40B4-BE49-F238E27FC236}">
                <a16:creationId xmlns:a16="http://schemas.microsoft.com/office/drawing/2014/main" id="{5F227862-E333-4ACE-8ED7-ADE19EDC4AC8}"/>
              </a:ext>
            </a:extLst>
          </p:cNvPr>
          <p:cNvSpPr/>
          <p:nvPr/>
        </p:nvSpPr>
        <p:spPr>
          <a:xfrm rot="1652651">
            <a:off x="8912220" y="36501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1" name="Arrow: Up 180">
            <a:extLst>
              <a:ext uri="{FF2B5EF4-FFF2-40B4-BE49-F238E27FC236}">
                <a16:creationId xmlns:a16="http://schemas.microsoft.com/office/drawing/2014/main" id="{DBF7DE61-57CE-4F74-A362-957FCB3EA43B}"/>
              </a:ext>
            </a:extLst>
          </p:cNvPr>
          <p:cNvSpPr/>
          <p:nvPr/>
        </p:nvSpPr>
        <p:spPr>
          <a:xfrm rot="1652651">
            <a:off x="9058226" y="52090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2" name="Arrow: Up 181">
            <a:extLst>
              <a:ext uri="{FF2B5EF4-FFF2-40B4-BE49-F238E27FC236}">
                <a16:creationId xmlns:a16="http://schemas.microsoft.com/office/drawing/2014/main" id="{EB1B1431-E8F7-46E3-9CF0-3290E5AC1232}"/>
              </a:ext>
            </a:extLst>
          </p:cNvPr>
          <p:cNvSpPr/>
          <p:nvPr/>
        </p:nvSpPr>
        <p:spPr>
          <a:xfrm rot="20239931">
            <a:off x="8383120" y="50595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3" name="Arrow: Up 182">
            <a:extLst>
              <a:ext uri="{FF2B5EF4-FFF2-40B4-BE49-F238E27FC236}">
                <a16:creationId xmlns:a16="http://schemas.microsoft.com/office/drawing/2014/main" id="{92AABBCD-C636-4E6D-9C37-1825097A83F3}"/>
              </a:ext>
            </a:extLst>
          </p:cNvPr>
          <p:cNvSpPr/>
          <p:nvPr/>
        </p:nvSpPr>
        <p:spPr>
          <a:xfrm rot="18694737">
            <a:off x="8098595" y="4103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4" name="Arrow: Up 183">
            <a:extLst>
              <a:ext uri="{FF2B5EF4-FFF2-40B4-BE49-F238E27FC236}">
                <a16:creationId xmlns:a16="http://schemas.microsoft.com/office/drawing/2014/main" id="{7A2C6282-5845-472C-9F5F-7D0DD61D346D}"/>
              </a:ext>
            </a:extLst>
          </p:cNvPr>
          <p:cNvSpPr/>
          <p:nvPr/>
        </p:nvSpPr>
        <p:spPr>
          <a:xfrm rot="6011006">
            <a:off x="9661235" y="326530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5" name="Arrow: Up 184">
            <a:extLst>
              <a:ext uri="{FF2B5EF4-FFF2-40B4-BE49-F238E27FC236}">
                <a16:creationId xmlns:a16="http://schemas.microsoft.com/office/drawing/2014/main" id="{6FA07B1D-1721-47BD-81D9-0FFEBE03BEF1}"/>
              </a:ext>
            </a:extLst>
          </p:cNvPr>
          <p:cNvSpPr/>
          <p:nvPr/>
        </p:nvSpPr>
        <p:spPr>
          <a:xfrm rot="7843539">
            <a:off x="9922426" y="397933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6" name="Arrow: Up 185">
            <a:extLst>
              <a:ext uri="{FF2B5EF4-FFF2-40B4-BE49-F238E27FC236}">
                <a16:creationId xmlns:a16="http://schemas.microsoft.com/office/drawing/2014/main" id="{77BD0DA4-03B1-495F-A296-7F7986879698}"/>
              </a:ext>
            </a:extLst>
          </p:cNvPr>
          <p:cNvSpPr/>
          <p:nvPr/>
        </p:nvSpPr>
        <p:spPr>
          <a:xfrm rot="9646719">
            <a:off x="9996375" y="278345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7" name="Arrow: Up 186">
            <a:extLst>
              <a:ext uri="{FF2B5EF4-FFF2-40B4-BE49-F238E27FC236}">
                <a16:creationId xmlns:a16="http://schemas.microsoft.com/office/drawing/2014/main" id="{DAFA45C3-3343-4B54-81AC-12260187CB24}"/>
              </a:ext>
            </a:extLst>
          </p:cNvPr>
          <p:cNvSpPr/>
          <p:nvPr/>
        </p:nvSpPr>
        <p:spPr>
          <a:xfrm rot="10553083">
            <a:off x="10280476" y="332238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8" name="Arrow: Up 187">
            <a:extLst>
              <a:ext uri="{FF2B5EF4-FFF2-40B4-BE49-F238E27FC236}">
                <a16:creationId xmlns:a16="http://schemas.microsoft.com/office/drawing/2014/main" id="{F7F94D42-128E-4AE7-B231-48227E63F211}"/>
              </a:ext>
            </a:extLst>
          </p:cNvPr>
          <p:cNvSpPr/>
          <p:nvPr/>
        </p:nvSpPr>
        <p:spPr>
          <a:xfrm rot="11394758">
            <a:off x="10405898" y="265552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9" name="Arrow: Up 188">
            <a:extLst>
              <a:ext uri="{FF2B5EF4-FFF2-40B4-BE49-F238E27FC236}">
                <a16:creationId xmlns:a16="http://schemas.microsoft.com/office/drawing/2014/main" id="{A2283F56-B981-404D-B543-7070EA478622}"/>
              </a:ext>
            </a:extLst>
          </p:cNvPr>
          <p:cNvSpPr/>
          <p:nvPr/>
        </p:nvSpPr>
        <p:spPr>
          <a:xfrm rot="10800000">
            <a:off x="10345064" y="401353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0" name="Arrow: Up 189">
            <a:extLst>
              <a:ext uri="{FF2B5EF4-FFF2-40B4-BE49-F238E27FC236}">
                <a16:creationId xmlns:a16="http://schemas.microsoft.com/office/drawing/2014/main" id="{6E856711-A68B-48DC-964C-F54C5BB5819B}"/>
              </a:ext>
            </a:extLst>
          </p:cNvPr>
          <p:cNvSpPr/>
          <p:nvPr/>
        </p:nvSpPr>
        <p:spPr>
          <a:xfrm rot="13764822">
            <a:off x="10814851" y="295861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1" name="Arrow: Up 190">
            <a:extLst>
              <a:ext uri="{FF2B5EF4-FFF2-40B4-BE49-F238E27FC236}">
                <a16:creationId xmlns:a16="http://schemas.microsoft.com/office/drawing/2014/main" id="{9A393E8D-667E-4EAC-AACB-2B7CE24DA815}"/>
              </a:ext>
            </a:extLst>
          </p:cNvPr>
          <p:cNvSpPr/>
          <p:nvPr/>
        </p:nvSpPr>
        <p:spPr>
          <a:xfrm rot="11394758">
            <a:off x="10496210" y="4810558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Arrow: Up 191">
            <a:extLst>
              <a:ext uri="{FF2B5EF4-FFF2-40B4-BE49-F238E27FC236}">
                <a16:creationId xmlns:a16="http://schemas.microsoft.com/office/drawing/2014/main" id="{1531D620-67C2-4769-BD11-53BE298A1820}"/>
              </a:ext>
            </a:extLst>
          </p:cNvPr>
          <p:cNvSpPr/>
          <p:nvPr/>
        </p:nvSpPr>
        <p:spPr>
          <a:xfrm rot="6011006">
            <a:off x="9832637" y="480645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3" name="Arrow: Up 192">
            <a:extLst>
              <a:ext uri="{FF2B5EF4-FFF2-40B4-BE49-F238E27FC236}">
                <a16:creationId xmlns:a16="http://schemas.microsoft.com/office/drawing/2014/main" id="{F77AB458-D97B-41D3-8E41-B40D13576495}"/>
              </a:ext>
            </a:extLst>
          </p:cNvPr>
          <p:cNvSpPr/>
          <p:nvPr/>
        </p:nvSpPr>
        <p:spPr>
          <a:xfrm rot="12863447">
            <a:off x="10786110" y="359792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4" name="Arrow: Up 193">
            <a:extLst>
              <a:ext uri="{FF2B5EF4-FFF2-40B4-BE49-F238E27FC236}">
                <a16:creationId xmlns:a16="http://schemas.microsoft.com/office/drawing/2014/main" id="{4C6194F1-8CFA-4F87-A5F3-EA7A243E2770}"/>
              </a:ext>
            </a:extLst>
          </p:cNvPr>
          <p:cNvSpPr/>
          <p:nvPr/>
        </p:nvSpPr>
        <p:spPr>
          <a:xfrm rot="15129603">
            <a:off x="11191398" y="343643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5" name="Arrow: Up 194">
            <a:extLst>
              <a:ext uri="{FF2B5EF4-FFF2-40B4-BE49-F238E27FC236}">
                <a16:creationId xmlns:a16="http://schemas.microsoft.com/office/drawing/2014/main" id="{757981A6-A11C-4FF4-9B5C-2836AE1BC0FF}"/>
              </a:ext>
            </a:extLst>
          </p:cNvPr>
          <p:cNvSpPr/>
          <p:nvPr/>
        </p:nvSpPr>
        <p:spPr>
          <a:xfrm rot="14337860">
            <a:off x="11048816" y="411005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6" name="Arrow: Up 195">
            <a:extLst>
              <a:ext uri="{FF2B5EF4-FFF2-40B4-BE49-F238E27FC236}">
                <a16:creationId xmlns:a16="http://schemas.microsoft.com/office/drawing/2014/main" id="{F42E860F-F24F-466C-81B6-C04A97AF7C5D}"/>
              </a:ext>
            </a:extLst>
          </p:cNvPr>
          <p:cNvSpPr/>
          <p:nvPr/>
        </p:nvSpPr>
        <p:spPr>
          <a:xfrm rot="12136792">
            <a:off x="10702814" y="439494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7" name="Arrow: Up 196">
            <a:extLst>
              <a:ext uri="{FF2B5EF4-FFF2-40B4-BE49-F238E27FC236}">
                <a16:creationId xmlns:a16="http://schemas.microsoft.com/office/drawing/2014/main" id="{D8889211-0877-4217-BE9C-EC08EF134009}"/>
              </a:ext>
            </a:extLst>
          </p:cNvPr>
          <p:cNvSpPr/>
          <p:nvPr/>
        </p:nvSpPr>
        <p:spPr>
          <a:xfrm rot="9646719">
            <a:off x="10131391" y="466506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3107E4B0-B4B5-4C1E-9282-A6AB7ABE25B5}"/>
                  </a:ext>
                </a:extLst>
              </p14:cNvPr>
              <p14:cNvContentPartPr/>
              <p14:nvPr/>
            </p14:nvContentPartPr>
            <p14:xfrm>
              <a:off x="792529" y="2582352"/>
              <a:ext cx="3687840" cy="30826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3107E4B0-B4B5-4C1E-9282-A6AB7ABE25B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3529" y="2573352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99" name="Arrow: Up 198">
            <a:extLst>
              <a:ext uri="{FF2B5EF4-FFF2-40B4-BE49-F238E27FC236}">
                <a16:creationId xmlns:a16="http://schemas.microsoft.com/office/drawing/2014/main" id="{19835440-CE7F-4A43-96E0-50C503A9911B}"/>
              </a:ext>
            </a:extLst>
          </p:cNvPr>
          <p:cNvSpPr/>
          <p:nvPr/>
        </p:nvSpPr>
        <p:spPr>
          <a:xfrm>
            <a:off x="1400419" y="433149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0" name="Arrow: Up 199">
            <a:extLst>
              <a:ext uri="{FF2B5EF4-FFF2-40B4-BE49-F238E27FC236}">
                <a16:creationId xmlns:a16="http://schemas.microsoft.com/office/drawing/2014/main" id="{E43BCAEB-A3A1-4833-BE53-3E8ABB160FBF}"/>
              </a:ext>
            </a:extLst>
          </p:cNvPr>
          <p:cNvSpPr/>
          <p:nvPr/>
        </p:nvSpPr>
        <p:spPr>
          <a:xfrm>
            <a:off x="1692740" y="40834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1" name="Arrow: Up 200">
            <a:extLst>
              <a:ext uri="{FF2B5EF4-FFF2-40B4-BE49-F238E27FC236}">
                <a16:creationId xmlns:a16="http://schemas.microsoft.com/office/drawing/2014/main" id="{4D0E0FFC-5269-49F3-BB2B-3D56C4435E16}"/>
              </a:ext>
            </a:extLst>
          </p:cNvPr>
          <p:cNvSpPr/>
          <p:nvPr/>
        </p:nvSpPr>
        <p:spPr>
          <a:xfrm>
            <a:off x="2008309" y="442181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2" name="Arrow: Up 201">
            <a:extLst>
              <a:ext uri="{FF2B5EF4-FFF2-40B4-BE49-F238E27FC236}">
                <a16:creationId xmlns:a16="http://schemas.microsoft.com/office/drawing/2014/main" id="{24B16612-2F22-460A-8FDB-B6624BD6B5C8}"/>
              </a:ext>
            </a:extLst>
          </p:cNvPr>
          <p:cNvSpPr/>
          <p:nvPr/>
        </p:nvSpPr>
        <p:spPr>
          <a:xfrm>
            <a:off x="1692740" y="48517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3" name="Arrow: Up 202">
            <a:extLst>
              <a:ext uri="{FF2B5EF4-FFF2-40B4-BE49-F238E27FC236}">
                <a16:creationId xmlns:a16="http://schemas.microsoft.com/office/drawing/2014/main" id="{0D150634-6EF1-4387-BD6E-A6B12C6F4882}"/>
              </a:ext>
            </a:extLst>
          </p:cNvPr>
          <p:cNvSpPr/>
          <p:nvPr/>
        </p:nvSpPr>
        <p:spPr>
          <a:xfrm>
            <a:off x="1085444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4" name="Arrow: Up 203">
            <a:extLst>
              <a:ext uri="{FF2B5EF4-FFF2-40B4-BE49-F238E27FC236}">
                <a16:creationId xmlns:a16="http://schemas.microsoft.com/office/drawing/2014/main" id="{DD881C27-3161-4D08-8A2D-C0E807CAEF93}"/>
              </a:ext>
            </a:extLst>
          </p:cNvPr>
          <p:cNvSpPr/>
          <p:nvPr/>
        </p:nvSpPr>
        <p:spPr>
          <a:xfrm>
            <a:off x="2277536" y="366784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5" name="Arrow: Up 204">
            <a:extLst>
              <a:ext uri="{FF2B5EF4-FFF2-40B4-BE49-F238E27FC236}">
                <a16:creationId xmlns:a16="http://schemas.microsoft.com/office/drawing/2014/main" id="{70B64ED2-7F2C-4EB7-8C75-B3090B1E5919}"/>
              </a:ext>
            </a:extLst>
          </p:cNvPr>
          <p:cNvSpPr/>
          <p:nvPr/>
        </p:nvSpPr>
        <p:spPr>
          <a:xfrm>
            <a:off x="2479258" y="42140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6" name="Arrow: Up 205">
            <a:extLst>
              <a:ext uri="{FF2B5EF4-FFF2-40B4-BE49-F238E27FC236}">
                <a16:creationId xmlns:a16="http://schemas.microsoft.com/office/drawing/2014/main" id="{6C8D7482-313B-425A-B2BD-3F9793F0FF90}"/>
              </a:ext>
            </a:extLst>
          </p:cNvPr>
          <p:cNvSpPr/>
          <p:nvPr/>
        </p:nvSpPr>
        <p:spPr>
          <a:xfrm>
            <a:off x="2327972" y="48200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7" name="Arrow: Up 206">
            <a:extLst>
              <a:ext uri="{FF2B5EF4-FFF2-40B4-BE49-F238E27FC236}">
                <a16:creationId xmlns:a16="http://schemas.microsoft.com/office/drawing/2014/main" id="{4DF9A63B-F05F-4FB9-83CA-DA393222D4A7}"/>
              </a:ext>
            </a:extLst>
          </p:cNvPr>
          <p:cNvSpPr/>
          <p:nvPr/>
        </p:nvSpPr>
        <p:spPr>
          <a:xfrm>
            <a:off x="1907459" y="36501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8" name="Arrow: Up 207">
            <a:extLst>
              <a:ext uri="{FF2B5EF4-FFF2-40B4-BE49-F238E27FC236}">
                <a16:creationId xmlns:a16="http://schemas.microsoft.com/office/drawing/2014/main" id="{E15D1B4C-3D5F-47A1-ACB1-4E0ACCE7B480}"/>
              </a:ext>
            </a:extLst>
          </p:cNvPr>
          <p:cNvSpPr/>
          <p:nvPr/>
        </p:nvSpPr>
        <p:spPr>
          <a:xfrm>
            <a:off x="2053465" y="52090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9" name="Arrow: Up 208">
            <a:extLst>
              <a:ext uri="{FF2B5EF4-FFF2-40B4-BE49-F238E27FC236}">
                <a16:creationId xmlns:a16="http://schemas.microsoft.com/office/drawing/2014/main" id="{61C25AD1-9510-40EB-88E6-E5C87112BC93}"/>
              </a:ext>
            </a:extLst>
          </p:cNvPr>
          <p:cNvSpPr/>
          <p:nvPr/>
        </p:nvSpPr>
        <p:spPr>
          <a:xfrm>
            <a:off x="1378359" y="50595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0" name="Arrow: Up 209">
            <a:extLst>
              <a:ext uri="{FF2B5EF4-FFF2-40B4-BE49-F238E27FC236}">
                <a16:creationId xmlns:a16="http://schemas.microsoft.com/office/drawing/2014/main" id="{23E72D7E-838C-458F-815E-B60505B886B0}"/>
              </a:ext>
            </a:extLst>
          </p:cNvPr>
          <p:cNvSpPr/>
          <p:nvPr/>
        </p:nvSpPr>
        <p:spPr>
          <a:xfrm>
            <a:off x="1093834" y="4103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1" name="Arrow: Up 210">
            <a:extLst>
              <a:ext uri="{FF2B5EF4-FFF2-40B4-BE49-F238E27FC236}">
                <a16:creationId xmlns:a16="http://schemas.microsoft.com/office/drawing/2014/main" id="{493A5FDA-B1E5-4BE6-A1A3-95FE5C293407}"/>
              </a:ext>
            </a:extLst>
          </p:cNvPr>
          <p:cNvSpPr/>
          <p:nvPr/>
        </p:nvSpPr>
        <p:spPr>
          <a:xfrm>
            <a:off x="2656474" y="32653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2" name="Arrow: Up 211">
            <a:extLst>
              <a:ext uri="{FF2B5EF4-FFF2-40B4-BE49-F238E27FC236}">
                <a16:creationId xmlns:a16="http://schemas.microsoft.com/office/drawing/2014/main" id="{1D733A14-60A1-43AF-A297-3E4FC36FF3CC}"/>
              </a:ext>
            </a:extLst>
          </p:cNvPr>
          <p:cNvSpPr/>
          <p:nvPr/>
        </p:nvSpPr>
        <p:spPr>
          <a:xfrm>
            <a:off x="2917665" y="397933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3" name="Arrow: Up 212">
            <a:extLst>
              <a:ext uri="{FF2B5EF4-FFF2-40B4-BE49-F238E27FC236}">
                <a16:creationId xmlns:a16="http://schemas.microsoft.com/office/drawing/2014/main" id="{3FEA922B-A864-4E48-94A0-A5715F9C2B50}"/>
              </a:ext>
            </a:extLst>
          </p:cNvPr>
          <p:cNvSpPr/>
          <p:nvPr/>
        </p:nvSpPr>
        <p:spPr>
          <a:xfrm>
            <a:off x="2991614" y="27834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4" name="Arrow: Up 213">
            <a:extLst>
              <a:ext uri="{FF2B5EF4-FFF2-40B4-BE49-F238E27FC236}">
                <a16:creationId xmlns:a16="http://schemas.microsoft.com/office/drawing/2014/main" id="{4DA60DA5-D6C9-4621-80ED-5F0CB99AE5C5}"/>
              </a:ext>
            </a:extLst>
          </p:cNvPr>
          <p:cNvSpPr/>
          <p:nvPr/>
        </p:nvSpPr>
        <p:spPr>
          <a:xfrm>
            <a:off x="3275715" y="332238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5" name="Arrow: Up 214">
            <a:extLst>
              <a:ext uri="{FF2B5EF4-FFF2-40B4-BE49-F238E27FC236}">
                <a16:creationId xmlns:a16="http://schemas.microsoft.com/office/drawing/2014/main" id="{551F37B9-FD7B-4D13-B2B4-495FEBDFC3D4}"/>
              </a:ext>
            </a:extLst>
          </p:cNvPr>
          <p:cNvSpPr/>
          <p:nvPr/>
        </p:nvSpPr>
        <p:spPr>
          <a:xfrm>
            <a:off x="3401137" y="26555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6" name="Arrow: Up 215">
            <a:extLst>
              <a:ext uri="{FF2B5EF4-FFF2-40B4-BE49-F238E27FC236}">
                <a16:creationId xmlns:a16="http://schemas.microsoft.com/office/drawing/2014/main" id="{29DCDF69-031D-4E2E-A893-35B0DD306366}"/>
              </a:ext>
            </a:extLst>
          </p:cNvPr>
          <p:cNvSpPr/>
          <p:nvPr/>
        </p:nvSpPr>
        <p:spPr>
          <a:xfrm>
            <a:off x="3340303" y="401353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7" name="Arrow: Up 216">
            <a:extLst>
              <a:ext uri="{FF2B5EF4-FFF2-40B4-BE49-F238E27FC236}">
                <a16:creationId xmlns:a16="http://schemas.microsoft.com/office/drawing/2014/main" id="{398DDBA0-B5E7-4F78-A700-312C936BC3A0}"/>
              </a:ext>
            </a:extLst>
          </p:cNvPr>
          <p:cNvSpPr/>
          <p:nvPr/>
        </p:nvSpPr>
        <p:spPr>
          <a:xfrm>
            <a:off x="3810090" y="2958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8" name="Arrow: Up 217">
            <a:extLst>
              <a:ext uri="{FF2B5EF4-FFF2-40B4-BE49-F238E27FC236}">
                <a16:creationId xmlns:a16="http://schemas.microsoft.com/office/drawing/2014/main" id="{97D0202C-20F9-4288-A2BC-6C7A541E7E1B}"/>
              </a:ext>
            </a:extLst>
          </p:cNvPr>
          <p:cNvSpPr/>
          <p:nvPr/>
        </p:nvSpPr>
        <p:spPr>
          <a:xfrm>
            <a:off x="3491449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9" name="Arrow: Up 218">
            <a:extLst>
              <a:ext uri="{FF2B5EF4-FFF2-40B4-BE49-F238E27FC236}">
                <a16:creationId xmlns:a16="http://schemas.microsoft.com/office/drawing/2014/main" id="{5D07C02D-D5DA-4AC4-97FC-80D6A35869E3}"/>
              </a:ext>
            </a:extLst>
          </p:cNvPr>
          <p:cNvSpPr/>
          <p:nvPr/>
        </p:nvSpPr>
        <p:spPr>
          <a:xfrm>
            <a:off x="2827876" y="480645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0" name="Arrow: Up 219">
            <a:extLst>
              <a:ext uri="{FF2B5EF4-FFF2-40B4-BE49-F238E27FC236}">
                <a16:creationId xmlns:a16="http://schemas.microsoft.com/office/drawing/2014/main" id="{204B3FDE-0C28-404D-9CC8-8B65FE8E3998}"/>
              </a:ext>
            </a:extLst>
          </p:cNvPr>
          <p:cNvSpPr/>
          <p:nvPr/>
        </p:nvSpPr>
        <p:spPr>
          <a:xfrm>
            <a:off x="3781349" y="35979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1" name="Arrow: Up 220">
            <a:extLst>
              <a:ext uri="{FF2B5EF4-FFF2-40B4-BE49-F238E27FC236}">
                <a16:creationId xmlns:a16="http://schemas.microsoft.com/office/drawing/2014/main" id="{984A964A-C1F3-4789-9E24-EAB591445624}"/>
              </a:ext>
            </a:extLst>
          </p:cNvPr>
          <p:cNvSpPr/>
          <p:nvPr/>
        </p:nvSpPr>
        <p:spPr>
          <a:xfrm>
            <a:off x="4186637" y="34364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2" name="Arrow: Up 221">
            <a:extLst>
              <a:ext uri="{FF2B5EF4-FFF2-40B4-BE49-F238E27FC236}">
                <a16:creationId xmlns:a16="http://schemas.microsoft.com/office/drawing/2014/main" id="{B17D7CEB-8BD6-42CA-B5D6-B0E33B362D70}"/>
              </a:ext>
            </a:extLst>
          </p:cNvPr>
          <p:cNvSpPr/>
          <p:nvPr/>
        </p:nvSpPr>
        <p:spPr>
          <a:xfrm>
            <a:off x="4044055" y="4110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3" name="Arrow: Up 222">
            <a:extLst>
              <a:ext uri="{FF2B5EF4-FFF2-40B4-BE49-F238E27FC236}">
                <a16:creationId xmlns:a16="http://schemas.microsoft.com/office/drawing/2014/main" id="{D0B3E02F-00B5-4551-89C6-AC904FE99C63}"/>
              </a:ext>
            </a:extLst>
          </p:cNvPr>
          <p:cNvSpPr/>
          <p:nvPr/>
        </p:nvSpPr>
        <p:spPr>
          <a:xfrm>
            <a:off x="3698053" y="43949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4" name="Arrow: Up 223">
            <a:extLst>
              <a:ext uri="{FF2B5EF4-FFF2-40B4-BE49-F238E27FC236}">
                <a16:creationId xmlns:a16="http://schemas.microsoft.com/office/drawing/2014/main" id="{60959F67-A618-4FC4-853A-48B973C2029C}"/>
              </a:ext>
            </a:extLst>
          </p:cNvPr>
          <p:cNvSpPr/>
          <p:nvPr/>
        </p:nvSpPr>
        <p:spPr>
          <a:xfrm>
            <a:off x="3126630" y="466506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963B5C6-0A5C-470F-B72B-AB4E772820FD}"/>
              </a:ext>
            </a:extLst>
          </p:cNvPr>
          <p:cNvCxnSpPr/>
          <p:nvPr/>
        </p:nvCxnSpPr>
        <p:spPr>
          <a:xfrm>
            <a:off x="8787813" y="5874327"/>
            <a:ext cx="1743496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57488C-3C2D-48BC-AF17-F15F06042034}"/>
                  </a:ext>
                </a:extLst>
              </p:cNvPr>
              <p:cNvSpPr txBox="1"/>
              <p:nvPr/>
            </p:nvSpPr>
            <p:spPr>
              <a:xfrm>
                <a:off x="9191189" y="5912279"/>
                <a:ext cx="8284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57488C-3C2D-48BC-AF17-F15F060420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1189" y="5912279"/>
                <a:ext cx="82841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73352547-D96C-4C01-8859-3ED6B049CBE9}"/>
                  </a:ext>
                </a:extLst>
              </p:cNvPr>
              <p:cNvSpPr txBox="1"/>
              <p:nvPr/>
            </p:nvSpPr>
            <p:spPr>
              <a:xfrm>
                <a:off x="4457809" y="5014257"/>
                <a:ext cx="3488315" cy="4996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73352547-D96C-4C01-8859-3ED6B049C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809" y="5014257"/>
                <a:ext cx="3488315" cy="49962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5695D7A7-206C-404A-B47A-23CA351ED21D}"/>
                  </a:ext>
                </a:extLst>
              </p:cNvPr>
              <p:cNvSpPr txBox="1"/>
              <p:nvPr/>
            </p:nvSpPr>
            <p:spPr>
              <a:xfrm>
                <a:off x="7924725" y="6201640"/>
                <a:ext cx="3370586" cy="4084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=∫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5695D7A7-206C-404A-B47A-23CA351ED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725" y="6201640"/>
                <a:ext cx="3370586" cy="408445"/>
              </a:xfrm>
              <a:prstGeom prst="rect">
                <a:avLst/>
              </a:prstGeom>
              <a:blipFill>
                <a:blip r:embed="rId10"/>
                <a:stretch>
                  <a:fillRect b="-119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1424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For continuous symmetries:</a:t>
                </a: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 generic action couples the goldstone modes with the random fields. 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∫</m:t>
                            </m:r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nary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∫</m:t>
                            </m:r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en-US" sz="1800" dirty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</a:rPr>
                                  <m:t> </m:t>
                                </m:r>
                              </m:e>
                            </m:nary>
                          </m:e>
                        </m:d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correlation function has a divergent contribution for even infinitesimal random field disorder,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acc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𝑎𝑏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d>
                          <m:d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</m:d>
                      </m:sup>
                    </m:sSup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        </a:t>
                </a: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acc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  <m:f>
                          <m:f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𝑖𝑘</m:t>
                            </m:r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sup>
                        </m:sSup>
                      </m:e>
                    </m:nary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den>
                    </m:f>
                    <m:sSup>
                      <m:sSup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sSup>
                      <m:sSup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infrared divergence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CD19D01-67A3-4F12-BF16-8565326A2AC0}"/>
              </a:ext>
            </a:extLst>
          </p:cNvPr>
          <p:cNvSpPr/>
          <p:nvPr/>
        </p:nvSpPr>
        <p:spPr>
          <a:xfrm>
            <a:off x="6931428" y="3994536"/>
            <a:ext cx="1806633" cy="853442"/>
          </a:xfrm>
          <a:prstGeom prst="ellipse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867855E2-1CF7-424A-AABB-916E2E505E50}"/>
              </a:ext>
            </a:extLst>
          </p:cNvPr>
          <p:cNvCxnSpPr>
            <a:cxnSpLocks/>
            <a:stCxn id="6" idx="3"/>
            <a:endCxn id="242" idx="3"/>
          </p:cNvCxnSpPr>
          <p:nvPr/>
        </p:nvCxnSpPr>
        <p:spPr>
          <a:xfrm rot="5400000">
            <a:off x="5649353" y="3861772"/>
            <a:ext cx="685428" cy="2407872"/>
          </a:xfrm>
          <a:prstGeom prst="curvedConnector2">
            <a:avLst/>
          </a:prstGeom>
          <a:ln w="127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69B39AC0-7B6B-4797-ADFC-1E0691F0C8D5}"/>
                  </a:ext>
                </a:extLst>
              </p:cNvPr>
              <p:cNvSpPr txBox="1"/>
              <p:nvPr/>
            </p:nvSpPr>
            <p:spPr>
              <a:xfrm>
                <a:off x="2176353" y="4850641"/>
                <a:ext cx="2611778" cy="11155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Bare expectation value,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infrared divergent 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69B39AC0-7B6B-4797-ADFC-1E0691F0C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353" y="4850641"/>
                <a:ext cx="2611778" cy="1115562"/>
              </a:xfrm>
              <a:prstGeom prst="rect">
                <a:avLst/>
              </a:prstGeom>
              <a:blipFill>
                <a:blip r:embed="rId3"/>
                <a:stretch>
                  <a:fillRect l="-1869" t="-3279" b="-765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8305068" y="4847978"/>
                <a:ext cx="2904401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Hence, the lower critical dimension for random field systems with continuous symmetry is,</a:t>
                </a:r>
              </a:p>
              <a:p>
                <a:endParaRPr lang="en-US" b="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≤4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5068" y="4847978"/>
                <a:ext cx="2904401" cy="1754326"/>
              </a:xfrm>
              <a:prstGeom prst="rect">
                <a:avLst/>
              </a:prstGeom>
              <a:blipFill>
                <a:blip r:embed="rId4"/>
                <a:stretch>
                  <a:fillRect l="-1677" t="-17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Rectangle 244">
            <a:extLst>
              <a:ext uri="{FF2B5EF4-FFF2-40B4-BE49-F238E27FC236}">
                <a16:creationId xmlns:a16="http://schemas.microsoft.com/office/drawing/2014/main" id="{C143E3E0-E5AF-4DCA-8D45-ABF1F63F708D}"/>
              </a:ext>
            </a:extLst>
          </p:cNvPr>
          <p:cNvSpPr/>
          <p:nvPr/>
        </p:nvSpPr>
        <p:spPr>
          <a:xfrm>
            <a:off x="9241879" y="6208750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372EAF64-5587-4A13-A714-4DF5609989B8}"/>
              </a:ext>
            </a:extLst>
          </p:cNvPr>
          <p:cNvSpPr txBox="1"/>
          <p:nvPr/>
        </p:nvSpPr>
        <p:spPr>
          <a:xfrm>
            <a:off x="1424005" y="6007235"/>
            <a:ext cx="4433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and Ma,PRL,1975;Aharony,SSC,1978)</a:t>
            </a:r>
            <a:endParaRPr lang="LID4096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5559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400591" cy="859609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 of disordered frustrated non-collinear magnets: Infrared divergence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883E9BE-4C98-4DB5-A647-E8664E3DC93C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2619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42830"/>
            <a:ext cx="5383635" cy="4140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non-collinear magnet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Response from a single bond impurity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id="{1D64F189-8CCC-4E65-85DE-7BB8C3AC3D09}"/>
              </a:ext>
            </a:extLst>
          </p:cNvPr>
          <p:cNvSpPr txBox="1">
            <a:spLocks/>
          </p:cNvSpPr>
          <p:nvPr/>
        </p:nvSpPr>
        <p:spPr>
          <a:xfrm>
            <a:off x="6221835" y="2036603"/>
            <a:ext cx="5257800" cy="41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collinear magnet</a:t>
            </a:r>
          </a:p>
          <a:p>
            <a:pPr marL="1371600" lvl="3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7DCE5688-BB50-471B-B2E4-1FAD8CEE25F0}"/>
              </a:ext>
            </a:extLst>
          </p:cNvPr>
          <p:cNvSpPr/>
          <p:nvPr/>
        </p:nvSpPr>
        <p:spPr>
          <a:xfrm rot="2085685">
            <a:off x="2034599" y="2882166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7CF10CF-84A6-43A0-A082-1A7F5EF0FD16}"/>
              </a:ext>
            </a:extLst>
          </p:cNvPr>
          <p:cNvCxnSpPr>
            <a:cxnSpLocks/>
          </p:cNvCxnSpPr>
          <p:nvPr/>
        </p:nvCxnSpPr>
        <p:spPr>
          <a:xfrm>
            <a:off x="2038524" y="3703488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Arrow: Up 75">
            <a:extLst>
              <a:ext uri="{FF2B5EF4-FFF2-40B4-BE49-F238E27FC236}">
                <a16:creationId xmlns:a16="http://schemas.microsoft.com/office/drawing/2014/main" id="{50178F35-58BA-4F2C-AA31-B49C1C3D0745}"/>
              </a:ext>
            </a:extLst>
          </p:cNvPr>
          <p:cNvSpPr/>
          <p:nvPr/>
        </p:nvSpPr>
        <p:spPr>
          <a:xfrm>
            <a:off x="1989344" y="2921042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C843D4B-29EF-409B-94EF-80C3E6B2E2E6}"/>
                  </a:ext>
                </a:extLst>
              </p:cNvPr>
              <p:cNvSpPr txBox="1"/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C843D4B-29EF-409B-94EF-80C3E6B2E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Arrow: Up 77">
            <a:extLst>
              <a:ext uri="{FF2B5EF4-FFF2-40B4-BE49-F238E27FC236}">
                <a16:creationId xmlns:a16="http://schemas.microsoft.com/office/drawing/2014/main" id="{DCA3BA35-E5E2-4610-BE11-C1D22F2200C0}"/>
              </a:ext>
            </a:extLst>
          </p:cNvPr>
          <p:cNvSpPr/>
          <p:nvPr/>
        </p:nvSpPr>
        <p:spPr>
          <a:xfrm rot="8597487">
            <a:off x="3599987" y="2842033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9" name="Arrow: Up 78">
            <a:extLst>
              <a:ext uri="{FF2B5EF4-FFF2-40B4-BE49-F238E27FC236}">
                <a16:creationId xmlns:a16="http://schemas.microsoft.com/office/drawing/2014/main" id="{54B27E3A-510E-424A-A265-4FB9BC58D8E7}"/>
              </a:ext>
            </a:extLst>
          </p:cNvPr>
          <p:cNvSpPr/>
          <p:nvPr/>
        </p:nvSpPr>
        <p:spPr>
          <a:xfrm rot="10800000">
            <a:off x="3649906" y="2921041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Arrow: Curved Down 14">
            <a:extLst>
              <a:ext uri="{FF2B5EF4-FFF2-40B4-BE49-F238E27FC236}">
                <a16:creationId xmlns:a16="http://schemas.microsoft.com/office/drawing/2014/main" id="{A4D84B0B-B4D0-4720-B988-1D5DF8F8A31E}"/>
              </a:ext>
            </a:extLst>
          </p:cNvPr>
          <p:cNvSpPr/>
          <p:nvPr/>
        </p:nvSpPr>
        <p:spPr>
          <a:xfrm rot="679148" flipH="1">
            <a:off x="2054061" y="2581046"/>
            <a:ext cx="558079" cy="213628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80" name="Arrow: Curved Down 79">
            <a:extLst>
              <a:ext uri="{FF2B5EF4-FFF2-40B4-BE49-F238E27FC236}">
                <a16:creationId xmlns:a16="http://schemas.microsoft.com/office/drawing/2014/main" id="{819AA9E6-529C-4EE2-AB57-E3FF00D9C558}"/>
              </a:ext>
            </a:extLst>
          </p:cNvPr>
          <p:cNvSpPr/>
          <p:nvPr/>
        </p:nvSpPr>
        <p:spPr>
          <a:xfrm rot="20280577" flipH="1" flipV="1">
            <a:off x="3769444" y="4478648"/>
            <a:ext cx="519829" cy="214113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2C0B574-9EDD-4748-BC18-36830B0CBB23}"/>
              </a:ext>
            </a:extLst>
          </p:cNvPr>
          <p:cNvCxnSpPr>
            <a:cxnSpLocks/>
          </p:cNvCxnSpPr>
          <p:nvPr/>
        </p:nvCxnSpPr>
        <p:spPr>
          <a:xfrm flipV="1">
            <a:off x="1029297" y="3429000"/>
            <a:ext cx="327170" cy="425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5BD5AEF-0262-41E1-8600-E78BC697BD4F}"/>
              </a:ext>
            </a:extLst>
          </p:cNvPr>
          <p:cNvCxnSpPr>
            <a:cxnSpLocks/>
          </p:cNvCxnSpPr>
          <p:nvPr/>
        </p:nvCxnSpPr>
        <p:spPr>
          <a:xfrm>
            <a:off x="1029297" y="3846947"/>
            <a:ext cx="434823" cy="280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8DA535-066E-4BFB-B9FF-31EAAEEB0BCA}"/>
                  </a:ext>
                </a:extLst>
              </p:cNvPr>
              <p:cNvSpPr txBox="1"/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8DA535-066E-4BFB-B9FF-31EAAEEB0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475D768-1973-4E59-99F8-650D1E44EFAF}"/>
                  </a:ext>
                </a:extLst>
              </p:cNvPr>
              <p:cNvSpPr txBox="1"/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475D768-1973-4E59-99F8-650D1E44E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blipFill>
                <a:blip r:embed="rId4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DCA466F4-4A3D-4190-B733-77517C6D038B}"/>
              </a:ext>
            </a:extLst>
          </p:cNvPr>
          <p:cNvCxnSpPr>
            <a:cxnSpLocks/>
          </p:cNvCxnSpPr>
          <p:nvPr/>
        </p:nvCxnSpPr>
        <p:spPr>
          <a:xfrm>
            <a:off x="4545195" y="3475318"/>
            <a:ext cx="301569" cy="479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943DB12E-E915-495D-8A86-D0AC1FB5D5D3}"/>
              </a:ext>
            </a:extLst>
          </p:cNvPr>
          <p:cNvCxnSpPr>
            <a:cxnSpLocks/>
          </p:cNvCxnSpPr>
          <p:nvPr/>
        </p:nvCxnSpPr>
        <p:spPr>
          <a:xfrm flipH="1">
            <a:off x="4144267" y="3475675"/>
            <a:ext cx="399108" cy="271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B73B01C-12A3-4162-A4A0-C6096F67501B}"/>
                  </a:ext>
                </a:extLst>
              </p:cNvPr>
              <p:cNvSpPr txBox="1"/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B73B01C-12A3-4162-A4A0-C6096F675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5499DE1-B6BD-439B-8A55-41D944383B80}"/>
                  </a:ext>
                </a:extLst>
              </p:cNvPr>
              <p:cNvSpPr txBox="1"/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5499DE1-B6BD-439B-8A55-41D944383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blipFill>
                <a:blip r:embed="rId5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Arrow: Up 161">
            <a:extLst>
              <a:ext uri="{FF2B5EF4-FFF2-40B4-BE49-F238E27FC236}">
                <a16:creationId xmlns:a16="http://schemas.microsoft.com/office/drawing/2014/main" id="{54815F19-5407-4B86-BC49-51462D25DCD3}"/>
              </a:ext>
            </a:extLst>
          </p:cNvPr>
          <p:cNvSpPr/>
          <p:nvPr/>
        </p:nvSpPr>
        <p:spPr>
          <a:xfrm>
            <a:off x="7385832" y="2828252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C82471D5-F032-4D1E-8C6E-2682F96BD665}"/>
              </a:ext>
            </a:extLst>
          </p:cNvPr>
          <p:cNvCxnSpPr>
            <a:cxnSpLocks/>
          </p:cNvCxnSpPr>
          <p:nvPr/>
        </p:nvCxnSpPr>
        <p:spPr>
          <a:xfrm>
            <a:off x="7389757" y="3649574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F3EB135E-03AB-489E-9ED6-8685737D2BCF}"/>
                  </a:ext>
                </a:extLst>
              </p:cNvPr>
              <p:cNvSpPr txBox="1"/>
              <p:nvPr/>
            </p:nvSpPr>
            <p:spPr>
              <a:xfrm>
                <a:off x="7857267" y="3317993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F3EB135E-03AB-489E-9ED6-8685737D2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267" y="3317993"/>
                <a:ext cx="641201" cy="369332"/>
              </a:xfrm>
              <a:prstGeom prst="rect">
                <a:avLst/>
              </a:prstGeom>
              <a:blipFill>
                <a:blip r:embed="rId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Arrow: Up 165">
            <a:extLst>
              <a:ext uri="{FF2B5EF4-FFF2-40B4-BE49-F238E27FC236}">
                <a16:creationId xmlns:a16="http://schemas.microsoft.com/office/drawing/2014/main" id="{F8BE2914-79A6-4809-8AA1-0A3D6E78A73C}"/>
              </a:ext>
            </a:extLst>
          </p:cNvPr>
          <p:cNvSpPr/>
          <p:nvPr/>
        </p:nvSpPr>
        <p:spPr>
          <a:xfrm rot="10800000">
            <a:off x="8992745" y="2828252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78D9E330-A71A-47F0-92FB-AC58EB61BC73}"/>
              </a:ext>
            </a:extLst>
          </p:cNvPr>
          <p:cNvCxnSpPr>
            <a:cxnSpLocks/>
          </p:cNvCxnSpPr>
          <p:nvPr/>
        </p:nvCxnSpPr>
        <p:spPr>
          <a:xfrm flipV="1">
            <a:off x="6438084" y="3435870"/>
            <a:ext cx="0" cy="518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5933B25E-F661-4B66-BAE3-C901A84CDF2A}"/>
              </a:ext>
            </a:extLst>
          </p:cNvPr>
          <p:cNvCxnSpPr>
            <a:cxnSpLocks/>
          </p:cNvCxnSpPr>
          <p:nvPr/>
        </p:nvCxnSpPr>
        <p:spPr>
          <a:xfrm>
            <a:off x="6438084" y="3961594"/>
            <a:ext cx="556055" cy="119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1A2EC8A6-FEDD-4A70-9B23-6FE86D88528C}"/>
                  </a:ext>
                </a:extLst>
              </p:cNvPr>
              <p:cNvSpPr txBox="1"/>
              <p:nvPr/>
            </p:nvSpPr>
            <p:spPr>
              <a:xfrm>
                <a:off x="6380530" y="3196723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1A2EC8A6-FEDD-4A70-9B23-6FE86D885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530" y="3196723"/>
                <a:ext cx="137625" cy="215444"/>
              </a:xfrm>
              <a:prstGeom prst="rect">
                <a:avLst/>
              </a:prstGeom>
              <a:blipFill>
                <a:blip r:embed="rId7"/>
                <a:stretch>
                  <a:fillRect l="-18182" t="-8333" r="-1136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1BDE252E-5809-4279-94CA-6E96B539D43F}"/>
                  </a:ext>
                </a:extLst>
              </p:cNvPr>
              <p:cNvSpPr txBox="1"/>
              <p:nvPr/>
            </p:nvSpPr>
            <p:spPr>
              <a:xfrm>
                <a:off x="7056924" y="3865852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1BDE252E-5809-4279-94CA-6E96B539D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6924" y="3865852"/>
                <a:ext cx="137625" cy="215444"/>
              </a:xfrm>
              <a:prstGeom prst="rect">
                <a:avLst/>
              </a:prstGeom>
              <a:blipFill>
                <a:blip r:embed="rId8"/>
                <a:stretch>
                  <a:fillRect l="-22727" t="-8333" r="-681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A93D577A-EBAE-4B08-9173-4C0F2C02F782}"/>
              </a:ext>
            </a:extLst>
          </p:cNvPr>
          <p:cNvCxnSpPr>
            <a:cxnSpLocks/>
          </p:cNvCxnSpPr>
          <p:nvPr/>
        </p:nvCxnSpPr>
        <p:spPr>
          <a:xfrm>
            <a:off x="9896428" y="3421404"/>
            <a:ext cx="15351" cy="659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51A5074D-DFB1-4DFA-9A9E-73B0F724E598}"/>
              </a:ext>
            </a:extLst>
          </p:cNvPr>
          <p:cNvCxnSpPr>
            <a:cxnSpLocks/>
          </p:cNvCxnSpPr>
          <p:nvPr/>
        </p:nvCxnSpPr>
        <p:spPr>
          <a:xfrm flipH="1" flipV="1">
            <a:off x="9295723" y="3421404"/>
            <a:ext cx="598885" cy="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1A252A61-9B8A-451C-9DFE-EB51C7632401}"/>
                  </a:ext>
                </a:extLst>
              </p:cNvPr>
              <p:cNvSpPr txBox="1"/>
              <p:nvPr/>
            </p:nvSpPr>
            <p:spPr>
              <a:xfrm>
                <a:off x="9842966" y="408129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1A252A61-9B8A-451C-9DFE-EB51C76324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2966" y="4081296"/>
                <a:ext cx="137625" cy="215444"/>
              </a:xfrm>
              <a:prstGeom prst="rect">
                <a:avLst/>
              </a:prstGeom>
              <a:blipFill>
                <a:blip r:embed="rId9"/>
                <a:stretch>
                  <a:fillRect l="-18182" t="-11429" r="-1136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437282F6-6F23-4917-B0A1-1AB9F9DA3971}"/>
                  </a:ext>
                </a:extLst>
              </p:cNvPr>
              <p:cNvSpPr txBox="1"/>
              <p:nvPr/>
            </p:nvSpPr>
            <p:spPr>
              <a:xfrm>
                <a:off x="9156278" y="3304445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437282F6-6F23-4917-B0A1-1AB9F9DA3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6278" y="3304445"/>
                <a:ext cx="137625" cy="215444"/>
              </a:xfrm>
              <a:prstGeom prst="rect">
                <a:avLst/>
              </a:prstGeom>
              <a:blipFill>
                <a:blip r:embed="rId10"/>
                <a:stretch>
                  <a:fillRect l="-17391" t="-8571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3CA26D5-3704-4F66-A651-164F798F8060}"/>
                  </a:ext>
                </a:extLst>
              </p:cNvPr>
              <p:cNvSpPr txBox="1"/>
              <p:nvPr/>
            </p:nvSpPr>
            <p:spPr>
              <a:xfrm>
                <a:off x="1192882" y="5025272"/>
                <a:ext cx="4351243" cy="15389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Frustration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is locally relieved. For infinitesimal disorder this is a perturbative correction to the bulk Hamiltonian,</a:t>
                </a:r>
              </a:p>
              <a:p>
                <a:endParaRPr lang="en-US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  <m:sup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acc>
                        </m:sub>
                        <m:sup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3CA26D5-3704-4F66-A651-164F798F8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2882" y="5025272"/>
                <a:ext cx="4351243" cy="1538947"/>
              </a:xfrm>
              <a:prstGeom prst="rect">
                <a:avLst/>
              </a:prstGeom>
              <a:blipFill>
                <a:blip r:embed="rId11"/>
                <a:stretch>
                  <a:fillRect l="-1262" t="-19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89DC91E5-2FA1-4299-A20E-792B66F161F0}"/>
                  </a:ext>
                </a:extLst>
              </p:cNvPr>
              <p:cNvSpPr txBox="1"/>
              <p:nvPr/>
            </p:nvSpPr>
            <p:spPr>
              <a:xfrm>
                <a:off x="6147288" y="5025272"/>
                <a:ext cx="4351243" cy="1492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There is no change in the bulk order in response to the bond impurity, hence the 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Hamiltonian is “virtually” unchanged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89DC91E5-2FA1-4299-A20E-792B66F16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7288" y="5025272"/>
                <a:ext cx="4351243" cy="1492460"/>
              </a:xfrm>
              <a:prstGeom prst="rect">
                <a:avLst/>
              </a:prstGeom>
              <a:blipFill>
                <a:blip r:embed="rId12"/>
                <a:stretch>
                  <a:fillRect l="-1120" t="-20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ABA180AA-6E53-4B48-AD66-D0E076EE3BE6}"/>
                  </a:ext>
                </a:extLst>
              </p:cNvPr>
              <p:cNvSpPr txBox="1"/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ABA180AA-6E53-4B48-AD66-D0E076EE3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blipFill>
                <a:blip r:embed="rId13"/>
                <a:stretch>
                  <a:fillRect r="-2368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40291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042830"/>
            <a:ext cx="5185094" cy="4140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non-collinear magnet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Response from a single bond impurity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id="{1D64F189-8CCC-4E65-85DE-7BB8C3AC3D09}"/>
              </a:ext>
            </a:extLst>
          </p:cNvPr>
          <p:cNvSpPr txBox="1">
            <a:spLocks/>
          </p:cNvSpPr>
          <p:nvPr/>
        </p:nvSpPr>
        <p:spPr>
          <a:xfrm>
            <a:off x="6221835" y="2036603"/>
            <a:ext cx="5257800" cy="41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7DCE5688-BB50-471B-B2E4-1FAD8CEE25F0}"/>
              </a:ext>
            </a:extLst>
          </p:cNvPr>
          <p:cNvSpPr/>
          <p:nvPr/>
        </p:nvSpPr>
        <p:spPr>
          <a:xfrm rot="2085685">
            <a:off x="2034599" y="2882166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7CF10CF-84A6-43A0-A082-1A7F5EF0FD16}"/>
              </a:ext>
            </a:extLst>
          </p:cNvPr>
          <p:cNvCxnSpPr>
            <a:cxnSpLocks/>
          </p:cNvCxnSpPr>
          <p:nvPr/>
        </p:nvCxnSpPr>
        <p:spPr>
          <a:xfrm>
            <a:off x="2038524" y="3703488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Arrow: Up 75">
            <a:extLst>
              <a:ext uri="{FF2B5EF4-FFF2-40B4-BE49-F238E27FC236}">
                <a16:creationId xmlns:a16="http://schemas.microsoft.com/office/drawing/2014/main" id="{50178F35-58BA-4F2C-AA31-B49C1C3D0745}"/>
              </a:ext>
            </a:extLst>
          </p:cNvPr>
          <p:cNvSpPr/>
          <p:nvPr/>
        </p:nvSpPr>
        <p:spPr>
          <a:xfrm>
            <a:off x="1989344" y="2921042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8" name="Arrow: Up 77">
            <a:extLst>
              <a:ext uri="{FF2B5EF4-FFF2-40B4-BE49-F238E27FC236}">
                <a16:creationId xmlns:a16="http://schemas.microsoft.com/office/drawing/2014/main" id="{DCA3BA35-E5E2-4610-BE11-C1D22F2200C0}"/>
              </a:ext>
            </a:extLst>
          </p:cNvPr>
          <p:cNvSpPr/>
          <p:nvPr/>
        </p:nvSpPr>
        <p:spPr>
          <a:xfrm rot="8597487">
            <a:off x="3599987" y="2842033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9" name="Arrow: Up 78">
            <a:extLst>
              <a:ext uri="{FF2B5EF4-FFF2-40B4-BE49-F238E27FC236}">
                <a16:creationId xmlns:a16="http://schemas.microsoft.com/office/drawing/2014/main" id="{54B27E3A-510E-424A-A265-4FB9BC58D8E7}"/>
              </a:ext>
            </a:extLst>
          </p:cNvPr>
          <p:cNvSpPr/>
          <p:nvPr/>
        </p:nvSpPr>
        <p:spPr>
          <a:xfrm rot="10800000">
            <a:off x="3649906" y="2921041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Arrow: Curved Down 14">
            <a:extLst>
              <a:ext uri="{FF2B5EF4-FFF2-40B4-BE49-F238E27FC236}">
                <a16:creationId xmlns:a16="http://schemas.microsoft.com/office/drawing/2014/main" id="{A4D84B0B-B4D0-4720-B988-1D5DF8F8A31E}"/>
              </a:ext>
            </a:extLst>
          </p:cNvPr>
          <p:cNvSpPr/>
          <p:nvPr/>
        </p:nvSpPr>
        <p:spPr>
          <a:xfrm rot="679148" flipH="1">
            <a:off x="2054061" y="2581046"/>
            <a:ext cx="558079" cy="213628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80" name="Arrow: Curved Down 79">
            <a:extLst>
              <a:ext uri="{FF2B5EF4-FFF2-40B4-BE49-F238E27FC236}">
                <a16:creationId xmlns:a16="http://schemas.microsoft.com/office/drawing/2014/main" id="{819AA9E6-529C-4EE2-AB57-E3FF00D9C558}"/>
              </a:ext>
            </a:extLst>
          </p:cNvPr>
          <p:cNvSpPr/>
          <p:nvPr/>
        </p:nvSpPr>
        <p:spPr>
          <a:xfrm rot="20280577" flipH="1" flipV="1">
            <a:off x="3769444" y="4478648"/>
            <a:ext cx="519829" cy="214113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2C0B574-9EDD-4748-BC18-36830B0CBB23}"/>
              </a:ext>
            </a:extLst>
          </p:cNvPr>
          <p:cNvCxnSpPr>
            <a:cxnSpLocks/>
          </p:cNvCxnSpPr>
          <p:nvPr/>
        </p:nvCxnSpPr>
        <p:spPr>
          <a:xfrm flipV="1">
            <a:off x="1029297" y="3429000"/>
            <a:ext cx="327170" cy="425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5BD5AEF-0262-41E1-8600-E78BC697BD4F}"/>
              </a:ext>
            </a:extLst>
          </p:cNvPr>
          <p:cNvCxnSpPr>
            <a:cxnSpLocks/>
          </p:cNvCxnSpPr>
          <p:nvPr/>
        </p:nvCxnSpPr>
        <p:spPr>
          <a:xfrm>
            <a:off x="1029297" y="3846947"/>
            <a:ext cx="434823" cy="280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8DA535-066E-4BFB-B9FF-31EAAEEB0BCA}"/>
                  </a:ext>
                </a:extLst>
              </p:cNvPr>
              <p:cNvSpPr txBox="1"/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8DA535-066E-4BFB-B9FF-31EAAEEB0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blipFill>
                <a:blip r:embed="rId2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475D768-1973-4E59-99F8-650D1E44EFAF}"/>
                  </a:ext>
                </a:extLst>
              </p:cNvPr>
              <p:cNvSpPr txBox="1"/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475D768-1973-4E59-99F8-650D1E44E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DCA466F4-4A3D-4190-B733-77517C6D038B}"/>
              </a:ext>
            </a:extLst>
          </p:cNvPr>
          <p:cNvCxnSpPr>
            <a:cxnSpLocks/>
          </p:cNvCxnSpPr>
          <p:nvPr/>
        </p:nvCxnSpPr>
        <p:spPr>
          <a:xfrm>
            <a:off x="4545195" y="3475318"/>
            <a:ext cx="301569" cy="479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943DB12E-E915-495D-8A86-D0AC1FB5D5D3}"/>
              </a:ext>
            </a:extLst>
          </p:cNvPr>
          <p:cNvCxnSpPr>
            <a:cxnSpLocks/>
          </p:cNvCxnSpPr>
          <p:nvPr/>
        </p:nvCxnSpPr>
        <p:spPr>
          <a:xfrm flipH="1">
            <a:off x="4144267" y="3475675"/>
            <a:ext cx="399108" cy="271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B73B01C-12A3-4162-A4A0-C6096F67501B}"/>
                  </a:ext>
                </a:extLst>
              </p:cNvPr>
              <p:cNvSpPr txBox="1"/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B73B01C-12A3-4162-A4A0-C6096F675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blipFill>
                <a:blip r:embed="rId2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5499DE1-B6BD-439B-8A55-41D944383B80}"/>
                  </a:ext>
                </a:extLst>
              </p:cNvPr>
              <p:cNvSpPr txBox="1"/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LID4096" sz="1400" dirty="0"/>
              </a:p>
            </p:txBody>
          </p:sp>
        </mc:Choice>
        <mc:Fallback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5499DE1-B6BD-439B-8A55-41D944383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blipFill>
                <a:blip r:embed="rId4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3CA26D5-3704-4F66-A651-164F798F8060}"/>
                  </a:ext>
                </a:extLst>
              </p:cNvPr>
              <p:cNvSpPr txBox="1"/>
              <p:nvPr/>
            </p:nvSpPr>
            <p:spPr>
              <a:xfrm>
                <a:off x="1192882" y="5025272"/>
                <a:ext cx="4351243" cy="1585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Frustration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is locally relieved. For infinitesimal disorder this is a perturbative correction to the bulk Hamiltonian,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acc>
                        </m:sub>
                        <m:sup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3CA26D5-3704-4F66-A651-164F798F8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2882" y="5025272"/>
                <a:ext cx="4351243" cy="1585627"/>
              </a:xfrm>
              <a:prstGeom prst="rect">
                <a:avLst/>
              </a:prstGeom>
              <a:blipFill>
                <a:blip r:embed="rId5"/>
                <a:stretch>
                  <a:fillRect l="-1262" t="-192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E9CC5D54-0080-4C21-9CB5-D40E074EEF7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06395" y="2097259"/>
                <a:ext cx="5138822" cy="451363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a linear response approximation this leads to finite expectation value of transverse spin fluctuation.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If we consider the Goldstone modes,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sub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⃗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sub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</m:e>
                    </m:d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</m:e>
                    </m:d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, the response is dipolar,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2D, the real space response is also dipolar</a:t>
                </a:r>
              </a:p>
            </p:txBody>
          </p:sp>
        </mc:Choice>
        <mc:Fallback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E9CC5D54-0080-4C21-9CB5-D40E074E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6395" y="2097259"/>
                <a:ext cx="5138822" cy="4513639"/>
              </a:xfrm>
              <a:prstGeom prst="rect">
                <a:avLst/>
              </a:prstGeom>
              <a:blipFill>
                <a:blip r:embed="rId6"/>
                <a:stretch>
                  <a:fillRect l="-831" t="-121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5DDA08-7A1C-4299-8317-113F9D651360}"/>
                  </a:ext>
                </a:extLst>
              </p:cNvPr>
              <p:cNvSpPr txBox="1"/>
              <p:nvPr/>
            </p:nvSpPr>
            <p:spPr>
              <a:xfrm>
                <a:off x="6859387" y="2840258"/>
                <a:ext cx="3741950" cy="5821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⟨"/>
                              <m:endChr m:val="⟩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LID4096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5DDA08-7A1C-4299-8317-113F9D651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387" y="2840258"/>
                <a:ext cx="3741950" cy="58214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44851C4-C121-479C-8993-D23E0B5BFEEA}"/>
                  </a:ext>
                </a:extLst>
              </p:cNvPr>
              <p:cNvSpPr txBox="1"/>
              <p:nvPr/>
            </p:nvSpPr>
            <p:spPr>
              <a:xfrm>
                <a:off x="6204626" y="3377149"/>
                <a:ext cx="3741950" cy="3710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</m:oMath>
                  </m:oMathPara>
                </a14:m>
                <a:endParaRPr lang="LID4096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44851C4-C121-479C-8993-D23E0B5BF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626" y="3377149"/>
                <a:ext cx="3741950" cy="371064"/>
              </a:xfrm>
              <a:prstGeom prst="rect">
                <a:avLst/>
              </a:prstGeom>
              <a:blipFill>
                <a:blip r:embed="rId8"/>
                <a:stretch>
                  <a:fillRect b="-327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AC2280B-96A5-4F4F-9647-BC8469FA8AA8}"/>
                  </a:ext>
                </a:extLst>
              </p:cNvPr>
              <p:cNvSpPr txBox="1"/>
              <p:nvPr/>
            </p:nvSpPr>
            <p:spPr>
              <a:xfrm>
                <a:off x="6778078" y="3741239"/>
                <a:ext cx="4718766" cy="5721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. 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</m:acc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e>
                      </m:d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LID4096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AC2280B-96A5-4F4F-9647-BC8469FA8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8078" y="3741239"/>
                <a:ext cx="4718766" cy="57214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C91CD0E-8444-49E0-BF05-DFF3E5674584}"/>
                  </a:ext>
                </a:extLst>
              </p:cNvPr>
              <p:cNvSpPr txBox="1"/>
              <p:nvPr/>
            </p:nvSpPr>
            <p:spPr>
              <a:xfrm>
                <a:off x="7154082" y="5171415"/>
                <a:ext cx="2921096" cy="6891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 (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acc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)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den>
                      </m:f>
                    </m:oMath>
                  </m:oMathPara>
                </a14:m>
                <a:endParaRPr lang="LID4096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C91CD0E-8444-49E0-BF05-DFF3E5674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4082" y="5171415"/>
                <a:ext cx="2921096" cy="6891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1B23B8-B407-498C-923E-F20AF5881157}"/>
                  </a:ext>
                </a:extLst>
              </p:cNvPr>
              <p:cNvSpPr txBox="1"/>
              <p:nvPr/>
            </p:nvSpPr>
            <p:spPr>
              <a:xfrm>
                <a:off x="7154082" y="6067531"/>
                <a:ext cx="2921096" cy="613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LID4096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1B23B8-B407-498C-923E-F20AF588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4082" y="6067531"/>
                <a:ext cx="2921096" cy="61324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07F661C-8004-4D22-8269-80EDFF1AF054}"/>
                  </a:ext>
                </a:extLst>
              </p:cNvPr>
              <p:cNvSpPr txBox="1"/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07F661C-8004-4D22-8269-80EDFF1AF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blipFill>
                <a:blip r:embed="rId12"/>
                <a:stretch>
                  <a:fillRect r="-2368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0E445E-5E05-4F78-AE27-F235C3E05E81}"/>
                  </a:ext>
                </a:extLst>
              </p:cNvPr>
              <p:cNvSpPr txBox="1"/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0E445E-5E05-4F78-AE27-F235C3E05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blipFill>
                <a:blip r:embed="rId1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1453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5850" y="2036603"/>
                <a:ext cx="5383635" cy="4140360"/>
              </a:xfrm>
            </p:spPr>
            <p:txBody>
              <a:bodyPr>
                <a:normAutofit lnSpcReduction="10000"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Bond impurity: Dipolar response</a:t>
                </a: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5850" y="2036603"/>
                <a:ext cx="5383635" cy="4140360"/>
              </a:xfrm>
              <a:blipFill>
                <a:blip r:embed="rId2"/>
                <a:stretch>
                  <a:fillRect l="-1925" t="-32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Impurities in a 2D non-collinear antiferromagnet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Content Placeholder 2">
                <a:extLst>
                  <a:ext uri="{FF2B5EF4-FFF2-40B4-BE49-F238E27FC236}">
                    <a16:creationId xmlns:a16="http://schemas.microsoft.com/office/drawing/2014/main" id="{1D64F189-8CCC-4E65-85DE-7BB8C3AC3D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21835" y="2036602"/>
                <a:ext cx="5257800" cy="465780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Vacancy: Octupolar response</a:t>
                </a: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    </a:t>
                </a:r>
                <a:r>
                  <a:rPr lang="en-US" sz="1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(</a:t>
                </a:r>
                <a:r>
                  <a:rPr lang="en-US" sz="18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Wollny,Fritz</a:t>
                </a:r>
                <a:r>
                  <a:rPr lang="en-US" sz="1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and Vojta,PRL,2011)</a:t>
                </a:r>
              </a:p>
            </p:txBody>
          </p:sp>
        </mc:Choice>
        <mc:Fallback>
          <p:sp>
            <p:nvSpPr>
              <p:cNvPr id="63" name="Content Placeholder 2">
                <a:extLst>
                  <a:ext uri="{FF2B5EF4-FFF2-40B4-BE49-F238E27FC236}">
                    <a16:creationId xmlns:a16="http://schemas.microsoft.com/office/drawing/2014/main" id="{1D64F189-8CCC-4E65-85DE-7BB8C3AC3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835" y="2036602"/>
                <a:ext cx="5257800" cy="4657809"/>
              </a:xfrm>
              <a:prstGeom prst="rect">
                <a:avLst/>
              </a:prstGeom>
              <a:blipFill>
                <a:blip r:embed="rId3"/>
                <a:stretch>
                  <a:fillRect l="-2088" t="-28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27C707B6-51B3-4036-A46B-0D29A9A9A4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783" y="2762962"/>
            <a:ext cx="2249095" cy="23785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9C5C4B7-34A4-48C1-A1DC-06A11ED8C3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165" y="2762962"/>
            <a:ext cx="2424322" cy="23785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60C39C8-1D7E-4E9C-8D78-A389E4BAD3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026" y="2930141"/>
            <a:ext cx="2157781" cy="215778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83EC524-5C28-4BC8-A346-49D6A760C3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622" y="2930141"/>
            <a:ext cx="2058011" cy="205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943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Bond impurity: Dipolar response</a:t>
                </a: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Transverse fluctuation is proportional to the strength of the bond impurity.</a:t>
                </a: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For a disordered system, one expects the impurity magnitudes,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sub>
                    </m:sSub>
                  </m:oMath>
                </a14:m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to be uncorrelated.</a:t>
                </a:r>
                <a:endParaRPr 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199" y="1490854"/>
            <a:ext cx="1044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Dipolar response and infrared divergence of frustrated non-collinear magnets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6182766" y="4626166"/>
                <a:ext cx="510042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integral diverges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≤2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Hence the lower critical dimension for bond disordered non-collinear magnets is,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2766" y="4626166"/>
                <a:ext cx="5100427" cy="1754326"/>
              </a:xfrm>
              <a:prstGeom prst="rect">
                <a:avLst/>
              </a:prstGeom>
              <a:blipFill>
                <a:blip r:embed="rId3"/>
                <a:stretch>
                  <a:fillRect l="-717" t="-208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Rectangle 244">
            <a:extLst>
              <a:ext uri="{FF2B5EF4-FFF2-40B4-BE49-F238E27FC236}">
                <a16:creationId xmlns:a16="http://schemas.microsoft.com/office/drawing/2014/main" id="{C143E3E0-E5AF-4DCA-8D45-ABF1F63F708D}"/>
              </a:ext>
            </a:extLst>
          </p:cNvPr>
          <p:cNvSpPr/>
          <p:nvPr/>
        </p:nvSpPr>
        <p:spPr>
          <a:xfrm>
            <a:off x="8217590" y="6017771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53D487-41DE-4E55-AC40-716497812C4B}"/>
                  </a:ext>
                </a:extLst>
              </p:cNvPr>
              <p:cNvSpPr txBox="1"/>
              <p:nvPr/>
            </p:nvSpPr>
            <p:spPr>
              <a:xfrm>
                <a:off x="2856789" y="3000315"/>
                <a:ext cx="7415868" cy="4024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sub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bSup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, for a distribution of bond impurities.</a:t>
                </a:r>
                <a:endParaRPr lang="LID4096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53D487-41DE-4E55-AC40-716497812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789" y="3000315"/>
                <a:ext cx="7415868" cy="402482"/>
              </a:xfrm>
              <a:prstGeom prst="rect">
                <a:avLst/>
              </a:prstGeom>
              <a:blipFill>
                <a:blip r:embed="rId4"/>
                <a:stretch>
                  <a:fillRect t="-104545" b="-1681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F5CF77-369F-46EF-8F28-41FBAA86F3FF}"/>
                  </a:ext>
                </a:extLst>
              </p:cNvPr>
              <p:cNvSpPr txBox="1"/>
              <p:nvPr/>
            </p:nvSpPr>
            <p:spPr>
              <a:xfrm>
                <a:off x="4362276" y="3991085"/>
                <a:ext cx="2718033" cy="3754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  <m:r>
                              <a:rPr lang="en-US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b>
                        </m:sSub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( </m:t>
                    </m:r>
                    <m:acc>
                      <m:accPr>
                        <m:chr m:val="⃗"/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− </m:t>
                    </m:r>
                    <m:acc>
                      <m:accPr>
                        <m:chr m:val="⃗"/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:endParaRPr lang="LID4096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F5CF77-369F-46EF-8F28-41FBAA86F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276" y="3991085"/>
                <a:ext cx="2718033" cy="375424"/>
              </a:xfrm>
              <a:prstGeom prst="rect">
                <a:avLst/>
              </a:prstGeom>
              <a:blipFill>
                <a:blip r:embed="rId5"/>
                <a:stretch>
                  <a:fillRect t="-19672" b="-1475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6F0511A-6176-4E21-A3E6-223AC73965EE}"/>
                  </a:ext>
                </a:extLst>
              </p:cNvPr>
              <p:cNvSpPr txBox="1"/>
              <p:nvPr/>
            </p:nvSpPr>
            <p:spPr>
              <a:xfrm>
                <a:off x="1166443" y="4626166"/>
                <a:ext cx="4688080" cy="20347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This implies that the transverse correlation has a divergent contribution,</a:t>
                </a:r>
                <a:endParaRPr lang="en-US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  <m: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nary>
                        <m:naryPr>
                          <m:subHide m:val="on"/>
                          <m:supHide m:val="on"/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  <m:sSubSup>
                            <m:sSubSup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∼∫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6F0511A-6176-4E21-A3E6-223AC739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443" y="4626166"/>
                <a:ext cx="4688080" cy="2034788"/>
              </a:xfrm>
              <a:prstGeom prst="rect">
                <a:avLst/>
              </a:prstGeom>
              <a:blipFill>
                <a:blip r:embed="rId6"/>
                <a:stretch>
                  <a:fillRect l="-1040" t="-1796" r="-22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42319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383813" cy="922529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 of disordered frustrated non-collinear magnets: Energetics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D567242-5A9E-41B9-B90C-625163F4C5F0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1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Incommensurate order in non-collinear magnets</a:t>
            </a:r>
          </a:p>
          <a:p>
            <a:pPr lvl="1">
              <a:lnSpc>
                <a:spcPct val="110000"/>
              </a:lnSpc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Our test syste</a:t>
            </a:r>
            <a:r>
              <a:rPr lang="en-US" dirty="0"/>
              <a:t>m: The triangular lattice Heisenberg model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Claim: In a system with random couplings, some rare regions emerge with a particular bond anisotropy orientation.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Disorder energetics: Incommensurability domains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6096000" y="3071366"/>
                <a:ext cx="5100427" cy="2658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“isotropic” limit the ground state has spiral order with ordering vector,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With bond anisotropy the order is described by an incommensurate ordering vector,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fName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fName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</m:e>
                    </m:d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071366"/>
                <a:ext cx="5100427" cy="2658677"/>
              </a:xfrm>
              <a:prstGeom prst="rect">
                <a:avLst/>
              </a:prstGeom>
              <a:blipFill>
                <a:blip r:embed="rId2"/>
                <a:stretch>
                  <a:fillRect l="-717" t="-1376" r="-179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0E0AAD1-99C7-4545-9AFE-2E3D877EC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360" y="3071367"/>
            <a:ext cx="2520368" cy="245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05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Incommensurability domains:</a:t>
            </a:r>
          </a:p>
          <a:p>
            <a:pPr marL="457200" lvl="1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Disorder energetics: Incommensurability domains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C008A3C-58BC-4D61-944C-BF5112E8FA0F}"/>
                  </a:ext>
                </a:extLst>
              </p:cNvPr>
              <p:cNvSpPr txBox="1"/>
              <p:nvPr/>
            </p:nvSpPr>
            <p:spPr>
              <a:xfrm>
                <a:off x="1124126" y="2663505"/>
                <a:ext cx="5553512" cy="41193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In a lattice there is a discrete number of possible bond anisotropy orientation.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They define a sharp domain wall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 incommensurate ordering vectors follow the suit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 surface energy cost for such a domain formation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𝑠𝑢𝑟𝑓𝑎𝑐𝑒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−1 </m:t>
                        </m:r>
                      </m:sup>
                    </m:sSup>
                  </m:oMath>
                </a14:m>
                <a:r>
                  <a:rPr lang="en-US" dirty="0"/>
                  <a:t> , while the bulk energy gain is determined by the volume and the central limit theorem,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dirty="0"/>
                  <a:t>. Hence the critical dimension is once again,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C008A3C-58BC-4D61-944C-BF5112E8FA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126" y="2663505"/>
                <a:ext cx="5553512" cy="4119333"/>
              </a:xfrm>
              <a:prstGeom prst="rect">
                <a:avLst/>
              </a:prstGeom>
              <a:blipFill>
                <a:blip r:embed="rId2"/>
                <a:stretch>
                  <a:fillRect l="-768" t="-888" r="-186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D7BCC96B-FD2A-4B72-9856-1CFE89872D2C}"/>
              </a:ext>
            </a:extLst>
          </p:cNvPr>
          <p:cNvSpPr/>
          <p:nvPr/>
        </p:nvSpPr>
        <p:spPr>
          <a:xfrm>
            <a:off x="3419087" y="6093271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6428F22-64A1-4831-90F8-03179D4FD98A}"/>
                  </a:ext>
                </a:extLst>
              </p14:cNvPr>
              <p14:cNvContentPartPr/>
              <p14:nvPr/>
            </p14:nvContentPartPr>
            <p14:xfrm>
              <a:off x="7380034" y="2821367"/>
              <a:ext cx="3687840" cy="30826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6428F22-64A1-4831-90F8-03179D4FD98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371034" y="2812367"/>
                <a:ext cx="3705480" cy="3100320"/>
              </a:xfrm>
              <a:prstGeom prst="rect">
                <a:avLst/>
              </a:prstGeom>
            </p:spPr>
          </p:pic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B1ACE0-4F89-4EE1-A7A0-8314534481A3}"/>
              </a:ext>
            </a:extLst>
          </p:cNvPr>
          <p:cNvCxnSpPr>
            <a:cxnSpLocks/>
          </p:cNvCxnSpPr>
          <p:nvPr/>
        </p:nvCxnSpPr>
        <p:spPr>
          <a:xfrm>
            <a:off x="7499758" y="4400026"/>
            <a:ext cx="1853967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ABBE17F-27C5-499F-92A9-C43ECF7E5AB7}"/>
              </a:ext>
            </a:extLst>
          </p:cNvPr>
          <p:cNvCxnSpPr>
            <a:cxnSpLocks/>
          </p:cNvCxnSpPr>
          <p:nvPr/>
        </p:nvCxnSpPr>
        <p:spPr>
          <a:xfrm>
            <a:off x="7415868" y="4682625"/>
            <a:ext cx="1904301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DF61E52-0E4B-4F3B-896C-10F78936261A}"/>
              </a:ext>
            </a:extLst>
          </p:cNvPr>
          <p:cNvCxnSpPr>
            <a:cxnSpLocks/>
          </p:cNvCxnSpPr>
          <p:nvPr/>
        </p:nvCxnSpPr>
        <p:spPr>
          <a:xfrm>
            <a:off x="7369987" y="4980265"/>
            <a:ext cx="1899848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2A4D8F-997B-488C-837A-7B35F2FCF71F}"/>
              </a:ext>
            </a:extLst>
          </p:cNvPr>
          <p:cNvCxnSpPr>
            <a:cxnSpLocks/>
          </p:cNvCxnSpPr>
          <p:nvPr/>
        </p:nvCxnSpPr>
        <p:spPr>
          <a:xfrm>
            <a:off x="7415868" y="5299047"/>
            <a:ext cx="1808086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B7F1367-F36E-489E-A969-A6F187E76615}"/>
              </a:ext>
            </a:extLst>
          </p:cNvPr>
          <p:cNvCxnSpPr>
            <a:cxnSpLocks/>
          </p:cNvCxnSpPr>
          <p:nvPr/>
        </p:nvCxnSpPr>
        <p:spPr>
          <a:xfrm>
            <a:off x="7575259" y="5575883"/>
            <a:ext cx="1812022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537C2EC-0320-4C33-BF8F-ECC02E6563E6}"/>
              </a:ext>
            </a:extLst>
          </p:cNvPr>
          <p:cNvCxnSpPr>
            <a:cxnSpLocks/>
          </p:cNvCxnSpPr>
          <p:nvPr/>
        </p:nvCxnSpPr>
        <p:spPr>
          <a:xfrm>
            <a:off x="7702492" y="4109208"/>
            <a:ext cx="1567343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A6FF69A-1437-4878-B7A2-06EEB86FB29B}"/>
              </a:ext>
            </a:extLst>
          </p:cNvPr>
          <p:cNvCxnSpPr>
            <a:cxnSpLocks/>
          </p:cNvCxnSpPr>
          <p:nvPr/>
        </p:nvCxnSpPr>
        <p:spPr>
          <a:xfrm flipV="1">
            <a:off x="8235581" y="3815594"/>
            <a:ext cx="824529" cy="11016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9F219F9-17F5-495D-A78A-CF8426FF3467}"/>
              </a:ext>
            </a:extLst>
          </p:cNvPr>
          <p:cNvCxnSpPr>
            <a:cxnSpLocks/>
          </p:cNvCxnSpPr>
          <p:nvPr/>
        </p:nvCxnSpPr>
        <p:spPr>
          <a:xfrm flipH="1" flipV="1">
            <a:off x="9353725" y="2965508"/>
            <a:ext cx="33556" cy="2642532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720B8D1-910E-47A7-80CF-4D4278D13941}"/>
              </a:ext>
            </a:extLst>
          </p:cNvPr>
          <p:cNvCxnSpPr>
            <a:cxnSpLocks/>
          </p:cNvCxnSpPr>
          <p:nvPr/>
        </p:nvCxnSpPr>
        <p:spPr>
          <a:xfrm flipH="1" flipV="1">
            <a:off x="9623570" y="2881619"/>
            <a:ext cx="40547" cy="2726421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8768208-2E61-451C-AD67-6FBBF112BE0B}"/>
              </a:ext>
            </a:extLst>
          </p:cNvPr>
          <p:cNvCxnSpPr>
            <a:cxnSpLocks/>
          </p:cNvCxnSpPr>
          <p:nvPr/>
        </p:nvCxnSpPr>
        <p:spPr>
          <a:xfrm flipH="1" flipV="1">
            <a:off x="9921638" y="2821368"/>
            <a:ext cx="29802" cy="2845395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0A1DABD-44A6-406E-816B-D8E0B6C3B9EB}"/>
              </a:ext>
            </a:extLst>
          </p:cNvPr>
          <p:cNvCxnSpPr>
            <a:cxnSpLocks/>
          </p:cNvCxnSpPr>
          <p:nvPr/>
        </p:nvCxnSpPr>
        <p:spPr>
          <a:xfrm flipH="1" flipV="1">
            <a:off x="10187914" y="2821375"/>
            <a:ext cx="33554" cy="2786665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B1BABB4-6955-4153-94FB-D830F1049EE5}"/>
              </a:ext>
            </a:extLst>
          </p:cNvPr>
          <p:cNvCxnSpPr>
            <a:cxnSpLocks/>
          </p:cNvCxnSpPr>
          <p:nvPr/>
        </p:nvCxnSpPr>
        <p:spPr>
          <a:xfrm flipV="1">
            <a:off x="10492880" y="2932329"/>
            <a:ext cx="0" cy="2549877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B12C872-7581-47A5-89FF-CDEE8DFE331D}"/>
              </a:ext>
            </a:extLst>
          </p:cNvPr>
          <p:cNvCxnSpPr>
            <a:cxnSpLocks/>
          </p:cNvCxnSpPr>
          <p:nvPr/>
        </p:nvCxnSpPr>
        <p:spPr>
          <a:xfrm flipV="1">
            <a:off x="10787893" y="3192012"/>
            <a:ext cx="0" cy="1996579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19395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Incommensurability domains:</a:t>
            </a:r>
          </a:p>
          <a:p>
            <a:pPr marL="457200" lvl="1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Disorder energetics: Incommensurability domains</a:t>
            </a:r>
            <a:endParaRPr lang="LID4096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008A3C-58BC-4D61-944C-BF5112E8FA0F}"/>
              </a:ext>
            </a:extLst>
          </p:cNvPr>
          <p:cNvSpPr txBox="1"/>
          <p:nvPr/>
        </p:nvSpPr>
        <p:spPr>
          <a:xfrm>
            <a:off x="1124125" y="2663505"/>
            <a:ext cx="8196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Our test system once again: The disordered triangular lattice antiferromagnet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56D924-0C55-4D15-9A85-174682CC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366" y="3229571"/>
            <a:ext cx="3956757" cy="338514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125CC0C-6684-4FBC-979A-E3BD550397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0846" y="3199696"/>
            <a:ext cx="3758106" cy="344489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727D4E-5455-4039-8C20-0027B33BF58E}"/>
                  </a:ext>
                </a:extLst>
              </p:cNvPr>
              <p:cNvSpPr txBox="1"/>
              <p:nvPr/>
            </p:nvSpPr>
            <p:spPr>
              <a:xfrm>
                <a:off x="4651155" y="3199696"/>
                <a:ext cx="423899" cy="4047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LID4096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727D4E-5455-4039-8C20-0027B33BF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155" y="3199696"/>
                <a:ext cx="423899" cy="404791"/>
              </a:xfrm>
              <a:prstGeom prst="rect">
                <a:avLst/>
              </a:prstGeom>
              <a:blipFill>
                <a:blip r:embed="rId4"/>
                <a:stretch>
                  <a:fillRect t="-22727" r="-24286" b="-15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3B34F3E-6051-40F6-8AFA-565B0A96268A}"/>
                  </a:ext>
                </a:extLst>
              </p:cNvPr>
              <p:cNvSpPr txBox="1"/>
              <p:nvPr/>
            </p:nvSpPr>
            <p:spPr>
              <a:xfrm>
                <a:off x="10275337" y="3169822"/>
                <a:ext cx="460382" cy="4047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LID4096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3B34F3E-6051-40F6-8AFA-565B0A962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337" y="3169822"/>
                <a:ext cx="460382" cy="404791"/>
              </a:xfrm>
              <a:prstGeom prst="rect">
                <a:avLst/>
              </a:prstGeom>
              <a:blipFill>
                <a:blip r:embed="rId5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2F2FB3EA-C8D6-46E8-BF4D-ACC64FC11FB9}"/>
              </a:ext>
            </a:extLst>
          </p:cNvPr>
          <p:cNvSpPr txBox="1"/>
          <p:nvPr/>
        </p:nvSpPr>
        <p:spPr>
          <a:xfrm>
            <a:off x="4997743" y="5751073"/>
            <a:ext cx="3156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Discrete domain formation and destruction of long range order.</a:t>
            </a:r>
            <a:endParaRPr lang="LID4096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7098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Correlation length grows exponentially with inverse disorder strength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Sup>
                        <m:sSubSup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func>
                        <m:func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Implication: For small distance resolution, an appearance of </a:t>
                </a:r>
                <a:r>
                  <a:rPr lang="en-US" sz="24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quasi order</a:t>
                </a: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At finite temperature the system is thermally disordered with bare thermal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  <m:f>
                          <m:f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  <m:r>
                              <a:rPr lang="en-US" sz="24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. 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dirty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dirty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sup>
                        </m:sSup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 </m:t>
                        </m:r>
                      </m:e>
                    </m:nary>
                  </m:oMath>
                </a14:m>
                <a:r>
                  <a:rPr lang="en-US" sz="24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also diverging. The domination of quenched vs thermal disorder is determined by the ratio,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en-US" sz="24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  <a:blipFill>
                <a:blip r:embed="rId2"/>
                <a:stretch>
                  <a:fillRect l="-812" t="-66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 emergent orders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LID4096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blipFill>
                <a:blip r:embed="rId3"/>
                <a:stretch>
                  <a:fillRect l="-1136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047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LID4096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a quasi-2D system with multiple layers, when the couplings between the different layers are finite the model essentially has an extra dimension. So, in such a system long range order is not broken as long as layer couplings are finite.</a:t>
                </a: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For a model with SU(2) symmetry broken, if all the low energy modes get gapped out, say, with an energy scale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4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 In effect, long range order survives if,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≪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2−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sz="24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  <a:blipFill>
                <a:blip r:embed="rId2"/>
                <a:stretch>
                  <a:fillRect l="-812" t="-666" r="-4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 emergent orders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LID4096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blipFill>
                <a:blip r:embed="rId3"/>
                <a:stretch>
                  <a:fillRect l="-1136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692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An example</a:t>
            </a:r>
            <a:endParaRPr lang="LID4096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350257" cy="909945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Experiments and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microscopics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on disordered triangular lattice antiferromagnet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5B3AE-7BD3-414D-8C84-8BAC6069E752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277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931</TotalTime>
  <Words>1065</Words>
  <Application>Microsoft Office PowerPoint</Application>
  <PresentationFormat>Widescreen</PresentationFormat>
  <Paragraphs>219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Quenched Bond Disorder in Frustrated Non-Collinear Magnets</vt:lpstr>
      <vt:lpstr>Content</vt:lpstr>
      <vt:lpstr>Quenched Disorder: Random Fields</vt:lpstr>
      <vt:lpstr>Quenched Disorder: Random Fields</vt:lpstr>
      <vt:lpstr>Quenched Disorder: Random Fields</vt:lpstr>
      <vt:lpstr>Quenched Disorder: Random Fields</vt:lpstr>
      <vt:lpstr>Quenched Disorder: Random Fields</vt:lpstr>
      <vt:lpstr>Quenched Disorder: Random Fields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An example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Quenched Bond Disorder in Non-Collinear Magnets</dc:title>
  <dc:creator>Santanu Dey</dc:creator>
  <cp:lastModifiedBy>Santanu Dey</cp:lastModifiedBy>
  <cp:revision>104</cp:revision>
  <dcterms:created xsi:type="dcterms:W3CDTF">2017-12-30T15:09:56Z</dcterms:created>
  <dcterms:modified xsi:type="dcterms:W3CDTF">2018-01-01T22:57:44Z</dcterms:modified>
</cp:coreProperties>
</file>