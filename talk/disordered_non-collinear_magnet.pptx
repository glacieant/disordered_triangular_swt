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60" r:id="rId3"/>
    <p:sldId id="272" r:id="rId4"/>
    <p:sldId id="261" r:id="rId5"/>
    <p:sldId id="262" r:id="rId6"/>
    <p:sldId id="264" r:id="rId7"/>
    <p:sldId id="265" r:id="rId8"/>
    <p:sldId id="266" r:id="rId9"/>
    <p:sldId id="273" r:id="rId10"/>
    <p:sldId id="267" r:id="rId11"/>
    <p:sldId id="268" r:id="rId12"/>
    <p:sldId id="269" r:id="rId13"/>
    <p:sldId id="270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5/10/relationships/revisionInfo" Target="revisionInfo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-1">4518 1723,'-2'3</inkml:trace>
  <inkml:trace contextRef="#ctx0" brushRef="#br0" timeOffset="-3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 timeOffset="-11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 timeOffset="-20045.5966">4869 1225,'-1'1,"-14"16</inkml:trace>
  <inkml:trace contextRef="#ctx0" brushRef="#br0" timeOffset="-20047.5966">4851 1245,'-2'3</inkml:trace>
  <inkml:trace contextRef="#ctx0" brushRef="#br0" timeOffset="-20049.5966">4843 1254,'-17'22,"-4"4,4 1,5-3,-2-2,3 2,9-21</inkml:trace>
  <inkml:trace contextRef="#ctx0" brushRef="#br0" timeOffset="-19">4526 1720,'2'-4</inkml:trace>
  <inkml:trace contextRef="#ctx0" brushRef="#br0" timeOffset="-2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 timeOffset="-26">4589 1647,'1'-1</inkml:trace>
  <inkml:trace contextRef="#ctx0" brushRef="#br0" timeOffset="16654.9779">4602 1634,'2'-2</inkml:trace>
  <inkml:trace contextRef="#ctx0" brushRef="#br0" timeOffset="-31">4834 1317,'4'-6,"5"-6</inkml:trace>
  <inkml:trace contextRef="#ctx0" brushRef="#br0" timeOffset="-32">4860 1280,'0'0</inkml:trace>
  <inkml:trace contextRef="#ctx0" brushRef="#br0" timeOffset="-34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 timeOffset="-42">4986 1080,'-1'0,"-2"2</inkml:trace>
  <inkml:trace contextRef="#ctx0" brushRef="#br0" timeOffset="-45">4585 1647,'5'-6</inkml:trace>
  <inkml:trace contextRef="#ctx0" brushRef="#br0" timeOffset="-46">4595 1634,'7'-9,"-5"6</inkml:trace>
  <inkml:trace contextRef="#ctx0" brushRef="#br0" timeOffset="-48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 timeOffset="-52">4650 1558,'0'0</inkml:trace>
  <inkml:trace contextRef="#ctx0" brushRef="#br0" timeOffset="-54">4658 1548,'0'-1,"2"-2</inkml:trace>
  <inkml:trace contextRef="#ctx0" brushRef="#br0" timeOffset="-56">4665 1538,'8'-13</inkml:trace>
  <inkml:trace contextRef="#ctx0" brushRef="#br0" timeOffset="-58">4686 1509,'9'-13,"3"-3</inkml:trace>
  <inkml:trace contextRef="#ctx0" brushRef="#br0" timeOffset="-60">4721 1463,'9'-11</inkml:trace>
  <inkml:trace contextRef="#ctx0" brushRef="#br0" timeOffset="-62">4743 1436,'4'-5</inkml:trace>
  <inkml:trace contextRef="#ctx0" brushRef="#br0" timeOffset="-64">4751 1426,'3'-4,"-1"2</inkml:trace>
  <inkml:trace contextRef="#ctx0" brushRef="#br0" timeOffset="-66">4809 1343,'0'0</inkml:trace>
  <inkml:trace contextRef="#ctx0" brushRef="#br0" timeOffset="-68">4822 1320,'6'-11,"5"-12,1 1,0-1,2 1,1 1,1-1,1-1,0 0,-11 15</inkml:trace>
  <inkml:trace contextRef="#ctx0" brushRef="#br0" timeOffset="-70">4955 1112,'4'-6,"-3"5</inkml:trace>
  <inkml:trace contextRef="#ctx0" brushRef="#br0" timeOffset="-72">4963 1101,'4'-5</inkml:trace>
  <inkml:trace contextRef="#ctx0" brushRef="#br0" timeOffset="-74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 timeOffset="-80">4756 1394,'-2'3,"-15"22,0 0,0-1,1-1,-1-1,0-1,2 0,0 1,1-1,-1-1,0 0,10-14</inkml:trace>
  <inkml:trace contextRef="#ctx0" brushRef="#br0" timeOffset="-82">4564 1659,'-16'19,"5"-6</inkml:trace>
  <inkml:trace contextRef="#ctx0" brushRef="#br0" timeOffset="-84">4528 1702,'-9'11,"-1"3</inkml:trace>
  <inkml:trace contextRef="#ctx0" brushRef="#br0" timeOffset="-86">4492 1753,'-7'10</inkml:trace>
  <inkml:trace contextRef="#ctx0" brushRef="#br0" timeOffset="-90">4826 1320,'8'-13,"3"-8,-9 18</inkml:trace>
  <inkml:trace contextRef="#ctx0" brushRef="#br0" timeOffset="-92">4849 1280,'8'-14,"5"-6,-1 1,-6 10</inkml:trace>
  <inkml:trace contextRef="#ctx0" brushRef="#br0" timeOffset="-94">4888 1218,'7'-10,"-5"7</inkml:trace>
  <inkml:trace contextRef="#ctx0" brushRef="#br0" timeOffset="-96">4900 1201,'8'-12,"6"-9,-13 20</inkml:trace>
  <inkml:trace contextRef="#ctx0" brushRef="#br0" timeOffset="-98">4930 1157,'4'-6</inkml:trace>
  <inkml:trace contextRef="#ctx0" brushRef="#br0" timeOffset="-100">4938 1145,'10'-16</inkml:trace>
  <inkml:trace contextRef="#ctx0" brushRef="#br0" timeOffset="-102">4958 1112,'2'-4</inkml:trace>
  <inkml:trace contextRef="#ctx0" brushRef="#br0" timeOffset="-104">4965 1101,'1'-3,"0"1</inkml:trace>
  <inkml:trace contextRef="#ctx0" brushRef="#br0" timeOffset="-106">4975 1082,'5'-9,"1"0</inkml:trace>
  <inkml:trace contextRef="#ctx0" brushRef="#br0" timeOffset="-108">4993 1052,'1'-1</inkml:trace>
  <inkml:trace contextRef="#ctx0" brushRef="#br0" timeOffset="-11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7:19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8:21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1T21:06:22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BE938-785C-4940-BE00-5BC60C070EFF}" type="datetimeFigureOut">
              <a:rPr lang="en-US" smtClean="0"/>
              <a:t>1/3/18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B83A6-E777-D54C-9954-D88660D3A4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36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F46FAA3-1522-47CE-AE5E-83B08EDD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70921F06-3EE9-4B26-A276-295DF756D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196D102-A62D-479E-B867-29308A24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0EFE8CB-A717-4008-B7A6-8B266DD2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6011396-60CB-4D89-BE39-E23D390F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4207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57DA403-3E94-4617-A2E1-34CE7C63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x-non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25E362B-934F-4060-AB42-732603207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x-none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6371B31-1840-4C25-93F6-179FABDD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D2C77E51-954A-4125-950D-B8CCC4C7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5FD49BF-D987-4B0E-9262-E7207729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242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0828EE-AE31-4A28-A890-CFDC5B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DB32E06-82AB-44F1-9E24-9ED2E60E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3EC13B6-885B-4B78-A7B1-537B8EA90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2241439-65AE-4E8A-81FD-74D2B9F63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64B4D3DD-6C85-4891-8EF2-91840624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57674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8C9FEB-8A68-4F2E-A904-2F861315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7E7AE05-5261-4D14-9D1A-08C858CC3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0AFA557C-6116-4401-96E9-4CC465C86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57059F40-EA09-4F32-8FEB-3B145C34B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225EED2F-3273-4CD8-A7E1-11AE8C898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3590B97-EE07-4BF1-8301-D1BC071C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5722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9437617-17DC-4F3C-9C5D-897BC026A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9CA2678-AC50-41DA-AB8E-6B83C66D1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3BCC35A4-623D-4752-A1AE-2070E59202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B1EA2481-0B6F-4B7F-8560-8F1925AFE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1277C0BE-07F2-4157-A646-1DB0F58213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5BA401D9-F480-47C1-8F73-E070D6B1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12841643-EF07-4CE0-9694-EA2717CD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BE4CF00-4444-4523-806F-545CBAFED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0205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6012B7-9800-488D-BA99-B4DF0323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9E895F6D-7C5D-4006-A87B-349F44FE5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EE9607D6-D2DB-4C6E-B0FB-E076F247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504D8E5F-B697-46C5-8228-3A586DD0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9743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29472874-26BB-4331-84F8-071BD7D61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35C966F2-71E2-4793-8917-465D4A45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96B79BC-4A74-432F-B59E-FA4AA2BB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4948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6DDF8B-6807-48E0-B8FC-165161D4B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8BB1988-54DD-4432-A27F-744CF342E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AA27D5B-9AD5-4C38-B91B-965A5CB25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41A8AFF9-C2E8-4A42-8618-FF22F2B2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35A4815-B5D4-4391-8831-3233C14C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8B609176-D43D-45B2-95A7-8DC485EC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440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4CAA46-8A16-43F5-9CB9-A34FABC9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4E9B75DB-E0B0-4339-A619-74AEB332D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9E99C73-0D3B-44E9-B11B-58B9B7BEA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E5F7543-36CF-455E-9A97-9FF9B7627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B1ECC21-DDB0-4FFB-8D2B-8C7FEC28C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E0AB910-2886-4E19-9C81-191FC437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417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4A084CD-1E8C-4A7E-B437-7E442B87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1BE12E93-6ADF-476D-8363-879360D4B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7634495-0665-4650-BA00-BA04BB5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55AAA44A-AB8E-4CC5-9C77-1D34F59C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BA0F3B30-9EEB-4DA6-9A2A-3473F190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3129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B4A5D253-0E45-4209-83AA-2CFB0B043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0C0C01A5-51A9-4206-AEFF-2E52A31C6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A502940-9535-4027-9E9B-846BF615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EFB5E2F-6D85-4F02-B0E3-0FF19D94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762145E-5186-41B0-B073-35607700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826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F83135C8-BB37-45CA-9A36-54FD7FC94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8DFCCC3-0F14-4657-A999-0ABE6D16D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445300A-C008-4003-AC71-6CF4CE37C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77EC4-EC0D-4F28-8F13-53533F30B7B6}" type="datetimeFigureOut">
              <a:rPr lang="x-none" smtClean="0"/>
              <a:t>1/3/18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F5623A-A12A-4417-AA2E-9B60BB847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EAC9A77-3937-4AF3-96BA-9B9C6A9C9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59933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4" Type="http://schemas.openxmlformats.org/officeDocument/2006/relationships/image" Target="../media/image2.png"/><Relationship Id="rId5" Type="http://schemas.openxmlformats.org/officeDocument/2006/relationships/customXml" Target="../ink/ink2.xml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4" Type="http://schemas.openxmlformats.org/officeDocument/2006/relationships/image" Target="../media/image2.png"/><Relationship Id="rId5" Type="http://schemas.openxmlformats.org/officeDocument/2006/relationships/customXml" Target="../ink/ink4.xml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4" Type="http://schemas.openxmlformats.org/officeDocument/2006/relationships/image" Target="../media/image2.png"/><Relationship Id="rId5" Type="http://schemas.openxmlformats.org/officeDocument/2006/relationships/customXml" Target="../ink/ink6.xml"/><Relationship Id="rId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customXml" Target="../ink/ink7.xml"/><Relationship Id="rId5" Type="http://schemas.openxmlformats.org/officeDocument/2006/relationships/image" Target="../media/image11.png"/><Relationship Id="rId6" Type="http://schemas.openxmlformats.org/officeDocument/2006/relationships/customXml" Target="../ink/ink8.xml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image" Target="../media/image37.png"/><Relationship Id="rId12" Type="http://schemas.openxmlformats.org/officeDocument/2006/relationships/image" Target="../media/image30.png"/><Relationship Id="rId13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4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Relationship Id="rId3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615095"/>
            <a:ext cx="9440411" cy="2268414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Bond Disorder in Frustrated Non-Collinear Magnets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Santanu Dey</a:t>
            </a:r>
          </a:p>
          <a:p>
            <a:pPr algn="l"/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Technische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Universität Dresden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="" xmlns:a16="http://schemas.microsoft.com/office/drawing/2014/main" id="{0DC655DA-9C82-4575-97A3-8057E2A71008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914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Content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fields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Random fields and the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-Ma criterion.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Separate critical dimension for discrete and continuous symmetry.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couplings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Bond disorder in frustrated non-collinear magnets.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Rigid in-commensurability domains.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 example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Experimental observation from </a:t>
            </a:r>
            <a:r>
              <a:rPr lang="en-US" dirty="0" err="1"/>
              <a:t>Yb</a:t>
            </a:r>
            <a:r>
              <a:rPr lang="en-US" dirty="0"/>
              <a:t> compounds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Disordered triangular lattice Heisenberg antiferromagnet.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143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56180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20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absence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7" name="Arrow: Striped Right 136">
            <a:extLst>
              <a:ext uri="{FF2B5EF4-FFF2-40B4-BE49-F238E27FC236}">
                <a16:creationId xmlns=""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=""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=""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752" y="3957084"/>
                <a:ext cx="21406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94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</a:t>
            </a:r>
            <a:r>
              <a:rPr lang="en-US" dirty="0"/>
              <a:t>D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isorder: Random Fields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7" name="Arrow: Striped Right 136">
            <a:extLst>
              <a:ext uri="{FF2B5EF4-FFF2-40B4-BE49-F238E27FC236}">
                <a16:creationId xmlns="" xmlns:a16="http://schemas.microsoft.com/office/drawing/2014/main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="" xmlns:a16="http://schemas.microsoft.com/office/drawing/2014/main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1392" y="5779437"/>
                <a:ext cx="2140683" cy="402867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="" xmlns:a16="http://schemas.microsoft.com/office/drawing/2014/main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944" y="3722759"/>
                <a:ext cx="2140683" cy="6045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44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 simple picture with </a:t>
                </a:r>
                <a:r>
                  <a:rPr lang="en-US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Ising</a:t>
                </a: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spins: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long range order is destroyed if,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			       ,the critical dimension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for discrete symmetries.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 b="-25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="" xmlns:a16="http://schemas.microsoft.com/office/drawing/2014/main" id="{97771BAB-D58B-4263-8C32-E841ECD1E17B}"/>
                  </a:ext>
                </a:extLst>
              </p14:cNvPr>
              <p14:cNvContentPartPr/>
              <p14:nvPr/>
            </p14:nvContentPartPr>
            <p14:xfrm>
              <a:off x="938894" y="3349873"/>
              <a:ext cx="3687840" cy="30826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9894" y="334123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="" xmlns:a16="http://schemas.microsoft.com/office/drawing/2014/main" id="{2FF3984E-711F-4105-B95E-A9A2D638487F}"/>
              </a:ext>
            </a:extLst>
          </p:cNvPr>
          <p:cNvSpPr/>
          <p:nvPr/>
        </p:nvSpPr>
        <p:spPr>
          <a:xfrm>
            <a:off x="1546784" y="509901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="" xmlns:a16="http://schemas.microsoft.com/office/drawing/2014/main" id="{6BFFCD81-F949-447A-9FC9-DF88BD70E345}"/>
              </a:ext>
            </a:extLst>
          </p:cNvPr>
          <p:cNvSpPr/>
          <p:nvPr/>
        </p:nvSpPr>
        <p:spPr>
          <a:xfrm>
            <a:off x="1839105" y="485098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="" xmlns:a16="http://schemas.microsoft.com/office/drawing/2014/main" id="{7EA4C78D-BBD3-4473-B424-587F794FACF0}"/>
              </a:ext>
            </a:extLst>
          </p:cNvPr>
          <p:cNvSpPr/>
          <p:nvPr/>
        </p:nvSpPr>
        <p:spPr>
          <a:xfrm>
            <a:off x="2154674" y="51893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="" xmlns:a16="http://schemas.microsoft.com/office/drawing/2014/main" id="{5211C9B3-90B9-4631-A80A-82C7B392F580}"/>
              </a:ext>
            </a:extLst>
          </p:cNvPr>
          <p:cNvSpPr/>
          <p:nvPr/>
        </p:nvSpPr>
        <p:spPr>
          <a:xfrm>
            <a:off x="1839105" y="56192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="" xmlns:a16="http://schemas.microsoft.com/office/drawing/2014/main" id="{17A866B3-5F14-458E-94AD-26019B9F9B7D}"/>
              </a:ext>
            </a:extLst>
          </p:cNvPr>
          <p:cNvSpPr/>
          <p:nvPr/>
        </p:nvSpPr>
        <p:spPr>
          <a:xfrm>
            <a:off x="1231809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="" xmlns:a16="http://schemas.microsoft.com/office/drawing/2014/main" id="{6533292F-F228-4759-A51D-42E5BB51D450}"/>
              </a:ext>
            </a:extLst>
          </p:cNvPr>
          <p:cNvSpPr/>
          <p:nvPr/>
        </p:nvSpPr>
        <p:spPr>
          <a:xfrm>
            <a:off x="2423901" y="443536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="" xmlns:a16="http://schemas.microsoft.com/office/drawing/2014/main" id="{C625576E-B3B9-4A44-947F-B44ABADC4D22}"/>
              </a:ext>
            </a:extLst>
          </p:cNvPr>
          <p:cNvSpPr/>
          <p:nvPr/>
        </p:nvSpPr>
        <p:spPr>
          <a:xfrm>
            <a:off x="2625623" y="49815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="" xmlns:a16="http://schemas.microsoft.com/office/drawing/2014/main" id="{7B54DDFD-8801-4492-BAA3-B3054121AA5E}"/>
              </a:ext>
            </a:extLst>
          </p:cNvPr>
          <p:cNvSpPr/>
          <p:nvPr/>
        </p:nvSpPr>
        <p:spPr>
          <a:xfrm>
            <a:off x="2474337" y="558760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="" xmlns:a16="http://schemas.microsoft.com/office/drawing/2014/main" id="{F5B64205-5683-4979-8527-406AAAA0CBF2}"/>
              </a:ext>
            </a:extLst>
          </p:cNvPr>
          <p:cNvSpPr/>
          <p:nvPr/>
        </p:nvSpPr>
        <p:spPr>
          <a:xfrm>
            <a:off x="2053824" y="441762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="" xmlns:a16="http://schemas.microsoft.com/office/drawing/2014/main" id="{C8DCD650-0C34-4D6F-B938-131426C237D5}"/>
              </a:ext>
            </a:extLst>
          </p:cNvPr>
          <p:cNvSpPr/>
          <p:nvPr/>
        </p:nvSpPr>
        <p:spPr>
          <a:xfrm>
            <a:off x="2199830" y="597657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="" xmlns:a16="http://schemas.microsoft.com/office/drawing/2014/main" id="{2B021BF5-3BB1-4D1B-84BE-F85BB54E6066}"/>
              </a:ext>
            </a:extLst>
          </p:cNvPr>
          <p:cNvSpPr/>
          <p:nvPr/>
        </p:nvSpPr>
        <p:spPr>
          <a:xfrm>
            <a:off x="1524724" y="58270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="" xmlns:a16="http://schemas.microsoft.com/office/drawing/2014/main" id="{A7AA328E-A917-4F92-A3C8-B5EC49E727AC}"/>
              </a:ext>
            </a:extLst>
          </p:cNvPr>
          <p:cNvSpPr/>
          <p:nvPr/>
        </p:nvSpPr>
        <p:spPr>
          <a:xfrm>
            <a:off x="1240199" y="4870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="" xmlns:a16="http://schemas.microsoft.com/office/drawing/2014/main" id="{FC69F0A4-2A01-4795-9307-01E0E0A7FF17}"/>
              </a:ext>
            </a:extLst>
          </p:cNvPr>
          <p:cNvSpPr/>
          <p:nvPr/>
        </p:nvSpPr>
        <p:spPr>
          <a:xfrm>
            <a:off x="2802839" y="40328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="" xmlns:a16="http://schemas.microsoft.com/office/drawing/2014/main" id="{FE3CEC23-C6A1-4875-A9D0-FDAA89C9668E}"/>
              </a:ext>
            </a:extLst>
          </p:cNvPr>
          <p:cNvSpPr/>
          <p:nvPr/>
        </p:nvSpPr>
        <p:spPr>
          <a:xfrm>
            <a:off x="3064030" y="47468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="" xmlns:a16="http://schemas.microsoft.com/office/drawing/2014/main" id="{36A72173-DE9C-47D8-90C1-F779F5C7107E}"/>
              </a:ext>
            </a:extLst>
          </p:cNvPr>
          <p:cNvSpPr/>
          <p:nvPr/>
        </p:nvSpPr>
        <p:spPr>
          <a:xfrm>
            <a:off x="3137979" y="355097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="" xmlns:a16="http://schemas.microsoft.com/office/drawing/2014/main" id="{6FC215B2-2463-4E8F-92CF-5AEF66A93445}"/>
              </a:ext>
            </a:extLst>
          </p:cNvPr>
          <p:cNvSpPr/>
          <p:nvPr/>
        </p:nvSpPr>
        <p:spPr>
          <a:xfrm>
            <a:off x="3422080" y="40899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="" xmlns:a16="http://schemas.microsoft.com/office/drawing/2014/main" id="{69081293-8914-422C-BC95-EF0FED5FC437}"/>
              </a:ext>
            </a:extLst>
          </p:cNvPr>
          <p:cNvSpPr/>
          <p:nvPr/>
        </p:nvSpPr>
        <p:spPr>
          <a:xfrm>
            <a:off x="3547502" y="34230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="" xmlns:a16="http://schemas.microsoft.com/office/drawing/2014/main" id="{9F645E89-DC20-4F13-9488-423081A476DB}"/>
              </a:ext>
            </a:extLst>
          </p:cNvPr>
          <p:cNvSpPr/>
          <p:nvPr/>
        </p:nvSpPr>
        <p:spPr>
          <a:xfrm>
            <a:off x="3486668" y="47810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="" xmlns:a16="http://schemas.microsoft.com/office/drawing/2014/main" id="{5AEEC21C-A27C-447A-A421-A61A0FE9CB28}"/>
              </a:ext>
            </a:extLst>
          </p:cNvPr>
          <p:cNvSpPr/>
          <p:nvPr/>
        </p:nvSpPr>
        <p:spPr>
          <a:xfrm>
            <a:off x="3956455" y="37261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="" xmlns:a16="http://schemas.microsoft.com/office/drawing/2014/main" id="{84B0DBC9-B60E-4A0F-BC4C-2994C1F769B3}"/>
              </a:ext>
            </a:extLst>
          </p:cNvPr>
          <p:cNvSpPr/>
          <p:nvPr/>
        </p:nvSpPr>
        <p:spPr>
          <a:xfrm>
            <a:off x="3637814" y="557807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="" xmlns:a16="http://schemas.microsoft.com/office/drawing/2014/main" id="{412A6657-C05D-4BA9-A074-12B8C79F4BA7}"/>
              </a:ext>
            </a:extLst>
          </p:cNvPr>
          <p:cNvSpPr/>
          <p:nvPr/>
        </p:nvSpPr>
        <p:spPr>
          <a:xfrm>
            <a:off x="297424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="" xmlns:a16="http://schemas.microsoft.com/office/drawing/2014/main" id="{AE9034D6-4304-40E9-A17E-A7D718A8143D}"/>
              </a:ext>
            </a:extLst>
          </p:cNvPr>
          <p:cNvSpPr/>
          <p:nvPr/>
        </p:nvSpPr>
        <p:spPr>
          <a:xfrm>
            <a:off x="3927714" y="43654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="" xmlns:a16="http://schemas.microsoft.com/office/drawing/2014/main" id="{265785A4-17AC-4526-859E-D81D5F40F3E9}"/>
              </a:ext>
            </a:extLst>
          </p:cNvPr>
          <p:cNvSpPr/>
          <p:nvPr/>
        </p:nvSpPr>
        <p:spPr>
          <a:xfrm>
            <a:off x="4333002" y="420395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="" xmlns:a16="http://schemas.microsoft.com/office/drawing/2014/main" id="{FCC75C35-2930-4CFF-BC01-5B31F2518EC3}"/>
              </a:ext>
            </a:extLst>
          </p:cNvPr>
          <p:cNvSpPr/>
          <p:nvPr/>
        </p:nvSpPr>
        <p:spPr>
          <a:xfrm>
            <a:off x="4190420" y="487757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="" xmlns:a16="http://schemas.microsoft.com/office/drawing/2014/main" id="{5853CF76-3B79-4C6C-8D2B-1F63A85BA664}"/>
              </a:ext>
            </a:extLst>
          </p:cNvPr>
          <p:cNvSpPr/>
          <p:nvPr/>
        </p:nvSpPr>
        <p:spPr>
          <a:xfrm>
            <a:off x="3844418" y="516246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="" xmlns:a16="http://schemas.microsoft.com/office/drawing/2014/main" id="{F68D9020-86F0-4012-BE4D-B95C71AB746D}"/>
              </a:ext>
            </a:extLst>
          </p:cNvPr>
          <p:cNvSpPr/>
          <p:nvPr/>
        </p:nvSpPr>
        <p:spPr>
          <a:xfrm>
            <a:off x="3272995" y="543258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="" xmlns:a16="http://schemas.microsoft.com/office/drawing/2014/main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="" xmlns:a16="http://schemas.microsoft.com/office/drawing/2014/main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="" xmlns:a16="http://schemas.microsoft.com/office/drawing/2014/main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="" xmlns:a16="http://schemas.microsoft.com/office/drawing/2014/main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="" xmlns:a16="http://schemas.microsoft.com/office/drawing/2014/main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="" xmlns:a16="http://schemas.microsoft.com/office/drawing/2014/main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="" xmlns:a16="http://schemas.microsoft.com/office/drawing/2014/main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="" xmlns:a16="http://schemas.microsoft.com/office/drawing/2014/main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="" xmlns:a16="http://schemas.microsoft.com/office/drawing/2014/main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="" xmlns:a16="http://schemas.microsoft.com/office/drawing/2014/main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="" xmlns:a16="http://schemas.microsoft.com/office/drawing/2014/main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="" xmlns:a16="http://schemas.microsoft.com/office/drawing/2014/main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="" xmlns:a16="http://schemas.microsoft.com/office/drawing/2014/main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="" xmlns:a16="http://schemas.microsoft.com/office/drawing/2014/main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="" xmlns:a16="http://schemas.microsoft.com/office/drawing/2014/main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="" xmlns:a16="http://schemas.microsoft.com/office/drawing/2014/main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="" xmlns:a16="http://schemas.microsoft.com/office/drawing/2014/main" id="{94A621BC-5358-47E1-BADA-96951D68E391}"/>
              </a:ext>
            </a:extLst>
          </p:cNvPr>
          <p:cNvSpPr/>
          <p:nvPr/>
        </p:nvSpPr>
        <p:spPr>
          <a:xfrm rot="10800000">
            <a:off x="10048454" y="407626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="" xmlns:a16="http://schemas.microsoft.com/office/drawing/2014/main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="" xmlns:a16="http://schemas.microsoft.com/office/drawing/2014/main" id="{B85E7EA0-1E82-42C9-B062-46371515AF92}"/>
              </a:ext>
            </a:extLst>
          </p:cNvPr>
          <p:cNvSpPr/>
          <p:nvPr/>
        </p:nvSpPr>
        <p:spPr>
          <a:xfrm rot="10800000">
            <a:off x="10113042" y="476742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="" xmlns:a16="http://schemas.microsoft.com/office/drawing/2014/main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="" xmlns:a16="http://schemas.microsoft.com/office/drawing/2014/main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="" xmlns:a16="http://schemas.microsoft.com/office/drawing/2014/main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="" xmlns:a16="http://schemas.microsoft.com/office/drawing/2014/main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="" xmlns:a16="http://schemas.microsoft.com/office/drawing/2014/main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="" xmlns:a16="http://schemas.microsoft.com/office/drawing/2014/main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="" xmlns:a16="http://schemas.microsoft.com/office/drawing/2014/main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="" xmlns:a16="http://schemas.microsoft.com/office/drawing/2014/main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=""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085" y="3792797"/>
                <a:ext cx="2140683" cy="16299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6A4D84A-1A13-485C-9AE3-D0C4103BA756}"/>
              </a:ext>
            </a:extLst>
          </p:cNvPr>
          <p:cNvSpPr txBox="1"/>
          <p:nvPr/>
        </p:nvSpPr>
        <p:spPr>
          <a:xfrm>
            <a:off x="9429704" y="2611956"/>
            <a:ext cx="1493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Favoured</a:t>
            </a:r>
            <a:r>
              <a:rPr lang="en-US" sz="2400" dirty="0"/>
              <a:t>!</a:t>
            </a:r>
            <a:endParaRPr lang="x-none" sz="2400" dirty="0"/>
          </a:p>
        </p:txBody>
      </p:sp>
    </p:spTree>
    <p:extLst>
      <p:ext uri="{BB962C8B-B14F-4D97-AF65-F5344CB8AC3E}">
        <p14:creationId xmlns:p14="http://schemas.microsoft.com/office/powerpoint/2010/main" val="1040824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Heisenberg model for illustration,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So the critical dimension for 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                  continuous symmetries is,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                                   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2000" i="1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Imry</a:t>
                </a:r>
                <a:r>
                  <a:rPr lang="en-US" sz="2000" i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Ma,PRL,1975)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Imry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-Ma criterion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="" xmlns:a16="http://schemas.microsoft.com/office/drawing/2014/main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412" y="3393482"/>
                <a:ext cx="2140683" cy="12441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1" name="Ink 170">
                <a:extLst>
                  <a:ext uri="{FF2B5EF4-FFF2-40B4-BE49-F238E27FC236}">
                    <a16:creationId xmlns="" xmlns:a16="http://schemas.microsoft.com/office/drawing/2014/main" id="{36D6A4EF-FF31-4D85-9EA7-011A1C2AED8F}"/>
                  </a:ext>
                </a:extLst>
              </p14:cNvPr>
              <p14:cNvContentPartPr/>
              <p14:nvPr/>
            </p14:nvContentPartPr>
            <p14:xfrm>
              <a:off x="7797290" y="2582352"/>
              <a:ext cx="3687840" cy="30826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88290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72" name="Arrow: Up 171">
            <a:extLst>
              <a:ext uri="{FF2B5EF4-FFF2-40B4-BE49-F238E27FC236}">
                <a16:creationId xmlns="" xmlns:a16="http://schemas.microsoft.com/office/drawing/2014/main" id="{7A00A1F6-B35F-490B-974A-FF114A009BD6}"/>
              </a:ext>
            </a:extLst>
          </p:cNvPr>
          <p:cNvSpPr/>
          <p:nvPr/>
        </p:nvSpPr>
        <p:spPr>
          <a:xfrm rot="20239931">
            <a:off x="8405180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3" name="Arrow: Up 172">
            <a:extLst>
              <a:ext uri="{FF2B5EF4-FFF2-40B4-BE49-F238E27FC236}">
                <a16:creationId xmlns="" xmlns:a16="http://schemas.microsoft.com/office/drawing/2014/main" id="{0289087C-749D-4E87-92D5-400745279345}"/>
              </a:ext>
            </a:extLst>
          </p:cNvPr>
          <p:cNvSpPr/>
          <p:nvPr/>
        </p:nvSpPr>
        <p:spPr>
          <a:xfrm>
            <a:off x="8697501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4" name="Arrow: Up 173">
            <a:extLst>
              <a:ext uri="{FF2B5EF4-FFF2-40B4-BE49-F238E27FC236}">
                <a16:creationId xmlns="" xmlns:a16="http://schemas.microsoft.com/office/drawing/2014/main" id="{259E5CF2-2A4F-4FA0-ABA0-1AAC41D4F7DC}"/>
              </a:ext>
            </a:extLst>
          </p:cNvPr>
          <p:cNvSpPr/>
          <p:nvPr/>
        </p:nvSpPr>
        <p:spPr>
          <a:xfrm rot="1652651">
            <a:off x="9013070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5" name="Arrow: Up 174">
            <a:extLst>
              <a:ext uri="{FF2B5EF4-FFF2-40B4-BE49-F238E27FC236}">
                <a16:creationId xmlns="" xmlns:a16="http://schemas.microsoft.com/office/drawing/2014/main" id="{9D1E1B25-A72B-42AF-B258-9F0F547CD69D}"/>
              </a:ext>
            </a:extLst>
          </p:cNvPr>
          <p:cNvSpPr/>
          <p:nvPr/>
        </p:nvSpPr>
        <p:spPr>
          <a:xfrm>
            <a:off x="8697501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6" name="Arrow: Up 175">
            <a:extLst>
              <a:ext uri="{FF2B5EF4-FFF2-40B4-BE49-F238E27FC236}">
                <a16:creationId xmlns="" xmlns:a16="http://schemas.microsoft.com/office/drawing/2014/main" id="{92F6E157-F5EB-4F99-B992-1147F818CA87}"/>
              </a:ext>
            </a:extLst>
          </p:cNvPr>
          <p:cNvSpPr/>
          <p:nvPr/>
        </p:nvSpPr>
        <p:spPr>
          <a:xfrm rot="18694737">
            <a:off x="8090205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7" name="Arrow: Up 176">
            <a:extLst>
              <a:ext uri="{FF2B5EF4-FFF2-40B4-BE49-F238E27FC236}">
                <a16:creationId xmlns="" xmlns:a16="http://schemas.microsoft.com/office/drawing/2014/main" id="{911E6645-1E13-4124-9E3B-80E28040FF88}"/>
              </a:ext>
            </a:extLst>
          </p:cNvPr>
          <p:cNvSpPr/>
          <p:nvPr/>
        </p:nvSpPr>
        <p:spPr>
          <a:xfrm rot="2948130">
            <a:off x="9282297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8" name="Arrow: Up 177">
            <a:extLst>
              <a:ext uri="{FF2B5EF4-FFF2-40B4-BE49-F238E27FC236}">
                <a16:creationId xmlns="" xmlns:a16="http://schemas.microsoft.com/office/drawing/2014/main" id="{A269CDDD-DC29-42D7-B184-43B8006FB27C}"/>
              </a:ext>
            </a:extLst>
          </p:cNvPr>
          <p:cNvSpPr/>
          <p:nvPr/>
        </p:nvSpPr>
        <p:spPr>
          <a:xfrm rot="4365331">
            <a:off x="9484019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9" name="Arrow: Up 178">
            <a:extLst>
              <a:ext uri="{FF2B5EF4-FFF2-40B4-BE49-F238E27FC236}">
                <a16:creationId xmlns="" xmlns:a16="http://schemas.microsoft.com/office/drawing/2014/main" id="{5B2F95B1-D347-45E9-9912-7C63250EBFE7}"/>
              </a:ext>
            </a:extLst>
          </p:cNvPr>
          <p:cNvSpPr/>
          <p:nvPr/>
        </p:nvSpPr>
        <p:spPr>
          <a:xfrm rot="2948130">
            <a:off x="9332733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0" name="Arrow: Up 179">
            <a:extLst>
              <a:ext uri="{FF2B5EF4-FFF2-40B4-BE49-F238E27FC236}">
                <a16:creationId xmlns="" xmlns:a16="http://schemas.microsoft.com/office/drawing/2014/main" id="{5F227862-E333-4ACE-8ED7-ADE19EDC4AC8}"/>
              </a:ext>
            </a:extLst>
          </p:cNvPr>
          <p:cNvSpPr/>
          <p:nvPr/>
        </p:nvSpPr>
        <p:spPr>
          <a:xfrm rot="1652651">
            <a:off x="8912220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1" name="Arrow: Up 180">
            <a:extLst>
              <a:ext uri="{FF2B5EF4-FFF2-40B4-BE49-F238E27FC236}">
                <a16:creationId xmlns="" xmlns:a16="http://schemas.microsoft.com/office/drawing/2014/main" id="{DBF7DE61-57CE-4F74-A362-957FCB3EA43B}"/>
              </a:ext>
            </a:extLst>
          </p:cNvPr>
          <p:cNvSpPr/>
          <p:nvPr/>
        </p:nvSpPr>
        <p:spPr>
          <a:xfrm rot="1652651">
            <a:off x="9058226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2" name="Arrow: Up 181">
            <a:extLst>
              <a:ext uri="{FF2B5EF4-FFF2-40B4-BE49-F238E27FC236}">
                <a16:creationId xmlns="" xmlns:a16="http://schemas.microsoft.com/office/drawing/2014/main" id="{EB1B1431-E8F7-46E3-9CF0-3290E5AC1232}"/>
              </a:ext>
            </a:extLst>
          </p:cNvPr>
          <p:cNvSpPr/>
          <p:nvPr/>
        </p:nvSpPr>
        <p:spPr>
          <a:xfrm rot="20239931">
            <a:off x="8383120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3" name="Arrow: Up 182">
            <a:extLst>
              <a:ext uri="{FF2B5EF4-FFF2-40B4-BE49-F238E27FC236}">
                <a16:creationId xmlns="" xmlns:a16="http://schemas.microsoft.com/office/drawing/2014/main" id="{92AABBCD-C636-4E6D-9C37-1825097A83F3}"/>
              </a:ext>
            </a:extLst>
          </p:cNvPr>
          <p:cNvSpPr/>
          <p:nvPr/>
        </p:nvSpPr>
        <p:spPr>
          <a:xfrm rot="18694737">
            <a:off x="8098595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4" name="Arrow: Up 183">
            <a:extLst>
              <a:ext uri="{FF2B5EF4-FFF2-40B4-BE49-F238E27FC236}">
                <a16:creationId xmlns="" xmlns:a16="http://schemas.microsoft.com/office/drawing/2014/main" id="{7A2C6282-5845-472C-9F5F-7D0DD61D346D}"/>
              </a:ext>
            </a:extLst>
          </p:cNvPr>
          <p:cNvSpPr/>
          <p:nvPr/>
        </p:nvSpPr>
        <p:spPr>
          <a:xfrm rot="6011006">
            <a:off x="9661235" y="326530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5" name="Arrow: Up 184">
            <a:extLst>
              <a:ext uri="{FF2B5EF4-FFF2-40B4-BE49-F238E27FC236}">
                <a16:creationId xmlns="" xmlns:a16="http://schemas.microsoft.com/office/drawing/2014/main" id="{6FA07B1D-1721-47BD-81D9-0FFEBE03BEF1}"/>
              </a:ext>
            </a:extLst>
          </p:cNvPr>
          <p:cNvSpPr/>
          <p:nvPr/>
        </p:nvSpPr>
        <p:spPr>
          <a:xfrm rot="7843539">
            <a:off x="9922426" y="397933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6" name="Arrow: Up 185">
            <a:extLst>
              <a:ext uri="{FF2B5EF4-FFF2-40B4-BE49-F238E27FC236}">
                <a16:creationId xmlns="" xmlns:a16="http://schemas.microsoft.com/office/drawing/2014/main" id="{77BD0DA4-03B1-495F-A296-7F7986879698}"/>
              </a:ext>
            </a:extLst>
          </p:cNvPr>
          <p:cNvSpPr/>
          <p:nvPr/>
        </p:nvSpPr>
        <p:spPr>
          <a:xfrm rot="9646719">
            <a:off x="9996375" y="278345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7" name="Arrow: Up 186">
            <a:extLst>
              <a:ext uri="{FF2B5EF4-FFF2-40B4-BE49-F238E27FC236}">
                <a16:creationId xmlns="" xmlns:a16="http://schemas.microsoft.com/office/drawing/2014/main" id="{DAFA45C3-3343-4B54-81AC-12260187CB24}"/>
              </a:ext>
            </a:extLst>
          </p:cNvPr>
          <p:cNvSpPr/>
          <p:nvPr/>
        </p:nvSpPr>
        <p:spPr>
          <a:xfrm rot="10553083">
            <a:off x="10280476" y="332238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8" name="Arrow: Up 187">
            <a:extLst>
              <a:ext uri="{FF2B5EF4-FFF2-40B4-BE49-F238E27FC236}">
                <a16:creationId xmlns="" xmlns:a16="http://schemas.microsoft.com/office/drawing/2014/main" id="{F7F94D42-128E-4AE7-B231-48227E63F211}"/>
              </a:ext>
            </a:extLst>
          </p:cNvPr>
          <p:cNvSpPr/>
          <p:nvPr/>
        </p:nvSpPr>
        <p:spPr>
          <a:xfrm rot="11394758">
            <a:off x="10405898" y="265552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9" name="Arrow: Up 188">
            <a:extLst>
              <a:ext uri="{FF2B5EF4-FFF2-40B4-BE49-F238E27FC236}">
                <a16:creationId xmlns="" xmlns:a16="http://schemas.microsoft.com/office/drawing/2014/main" id="{A2283F56-B981-404D-B543-7070EA478622}"/>
              </a:ext>
            </a:extLst>
          </p:cNvPr>
          <p:cNvSpPr/>
          <p:nvPr/>
        </p:nvSpPr>
        <p:spPr>
          <a:xfrm rot="10800000">
            <a:off x="10345064" y="401353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0" name="Arrow: Up 189">
            <a:extLst>
              <a:ext uri="{FF2B5EF4-FFF2-40B4-BE49-F238E27FC236}">
                <a16:creationId xmlns="" xmlns:a16="http://schemas.microsoft.com/office/drawing/2014/main" id="{6E856711-A68B-48DC-964C-F54C5BB5819B}"/>
              </a:ext>
            </a:extLst>
          </p:cNvPr>
          <p:cNvSpPr/>
          <p:nvPr/>
        </p:nvSpPr>
        <p:spPr>
          <a:xfrm rot="13764822">
            <a:off x="10814851" y="295861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1" name="Arrow: Up 190">
            <a:extLst>
              <a:ext uri="{FF2B5EF4-FFF2-40B4-BE49-F238E27FC236}">
                <a16:creationId xmlns="" xmlns:a16="http://schemas.microsoft.com/office/drawing/2014/main" id="{9A393E8D-667E-4EAC-AACB-2B7CE24DA815}"/>
              </a:ext>
            </a:extLst>
          </p:cNvPr>
          <p:cNvSpPr/>
          <p:nvPr/>
        </p:nvSpPr>
        <p:spPr>
          <a:xfrm rot="11394758">
            <a:off x="10496210" y="48105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2" name="Arrow: Up 191">
            <a:extLst>
              <a:ext uri="{FF2B5EF4-FFF2-40B4-BE49-F238E27FC236}">
                <a16:creationId xmlns="" xmlns:a16="http://schemas.microsoft.com/office/drawing/2014/main" id="{1531D620-67C2-4769-BD11-53BE298A1820}"/>
              </a:ext>
            </a:extLst>
          </p:cNvPr>
          <p:cNvSpPr/>
          <p:nvPr/>
        </p:nvSpPr>
        <p:spPr>
          <a:xfrm rot="6011006">
            <a:off x="9832637" y="480645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3" name="Arrow: Up 192">
            <a:extLst>
              <a:ext uri="{FF2B5EF4-FFF2-40B4-BE49-F238E27FC236}">
                <a16:creationId xmlns="" xmlns:a16="http://schemas.microsoft.com/office/drawing/2014/main" id="{F77AB458-D97B-41D3-8E41-B40D13576495}"/>
              </a:ext>
            </a:extLst>
          </p:cNvPr>
          <p:cNvSpPr/>
          <p:nvPr/>
        </p:nvSpPr>
        <p:spPr>
          <a:xfrm rot="12863447">
            <a:off x="10786110" y="359792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4" name="Arrow: Up 193">
            <a:extLst>
              <a:ext uri="{FF2B5EF4-FFF2-40B4-BE49-F238E27FC236}">
                <a16:creationId xmlns="" xmlns:a16="http://schemas.microsoft.com/office/drawing/2014/main" id="{4C6194F1-8CFA-4F87-A5F3-EA7A243E2770}"/>
              </a:ext>
            </a:extLst>
          </p:cNvPr>
          <p:cNvSpPr/>
          <p:nvPr/>
        </p:nvSpPr>
        <p:spPr>
          <a:xfrm rot="15129603">
            <a:off x="11191398" y="343643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5" name="Arrow: Up 194">
            <a:extLst>
              <a:ext uri="{FF2B5EF4-FFF2-40B4-BE49-F238E27FC236}">
                <a16:creationId xmlns="" xmlns:a16="http://schemas.microsoft.com/office/drawing/2014/main" id="{757981A6-A11C-4FF4-9B5C-2836AE1BC0FF}"/>
              </a:ext>
            </a:extLst>
          </p:cNvPr>
          <p:cNvSpPr/>
          <p:nvPr/>
        </p:nvSpPr>
        <p:spPr>
          <a:xfrm rot="14337860">
            <a:off x="11048816" y="411005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6" name="Arrow: Up 195">
            <a:extLst>
              <a:ext uri="{FF2B5EF4-FFF2-40B4-BE49-F238E27FC236}">
                <a16:creationId xmlns="" xmlns:a16="http://schemas.microsoft.com/office/drawing/2014/main" id="{F42E860F-F24F-466C-81B6-C04A97AF7C5D}"/>
              </a:ext>
            </a:extLst>
          </p:cNvPr>
          <p:cNvSpPr/>
          <p:nvPr/>
        </p:nvSpPr>
        <p:spPr>
          <a:xfrm rot="12136792">
            <a:off x="10702814" y="439494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7" name="Arrow: Up 196">
            <a:extLst>
              <a:ext uri="{FF2B5EF4-FFF2-40B4-BE49-F238E27FC236}">
                <a16:creationId xmlns="" xmlns:a16="http://schemas.microsoft.com/office/drawing/2014/main" id="{D8889211-0877-4217-BE9C-EC08EF134009}"/>
              </a:ext>
            </a:extLst>
          </p:cNvPr>
          <p:cNvSpPr/>
          <p:nvPr/>
        </p:nvSpPr>
        <p:spPr>
          <a:xfrm rot="9646719">
            <a:off x="10131391" y="46650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8" name="Ink 197">
                <a:extLst>
                  <a:ext uri="{FF2B5EF4-FFF2-40B4-BE49-F238E27FC236}">
                    <a16:creationId xmlns="" xmlns:a16="http://schemas.microsoft.com/office/drawing/2014/main" id="{3107E4B0-B4B5-4C1E-9282-A6AB7ABE25B5}"/>
                  </a:ext>
                </a:extLst>
              </p14:cNvPr>
              <p14:cNvContentPartPr/>
              <p14:nvPr/>
            </p14:nvContentPartPr>
            <p14:xfrm>
              <a:off x="792529" y="2582352"/>
              <a:ext cx="3687840" cy="30826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29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99" name="Arrow: Up 198">
            <a:extLst>
              <a:ext uri="{FF2B5EF4-FFF2-40B4-BE49-F238E27FC236}">
                <a16:creationId xmlns="" xmlns:a16="http://schemas.microsoft.com/office/drawing/2014/main" id="{19835440-CE7F-4A43-96E0-50C503A9911B}"/>
              </a:ext>
            </a:extLst>
          </p:cNvPr>
          <p:cNvSpPr/>
          <p:nvPr/>
        </p:nvSpPr>
        <p:spPr>
          <a:xfrm>
            <a:off x="1400419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0" name="Arrow: Up 199">
            <a:extLst>
              <a:ext uri="{FF2B5EF4-FFF2-40B4-BE49-F238E27FC236}">
                <a16:creationId xmlns="" xmlns:a16="http://schemas.microsoft.com/office/drawing/2014/main" id="{E43BCAEB-A3A1-4833-BE53-3E8ABB160FBF}"/>
              </a:ext>
            </a:extLst>
          </p:cNvPr>
          <p:cNvSpPr/>
          <p:nvPr/>
        </p:nvSpPr>
        <p:spPr>
          <a:xfrm>
            <a:off x="1692740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1" name="Arrow: Up 200">
            <a:extLst>
              <a:ext uri="{FF2B5EF4-FFF2-40B4-BE49-F238E27FC236}">
                <a16:creationId xmlns="" xmlns:a16="http://schemas.microsoft.com/office/drawing/2014/main" id="{4D0E0FFC-5269-49F3-BB2B-3D56C4435E16}"/>
              </a:ext>
            </a:extLst>
          </p:cNvPr>
          <p:cNvSpPr/>
          <p:nvPr/>
        </p:nvSpPr>
        <p:spPr>
          <a:xfrm>
            <a:off x="2008309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2" name="Arrow: Up 201">
            <a:extLst>
              <a:ext uri="{FF2B5EF4-FFF2-40B4-BE49-F238E27FC236}">
                <a16:creationId xmlns="" xmlns:a16="http://schemas.microsoft.com/office/drawing/2014/main" id="{24B16612-2F22-460A-8FDB-B6624BD6B5C8}"/>
              </a:ext>
            </a:extLst>
          </p:cNvPr>
          <p:cNvSpPr/>
          <p:nvPr/>
        </p:nvSpPr>
        <p:spPr>
          <a:xfrm>
            <a:off x="1692740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3" name="Arrow: Up 202">
            <a:extLst>
              <a:ext uri="{FF2B5EF4-FFF2-40B4-BE49-F238E27FC236}">
                <a16:creationId xmlns="" xmlns:a16="http://schemas.microsoft.com/office/drawing/2014/main" id="{0D150634-6EF1-4387-BD6E-A6B12C6F4882}"/>
              </a:ext>
            </a:extLst>
          </p:cNvPr>
          <p:cNvSpPr/>
          <p:nvPr/>
        </p:nvSpPr>
        <p:spPr>
          <a:xfrm>
            <a:off x="1085444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4" name="Arrow: Up 203">
            <a:extLst>
              <a:ext uri="{FF2B5EF4-FFF2-40B4-BE49-F238E27FC236}">
                <a16:creationId xmlns="" xmlns:a16="http://schemas.microsoft.com/office/drawing/2014/main" id="{DD881C27-3161-4D08-8A2D-C0E807CAEF93}"/>
              </a:ext>
            </a:extLst>
          </p:cNvPr>
          <p:cNvSpPr/>
          <p:nvPr/>
        </p:nvSpPr>
        <p:spPr>
          <a:xfrm>
            <a:off x="2277536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5" name="Arrow: Up 204">
            <a:extLst>
              <a:ext uri="{FF2B5EF4-FFF2-40B4-BE49-F238E27FC236}">
                <a16:creationId xmlns="" xmlns:a16="http://schemas.microsoft.com/office/drawing/2014/main" id="{70B64ED2-7F2C-4EB7-8C75-B3090B1E5919}"/>
              </a:ext>
            </a:extLst>
          </p:cNvPr>
          <p:cNvSpPr/>
          <p:nvPr/>
        </p:nvSpPr>
        <p:spPr>
          <a:xfrm>
            <a:off x="2479258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6" name="Arrow: Up 205">
            <a:extLst>
              <a:ext uri="{FF2B5EF4-FFF2-40B4-BE49-F238E27FC236}">
                <a16:creationId xmlns="" xmlns:a16="http://schemas.microsoft.com/office/drawing/2014/main" id="{6C8D7482-313B-425A-B2BD-3F9793F0FF90}"/>
              </a:ext>
            </a:extLst>
          </p:cNvPr>
          <p:cNvSpPr/>
          <p:nvPr/>
        </p:nvSpPr>
        <p:spPr>
          <a:xfrm>
            <a:off x="2327972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7" name="Arrow: Up 206">
            <a:extLst>
              <a:ext uri="{FF2B5EF4-FFF2-40B4-BE49-F238E27FC236}">
                <a16:creationId xmlns="" xmlns:a16="http://schemas.microsoft.com/office/drawing/2014/main" id="{4DF9A63B-F05F-4FB9-83CA-DA393222D4A7}"/>
              </a:ext>
            </a:extLst>
          </p:cNvPr>
          <p:cNvSpPr/>
          <p:nvPr/>
        </p:nvSpPr>
        <p:spPr>
          <a:xfrm>
            <a:off x="1907459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8" name="Arrow: Up 207">
            <a:extLst>
              <a:ext uri="{FF2B5EF4-FFF2-40B4-BE49-F238E27FC236}">
                <a16:creationId xmlns="" xmlns:a16="http://schemas.microsoft.com/office/drawing/2014/main" id="{E15D1B4C-3D5F-47A1-ACB1-4E0ACCE7B480}"/>
              </a:ext>
            </a:extLst>
          </p:cNvPr>
          <p:cNvSpPr/>
          <p:nvPr/>
        </p:nvSpPr>
        <p:spPr>
          <a:xfrm>
            <a:off x="2053465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9" name="Arrow: Up 208">
            <a:extLst>
              <a:ext uri="{FF2B5EF4-FFF2-40B4-BE49-F238E27FC236}">
                <a16:creationId xmlns="" xmlns:a16="http://schemas.microsoft.com/office/drawing/2014/main" id="{61C25AD1-9510-40EB-88E6-E5C87112BC93}"/>
              </a:ext>
            </a:extLst>
          </p:cNvPr>
          <p:cNvSpPr/>
          <p:nvPr/>
        </p:nvSpPr>
        <p:spPr>
          <a:xfrm>
            <a:off x="1378359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0" name="Arrow: Up 209">
            <a:extLst>
              <a:ext uri="{FF2B5EF4-FFF2-40B4-BE49-F238E27FC236}">
                <a16:creationId xmlns="" xmlns:a16="http://schemas.microsoft.com/office/drawing/2014/main" id="{23E72D7E-838C-458F-815E-B60505B886B0}"/>
              </a:ext>
            </a:extLst>
          </p:cNvPr>
          <p:cNvSpPr/>
          <p:nvPr/>
        </p:nvSpPr>
        <p:spPr>
          <a:xfrm>
            <a:off x="1093834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1" name="Arrow: Up 210">
            <a:extLst>
              <a:ext uri="{FF2B5EF4-FFF2-40B4-BE49-F238E27FC236}">
                <a16:creationId xmlns="" xmlns:a16="http://schemas.microsoft.com/office/drawing/2014/main" id="{493A5FDA-B1E5-4BE6-A1A3-95FE5C293407}"/>
              </a:ext>
            </a:extLst>
          </p:cNvPr>
          <p:cNvSpPr/>
          <p:nvPr/>
        </p:nvSpPr>
        <p:spPr>
          <a:xfrm>
            <a:off x="2656474" y="32653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2" name="Arrow: Up 211">
            <a:extLst>
              <a:ext uri="{FF2B5EF4-FFF2-40B4-BE49-F238E27FC236}">
                <a16:creationId xmlns="" xmlns:a16="http://schemas.microsoft.com/office/drawing/2014/main" id="{1D733A14-60A1-43AF-A297-3E4FC36FF3CC}"/>
              </a:ext>
            </a:extLst>
          </p:cNvPr>
          <p:cNvSpPr/>
          <p:nvPr/>
        </p:nvSpPr>
        <p:spPr>
          <a:xfrm>
            <a:off x="2917665" y="39793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3" name="Arrow: Up 212">
            <a:extLst>
              <a:ext uri="{FF2B5EF4-FFF2-40B4-BE49-F238E27FC236}">
                <a16:creationId xmlns="" xmlns:a16="http://schemas.microsoft.com/office/drawing/2014/main" id="{3FEA922B-A864-4E48-94A0-A5715F9C2B50}"/>
              </a:ext>
            </a:extLst>
          </p:cNvPr>
          <p:cNvSpPr/>
          <p:nvPr/>
        </p:nvSpPr>
        <p:spPr>
          <a:xfrm>
            <a:off x="2991614" y="27834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4" name="Arrow: Up 213">
            <a:extLst>
              <a:ext uri="{FF2B5EF4-FFF2-40B4-BE49-F238E27FC236}">
                <a16:creationId xmlns="" xmlns:a16="http://schemas.microsoft.com/office/drawing/2014/main" id="{4DA60DA5-D6C9-4621-80ED-5F0CB99AE5C5}"/>
              </a:ext>
            </a:extLst>
          </p:cNvPr>
          <p:cNvSpPr/>
          <p:nvPr/>
        </p:nvSpPr>
        <p:spPr>
          <a:xfrm>
            <a:off x="3275715" y="332238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5" name="Arrow: Up 214">
            <a:extLst>
              <a:ext uri="{FF2B5EF4-FFF2-40B4-BE49-F238E27FC236}">
                <a16:creationId xmlns="" xmlns:a16="http://schemas.microsoft.com/office/drawing/2014/main" id="{551F37B9-FD7B-4D13-B2B4-495FEBDFC3D4}"/>
              </a:ext>
            </a:extLst>
          </p:cNvPr>
          <p:cNvSpPr/>
          <p:nvPr/>
        </p:nvSpPr>
        <p:spPr>
          <a:xfrm>
            <a:off x="3401137" y="26555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6" name="Arrow: Up 215">
            <a:extLst>
              <a:ext uri="{FF2B5EF4-FFF2-40B4-BE49-F238E27FC236}">
                <a16:creationId xmlns="" xmlns:a16="http://schemas.microsoft.com/office/drawing/2014/main" id="{29DCDF69-031D-4E2E-A893-35B0DD306366}"/>
              </a:ext>
            </a:extLst>
          </p:cNvPr>
          <p:cNvSpPr/>
          <p:nvPr/>
        </p:nvSpPr>
        <p:spPr>
          <a:xfrm>
            <a:off x="3340303" y="401353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7" name="Arrow: Up 216">
            <a:extLst>
              <a:ext uri="{FF2B5EF4-FFF2-40B4-BE49-F238E27FC236}">
                <a16:creationId xmlns="" xmlns:a16="http://schemas.microsoft.com/office/drawing/2014/main" id="{398DDBA0-B5E7-4F78-A700-312C936BC3A0}"/>
              </a:ext>
            </a:extLst>
          </p:cNvPr>
          <p:cNvSpPr/>
          <p:nvPr/>
        </p:nvSpPr>
        <p:spPr>
          <a:xfrm>
            <a:off x="3810090" y="2958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8" name="Arrow: Up 217">
            <a:extLst>
              <a:ext uri="{FF2B5EF4-FFF2-40B4-BE49-F238E27FC236}">
                <a16:creationId xmlns="" xmlns:a16="http://schemas.microsoft.com/office/drawing/2014/main" id="{97D0202C-20F9-4288-A2BC-6C7A541E7E1B}"/>
              </a:ext>
            </a:extLst>
          </p:cNvPr>
          <p:cNvSpPr/>
          <p:nvPr/>
        </p:nvSpPr>
        <p:spPr>
          <a:xfrm>
            <a:off x="3491449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9" name="Arrow: Up 218">
            <a:extLst>
              <a:ext uri="{FF2B5EF4-FFF2-40B4-BE49-F238E27FC236}">
                <a16:creationId xmlns="" xmlns:a16="http://schemas.microsoft.com/office/drawing/2014/main" id="{5D07C02D-D5DA-4AC4-97FC-80D6A35869E3}"/>
              </a:ext>
            </a:extLst>
          </p:cNvPr>
          <p:cNvSpPr/>
          <p:nvPr/>
        </p:nvSpPr>
        <p:spPr>
          <a:xfrm>
            <a:off x="2827876" y="48064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0" name="Arrow: Up 219">
            <a:extLst>
              <a:ext uri="{FF2B5EF4-FFF2-40B4-BE49-F238E27FC236}">
                <a16:creationId xmlns="" xmlns:a16="http://schemas.microsoft.com/office/drawing/2014/main" id="{204B3FDE-0C28-404D-9CC8-8B65FE8E3998}"/>
              </a:ext>
            </a:extLst>
          </p:cNvPr>
          <p:cNvSpPr/>
          <p:nvPr/>
        </p:nvSpPr>
        <p:spPr>
          <a:xfrm>
            <a:off x="3781349" y="35979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1" name="Arrow: Up 220">
            <a:extLst>
              <a:ext uri="{FF2B5EF4-FFF2-40B4-BE49-F238E27FC236}">
                <a16:creationId xmlns="" xmlns:a16="http://schemas.microsoft.com/office/drawing/2014/main" id="{984A964A-C1F3-4789-9E24-EAB591445624}"/>
              </a:ext>
            </a:extLst>
          </p:cNvPr>
          <p:cNvSpPr/>
          <p:nvPr/>
        </p:nvSpPr>
        <p:spPr>
          <a:xfrm>
            <a:off x="4186637" y="34364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2" name="Arrow: Up 221">
            <a:extLst>
              <a:ext uri="{FF2B5EF4-FFF2-40B4-BE49-F238E27FC236}">
                <a16:creationId xmlns="" xmlns:a16="http://schemas.microsoft.com/office/drawing/2014/main" id="{B17D7CEB-8BD6-42CA-B5D6-B0E33B362D70}"/>
              </a:ext>
            </a:extLst>
          </p:cNvPr>
          <p:cNvSpPr/>
          <p:nvPr/>
        </p:nvSpPr>
        <p:spPr>
          <a:xfrm>
            <a:off x="4044055" y="4110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3" name="Arrow: Up 222">
            <a:extLst>
              <a:ext uri="{FF2B5EF4-FFF2-40B4-BE49-F238E27FC236}">
                <a16:creationId xmlns="" xmlns:a16="http://schemas.microsoft.com/office/drawing/2014/main" id="{D0B3E02F-00B5-4551-89C6-AC904FE99C63}"/>
              </a:ext>
            </a:extLst>
          </p:cNvPr>
          <p:cNvSpPr/>
          <p:nvPr/>
        </p:nvSpPr>
        <p:spPr>
          <a:xfrm>
            <a:off x="3698053" y="43949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4" name="Arrow: Up 223">
            <a:extLst>
              <a:ext uri="{FF2B5EF4-FFF2-40B4-BE49-F238E27FC236}">
                <a16:creationId xmlns="" xmlns:a16="http://schemas.microsoft.com/office/drawing/2014/main" id="{60959F67-A618-4FC4-853A-48B973C2029C}"/>
              </a:ext>
            </a:extLst>
          </p:cNvPr>
          <p:cNvSpPr/>
          <p:nvPr/>
        </p:nvSpPr>
        <p:spPr>
          <a:xfrm>
            <a:off x="3126630" y="466506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="" xmlns:a16="http://schemas.microsoft.com/office/drawing/2014/main" id="{D963B5C6-0A5C-470F-B72B-AB4E772820FD}"/>
              </a:ext>
            </a:extLst>
          </p:cNvPr>
          <p:cNvCxnSpPr/>
          <p:nvPr/>
        </p:nvCxnSpPr>
        <p:spPr>
          <a:xfrm>
            <a:off x="8787813" y="5874327"/>
            <a:ext cx="1743496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8157488C-3C2D-48BC-AF17-F15F06042034}"/>
                  </a:ext>
                </a:extLst>
              </p:cNvPr>
              <p:cNvSpPr txBox="1"/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TextBox 224">
                <a:extLst>
                  <a:ext uri="{FF2B5EF4-FFF2-40B4-BE49-F238E27FC236}">
                    <a16:creationId xmlns="" xmlns:a16="http://schemas.microsoft.com/office/drawing/2014/main" id="{73352547-D96C-4C01-8859-3ED6B049CBE9}"/>
                  </a:ext>
                </a:extLst>
              </p:cNvPr>
              <p:cNvSpPr txBox="1"/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73352547-D96C-4C01-8859-3ED6B049C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809" y="5014257"/>
                <a:ext cx="3488315" cy="49962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="" xmlns:a16="http://schemas.microsoft.com/office/drawing/2014/main" id="{5695D7A7-206C-404A-B47A-23CA351ED21D}"/>
                  </a:ext>
                </a:extLst>
              </p:cNvPr>
              <p:cNvSpPr txBox="1"/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=∫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blipFill>
                <a:blip r:embed="rId10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42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For continuous symmetries: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generic action couples the goldstone modes with the random fields. 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nary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en-US" sz="1800" dirty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correlation function has a divergent contribution for even infinitesimal random field disorder,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acc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</a:t>
                </a: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acc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p>
                        </m:sSup>
                      </m:e>
                    </m:nary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sSup>
                      <m:sSup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Random fields and the infrared divergence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ACD19D01-67A3-4F12-BF16-8565326A2AC0}"/>
              </a:ext>
            </a:extLst>
          </p:cNvPr>
          <p:cNvSpPr/>
          <p:nvPr/>
        </p:nvSpPr>
        <p:spPr>
          <a:xfrm>
            <a:off x="6931428" y="3994536"/>
            <a:ext cx="1806633" cy="853442"/>
          </a:xfrm>
          <a:prstGeom prst="ellipse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26" name="Connector: Curved 25">
            <a:extLst>
              <a:ext uri="{FF2B5EF4-FFF2-40B4-BE49-F238E27FC236}">
                <a16:creationId xmlns="" xmlns:a16="http://schemas.microsoft.com/office/drawing/2014/main" id="{867855E2-1CF7-424A-AABB-916E2E505E50}"/>
              </a:ext>
            </a:extLst>
          </p:cNvPr>
          <p:cNvCxnSpPr>
            <a:cxnSpLocks/>
            <a:stCxn id="6" idx="3"/>
            <a:endCxn id="242" idx="3"/>
          </p:cNvCxnSpPr>
          <p:nvPr/>
        </p:nvCxnSpPr>
        <p:spPr>
          <a:xfrm rot="5400000">
            <a:off x="5649353" y="3861772"/>
            <a:ext cx="685428" cy="2407872"/>
          </a:xfrm>
          <a:prstGeom prst="curvedConnector2">
            <a:avLst/>
          </a:prstGeom>
          <a:ln w="127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="" xmlns:a16="http://schemas.microsoft.com/office/drawing/2014/main" id="{69B39AC0-7B6B-4797-ADFC-1E0691F0C8D5}"/>
                  </a:ext>
                </a:extLst>
              </p:cNvPr>
              <p:cNvSpPr txBox="1"/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Bare expectation value,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infrared divergent 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blipFill>
                <a:blip r:embed="rId3"/>
                <a:stretch>
                  <a:fillRect l="-1869" t="-3279" b="-765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Hence, the lower critical dimension for random field systems with continuous symmetry is,</a:t>
                </a:r>
              </a:p>
              <a:p>
                <a:endParaRPr lang="en-US" b="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blipFill>
                <a:blip r:embed="rId4"/>
                <a:stretch>
                  <a:fillRect l="-1677" t="-17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=""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9241879" y="6208750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52" name="TextBox 251">
            <a:extLst>
              <a:ext uri="{FF2B5EF4-FFF2-40B4-BE49-F238E27FC236}">
                <a16:creationId xmlns="" xmlns:a16="http://schemas.microsoft.com/office/drawing/2014/main" id="{372EAF64-5587-4A13-A714-4DF5609989B8}"/>
              </a:ext>
            </a:extLst>
          </p:cNvPr>
          <p:cNvSpPr txBox="1"/>
          <p:nvPr/>
        </p:nvSpPr>
        <p:spPr>
          <a:xfrm>
            <a:off x="1424005" y="6007235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Ma,PRL,1975;Aharony,SSC,1978)</a:t>
            </a:r>
            <a:endParaRPr lang="x-none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559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400591" cy="85960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Infrared divergence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="" xmlns:a16="http://schemas.microsoft.com/office/drawing/2014/main" id="{6883E9BE-4C98-4DB5-A647-E8664E3DC93C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261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2830"/>
            <a:ext cx="5383635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=""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collinear magnet</a:t>
            </a:r>
          </a:p>
          <a:p>
            <a:pPr marL="1371600" lvl="3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=""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=""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CC843D4B-29EF-409B-94EF-80C3E6B2E2E6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843D4B-29EF-409B-94EF-80C3E6B2E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Arrow: Up 77">
            <a:extLst>
              <a:ext uri="{FF2B5EF4-FFF2-40B4-BE49-F238E27FC236}">
                <a16:creationId xmlns=""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=""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=""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=""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=""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=""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=""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=""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=""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=""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5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Arrow: Up 161">
            <a:extLst>
              <a:ext uri="{FF2B5EF4-FFF2-40B4-BE49-F238E27FC236}">
                <a16:creationId xmlns="" xmlns:a16="http://schemas.microsoft.com/office/drawing/2014/main" id="{54815F19-5407-4B86-BC49-51462D25DCD3}"/>
              </a:ext>
            </a:extLst>
          </p:cNvPr>
          <p:cNvSpPr/>
          <p:nvPr/>
        </p:nvSpPr>
        <p:spPr>
          <a:xfrm>
            <a:off x="7385832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63" name="Straight Connector 162">
            <a:extLst>
              <a:ext uri="{FF2B5EF4-FFF2-40B4-BE49-F238E27FC236}">
                <a16:creationId xmlns="" xmlns:a16="http://schemas.microsoft.com/office/drawing/2014/main" id="{C82471D5-F032-4D1E-8C6E-2682F96BD665}"/>
              </a:ext>
            </a:extLst>
          </p:cNvPr>
          <p:cNvCxnSpPr>
            <a:cxnSpLocks/>
          </p:cNvCxnSpPr>
          <p:nvPr/>
        </p:nvCxnSpPr>
        <p:spPr>
          <a:xfrm>
            <a:off x="7389757" y="3649574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="" xmlns:a16="http://schemas.microsoft.com/office/drawing/2014/main" id="{F3EB135E-03AB-489E-9ED6-8685737D2BCF}"/>
                  </a:ext>
                </a:extLst>
              </p:cNvPr>
              <p:cNvSpPr txBox="1"/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3EB135E-03AB-489E-9ED6-8685737D2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blipFill>
                <a:blip r:embed="rId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Arrow: Up 165">
            <a:extLst>
              <a:ext uri="{FF2B5EF4-FFF2-40B4-BE49-F238E27FC236}">
                <a16:creationId xmlns="" xmlns:a16="http://schemas.microsoft.com/office/drawing/2014/main" id="{F8BE2914-79A6-4809-8AA1-0A3D6E78A73C}"/>
              </a:ext>
            </a:extLst>
          </p:cNvPr>
          <p:cNvSpPr/>
          <p:nvPr/>
        </p:nvSpPr>
        <p:spPr>
          <a:xfrm rot="10800000">
            <a:off x="8992745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="" xmlns:a16="http://schemas.microsoft.com/office/drawing/2014/main" id="{78D9E330-A71A-47F0-92FB-AC58EB61BC73}"/>
              </a:ext>
            </a:extLst>
          </p:cNvPr>
          <p:cNvCxnSpPr>
            <a:cxnSpLocks/>
          </p:cNvCxnSpPr>
          <p:nvPr/>
        </p:nvCxnSpPr>
        <p:spPr>
          <a:xfrm flipV="1">
            <a:off x="6438084" y="3435870"/>
            <a:ext cx="0" cy="518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="" xmlns:a16="http://schemas.microsoft.com/office/drawing/2014/main" id="{5933B25E-F661-4B66-BAE3-C901A84CDF2A}"/>
              </a:ext>
            </a:extLst>
          </p:cNvPr>
          <p:cNvCxnSpPr>
            <a:cxnSpLocks/>
          </p:cNvCxnSpPr>
          <p:nvPr/>
        </p:nvCxnSpPr>
        <p:spPr>
          <a:xfrm>
            <a:off x="6438084" y="3961594"/>
            <a:ext cx="556055" cy="11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TextBox 171">
                <a:extLst>
                  <a:ext uri="{FF2B5EF4-FFF2-40B4-BE49-F238E27FC236}">
                    <a16:creationId xmlns="" xmlns:a16="http://schemas.microsoft.com/office/drawing/2014/main" id="{1A2EC8A6-FEDD-4A70-9B23-6FE86D88528C}"/>
                  </a:ext>
                </a:extLst>
              </p:cNvPr>
              <p:cNvSpPr txBox="1"/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1A2EC8A6-FEDD-4A70-9B23-6FE86D88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blipFill>
                <a:blip r:embed="rId7"/>
                <a:stretch>
                  <a:fillRect l="-18182" t="-8333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TextBox 172">
                <a:extLst>
                  <a:ext uri="{FF2B5EF4-FFF2-40B4-BE49-F238E27FC236}">
                    <a16:creationId xmlns="" xmlns:a16="http://schemas.microsoft.com/office/drawing/2014/main" id="{1BDE252E-5809-4279-94CA-6E96B539D43F}"/>
                  </a:ext>
                </a:extLst>
              </p:cNvPr>
              <p:cNvSpPr txBox="1"/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BDE252E-5809-4279-94CA-6E96B539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blipFill>
                <a:blip r:embed="rId8"/>
                <a:stretch>
                  <a:fillRect l="-22727" t="-8333" r="-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Straight Arrow Connector 173">
            <a:extLst>
              <a:ext uri="{FF2B5EF4-FFF2-40B4-BE49-F238E27FC236}">
                <a16:creationId xmlns="" xmlns:a16="http://schemas.microsoft.com/office/drawing/2014/main" id="{A93D577A-EBAE-4B08-9173-4C0F2C02F782}"/>
              </a:ext>
            </a:extLst>
          </p:cNvPr>
          <p:cNvCxnSpPr>
            <a:cxnSpLocks/>
          </p:cNvCxnSpPr>
          <p:nvPr/>
        </p:nvCxnSpPr>
        <p:spPr>
          <a:xfrm>
            <a:off x="9896428" y="3421404"/>
            <a:ext cx="15351" cy="659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="" xmlns:a16="http://schemas.microsoft.com/office/drawing/2014/main" id="{51A5074D-DFB1-4DFA-9A9E-73B0F724E598}"/>
              </a:ext>
            </a:extLst>
          </p:cNvPr>
          <p:cNvCxnSpPr>
            <a:cxnSpLocks/>
          </p:cNvCxnSpPr>
          <p:nvPr/>
        </p:nvCxnSpPr>
        <p:spPr>
          <a:xfrm flipH="1" flipV="1">
            <a:off x="9295723" y="3421404"/>
            <a:ext cx="598885" cy="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="" xmlns:a16="http://schemas.microsoft.com/office/drawing/2014/main" id="{1A252A61-9B8A-451C-9DFE-EB51C7632401}"/>
                  </a:ext>
                </a:extLst>
              </p:cNvPr>
              <p:cNvSpPr txBox="1"/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1A252A61-9B8A-451C-9DFE-EB51C7632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blipFill>
                <a:blip r:embed="rId9"/>
                <a:stretch>
                  <a:fillRect l="-18182" t="-11429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="" xmlns:a16="http://schemas.microsoft.com/office/drawing/2014/main" id="{437282F6-6F23-4917-B0A1-1AB9F9DA3971}"/>
                  </a:ext>
                </a:extLst>
              </p:cNvPr>
              <p:cNvSpPr txBox="1"/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437282F6-6F23-4917-B0A1-1AB9F9DA3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blipFill>
                <a:blip r:embed="rId10"/>
                <a:stretch>
                  <a:fillRect l="-17391" t="-8571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=""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38947"/>
              </a:xfrm>
              <a:prstGeom prst="rect">
                <a:avLst/>
              </a:prstGeom>
              <a:blipFill>
                <a:blip r:embed="rId11"/>
                <a:stretch>
                  <a:fillRect l="-1262" t="-19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="" xmlns:a16="http://schemas.microsoft.com/office/drawing/2014/main" id="{89DC91E5-2FA1-4299-A20E-792B66F161F0}"/>
                  </a:ext>
                </a:extLst>
              </p:cNvPr>
              <p:cNvSpPr txBox="1"/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There is no change in the bulk order in response to the bond impurity, hence the 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 is “virtually” unchanged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89DC91E5-2FA1-4299-A20E-792B66F16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7288" y="5025272"/>
                <a:ext cx="4351243" cy="1492460"/>
              </a:xfrm>
              <a:prstGeom prst="rect">
                <a:avLst/>
              </a:prstGeom>
              <a:blipFill>
                <a:blip r:embed="rId12"/>
                <a:stretch>
                  <a:fillRect l="-1120" t="-20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="" xmlns:a16="http://schemas.microsoft.com/office/drawing/2014/main" id="{ABA180AA-6E53-4B48-AD66-D0E076EE3BE6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A180AA-6E53-4B48-AD66-D0E076EE3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3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029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042830"/>
            <a:ext cx="5185094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Response from a single bond impurity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="" xmlns:a16="http://schemas.microsoft.com/office/drawing/2014/main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="" xmlns:a16="http://schemas.microsoft.com/office/drawing/2014/main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="" xmlns:a16="http://schemas.microsoft.com/office/drawing/2014/main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8" name="Arrow: Up 77">
            <a:extLst>
              <a:ext uri="{FF2B5EF4-FFF2-40B4-BE49-F238E27FC236}">
                <a16:creationId xmlns="" xmlns:a16="http://schemas.microsoft.com/office/drawing/2014/main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="" xmlns:a16="http://schemas.microsoft.com/office/drawing/2014/main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="" xmlns:a16="http://schemas.microsoft.com/office/drawing/2014/main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="" xmlns:a16="http://schemas.microsoft.com/office/drawing/2014/main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="" xmlns:a16="http://schemas.microsoft.com/office/drawing/2014/main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="" xmlns:a16="http://schemas.microsoft.com/office/drawing/2014/main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="" xmlns:a16="http://schemas.microsoft.com/office/drawing/2014/main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="" xmlns:a16="http://schemas.microsoft.com/office/drawing/2014/main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="" xmlns:a16="http://schemas.microsoft.com/office/drawing/2014/main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="" xmlns:a16="http://schemas.microsoft.com/office/drawing/2014/main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="" xmlns:a16="http://schemas.microsoft.com/office/drawing/2014/main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="" xmlns:a16="http://schemas.microsoft.com/office/drawing/2014/main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disorder this is a perturbative correction to the bulk Hamiltonian,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882" y="5025272"/>
                <a:ext cx="4351243" cy="1585627"/>
              </a:xfrm>
              <a:prstGeom prst="rect">
                <a:avLst/>
              </a:prstGeom>
              <a:blipFill>
                <a:blip r:embed="rId5"/>
                <a:stretch>
                  <a:fillRect l="-1262" t="-192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="" xmlns:a16="http://schemas.microsoft.com/office/drawing/2014/main" id="{E9CC5D54-0080-4C21-9CB5-D40E074EEF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linear response approximation this leads to finite expectation value of transverse spin fluctuation.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If we consider the Goldstone modes,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, the response is dipolar,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2D, the real space response is also dipolar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9CC5D54-0080-4C21-9CB5-D40E074E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  <a:blipFill rotWithShape="0">
                <a:blip r:embed="rId6"/>
                <a:stretch>
                  <a:fillRect l="-830" t="-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4A5DDA08-7A1C-4299-8317-113F9D651360}"/>
                  </a:ext>
                </a:extLst>
              </p:cNvPr>
              <p:cNvSpPr txBox="1"/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DDA08-7A1C-4299-8317-113F9D651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="" xmlns:a16="http://schemas.microsoft.com/office/drawing/2014/main" id="{544851C4-C121-479C-8993-D23E0B5BFEEA}"/>
                  </a:ext>
                </a:extLst>
              </p:cNvPr>
              <p:cNvSpPr txBox="1"/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44851C4-C121-479C-8993-D23E0B5BF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blipFill>
                <a:blip r:embed="rId8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="" xmlns:a16="http://schemas.microsoft.com/office/drawing/2014/main" id="{3AC2280B-96A5-4F4F-9647-BC8469FA8AA8}"/>
                  </a:ext>
                </a:extLst>
              </p:cNvPr>
              <p:cNvSpPr txBox="1"/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.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C2280B-96A5-4F4F-9647-BC8469FA8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="" xmlns:a16="http://schemas.microsoft.com/office/drawing/2014/main" id="{1C91CD0E-8444-49E0-BF05-DFF3E5674584}"/>
                  </a:ext>
                </a:extLst>
              </p:cNvPr>
              <p:cNvSpPr txBox="1"/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 (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)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C91CD0E-8444-49E0-BF05-DFF3E5674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="" xmlns:a16="http://schemas.microsoft.com/office/drawing/2014/main" id="{1B1B23B8-B407-498C-923E-F20AF5881157}"/>
                  </a:ext>
                </a:extLst>
              </p:cNvPr>
              <p:cNvSpPr txBox="1"/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B1B23B8-B407-498C-923E-F20AF588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="" xmlns:a16="http://schemas.microsoft.com/office/drawing/2014/main" id="{D07F661C-8004-4D22-8269-80EDFF1AF054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07F661C-8004-4D22-8269-80EDFF1AF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2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="" xmlns:a16="http://schemas.microsoft.com/office/drawing/2014/main" id="{E10E445E-5E05-4F78-AE27-F235C3E05E81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0E445E-5E05-4F78-AE27-F235C3E05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5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Bond impurity: Dipolar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  <a:blipFill>
                <a:blip r:embed="rId2"/>
                <a:stretch>
                  <a:fillRect l="-1925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767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Impurities in a 2D non-collinear antiferromagnet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Content Placeholder 2">
                <a:extLst>
                  <a:ext uri="{FF2B5EF4-FFF2-40B4-BE49-F238E27FC236}">
                    <a16:creationId xmlns="" xmlns:a16="http://schemas.microsoft.com/office/drawing/2014/main" id="{1D64F189-8CCC-4E65-85DE-7BB8C3AC3D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Vacancy: Octupolar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    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Wollny,Fritz</a:t>
                </a: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and Vojta,PRL,2011)</a:t>
                </a:r>
              </a:p>
            </p:txBody>
          </p:sp>
        </mc:Choice>
        <mc:Fallback xmlns=""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1D64F189-8CCC-4E65-85DE-7BB8C3AC3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  <a:blipFill>
                <a:blip r:embed="rId3"/>
                <a:stretch>
                  <a:fillRect l="-2088" t="-28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="" xmlns:a16="http://schemas.microsoft.com/office/drawing/2014/main" id="{27C707B6-51B3-4036-A46B-0D29A9A9A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83" y="2762962"/>
            <a:ext cx="2249095" cy="23785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="" xmlns:a16="http://schemas.microsoft.com/office/drawing/2014/main" id="{C9C5C4B7-34A4-48C1-A1DC-06A11ED8C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165" y="2762962"/>
            <a:ext cx="2424322" cy="23785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="" xmlns:a16="http://schemas.microsoft.com/office/drawing/2014/main" id="{E60C39C8-1D7E-4E9C-8D78-A389E4BAD3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026" y="2930141"/>
            <a:ext cx="2157781" cy="215778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="" xmlns:a16="http://schemas.microsoft.com/office/drawing/2014/main" id="{283EC524-5C28-4BC8-A346-49D6A760C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622" y="2930141"/>
            <a:ext cx="2058011" cy="205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43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Bond impurity: Dipolar response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Transverse fluctuation is proportional to the strength of the bond impurity.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disordered system, one expects the impurity magnitudes,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</m:sSub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to be uncorrelated.</a:t>
                </a:r>
                <a:endParaRPr 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199" y="1490854"/>
            <a:ext cx="1044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Dipolar response and infrared divergence of frustrated non-collinear magnets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integral diverges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 the lower critical dimension for bond disordered non-collinear magnets is,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blipFill>
                <a:blip r:embed="rId3"/>
                <a:stretch>
                  <a:fillRect l="-717" t="-20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="" xmlns:a16="http://schemas.microsoft.com/office/drawing/2014/main" id="{C143E3E0-E5AF-4DCA-8D45-ABF1F63F708D}"/>
              </a:ext>
            </a:extLst>
          </p:cNvPr>
          <p:cNvSpPr/>
          <p:nvPr/>
        </p:nvSpPr>
        <p:spPr>
          <a:xfrm>
            <a:off x="8217590" y="60177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CE53D487-41DE-4E55-AC40-716497812C4B}"/>
                  </a:ext>
                </a:extLst>
              </p:cNvPr>
              <p:cNvSpPr txBox="1"/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b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 for a distribution of bond impurities.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53D487-41DE-4E55-AC40-716497812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blipFill>
                <a:blip r:embed="rId4"/>
                <a:stretch>
                  <a:fillRect t="-104545" b="-1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D5F5CF77-369F-46EF-8F28-41FBAA86F3FF}"/>
                  </a:ext>
                </a:extLst>
              </p:cNvPr>
              <p:cNvSpPr txBox="1"/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r>
                              <a:rPr lang="en-US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F5CF77-369F-46EF-8F28-41FBAA86F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blipFill>
                <a:blip r:embed="rId5"/>
                <a:stretch>
                  <a:fillRect t="-19672" b="-1475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76F0511A-6176-4E21-A3E6-223AC73965EE}"/>
                  </a:ext>
                </a:extLst>
              </p:cNvPr>
              <p:cNvSpPr txBox="1"/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implies that the transverse correlation has a divergent contribution,</a:t>
                </a:r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subHide m:val="on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∼∫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F0511A-6176-4E21-A3E6-223AC739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blipFill>
                <a:blip r:embed="rId6"/>
                <a:stretch>
                  <a:fillRect l="-1040" t="-1796" r="-22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4231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83813" cy="92252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Energetics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="" xmlns:a16="http://schemas.microsoft.com/office/drawing/2014/main" id="{ED567242-5A9E-41B9-B90C-625163F4C5F0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1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Incommensurate order in non-collinear magnets</a:t>
            </a:r>
          </a:p>
          <a:p>
            <a:pPr lvl="1">
              <a:lnSpc>
                <a:spcPct val="110000"/>
              </a:lnSpc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Our test syste</a:t>
            </a:r>
            <a:r>
              <a:rPr lang="en-US" dirty="0"/>
              <a:t>m: The triangular lattice Heisenberg model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Claim: In a system with random couplings, some rare regions emerge with a particular bond anisotropy orientation.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="" xmlns:a16="http://schemas.microsoft.com/office/drawing/2014/main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“isotropic” limit the ground state has spiral order with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With bond anisotropy the order is described by an incommensurate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blipFill>
                <a:blip r:embed="rId2"/>
                <a:stretch>
                  <a:fillRect l="-717" t="-1376" r="-17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A0E0AAD1-99C7-4545-9AFE-2E3D877EC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360" y="3071367"/>
            <a:ext cx="2520368" cy="245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05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CC008A3C-58BC-4D61-944C-BF5112E8FA0F}"/>
                  </a:ext>
                </a:extLst>
              </p:cNvPr>
              <p:cNvSpPr txBox="1"/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In a lattice there is a discrete number of possible bond anisotropy orientation.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They define a sharp domain wall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incommensurate ordering vectors follow the suit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surface energy cost for such a domain formation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𝑠𝑢𝑟𝑓𝑎𝑐𝑒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−1 </m:t>
                        </m:r>
                      </m:sup>
                    </m:sSup>
                  </m:oMath>
                </a14:m>
                <a:r>
                  <a:rPr lang="en-US" dirty="0"/>
                  <a:t> , while the bulk energy gain is determined by the volume and the central limit theorem,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. Hence the critical dimension is once again,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08A3C-58BC-4D61-944C-BF5112E8F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blipFill>
                <a:blip r:embed="rId2"/>
                <a:stretch>
                  <a:fillRect l="-768" t="-888" r="-18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D7BCC96B-FD2A-4B72-9856-1CFE89872D2C}"/>
              </a:ext>
            </a:extLst>
          </p:cNvPr>
          <p:cNvSpPr/>
          <p:nvPr/>
        </p:nvSpPr>
        <p:spPr>
          <a:xfrm>
            <a:off x="3419087" y="60932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="" xmlns:a16="http://schemas.microsoft.com/office/drawing/2014/main" id="{56428F22-64A1-4831-90F8-03179D4FD98A}"/>
                  </a:ext>
                </a:extLst>
              </p14:cNvPr>
              <p14:cNvContentPartPr/>
              <p14:nvPr/>
            </p14:nvContentPartPr>
            <p14:xfrm>
              <a:off x="7380034" y="2821367"/>
              <a:ext cx="3687840" cy="3082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6428F22-64A1-4831-90F8-03179D4FD9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71034" y="2812367"/>
                <a:ext cx="3705480" cy="3100320"/>
              </a:xfrm>
              <a:prstGeom prst="rect">
                <a:avLst/>
              </a:prstGeom>
            </p:spPr>
          </p:pic>
        </mc:Fallback>
      </mc:AlternateContent>
      <p:cxnSp>
        <p:nvCxnSpPr>
          <p:cNvPr id="11" name="Straight Connector 10">
            <a:extLst>
              <a:ext uri="{FF2B5EF4-FFF2-40B4-BE49-F238E27FC236}">
                <a16:creationId xmlns="" xmlns:a16="http://schemas.microsoft.com/office/drawing/2014/main" id="{57B1ACE0-4F89-4EE1-A7A0-8314534481A3}"/>
              </a:ext>
            </a:extLst>
          </p:cNvPr>
          <p:cNvCxnSpPr>
            <a:cxnSpLocks/>
          </p:cNvCxnSpPr>
          <p:nvPr/>
        </p:nvCxnSpPr>
        <p:spPr>
          <a:xfrm>
            <a:off x="7499758" y="4400026"/>
            <a:ext cx="1853967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="" xmlns:a16="http://schemas.microsoft.com/office/drawing/2014/main" id="{3ABBE17F-27C5-499F-92A9-C43ECF7E5AB7}"/>
              </a:ext>
            </a:extLst>
          </p:cNvPr>
          <p:cNvCxnSpPr>
            <a:cxnSpLocks/>
          </p:cNvCxnSpPr>
          <p:nvPr/>
        </p:nvCxnSpPr>
        <p:spPr>
          <a:xfrm>
            <a:off x="7415868" y="4682625"/>
            <a:ext cx="1904301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="" xmlns:a16="http://schemas.microsoft.com/office/drawing/2014/main" id="{1DF61E52-0E4B-4F3B-896C-10F78936261A}"/>
              </a:ext>
            </a:extLst>
          </p:cNvPr>
          <p:cNvCxnSpPr>
            <a:cxnSpLocks/>
          </p:cNvCxnSpPr>
          <p:nvPr/>
        </p:nvCxnSpPr>
        <p:spPr>
          <a:xfrm>
            <a:off x="7369987" y="4980265"/>
            <a:ext cx="1899848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="" xmlns:a16="http://schemas.microsoft.com/office/drawing/2014/main" id="{E72A4D8F-997B-488C-837A-7B35F2FCF71F}"/>
              </a:ext>
            </a:extLst>
          </p:cNvPr>
          <p:cNvCxnSpPr>
            <a:cxnSpLocks/>
          </p:cNvCxnSpPr>
          <p:nvPr/>
        </p:nvCxnSpPr>
        <p:spPr>
          <a:xfrm>
            <a:off x="7415868" y="5299047"/>
            <a:ext cx="1808086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="" xmlns:a16="http://schemas.microsoft.com/office/drawing/2014/main" id="{8B7F1367-F36E-489E-A969-A6F187E76615}"/>
              </a:ext>
            </a:extLst>
          </p:cNvPr>
          <p:cNvCxnSpPr>
            <a:cxnSpLocks/>
          </p:cNvCxnSpPr>
          <p:nvPr/>
        </p:nvCxnSpPr>
        <p:spPr>
          <a:xfrm>
            <a:off x="7575259" y="5575883"/>
            <a:ext cx="1812022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="" xmlns:a16="http://schemas.microsoft.com/office/drawing/2014/main" id="{3537C2EC-0320-4C33-BF8F-ECC02E6563E6}"/>
              </a:ext>
            </a:extLst>
          </p:cNvPr>
          <p:cNvCxnSpPr>
            <a:cxnSpLocks/>
          </p:cNvCxnSpPr>
          <p:nvPr/>
        </p:nvCxnSpPr>
        <p:spPr>
          <a:xfrm>
            <a:off x="7702492" y="4109208"/>
            <a:ext cx="1567343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="" xmlns:a16="http://schemas.microsoft.com/office/drawing/2014/main" id="{6A6FF69A-1437-4878-B7A2-06EEB86FB29B}"/>
              </a:ext>
            </a:extLst>
          </p:cNvPr>
          <p:cNvCxnSpPr>
            <a:cxnSpLocks/>
          </p:cNvCxnSpPr>
          <p:nvPr/>
        </p:nvCxnSpPr>
        <p:spPr>
          <a:xfrm flipV="1">
            <a:off x="8235581" y="3815594"/>
            <a:ext cx="824529" cy="11016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="" xmlns:a16="http://schemas.microsoft.com/office/drawing/2014/main" id="{29F219F9-17F5-495D-A78A-CF8426FF3467}"/>
              </a:ext>
            </a:extLst>
          </p:cNvPr>
          <p:cNvCxnSpPr>
            <a:cxnSpLocks/>
          </p:cNvCxnSpPr>
          <p:nvPr/>
        </p:nvCxnSpPr>
        <p:spPr>
          <a:xfrm flipH="1" flipV="1">
            <a:off x="9353725" y="2965508"/>
            <a:ext cx="33556" cy="2642532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="" xmlns:a16="http://schemas.microsoft.com/office/drawing/2014/main" id="{F720B8D1-910E-47A7-80CF-4D4278D13941}"/>
              </a:ext>
            </a:extLst>
          </p:cNvPr>
          <p:cNvCxnSpPr>
            <a:cxnSpLocks/>
          </p:cNvCxnSpPr>
          <p:nvPr/>
        </p:nvCxnSpPr>
        <p:spPr>
          <a:xfrm flipH="1" flipV="1">
            <a:off x="9623570" y="2881619"/>
            <a:ext cx="40547" cy="2726421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="" xmlns:a16="http://schemas.microsoft.com/office/drawing/2014/main" id="{B8768208-2E61-451C-AD67-6FBBF112BE0B}"/>
              </a:ext>
            </a:extLst>
          </p:cNvPr>
          <p:cNvCxnSpPr>
            <a:cxnSpLocks/>
          </p:cNvCxnSpPr>
          <p:nvPr/>
        </p:nvCxnSpPr>
        <p:spPr>
          <a:xfrm flipH="1" flipV="1">
            <a:off x="9921638" y="2821368"/>
            <a:ext cx="29802" cy="284539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="" xmlns:a16="http://schemas.microsoft.com/office/drawing/2014/main" id="{20A1DABD-44A6-406E-816B-D8E0B6C3B9EB}"/>
              </a:ext>
            </a:extLst>
          </p:cNvPr>
          <p:cNvCxnSpPr>
            <a:cxnSpLocks/>
          </p:cNvCxnSpPr>
          <p:nvPr/>
        </p:nvCxnSpPr>
        <p:spPr>
          <a:xfrm flipH="1" flipV="1">
            <a:off x="10187914" y="2821375"/>
            <a:ext cx="33554" cy="278666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="" xmlns:a16="http://schemas.microsoft.com/office/drawing/2014/main" id="{7B1BABB4-6955-4153-94FB-D830F1049EE5}"/>
              </a:ext>
            </a:extLst>
          </p:cNvPr>
          <p:cNvCxnSpPr>
            <a:cxnSpLocks/>
          </p:cNvCxnSpPr>
          <p:nvPr/>
        </p:nvCxnSpPr>
        <p:spPr>
          <a:xfrm flipV="1">
            <a:off x="10492880" y="2932329"/>
            <a:ext cx="0" cy="2549877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="" xmlns:a16="http://schemas.microsoft.com/office/drawing/2014/main" id="{3B12C872-7581-47A5-89FF-CDEE8DFE331D}"/>
              </a:ext>
            </a:extLst>
          </p:cNvPr>
          <p:cNvCxnSpPr>
            <a:cxnSpLocks/>
          </p:cNvCxnSpPr>
          <p:nvPr/>
        </p:nvCxnSpPr>
        <p:spPr>
          <a:xfrm flipV="1">
            <a:off x="10787893" y="3192012"/>
            <a:ext cx="0" cy="1996579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939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Incommensurability domains:</a:t>
            </a: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979A644E-6B4B-499D-9FBC-BF6B6AFF17DB}"/>
              </a:ext>
            </a:extLst>
          </p:cNvPr>
          <p:cNvSpPr txBox="1"/>
          <p:nvPr/>
        </p:nvSpPr>
        <p:spPr>
          <a:xfrm>
            <a:off x="838200" y="1490854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Disorder energetics: Incommensurability domains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C008A3C-58BC-4D61-944C-BF5112E8FA0F}"/>
              </a:ext>
            </a:extLst>
          </p:cNvPr>
          <p:cNvSpPr txBox="1"/>
          <p:nvPr/>
        </p:nvSpPr>
        <p:spPr>
          <a:xfrm>
            <a:off x="1124125" y="2663505"/>
            <a:ext cx="819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Our test system once again: The disordered triangular lattice antiferromagnet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156D924-0C55-4D15-9A85-174682CC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66" y="3229571"/>
            <a:ext cx="3956757" cy="33851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="" xmlns:a16="http://schemas.microsoft.com/office/drawing/2014/main" id="{5125CC0C-6684-4FBC-979A-E3BD550397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846" y="3199696"/>
            <a:ext cx="3758106" cy="3444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="" xmlns:a16="http://schemas.microsoft.com/office/drawing/2014/main" id="{B7727D4E-5455-4039-8C20-0027B33BF58E}"/>
                  </a:ext>
                </a:extLst>
              </p:cNvPr>
              <p:cNvSpPr txBox="1"/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727D4E-5455-4039-8C20-0027B33BF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blipFill>
                <a:blip r:embed="rId4"/>
                <a:stretch>
                  <a:fillRect t="-22727" r="-24286" b="-15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83B34F3E-6051-40F6-8AFA-565B0A96268A}"/>
                  </a:ext>
                </a:extLst>
              </p:cNvPr>
              <p:cNvSpPr txBox="1"/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3B34F3E-6051-40F6-8AFA-565B0A962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2F2FB3EA-C8D6-46E8-BF4D-ACC64FC11FB9}"/>
              </a:ext>
            </a:extLst>
          </p:cNvPr>
          <p:cNvSpPr txBox="1"/>
          <p:nvPr/>
        </p:nvSpPr>
        <p:spPr>
          <a:xfrm>
            <a:off x="4997743" y="5751073"/>
            <a:ext cx="3156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Discrete domain formation and destruction of long range order.</a:t>
            </a:r>
            <a:endParaRPr lang="x-none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098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 length grows exponentially with inverse disorder strength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Implication: For small distance resolution, an appearance of </a:t>
                </a:r>
                <a:r>
                  <a:rPr lang="en-US" sz="2400" u="sng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order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At finite temperature the system is thermally disordered with bare thermal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  <m:r>
                              <a:rPr lang="en-US" sz="24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. 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p>
                        </m:sSup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</m:e>
                    </m:nary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also diverging. The domination of quenched vs thermal disorder is determined by the ratio,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4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quasi-2D system with multiple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layers, the 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model essentially has an extra dimension. So, in such a system long range order is not broken as long as layer couplings are finite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model with SU(2) symmetry broken, if all the low energy modes get gapped out, say, with an energy scale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 In effect, long range order survives if,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≪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692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An example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Experiments and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microscopics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on disordered triangular lattice antiferromagnet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2776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𝑌𝑏𝑍𝑛𝐺𝑎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4</m:t>
                            </m:r>
                          </m:sub>
                        </m:sSub>
                      </m:e>
                      <m:sup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205" b="-265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charset="0"/>
                          </a:rPr>
                        </m:ctrlPr>
                      </m:sSupPr>
                      <m:e/>
                      <m:sup>
                        <m:r>
                          <a:rPr lang="sk-SK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Ma et. al, </a:t>
                </a:r>
                <a:r>
                  <a:rPr lang="en-US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arxiv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2017</a:t>
                </a: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blipFill rotWithShape="0">
                <a:blip r:embed="rId3"/>
                <a:stretch>
                  <a:fillRect b="-19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881" y="2233978"/>
            <a:ext cx="4104742" cy="35862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Thermal conductivity,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𝜅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𝛽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blipFill rotWithShape="0">
                <a:blip r:embed="rId5"/>
                <a:stretch>
                  <a:fillRect l="-1151" t="-69737" b="-8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415" y="2162131"/>
            <a:ext cx="5669289" cy="36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05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85000" lnSpcReduction="20000"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 general consensus is that disordered triangular lattice compound is spin-glass in nature.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“In this Letter, we report comprehensive measurements on a closely related system, YbZnGaO4. We show that the most natural conclusion, that is consistent with the micro- and macro-</a:t>
            </a:r>
            <a:r>
              <a:rPr lang="en-US" sz="2400" dirty="0" err="1"/>
              <a:t>scopic</a:t>
            </a:r>
            <a:r>
              <a:rPr lang="en-US" sz="2400" dirty="0"/>
              <a:t> data presented here is that the system is a spin glass. We believe disorder[5, 8, 11, 16, 17] and frustration[4, 5, 11, 18–22] to be largely responsible for this phase</a:t>
            </a:r>
            <a:r>
              <a:rPr lang="en-US" sz="2400" dirty="0" smtClean="0"/>
              <a:t>.. Ma et. al”</a:t>
            </a: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J. A. M. </a:t>
            </a:r>
            <a:r>
              <a:rPr lang="en-US" sz="2400" dirty="0" err="1"/>
              <a:t>Paddison</a:t>
            </a:r>
            <a:r>
              <a:rPr lang="en-US" sz="2400" dirty="0"/>
              <a:t>, M. </a:t>
            </a:r>
            <a:r>
              <a:rPr lang="en-US" sz="2400" dirty="0" err="1"/>
              <a:t>Daum</a:t>
            </a:r>
            <a:r>
              <a:rPr lang="en-US" sz="2400" dirty="0"/>
              <a:t>, Z. Dun, G. Ehlers, Y. Liu, M. B. Stone, H. Zhou, and M. </a:t>
            </a:r>
            <a:r>
              <a:rPr lang="en-US" sz="2400" dirty="0" err="1"/>
              <a:t>Mourigal</a:t>
            </a:r>
            <a:r>
              <a:rPr lang="en-US" sz="2400" dirty="0"/>
              <a:t>, Nature Phys. 13, 117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Y. Li, D. </a:t>
            </a:r>
            <a:r>
              <a:rPr lang="en-US" sz="2400" dirty="0" err="1"/>
              <a:t>Adroja</a:t>
            </a:r>
            <a:r>
              <a:rPr lang="en-US" sz="2400" dirty="0"/>
              <a:t>, R. I. </a:t>
            </a:r>
            <a:r>
              <a:rPr lang="en-US" sz="2400" dirty="0" err="1"/>
              <a:t>Bewley</a:t>
            </a:r>
            <a:r>
              <a:rPr lang="en-US" sz="2400" dirty="0"/>
              <a:t>, D. </a:t>
            </a:r>
            <a:r>
              <a:rPr lang="en-US" sz="2400" dirty="0" err="1"/>
              <a:t>Voneshen</a:t>
            </a:r>
            <a:r>
              <a:rPr lang="en-US" sz="2400" dirty="0"/>
              <a:t>, A. A. </a:t>
            </a:r>
            <a:r>
              <a:rPr lang="en-US" sz="2400" dirty="0" err="1"/>
              <a:t>Tsirlin</a:t>
            </a:r>
            <a:r>
              <a:rPr lang="en-US" sz="2400" dirty="0"/>
              <a:t>, P. </a:t>
            </a:r>
            <a:r>
              <a:rPr lang="en-US" sz="2400" dirty="0" err="1"/>
              <a:t>Gegenwart</a:t>
            </a:r>
            <a:r>
              <a:rPr lang="en-US" sz="2400" dirty="0"/>
              <a:t>, and Q. Zhang, Phys. Rev. Lett. 118, 107202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X. Zhang, F. Mahmood, M. </a:t>
            </a:r>
            <a:r>
              <a:rPr lang="en-US" sz="2400" dirty="0" err="1"/>
              <a:t>Daum</a:t>
            </a:r>
            <a:r>
              <a:rPr lang="en-US" sz="2400" dirty="0"/>
              <a:t>, Z. Dun, J. A. M. </a:t>
            </a:r>
            <a:r>
              <a:rPr lang="en-US" sz="2400" dirty="0" err="1"/>
              <a:t>Paddison</a:t>
            </a:r>
            <a:r>
              <a:rPr lang="en-US" sz="2400" dirty="0"/>
              <a:t>, N. J. Laurita, T. Hong, H. Zhou, N. P. Armitage, and M. </a:t>
            </a:r>
            <a:r>
              <a:rPr lang="en-US" sz="2400" dirty="0" err="1"/>
              <a:t>Mourigal</a:t>
            </a:r>
            <a:r>
              <a:rPr lang="en-US" sz="2400" dirty="0"/>
              <a:t>, arXiv:1708.07503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 smtClean="0"/>
              <a:t>L</a:t>
            </a:r>
            <a:r>
              <a:rPr lang="en-US" sz="2400" dirty="0"/>
              <a:t>. </a:t>
            </a:r>
            <a:r>
              <a:rPr lang="en-US" sz="2400" dirty="0" err="1"/>
              <a:t>Balents</a:t>
            </a:r>
            <a:r>
              <a:rPr lang="en-US" sz="2400" dirty="0"/>
              <a:t>, Nature 540, 534 (2016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nb-NO" sz="2400" dirty="0"/>
              <a:t>Z. Zhu, P. A. </a:t>
            </a:r>
            <a:r>
              <a:rPr lang="nb-NO" sz="2400" dirty="0" err="1"/>
              <a:t>Maksimov</a:t>
            </a:r>
            <a:r>
              <a:rPr lang="nb-NO" sz="2400" dirty="0"/>
              <a:t>, S. R. White, and A. L. </a:t>
            </a:r>
            <a:r>
              <a:rPr lang="nb-NO" sz="2400" dirty="0" err="1"/>
              <a:t>Chernyshev</a:t>
            </a:r>
            <a:r>
              <a:rPr lang="nb-NO" sz="2400" dirty="0"/>
              <a:t>, </a:t>
            </a:r>
            <a:r>
              <a:rPr lang="nb-NO" sz="2400" dirty="0" err="1"/>
              <a:t>Phys</a:t>
            </a:r>
            <a:r>
              <a:rPr lang="nb-NO" sz="2400" dirty="0"/>
              <a:t>. Rev. Lett. 119, 157201 (2017). [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charset="0"/>
                      </a:rPr>
                      <m:t>𝑌𝑏𝑀𝑔</m:t>
                    </m:r>
                    <m:r>
                      <a:rPr 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charset="0"/>
                      </a:rPr>
                      <m:t>𝐺𝑎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𝑂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4</m:t>
                        </m:r>
                      </m:sub>
                    </m:sSub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 rot="19550039">
            <a:off x="8095842" y="964668"/>
            <a:ext cx="23716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smtClean="0">
                <a:solidFill>
                  <a:srgbClr val="C00000"/>
                </a:solidFill>
              </a:rPr>
              <a:t>Elaborate</a:t>
            </a:r>
            <a:endParaRPr lang="en-US" sz="4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2928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Disordered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Heisenberg model</a:t>
                </a: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40777" y="4704802"/>
            <a:ext cx="4776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SWT</a:t>
            </a:r>
            <a:endParaRPr lang="en-US" dirty="0" smtClean="0"/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Classical ground state with local minimization</a:t>
            </a:r>
          </a:p>
          <a:p>
            <a:pPr marL="342900" indent="-342900">
              <a:buAutoNum type="arabicPeriod"/>
            </a:pPr>
            <a:r>
              <a:rPr lang="en-US" dirty="0" smtClean="0"/>
              <a:t>SWT on top with angle correction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6576980" y="4704802"/>
            <a:ext cx="3129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Mean field theory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Captures the singlet physics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742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Signature of disorder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A comparison between the spin-wave spectrum and the experimental plot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Also comparison between BZ structure factor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Mobility edge?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Spin glass with singlet valleys: pictures from mean field theory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Qualitative phase diagram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="" xmlns:a16="http://schemas.microsoft.com/office/drawing/2014/main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812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 smtClean="0">
                <a:solidFill>
                  <a:schemeClr val="accent2">
                    <a:lumMod val="50000"/>
                  </a:schemeClr>
                </a:solidFill>
              </a:rPr>
              <a:t>Thank you?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Or a summary?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660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2265</Words>
  <Application>Microsoft Macintosh PowerPoint</Application>
  <PresentationFormat>Widescreen</PresentationFormat>
  <Paragraphs>264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Calibri</vt:lpstr>
      <vt:lpstr>Calibri Light</vt:lpstr>
      <vt:lpstr>Cambria Math</vt:lpstr>
      <vt:lpstr>Courier New</vt:lpstr>
      <vt:lpstr>Wingdings</vt:lpstr>
      <vt:lpstr>Arial</vt:lpstr>
      <vt:lpstr>Office Theme</vt:lpstr>
      <vt:lpstr>Quenched Bond Disorder in Frustrated Non-Collinear Magnets</vt:lpstr>
      <vt:lpstr>Content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Fields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Quenched disorder: Random couplings</vt:lpstr>
      <vt:lpstr>An example</vt:lpstr>
      <vt:lpstr>Disordered Triangular Lattice</vt:lpstr>
      <vt:lpstr>Disordered Triangular Lattice</vt:lpstr>
      <vt:lpstr>Disordered Triangular Lattice</vt:lpstr>
      <vt:lpstr>Disordered Triangular Lattice</vt:lpstr>
      <vt:lpstr>Thank you?</vt:lpstr>
    </vt:vector>
  </TitlesOfParts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Quenched Bond Disorder in Non-Collinear Magnets</dc:title>
  <dc:creator>Santanu Dey</dc:creator>
  <cp:lastModifiedBy>Santanu Dey</cp:lastModifiedBy>
  <cp:revision>115</cp:revision>
  <dcterms:created xsi:type="dcterms:W3CDTF">2017-12-30T15:09:56Z</dcterms:created>
  <dcterms:modified xsi:type="dcterms:W3CDTF">2018-01-03T04:46:49Z</dcterms:modified>
</cp:coreProperties>
</file>