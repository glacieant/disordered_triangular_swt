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60" r:id="rId3"/>
    <p:sldId id="272" r:id="rId4"/>
    <p:sldId id="261" r:id="rId5"/>
    <p:sldId id="262" r:id="rId6"/>
    <p:sldId id="264" r:id="rId7"/>
    <p:sldId id="286" r:id="rId8"/>
    <p:sldId id="265" r:id="rId9"/>
    <p:sldId id="266" r:id="rId10"/>
    <p:sldId id="273" r:id="rId11"/>
    <p:sldId id="267" r:id="rId12"/>
    <p:sldId id="287" r:id="rId13"/>
    <p:sldId id="268" r:id="rId14"/>
    <p:sldId id="269" r:id="rId15"/>
    <p:sldId id="270" r:id="rId16"/>
    <p:sldId id="274" r:id="rId17"/>
    <p:sldId id="275" r:id="rId18"/>
    <p:sldId id="276" r:id="rId19"/>
    <p:sldId id="288" r:id="rId20"/>
    <p:sldId id="289" r:id="rId21"/>
    <p:sldId id="290" r:id="rId22"/>
    <p:sldId id="278" r:id="rId23"/>
    <p:sldId id="291" r:id="rId24"/>
    <p:sldId id="292" r:id="rId25"/>
    <p:sldId id="293" r:id="rId26"/>
    <p:sldId id="280" r:id="rId27"/>
    <p:sldId id="294" r:id="rId28"/>
    <p:sldId id="297" r:id="rId29"/>
    <p:sldId id="298" r:id="rId30"/>
    <p:sldId id="295" r:id="rId31"/>
    <p:sldId id="302" r:id="rId32"/>
    <p:sldId id="299" r:id="rId33"/>
    <p:sldId id="303" r:id="rId34"/>
    <p:sldId id="304" r:id="rId35"/>
    <p:sldId id="281" r:id="rId36"/>
    <p:sldId id="305" r:id="rId37"/>
    <p:sldId id="285" r:id="rId38"/>
    <p:sldId id="30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8" autoAdjust="0"/>
    <p:restoredTop sz="94660"/>
  </p:normalViewPr>
  <p:slideViewPr>
    <p:cSldViewPr snapToGrid="0">
      <p:cViewPr>
        <p:scale>
          <a:sx n="114" d="100"/>
          <a:sy n="114" d="100"/>
        </p:scale>
        <p:origin x="392" y="18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1-04T13:41:07.944"/>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1-04T13:41:17.850"/>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17:41:17.277"/>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1-04T13:41:37.296"/>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17:27:26.601"/>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4518 1723,'-2'3</inkml:trace>
  <inkml:trace contextRef="#ctx0" brushRef="#br0">4516 1726,'-1'1</inkml:trace>
  <inkml:trace contextRef="#ctx0" brushRef="#br0" timeOffset="16708.0284">4492 1756,'-4'5</inkml:trace>
  <inkml:trace contextRef="#ctx0" brushRef="#br0" timeOffset="16709.0284">4487 1762,'-1'1</inkml:trace>
  <inkml:trace contextRef="#ctx0" brushRef="#br0" timeOffset="16706.0284">4386 1883,'-4'5</inkml:trace>
  <inkml:trace contextRef="#ctx0" brushRef="#br0" timeOffset="16707.0284">4381 1889,'-6'7</inkml:trace>
  <inkml:trace contextRef="#ctx0" brushRef="#br0">4358 1914,'-12'12</inkml:trace>
  <inkml:trace contextRef="#ctx0" brushRef="#br0" timeOffset="18127.773">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8128.773">5082 876,'-9'18</inkml:trace>
  <inkml:trace contextRef="#ctx0" brushRef="#br0" timeOffset="18126.773">5069 904,'-8'16</inkml:trace>
  <inkml:trace contextRef="#ctx0" brushRef="#br0" timeOffset="18123.773">5041 957,'-5'9</inkml:trace>
  <inkml:trace contextRef="#ctx0" brushRef="#br0" timeOffset="18108.9607">5034 971,'-7'9</inkml:trace>
  <inkml:trace contextRef="#ctx0" brushRef="#br0" timeOffset="18107.9607">5027 981,'-17'25,"-10"15,3 0,20-34</inkml:trace>
  <inkml:trace contextRef="#ctx0" brushRef="#br0">4869 1225,'-1'1,"-14"16</inkml:trace>
  <inkml:trace contextRef="#ctx0" brushRef="#br0">4851 1245,'-2'3</inkml:trace>
  <inkml:trace contextRef="#ctx0" brushRef="#br0">4843 1254,'-17'22,"-4"4,4 1,5-3,-2-2,3 2,9-21</inkml:trace>
  <inkml:trace contextRef="#ctx0" brushRef="#br0">4526 1720,'2'-4</inkml:trace>
  <inkml:trace contextRef="#ctx0" brushRef="#br0">4547 1691,'1'-1</inkml:trace>
  <inkml:trace contextRef="#ctx0" brushRef="#br0" timeOffset="16656.9779">4552 1686,'6'-7</inkml:trace>
  <inkml:trace contextRef="#ctx0" brushRef="#br0" timeOffset="16655.9779">4563 1674,'1'-1</inkml:trace>
  <inkml:trace contextRef="#ctx0" brushRef="#br0">4589 1647,'1'-1</inkml:trace>
  <inkml:trace contextRef="#ctx0" brushRef="#br0" timeOffset="16654.9779">4602 1634,'2'-2</inkml:trace>
  <inkml:trace contextRef="#ctx0" brushRef="#br0">4834 1317,'4'-6,"5"-6</inkml:trace>
  <inkml:trace contextRef="#ctx0" brushRef="#br0">4860 1280,'0'0</inkml:trace>
  <inkml:trace contextRef="#ctx0" brushRef="#br0">4863 1276,'4'-6</inkml:trace>
  <inkml:trace contextRef="#ctx0" brushRef="#br0" timeOffset="1614.2639">4871 1265,'4'-6</inkml:trace>
  <inkml:trace contextRef="#ctx0" brushRef="#br0" timeOffset="1613.2639">4876 1257,'1'-1</inkml:trace>
  <inkml:trace contextRef="#ctx0" brushRef="#br0">4986 1080,'-1'0,"-2"2</inkml:trace>
  <inkml:trace contextRef="#ctx0" brushRef="#br0">4585 1647,'5'-6</inkml:trace>
  <inkml:trace contextRef="#ctx0" brushRef="#br0">4595 1634,'7'-9,"-5"6</inkml:trace>
  <inkml:trace contextRef="#ctx0" brushRef="#br0">4614 1608,'3'-3</inkml:trace>
  <inkml:trace contextRef="#ctx0" brushRef="#br0" timeOffset="1596.4177">4628 1589,'9'-13</inkml:trace>
  <inkml:trace contextRef="#ctx0" brushRef="#br0" timeOffset="1597.4177">4638 1575,'1'-2,"5"-6</inkml:trace>
  <inkml:trace contextRef="#ctx0" brushRef="#br0">4650 1558,'0'0</inkml:trace>
  <inkml:trace contextRef="#ctx0" brushRef="#br0">4658 1548,'0'-1,"2"-2</inkml:trace>
  <inkml:trace contextRef="#ctx0" brushRef="#br0">4665 1538,'8'-13</inkml:trace>
  <inkml:trace contextRef="#ctx0" brushRef="#br0">4686 1509,'9'-13,"3"-3</inkml:trace>
  <inkml:trace contextRef="#ctx0" brushRef="#br0">4721 1463,'9'-11</inkml:trace>
  <inkml:trace contextRef="#ctx0" brushRef="#br0">4743 1436,'4'-5</inkml:trace>
  <inkml:trace contextRef="#ctx0" brushRef="#br0">4751 1426,'3'-4,"-1"2</inkml:trace>
  <inkml:trace contextRef="#ctx0" brushRef="#br0">4809 1343,'0'0</inkml:trace>
  <inkml:trace contextRef="#ctx0" brushRef="#br0">4822 1320,'6'-11,"5"-12,1 1,0-1,2 1,1 1,1-1,1-1,0 0,-11 15</inkml:trace>
  <inkml:trace contextRef="#ctx0" brushRef="#br0">4955 1112,'4'-6,"-3"5</inkml:trace>
  <inkml:trace contextRef="#ctx0" brushRef="#br0">4963 1101,'4'-5</inkml:trace>
  <inkml:trace contextRef="#ctx0" brushRef="#br0">4978 1082,'8'-10</inkml:trace>
  <inkml:trace contextRef="#ctx0" brushRef="#br0" timeOffset="18060.284">5034 979,'-1'1</inkml:trace>
  <inkml:trace contextRef="#ctx0" brushRef="#br0" timeOffset="18059.284">5027 988,'-19'24,"-4"6,0 2,2-1,0 0,0 0,1 0,0-1,2 0,0-1,0 0,1-1,0 0,5-10</inkml:trace>
  <inkml:trace contextRef="#ctx0" brushRef="#br0">4756 1394,'-2'3,"-15"22,0 0,0-1,1-1,-1-1,0-1,2 0,0 1,1-1,-1-1,0 0,10-14</inkml:trace>
  <inkml:trace contextRef="#ctx0" brushRef="#br0">4564 1659,'-16'19,"5"-6</inkml:trace>
  <inkml:trace contextRef="#ctx0" brushRef="#br0">4528 1702,'-9'11,"-1"3</inkml:trace>
  <inkml:trace contextRef="#ctx0" brushRef="#br0">4492 1753,'-7'10</inkml:trace>
  <inkml:trace contextRef="#ctx0" brushRef="#br0">4826 1320,'8'-13,"3"-8,-9 18</inkml:trace>
  <inkml:trace contextRef="#ctx0" brushRef="#br0">4849 1280,'8'-14,"5"-6,-1 1,-6 10</inkml:trace>
  <inkml:trace contextRef="#ctx0" brushRef="#br0">4888 1218,'7'-10,"-5"7</inkml:trace>
  <inkml:trace contextRef="#ctx0" brushRef="#br0">4900 1201,'8'-12,"6"-9,-13 20</inkml:trace>
  <inkml:trace contextRef="#ctx0" brushRef="#br0">4930 1157,'4'-6</inkml:trace>
  <inkml:trace contextRef="#ctx0" brushRef="#br0">4938 1145,'10'-16</inkml:trace>
  <inkml:trace contextRef="#ctx0" brushRef="#br0">4958 1112,'2'-4</inkml:trace>
  <inkml:trace contextRef="#ctx0" brushRef="#br0">4965 1101,'1'-3,"0"1</inkml:trace>
  <inkml:trace contextRef="#ctx0" brushRef="#br0">4975 1082,'5'-9,"1"0</inkml:trace>
  <inkml:trace contextRef="#ctx0" brushRef="#br0">4993 1052,'1'-1</inkml:trace>
  <inkml:trace contextRef="#ctx0" brushRef="#br0">5002 1039,'7'-12</inkml:trace>
  <inkml:trace contextRef="#ctx0" brushRef="#br0" timeOffset="18027.4464">5163 781,'5'-7</inkml:trace>
  <inkml:trace contextRef="#ctx0" brushRef="#br0" timeOffset="18026.4464">5171 770,'6'-9,"1"-1,1 1,-7 7</inkml:trace>
  <inkml:trace contextRef="#ctx0" brushRef="#br0" timeOffset="18024.4464">5198 735,'1'-1</inkml:trace>
  <inkml:trace contextRef="#ctx0" brushRef="#br0" timeOffset="5914.1926">4444 1806,'0'0,"0"0,0 0,0 0,0 0,0 0</inkml:trace>
  <inkml:trace contextRef="#ctx0" brushRef="#br0" timeOffset="7167.8098">4484 1780,'0'0,"0"0,0 0,0 0,0 0,0 0,0 0,0 0</inkml:trace>
  <inkml:trace contextRef="#ctx0" brushRef="#br0" timeOffset="16464.9067">4273 1978,'0'0,"0"0,0 0,-4 1,0 2,-1 0,2 0,0-2,3 1,2-1,2-2,2-2,3-1,1-1,4-2,0-3,2-1,-12 8</inkml:trace>
  <inkml:trace contextRef="#ctx0" brushRef="#br0" timeOffset="16465.9067">4337 1945,'9'-7</inkml:trace>
  <inkml:trace contextRef="#ctx0" brushRef="#br0" timeOffset="16463.9067">4363 1924,'10'-9</inkml:trace>
  <inkml:trace contextRef="#ctx0" brushRef="#br0" timeOffset="16461.9067">4512 1761,'6'-9</inkml:trace>
  <inkml:trace contextRef="#ctx0" brushRef="#br0" timeOffset="16459.9067">4542 1717,'9'-13,"-2"3</inkml:trace>
  <inkml:trace contextRef="#ctx0" brushRef="#br0" timeOffset="16457.9067">4578 1664,'14'-20,"6"-8,-1 1,0 2,-1-1,-1 1,0 2,0 2,-3 4,-2 3,-2 4,-2 3,-5 3,-2 4,-2 0,-3 3,-1 1,-1 1,-1 1,0 0,0 1,-2 1,0 1,-2 0,-1 3,-2 3,-2 4,-2 5,-5 3,-3 4,-2 3,-2 4,-1 0,-1 1,-1 0,0-1,4-2,3-5,5-4,4-5,4-5,3-2,3-5,2 0,2-2</inkml:trace>
  <inkml:trace contextRef="#ctx0" brushRef="#br0" timeOffset="39262.8874">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55282.5027">4749 1747,'-1'0,"-1"0,1 0,0 0,-1-5,0-4,0-6,1-3,1-4,1-1,1-4,-1-2,0-2,0-2,0 0,-1 0,-1 0,-1 7,0 7,1 7,0 5</inkml:trace>
  <inkml:trace contextRef="#ctx0" brushRef="#br0" timeOffset="66974.0671">5556 7607,'-1'-1,"-1"0,1-1,0 1,0 0,1 1,-1 0,1-1,0 6,0 2,0 1,0 1,0 1,2-1,-1 0,1 0,-1-1,-1 0,1 0,-1 0,0 0,0-1,0-1,0 1,1-1,1 1,0 0,1 0,-1 1,0 0,-1 1,-1 2,0 0,-2-1,1-2,-1-3,2-2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17:41:17.277"/>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17:41:17.277"/>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trace contextRef="#ctx0" brushRef="#br0" timeOffset="75">4749 1633,'0'0,"0"0,0 0,0 0,0 0,0 0,0 0,0 0,0 14,0 14,0 7,0 7,-4 6,-3 4,-3 2,-1 2,1 1,-1-1,0 5,-2 2,1 3,2 5,3 5,3 3,2 3,-3-4,-2-1,2-4,1 0,1 1,1-2,1-5,1-3,5-4,1-7,5-8,5-7,9-6,6-2,6-8,1-2,0-4,2-1,0-3,-4 2,3 3,-1-2,-2-3,1 1,1 3,-3 4,-2 2,-2 3,-2 7,-1 1,0 2,-5 2,-2 1,0-2,-3-2,-1 3,-2 3,-4 6,-5 3,3 4,-1 1,-2 2,-2 0,4 0,-5 0,-3 0,-1-1,-1 1,0-1,1 5,-5 2,-1-1,1-1,-4-2,1 0,-4-2,1 0,-2 4,0 1,-1 4,-3 6,2 0,-2 1,-2-1,3 1,-1-3,-2 2,2-2,0 1,3-2,-1 2,2-2,4-3,-1-3,1-3,2-2,3-6,2-2,6-1,3-3,0 0,4-3,0 1,3 2,0-1,2-4,-2 1,-3-3,-3 3,2-1,0-3,2 1,0 4,-2 0,2 2,4-2,-1 1,2-2,3-3,-1-3,0-3,2-3,3-5,-3-3,-1 0,-2-4,-1-4,-2 0,1-3,-2 3,-3-2,-4 3,-2-2,-3 2,0-1,-1-3,-1-3</inkml:trace>
  <inkml:trace contextRef="#ctx0" brushRef="#br0" timeOffset="76">4749 1747,'-1'0,"-1"0,1 0,0 0,-1-5,0-4,0-6,1-3,1-4,1-1,1-4,-1-2,0-2,0-2,0 0,-1 0,-1 0,-1 7,0 7,1 7,0 5</inkml:trace>
  <inkml:trace contextRef="#ctx0" brushRef="#br0" timeOffset="77">5556 7607,'-1'-1,"-1"0,1-1,0 1,0 0,1 1,-1 0,1-1,0 6,0 2,0 1,0 1,0 1,2-1,-1 0,1 0,-1-1,-1 0,1 0,-1 0,0 0,0-1,0-1,0 1,1-1,1 1,0 0,1 0,-1 1,0 0,-1 1,-1 2,0 0,-2-1,1-2,-1-3,2-2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20:17:19.050"/>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2-30T20:18:21.800"/>
    </inkml:context>
    <inkml:brush xml:id="br0">
      <inkml:brushProperty name="width" value="0.05" units="cm"/>
      <inkml:brushProperty name="height" value="0.05" units="cm"/>
    </inkml:brush>
  </inkml:definitions>
  <inkml:trace contextRef="#ctx0" brushRef="#br0">4551 1677,'-10'14</inkml:trace>
  <inkml:trace contextRef="#ctx0" brushRef="#br0" timeOffset="1">4528 1709,'-8'11</inkml:trace>
  <inkml:trace contextRef="#ctx0" brushRef="#br0" timeOffset="2">4518 1723,'-2'3</inkml:trace>
  <inkml:trace contextRef="#ctx0" brushRef="#br0" timeOffset="3">4516 1726,'-1'1</inkml:trace>
  <inkml:trace contextRef="#ctx0" brushRef="#br0" timeOffset="4">4492 1756,'-4'5</inkml:trace>
  <inkml:trace contextRef="#ctx0" brushRef="#br0" timeOffset="5">4487 1762,'-1'1</inkml:trace>
  <inkml:trace contextRef="#ctx0" brushRef="#br0" timeOffset="6">4386 1883,'-4'5</inkml:trace>
  <inkml:trace contextRef="#ctx0" brushRef="#br0" timeOffset="7">4381 1889,'-6'7</inkml:trace>
  <inkml:trace contextRef="#ctx0" brushRef="#br0" timeOffset="8">4358 1914,'-12'12</inkml:trace>
  <inkml:trace contextRef="#ctx0" brushRef="#br0" timeOffset="9">4339 1933,'-52'53,"-37"21,3-8,-1-10,4-8,6-3,4-2,0-5,1-2,-3-3,-5-1,0-6,-2-2,3 0,-2-4,2-1,-1-2,-8 0,-6 3,-2-1,-1 0,0 8,-5 5,-1 8,-5 7,-4 7,-6 4,3 9,3 4,6 0,5-7,3-3,2-2,7-5,9-1,6 1,0 1,2 3,3 2,2 7,-4 8,0 1,2 5,1 9,2 6,1 7,7 9,7 10,3 7,3 8,4 7,4 6,3 4,2 3,1 6,5 2,8 0,7-1,10-3,6-1,7-7,6-8,12-7,11-7,9-3,7-2,4-7,3-8,6-6,2-5,10-4,7-8,10-2,9-5,8-6,0-6,2-2,1-4,9-5,2-4,1-4,6-6,-1-6,5-2,4-9,-1-3,-4-6,1-5,4-11,3-6,3-7,3-7,7-6,3-10,0-4,-1-6,-2-7,-1-5,-7-3,-8-4,-2 5,2 2,-3 4,1 0,-2 5,1 4,-2 10,-3 10,-10 4,-9 10,-5 7,1 4,-3 1,0 6,-2 1,1 4,-1 6,-4-2,2-3,-2 1,-2-2,-8-3,-10-5,-3-2,-5-7,6-4,5-5,8-7,5-10,5-11,7-9,6-8,3-9,-3-4,0-7,-5-6,-5 1,-5-2,0-9,-1-3,-1-2,-9 0,-3-5,-7-1,-6 1,-6-3,-5 1,-2-4,-2 1,0-2,-1-4,-5-4,-6-4,-13-1,-6-2,-9-6,-3-2,-4-6,-6 1,3-4,-3-4,4 1,-1-1,-2-2,2 2,0 5,-3 5,-8 4,-4 4,-7 7,-2-3,-4-1,-5-6,1-2,0 0,-4-4,3 0,0 2,-2 8,-2 10,-3 14,-7 3,-2 2,-1 3,-5 0,-5 2,-11 5,-6 1,-2 6,-1 0,1 3,1 4,1 4,0-1,2 5,0 3,-5 2,-1 6,-6 2,-5 4,-1 0,4 3,-1-1,1 1,-2 5,-3-3,-4 1,-3 8,-3 5,-1 2,-7 6,-2 6,1 6,-5 5,1 4,1 1,3 1,3 0,1 0,2 5,1 2,0-1,0-1,6 3,7 1,6-2,1 3,1 5,-2 0,1 3,2 3,2-2,4 1,1-4,1 2,7 2,2 3,5-2,0 5,4-2,-2 1,3 6,-2-2,1-2,4 1,3 1,4-1,7 2,3 0,6 0,0 0,-1 1,3-6,3-2,0 1,-3 1,0 7,-1-3,12-17</inkml:trace>
  <inkml:trace contextRef="#ctx0" brushRef="#br0" timeOffset="10">5082 876,'-9'18</inkml:trace>
  <inkml:trace contextRef="#ctx0" brushRef="#br0" timeOffset="11">5069 904,'-8'16</inkml:trace>
  <inkml:trace contextRef="#ctx0" brushRef="#br0" timeOffset="12">5041 957,'-5'9</inkml:trace>
  <inkml:trace contextRef="#ctx0" brushRef="#br0" timeOffset="13">5034 971,'-7'9</inkml:trace>
  <inkml:trace contextRef="#ctx0" brushRef="#br0" timeOffset="14">5027 981,'-17'25,"-10"15,3 0,20-34</inkml:trace>
  <inkml:trace contextRef="#ctx0" brushRef="#br0" timeOffset="15">4869 1225,'-1'1,"-14"16</inkml:trace>
  <inkml:trace contextRef="#ctx0" brushRef="#br0" timeOffset="16">4851 1245,'-2'3</inkml:trace>
  <inkml:trace contextRef="#ctx0" brushRef="#br0" timeOffset="17">4843 1254,'-17'22,"-4"4,4 1,5-3,-2-2,3 2,9-21</inkml:trace>
  <inkml:trace contextRef="#ctx0" brushRef="#br0" timeOffset="18">4526 1720,'2'-4</inkml:trace>
  <inkml:trace contextRef="#ctx0" brushRef="#br0" timeOffset="19">4547 1691,'1'-1</inkml:trace>
  <inkml:trace contextRef="#ctx0" brushRef="#br0" timeOffset="20">4552 1686,'6'-7</inkml:trace>
  <inkml:trace contextRef="#ctx0" brushRef="#br0" timeOffset="21">4563 1674,'1'-1</inkml:trace>
  <inkml:trace contextRef="#ctx0" brushRef="#br0" timeOffset="22">4589 1647,'1'-1</inkml:trace>
  <inkml:trace contextRef="#ctx0" brushRef="#br0" timeOffset="23">4602 1634,'2'-2</inkml:trace>
  <inkml:trace contextRef="#ctx0" brushRef="#br0" timeOffset="24">4834 1317,'4'-6,"5"-6</inkml:trace>
  <inkml:trace contextRef="#ctx0" brushRef="#br0" timeOffset="25">4860 1280,'0'0</inkml:trace>
  <inkml:trace contextRef="#ctx0" brushRef="#br0" timeOffset="26">4863 1276,'4'-6</inkml:trace>
  <inkml:trace contextRef="#ctx0" brushRef="#br0" timeOffset="27">4871 1265,'4'-6</inkml:trace>
  <inkml:trace contextRef="#ctx0" brushRef="#br0" timeOffset="28">4876 1257,'1'-1</inkml:trace>
  <inkml:trace contextRef="#ctx0" brushRef="#br0" timeOffset="29">4986 1080,'-1'0,"-2"2</inkml:trace>
  <inkml:trace contextRef="#ctx0" brushRef="#br0" timeOffset="30">4585 1647,'5'-6</inkml:trace>
  <inkml:trace contextRef="#ctx0" brushRef="#br0" timeOffset="31">4595 1634,'7'-9,"-5"6</inkml:trace>
  <inkml:trace contextRef="#ctx0" brushRef="#br0" timeOffset="32">4614 1608,'3'-3</inkml:trace>
  <inkml:trace contextRef="#ctx0" brushRef="#br0" timeOffset="33">4628 1589,'9'-13</inkml:trace>
  <inkml:trace contextRef="#ctx0" brushRef="#br0" timeOffset="34">4638 1575,'1'-2,"5"-6</inkml:trace>
  <inkml:trace contextRef="#ctx0" brushRef="#br0" timeOffset="35">4650 1558,'0'0</inkml:trace>
  <inkml:trace contextRef="#ctx0" brushRef="#br0" timeOffset="36">4658 1548,'0'-1,"2"-2</inkml:trace>
  <inkml:trace contextRef="#ctx0" brushRef="#br0" timeOffset="37">4665 1538,'8'-13</inkml:trace>
  <inkml:trace contextRef="#ctx0" brushRef="#br0" timeOffset="38">4686 1509,'9'-13,"3"-3</inkml:trace>
  <inkml:trace contextRef="#ctx0" brushRef="#br0" timeOffset="39">4721 1463,'9'-11</inkml:trace>
  <inkml:trace contextRef="#ctx0" brushRef="#br0" timeOffset="40">4743 1436,'4'-5</inkml:trace>
  <inkml:trace contextRef="#ctx0" brushRef="#br0" timeOffset="41">4751 1426,'3'-4,"-1"2</inkml:trace>
  <inkml:trace contextRef="#ctx0" brushRef="#br0" timeOffset="42">4809 1343,'0'0</inkml:trace>
  <inkml:trace contextRef="#ctx0" brushRef="#br0" timeOffset="43">4822 1320,'6'-11,"5"-12,1 1,0-1,2 1,1 1,1-1,1-1,0 0,-11 15</inkml:trace>
  <inkml:trace contextRef="#ctx0" brushRef="#br0" timeOffset="44">4955 1112,'4'-6,"-3"5</inkml:trace>
  <inkml:trace contextRef="#ctx0" brushRef="#br0" timeOffset="45">4963 1101,'4'-5</inkml:trace>
  <inkml:trace contextRef="#ctx0" brushRef="#br0" timeOffset="46">4978 1082,'8'-10</inkml:trace>
  <inkml:trace contextRef="#ctx0" brushRef="#br0" timeOffset="47">5034 979,'-1'1</inkml:trace>
  <inkml:trace contextRef="#ctx0" brushRef="#br0" timeOffset="48">5027 988,'-19'24,"-4"6,0 2,2-1,0 0,0 0,1 0,0-1,2 0,0-1,0 0,1-1,0 0,5-10</inkml:trace>
  <inkml:trace contextRef="#ctx0" brushRef="#br0" timeOffset="49">4756 1394,'-2'3,"-15"22,0 0,0-1,1-1,-1-1,0-1,2 0,0 1,1-1,-1-1,0 0,10-14</inkml:trace>
  <inkml:trace contextRef="#ctx0" brushRef="#br0" timeOffset="50">4564 1659,'-16'19,"5"-6</inkml:trace>
  <inkml:trace contextRef="#ctx0" brushRef="#br0" timeOffset="51">4528 1702,'-9'11,"-1"3</inkml:trace>
  <inkml:trace contextRef="#ctx0" brushRef="#br0" timeOffset="52">4492 1753,'-7'10</inkml:trace>
  <inkml:trace contextRef="#ctx0" brushRef="#br0" timeOffset="53">4826 1320,'8'-13,"3"-8,-9 18</inkml:trace>
  <inkml:trace contextRef="#ctx0" brushRef="#br0" timeOffset="54">4849 1280,'8'-14,"5"-6,-1 1,-6 10</inkml:trace>
  <inkml:trace contextRef="#ctx0" brushRef="#br0" timeOffset="55">4888 1218,'7'-10,"-5"7</inkml:trace>
  <inkml:trace contextRef="#ctx0" brushRef="#br0" timeOffset="56">4900 1201,'8'-12,"6"-9,-13 20</inkml:trace>
  <inkml:trace contextRef="#ctx0" brushRef="#br0" timeOffset="57">4930 1157,'4'-6</inkml:trace>
  <inkml:trace contextRef="#ctx0" brushRef="#br0" timeOffset="58">4938 1145,'10'-16</inkml:trace>
  <inkml:trace contextRef="#ctx0" brushRef="#br0" timeOffset="59">4958 1112,'2'-4</inkml:trace>
  <inkml:trace contextRef="#ctx0" brushRef="#br0" timeOffset="60">4965 1101,'1'-3,"0"1</inkml:trace>
  <inkml:trace contextRef="#ctx0" brushRef="#br0" timeOffset="61">4975 1082,'5'-9,"1"0</inkml:trace>
  <inkml:trace contextRef="#ctx0" brushRef="#br0" timeOffset="62">4993 1052,'1'-1</inkml:trace>
  <inkml:trace contextRef="#ctx0" brushRef="#br0" timeOffset="63">5002 1039,'7'-12</inkml:trace>
  <inkml:trace contextRef="#ctx0" brushRef="#br0" timeOffset="64">5163 781,'5'-7</inkml:trace>
  <inkml:trace contextRef="#ctx0" brushRef="#br0" timeOffset="65">5171 770,'6'-9,"1"-1,1 1,-7 7</inkml:trace>
  <inkml:trace contextRef="#ctx0" brushRef="#br0" timeOffset="66">5198 735,'1'-1</inkml:trace>
  <inkml:trace contextRef="#ctx0" brushRef="#br0" timeOffset="67">4444 1806,'0'0,"0"0,0 0,0 0,0 0,0 0</inkml:trace>
  <inkml:trace contextRef="#ctx0" brushRef="#br0" timeOffset="68">4484 1780,'0'0,"0"0,0 0,0 0,0 0,0 0,0 0,0 0</inkml:trace>
  <inkml:trace contextRef="#ctx0" brushRef="#br0" timeOffset="69">4273 1978,'0'0,"0"0,0 0,-4 1,0 2,-1 0,2 0,0-2,3 1,2-1,2-2,2-2,3-1,1-1,4-2,0-3,2-1,-12 8</inkml:trace>
  <inkml:trace contextRef="#ctx0" brushRef="#br0" timeOffset="70">4337 1945,'9'-7</inkml:trace>
  <inkml:trace contextRef="#ctx0" brushRef="#br0" timeOffset="71">4363 1924,'10'-9</inkml:trace>
  <inkml:trace contextRef="#ctx0" brushRef="#br0" timeOffset="72">4512 1761,'6'-9</inkml:trace>
  <inkml:trace contextRef="#ctx0" brushRef="#br0" timeOffset="73">4542 1717,'9'-13,"-2"3</inkml:trace>
  <inkml:trace contextRef="#ctx0" brushRef="#br0" timeOffset="74">4578 1664,'14'-20,"6"-8,-1 1,0 2,-1-1,-1 1,0 2,0 2,-3 4,-2 3,-2 4,-2 3,-5 3,-2 4,-2 0,-3 3,-1 1,-1 1,-1 1,0 0,0 1,-2 1,0 1,-2 0,-1 3,-2 3,-2 4,-2 5,-5 3,-3 4,-2 3,-2 4,-1 0,-1 1,-1 0,0-1,4-2,3-5,5-4,4-5,4-5,3-2,3-5,2 0,2-2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8-01-05T02:08:53.518"/>
    </inkml:context>
    <inkml:brush xml:id="br0">
      <inkml:brushProperty name="width" value="0.07938" units="cm"/>
      <inkml:brushProperty name="height" value="0.07938" units="cm"/>
    </inkml:brush>
  </inkml:definitions>
  <inkml:trace contextRef="#ctx0" brushRef="#br0">2709 994,'-6'8</inkml:trace>
  <inkml:trace contextRef="#ctx0" brushRef="#br0" timeOffset="1">2695 1013,'-5'6</inkml:trace>
  <inkml:trace contextRef="#ctx0" brushRef="#br0" timeOffset="2">2689 1021,'-1'2</inkml:trace>
  <inkml:trace contextRef="#ctx0" brushRef="#br0" timeOffset="3">2688 1023,'-1'0</inkml:trace>
  <inkml:trace contextRef="#ctx0" brushRef="#br0" timeOffset="4">2673 1040,'-2'3</inkml:trace>
  <inkml:trace contextRef="#ctx0" brushRef="#br0" timeOffset="5">2670 1044,'0'0</inkml:trace>
  <inkml:trace contextRef="#ctx0" brushRef="#br0" timeOffset="6">2610 1116,'-2'3</inkml:trace>
  <inkml:trace contextRef="#ctx0" brushRef="#br0" timeOffset="7">2607 1119,'-3'4</inkml:trace>
  <inkml:trace contextRef="#ctx0" brushRef="#br0" timeOffset="8">2594 1134,'-7'7</inkml:trace>
  <inkml:trace contextRef="#ctx0" brushRef="#br0" timeOffset="9">2582 1145,'-31'32,"-22"11,2-4,0-5,1-6,4-1,3-2,-1-2,2-2,-3-1,-3-2,1-2,-2-2,2 0,-1-2,1-1,-1-1,-4 1,-4 0,-1 1,-1-1,0 5,-3 3,0 5,-3 3,-3 5,-3 3,2 4,1 3,4 0,3-4,1-2,2-1,4-3,6 0,3 0,0 0,1 3,2 0,1 5,-3 4,1 1,1 3,1 6,0 2,2 5,3 6,5 5,1 4,2 6,3 3,2 4,2 2,1 2,0 3,4 2,4 0,5-1,5-2,4 0,4-4,4-5,7-5,6-3,6-2,4-2,2-3,2-6,4-2,1-4,5-2,5-5,6-1,6-3,4-4,0-3,1-1,1-3,5-3,1-2,1-2,4-4,-1-3,3-2,2-5,0-2,-3-3,1-4,2-5,2-5,2-3,2-5,4-3,1-6,1-3,-1-3,-1-4,-1-3,-4-2,-5-2,-1 2,2 2,-3 2,1 0,-1 4,1 1,-2 7,-1 5,-7 3,-5 5,-2 5,0 2,-2 1,0 3,-1 1,0 3,0 3,-3-2,2-1,-1 1,-2-2,-5-2,-5-2,-2-2,-3-4,3-2,3-3,6-4,2-6,3-7,4-5,4-5,1-5,-1-2,0-5,-3-3,-3 0,-3 0,0-6,-1-2,0-1,-6 0,-2-3,-3-1,-4 1,-4-2,-3 1,-1-2,-1 0,0-1,-1-3,-2-2,-4-2,-8-1,-4-1,-5-4,-2 0,-2-5,-3 2,1-3,-2-3,3 1,-1 0,-1-2,1 2,0 2,-1 4,-6 1,-2 4,-3 3,-3-1,-1-2,-4-2,1-2,1 0,-4-2,3 0,-1 1,0 5,-2 6,-2 8,-4 1,-1 2,0 2,-4 0,-3 1,-6 3,-3 0,-2 4,-1 0,1 2,1 2,0 3,1-1,0 3,1 1,-4 2,0 4,-3 0,-4 3,0 0,2 2,0-1,0 1,-1 3,-2-2,-2 0,-2 5,-2 4,0 0,-5 4,-1 3,1 5,-3 2,1 2,0 1,2 1,1-1,2 1,0 2,1 2,0-1,0 0,4 1,4 1,3-1,1 1,1 4,-2-1,1 2,1 3,1-3,3 2,0-3,1 1,4 2,2 1,2-1,0 3,3-1,-2 0,2 4,-1-1,1-2,2 1,2 1,2-1,4 2,2-1,4 0,0 1,-1 0,2-4,1-1,1 1,-2 1,0 3,-1-1,8-10</inkml:trace>
  <inkml:trace contextRef="#ctx0" brushRef="#br0" timeOffset="10">3025 519,'-6'11</inkml:trace>
  <inkml:trace contextRef="#ctx0" brushRef="#br0" timeOffset="11">3017 536,'-5'9</inkml:trace>
  <inkml:trace contextRef="#ctx0" brushRef="#br0" timeOffset="12">3000 567,'-3'6</inkml:trace>
  <inkml:trace contextRef="#ctx0" brushRef="#br0" timeOffset="13">2996 575,'-4'6</inkml:trace>
  <inkml:trace contextRef="#ctx0" brushRef="#br0" timeOffset="14">2992 581,'-10'15,"-6"9,1 0,13-21</inkml:trace>
  <inkml:trace contextRef="#ctx0" brushRef="#br0" timeOffset="15">2898 726,'-1'0,"-8"11</inkml:trace>
  <inkml:trace contextRef="#ctx0" brushRef="#br0" timeOffset="16">2887 738,'-1'2</inkml:trace>
  <inkml:trace contextRef="#ctx0" brushRef="#br0" timeOffset="17">2882 743,'-10'13,"-2"2,2 1,3-1,-2-2,3 1,4-12</inkml:trace>
  <inkml:trace contextRef="#ctx0" brushRef="#br0" timeOffset="18">2694 1019,'1'-2</inkml:trace>
  <inkml:trace contextRef="#ctx0" brushRef="#br0" timeOffset="19">2706 1002,'1'-1</inkml:trace>
  <inkml:trace contextRef="#ctx0" brushRef="#br0" timeOffset="20">2709 999,'4'-4</inkml:trace>
  <inkml:trace contextRef="#ctx0" brushRef="#br0" timeOffset="21">2716 992,'0'-1</inkml:trace>
  <inkml:trace contextRef="#ctx0" brushRef="#br0" timeOffset="22">2731 976,'1'-1</inkml:trace>
  <inkml:trace contextRef="#ctx0" brushRef="#br0" timeOffset="23">2739 968,'1'-1</inkml:trace>
  <inkml:trace contextRef="#ctx0" brushRef="#br0" timeOffset="24">2877 780,'2'-3,"4"-4</inkml:trace>
  <inkml:trace contextRef="#ctx0" brushRef="#br0" timeOffset="25">2892 758,'0'0</inkml:trace>
  <inkml:trace contextRef="#ctx0" brushRef="#br0" timeOffset="26">2894 756,'3'-3</inkml:trace>
  <inkml:trace contextRef="#ctx0" brushRef="#br0" timeOffset="27">2899 750,'2'-4</inkml:trace>
  <inkml:trace contextRef="#ctx0" brushRef="#br0" timeOffset="28">2902 745,'1'-1</inkml:trace>
  <inkml:trace contextRef="#ctx0" brushRef="#br0" timeOffset="29">2967 640,'0'0,"-2"1</inkml:trace>
  <inkml:trace contextRef="#ctx0" brushRef="#br0" timeOffset="30">2729 976,'3'-4</inkml:trace>
  <inkml:trace contextRef="#ctx0" brushRef="#br0" timeOffset="31">2735 968,'4'-5,"-3"3</inkml:trace>
  <inkml:trace contextRef="#ctx0" brushRef="#br0" timeOffset="32">2746 953,'2'-2</inkml:trace>
  <inkml:trace contextRef="#ctx0" brushRef="#br0" timeOffset="33">2754 941,'6'-7</inkml:trace>
  <inkml:trace contextRef="#ctx0" brushRef="#br0" timeOffset="34">2760 933,'1'-1,"3"-4</inkml:trace>
  <inkml:trace contextRef="#ctx0" brushRef="#br0" timeOffset="35">2768 923,'0'0</inkml:trace>
  <inkml:trace contextRef="#ctx0" brushRef="#br0" timeOffset="36">2772 917,'0'0,"1"-2</inkml:trace>
  <inkml:trace contextRef="#ctx0" brushRef="#br0" timeOffset="37">2776 911,'5'-7</inkml:trace>
  <inkml:trace contextRef="#ctx0" brushRef="#br0" timeOffset="38">2789 894,'5'-8,"2"-1</inkml:trace>
  <inkml:trace contextRef="#ctx0" brushRef="#br0" timeOffset="39">2810 867,'5'-7</inkml:trace>
  <inkml:trace contextRef="#ctx0" brushRef="#br0" timeOffset="40">2823 851,'2'-3</inkml:trace>
  <inkml:trace contextRef="#ctx0" brushRef="#br0" timeOffset="41">2828 845,'1'-2,"1"0</inkml:trace>
  <inkml:trace contextRef="#ctx0" brushRef="#br0" timeOffset="42">2862 796,'0'0</inkml:trace>
  <inkml:trace contextRef="#ctx0" brushRef="#br0" timeOffset="43">2870 782,'3'-6,"4"-8,0 1,0-1,2 1,0 1,0-1,1-1,0 1,-6 8</inkml:trace>
  <inkml:trace contextRef="#ctx0" brushRef="#br0" timeOffset="44">2949 659,'2'-4,"-1"4</inkml:trace>
  <inkml:trace contextRef="#ctx0" brushRef="#br0" timeOffset="45">2954 652,'2'-3</inkml:trace>
  <inkml:trace contextRef="#ctx0" brushRef="#br0" timeOffset="46">2963 641,'4'-6</inkml:trace>
  <inkml:trace contextRef="#ctx0" brushRef="#br0" timeOffset="47">2996 580,'-1'1</inkml:trace>
  <inkml:trace contextRef="#ctx0" brushRef="#br0" timeOffset="48">2992 586,'-11'14,"-3"4,0 0,2 1,-1-1,1 1,0-1,0 0,1-1,0 1,1-1,0-1,0 1,2-6</inkml:trace>
  <inkml:trace contextRef="#ctx0" brushRef="#br0" timeOffset="49">2831 826,'-2'2,"-8"13,0-1,0 1,1-2,-2 0,1 0,1-1,0 1,1 0,-1-2,0 1,6-8</inkml:trace>
  <inkml:trace contextRef="#ctx0" brushRef="#br0" timeOffset="50">2716 983,'-9'11,"2"-3</inkml:trace>
  <inkml:trace contextRef="#ctx0" brushRef="#br0" timeOffset="51">2695 1008,'-5'7,"-1"1</inkml:trace>
  <inkml:trace contextRef="#ctx0" brushRef="#br0" timeOffset="52">2673 1039,'-4'5</inkml:trace>
  <inkml:trace contextRef="#ctx0" brushRef="#br0" timeOffset="53">2872 782,'5'-8,"2"-4,-6 10</inkml:trace>
  <inkml:trace contextRef="#ctx0" brushRef="#br0" timeOffset="54">2886 758,'5'-8,"2"-4,1 1,-5 6</inkml:trace>
  <inkml:trace contextRef="#ctx0" brushRef="#br0" timeOffset="55">2909 722,'4'-6,"-2"4</inkml:trace>
  <inkml:trace contextRef="#ctx0" brushRef="#br0" timeOffset="56">2916 712,'5'-7,"3"-6,-7 13</inkml:trace>
  <inkml:trace contextRef="#ctx0" brushRef="#br0" timeOffset="57">2934 686,'3'-4</inkml:trace>
  <inkml:trace contextRef="#ctx0" brushRef="#br0" timeOffset="58">2939 679,'6'-10</inkml:trace>
  <inkml:trace contextRef="#ctx0" brushRef="#br0" timeOffset="59">2951 659,'1'-2</inkml:trace>
  <inkml:trace contextRef="#ctx0" brushRef="#br0" timeOffset="60">2955 652,'1'-1,"-1"-1</inkml:trace>
  <inkml:trace contextRef="#ctx0" brushRef="#br0" timeOffset="61">2961 641,'3'-5,"0"0</inkml:trace>
  <inkml:trace contextRef="#ctx0" brushRef="#br0" timeOffset="62">2972 623,'0'0</inkml:trace>
  <inkml:trace contextRef="#ctx0" brushRef="#br0" timeOffset="63">2977 616,'4'-7</inkml:trace>
  <inkml:trace contextRef="#ctx0" brushRef="#br0" timeOffset="64">3073 463,'3'-4</inkml:trace>
  <inkml:trace contextRef="#ctx0" brushRef="#br0" timeOffset="65">3078 456,'3'-5,"1"-1,1 1,-4 4</inkml:trace>
  <inkml:trace contextRef="#ctx0" brushRef="#br0" timeOffset="66">3094 436,'0'-1</inkml:trace>
  <inkml:trace contextRef="#ctx0" brushRef="#br0" timeOffset="67">2645 1070,'0'0,"0"0,0 0,0 0,0 0,0 0</inkml:trace>
  <inkml:trace contextRef="#ctx0" brushRef="#br0" timeOffset="68">2669 1055,'0'0,"0"0,0 0,0 0,0 0,0 0,0 0,0 0</inkml:trace>
  <inkml:trace contextRef="#ctx0" brushRef="#br0" timeOffset="69">2543 1172,'0'0,"0"0,0 0,-2 0,-1 2,0 0,2 0,-1-2,2 2,1-2,1 0,2-2,1-1,1 0,3-1,-1-2,1 0,-6 4</inkml:trace>
  <inkml:trace contextRef="#ctx0" brushRef="#br0" timeOffset="70">2581 1152,'6'-4</inkml:trace>
  <inkml:trace contextRef="#ctx0" brushRef="#br0" timeOffset="71">2597 1140,'6'-5</inkml:trace>
  <inkml:trace contextRef="#ctx0" brushRef="#br0" timeOffset="72">2685 1043,'4'-5</inkml:trace>
  <inkml:trace contextRef="#ctx0" brushRef="#br0" timeOffset="73">2703 1017,'6'-7,"-2"1</inkml:trace>
  <inkml:trace contextRef="#ctx0" brushRef="#br0" timeOffset="74">2725 986,'8'-12,"4"-5,-1 1,1 2,-2-2,0 1,0 2,1 0,-3 3,-1 2,-1 2,-1 2,-3 2,-2 2,0 0,-3 1,0 2,0 0,-2 0,1 1,0 0,-1 1,-1 0,0 0,-1 2,-2 2,0 3,-2 2,-3 2,-1 2,-2 2,-1 3,0-1,-1 1,-1 0,1 0,1-2,3-2,2-3,3-3,3-3,1-1,1-3,3-1,0 0</inkml:trace>
  <inkml:trace contextRef="#ctx0" brushRef="#br0" timeOffset="75">2826 968,'0'0,"0"0,0 0,0 0,0 0,0 0,0 0,0 0,0 8,0 8,0 5,0 4,-2 3,-2 3,-2 1,-1 1,1 1,0-1,-1 3,0 2,-1 1,3 3,0 3,3 2,1 1,-2-2,-1 0,1-3,0 0,1 1,1-1,1-3,0-3,3-1,0-5,4-4,2-4,6-4,4-2,3-4,0-1,1-2,1-1,0-2,-3 1,2 2,0-1,-2-2,1 1,1 1,-2 3,-2 1,0 2,-2 4,0 0,-1 2,-2 1,-1 0,-1 0,-1-2,-1 2,-1 2,-3 3,-2 2,1 2,0 1,-1 1,-2 0,3 1,-3-1,-2 0,-1 0,0 0,0-1,0 4,-3 1,0-1,1-1,-3 0,0-1,-1-1,-1 0,0 3,0 0,-1 2,-2 4,2 0,-2 1,-1-1,2 1,-1-2,-1 1,2-1,-1 0,2-1,-1 2,2-2,2-1,0-3,0-1,1-1,2-4,1-1,4 0,1-3,1 1,2-2,0 0,2 2,-1-1,2-2,-1 0,-2-2,-2 3,2-2,-1-1,1 1,1 2,-2 0,2 1,2-2,-1 2,2-2,1-1,0-3,-1-1,2-1,2-4,-2-2,-1 1,-1-3,0-3,-2 1,1-2,-1 2,-2-2,-3 3,0-2,-3 1,1 0,-1-2,-1-2</inkml:trace>
  <inkml:trace contextRef="#ctx0" brushRef="#br0" timeOffset="76">2826 1035,'0'0,"-1"0,0 0,0 0,0-3,0-2,0-4,0-2,1-2,1 0,0-3,0-2,-1 0,1-2,-1 1,0-1,0 1,-1 3,-1 5,2 4,-1 3</inkml:trace>
  <inkml:trace contextRef="#ctx0" brushRef="#br0" timeOffset="77">3307 4505,'-1'0,"0"-1,0 0,1 0,-1 1,1 0,0 0,0-1,0 4,0 1,0 1,0 0,0 1,1 0,-1-1,2 0,-2 0,0 0,1 0,-1-1,0 1,0-1,0 0,0 0,0-1,2 2,-1-1,0 0,1 1,-1-1,-1 2,0 0,0 1,-1-1,1-2,-2-1,2-1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BE938-785C-4940-BE00-5BC60C070EFF}" type="datetimeFigureOut">
              <a:rPr lang="en-US" smtClean="0"/>
              <a:t>1/5/18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BB83A6-E777-D54C-9954-D88660D3A450}" type="slidenum">
              <a:rPr lang="en-US" smtClean="0"/>
              <a:t>‹#›</a:t>
            </a:fld>
            <a:endParaRPr lang="en-US"/>
          </a:p>
        </p:txBody>
      </p:sp>
    </p:spTree>
    <p:extLst>
      <p:ext uri="{BB962C8B-B14F-4D97-AF65-F5344CB8AC3E}">
        <p14:creationId xmlns:p14="http://schemas.microsoft.com/office/powerpoint/2010/main" val="126943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46FAA3-1522-47CE-AE5E-83B08EDDFB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70921F06-3EE9-4B26-A276-295DF756D7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2196D102-A62D-479E-B867-29308A247A96}"/>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30EFE8CB-A717-4008-B7A6-8B266DD26B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A6011396-60CB-4D89-BE39-E23D390FE3E1}"/>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16420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7DA403-3E94-4617-A2E1-34CE7C6352EB}"/>
              </a:ext>
            </a:extLst>
          </p:cNvPr>
          <p:cNvSpPr>
            <a:spLocks noGrp="1"/>
          </p:cNvSpPr>
          <p:nvPr>
            <p:ph type="title"/>
          </p:nvPr>
        </p:nvSpPr>
        <p:spPr/>
        <p:txBody>
          <a:bodyPr/>
          <a:lstStyle>
            <a:lvl1pPr>
              <a:defRPr>
                <a:solidFill>
                  <a:schemeClr val="accent2">
                    <a:lumMod val="50000"/>
                  </a:schemeClr>
                </a:solidFill>
              </a:defRPr>
            </a:lvl1pPr>
          </a:lstStyle>
          <a:p>
            <a:r>
              <a:rPr lang="en-US" dirty="0"/>
              <a:t>Click to edit Master title style</a:t>
            </a:r>
            <a:endParaRPr lang="x-none" dirty="0"/>
          </a:p>
        </p:txBody>
      </p:sp>
      <p:sp>
        <p:nvSpPr>
          <p:cNvPr id="3" name="Content Placeholder 2">
            <a:extLst>
              <a:ext uri="{FF2B5EF4-FFF2-40B4-BE49-F238E27FC236}">
                <a16:creationId xmlns:a16="http://schemas.microsoft.com/office/drawing/2014/main" xmlns="" id="{025E362B-934F-4060-AB42-732603207F3C}"/>
              </a:ext>
            </a:extLst>
          </p:cNvPr>
          <p:cNvSpPr>
            <a:spLocks noGrp="1"/>
          </p:cNvSpPr>
          <p:nvPr>
            <p:ph idx="1"/>
          </p:nvPr>
        </p:nvSpPr>
        <p:spPr/>
        <p:txBody>
          <a:bodyPr/>
          <a:lstStyle>
            <a:lvl1pPr>
              <a:defRPr>
                <a:solidFill>
                  <a:schemeClr val="tx1">
                    <a:lumMod val="65000"/>
                    <a:lumOff val="3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x-none" dirty="0"/>
          </a:p>
        </p:txBody>
      </p:sp>
      <p:sp>
        <p:nvSpPr>
          <p:cNvPr id="4" name="Date Placeholder 3">
            <a:extLst>
              <a:ext uri="{FF2B5EF4-FFF2-40B4-BE49-F238E27FC236}">
                <a16:creationId xmlns:a16="http://schemas.microsoft.com/office/drawing/2014/main" xmlns="" id="{56371B31-1840-4C25-93F6-179FABDD18D0}"/>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D2C77E51-954A-4125-950D-B8CCC4C745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75FD49BF-D987-4B0E-9262-E7207729F2AA}"/>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4124240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0828EE-AE31-4A28-A890-CFDC5B11E2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ADB32E06-82AB-44F1-9E24-9ED2E60E1F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33EC13B6-885B-4B78-A7B1-537B8EA902EB}"/>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12241439-65AE-4E8A-81FD-74D2B9F639A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64B4D3DD-6C85-4891-8EF2-91840624EBAE}"/>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1357674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8C9FEB-8A68-4F2E-A904-2F861315F6B9}"/>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B7E7AE05-5261-4D14-9D1A-08C858CC34B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0AFA557C-6116-4401-96E9-4CC465C869F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57059F40-EA09-4F32-8FEB-3B145C34B69E}"/>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6" name="Footer Placeholder 5">
            <a:extLst>
              <a:ext uri="{FF2B5EF4-FFF2-40B4-BE49-F238E27FC236}">
                <a16:creationId xmlns:a16="http://schemas.microsoft.com/office/drawing/2014/main" xmlns="" id="{225EED2F-3273-4CD8-A7E1-11AE8C8986CA}"/>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3590B97-EE07-4BF1-8301-D1BC071C3119}"/>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2145722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437617-17DC-4F3C-9C5D-897BC026A0F2}"/>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D9CA2678-AC50-41DA-AB8E-6B83C66D14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3BCC35A4-623D-4752-A1AE-2070E59202F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B1EA2481-0B6F-4B7F-8560-8F1925AFE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1277C0BE-07F2-4157-A646-1DB0F58213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5BA401D9-F480-47C1-8F73-E070D6B1D2A3}"/>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8" name="Footer Placeholder 7">
            <a:extLst>
              <a:ext uri="{FF2B5EF4-FFF2-40B4-BE49-F238E27FC236}">
                <a16:creationId xmlns:a16="http://schemas.microsoft.com/office/drawing/2014/main" xmlns="" id="{12841643-EF07-4CE0-9694-EA2717CD60BB}"/>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CBE4CF00-4444-4523-806F-545CBAFED91E}"/>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2770205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6012B7-9800-488D-BA99-B4DF0323848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9E895F6D-7C5D-4006-A87B-349F44FE59F5}"/>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4" name="Footer Placeholder 3">
            <a:extLst>
              <a:ext uri="{FF2B5EF4-FFF2-40B4-BE49-F238E27FC236}">
                <a16:creationId xmlns:a16="http://schemas.microsoft.com/office/drawing/2014/main" xmlns="" id="{EE9607D6-D2DB-4C6E-B0FB-E076F247ABB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504D8E5F-B697-46C5-8228-3A586DD07DFC}"/>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1397433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9472874-26BB-4331-84F8-071BD7D613A2}"/>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3" name="Footer Placeholder 2">
            <a:extLst>
              <a:ext uri="{FF2B5EF4-FFF2-40B4-BE49-F238E27FC236}">
                <a16:creationId xmlns:a16="http://schemas.microsoft.com/office/drawing/2014/main" xmlns="" id="{35C966F2-71E2-4793-8917-465D4A453ADD}"/>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096B79BC-4A74-432F-B59E-FA4AA2BBFC01}"/>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649483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6DDF8B-6807-48E0-B8FC-165161D4B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A8BB1988-54DD-4432-A27F-744CF342E4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EAA27D5B-9AD5-4C38-B91B-965A5CB25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41A8AFF9-C2E8-4A42-8618-FF22F2B23D8D}"/>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6" name="Footer Placeholder 5">
            <a:extLst>
              <a:ext uri="{FF2B5EF4-FFF2-40B4-BE49-F238E27FC236}">
                <a16:creationId xmlns:a16="http://schemas.microsoft.com/office/drawing/2014/main" xmlns="" id="{F35A4815-B5D4-4391-8831-3233C14C32D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8B609176-D43D-45B2-95A7-8DC485EC0644}"/>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3444087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4CAA46-8A16-43F5-9CB9-A34FABC99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4E9B75DB-E0B0-4339-A619-74AEB332D8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E9E99C73-0D3B-44E9-B11B-58B9B7BEA5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CE5F7543-36CF-455E-9A97-9FF9B76275A6}"/>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6" name="Footer Placeholder 5">
            <a:extLst>
              <a:ext uri="{FF2B5EF4-FFF2-40B4-BE49-F238E27FC236}">
                <a16:creationId xmlns:a16="http://schemas.microsoft.com/office/drawing/2014/main" xmlns="" id="{6B1ECC21-DDB0-4FFB-8D2B-8C7FEC28C2C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E0AB910-2886-4E19-9C81-191FC437CB6A}"/>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37417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A084CD-1E8C-4A7E-B437-7E442B873118}"/>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1BE12E93-6ADF-476D-8363-879360D4B6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77634495-0665-4650-BA00-BA04BB50102E}"/>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55AAA44A-AB8E-4CC5-9C77-1D34F59CA00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BA0F3B30-9EEB-4DA6-9A2A-3473F1909153}"/>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3731297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4A5D253-0E45-4209-83AA-2CFB0B0438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0C0C01A5-51A9-4206-AEFF-2E52A31C612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CA502940-9535-4027-9E9B-846BF61564C7}"/>
              </a:ext>
            </a:extLst>
          </p:cNvPr>
          <p:cNvSpPr>
            <a:spLocks noGrp="1"/>
          </p:cNvSpPr>
          <p:nvPr>
            <p:ph type="dt" sz="half" idx="10"/>
          </p:nvPr>
        </p:nvSpPr>
        <p:spPr/>
        <p:txBody>
          <a:body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2EFB5E2F-6D85-4F02-B0E3-0FF19D943ED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3762145E-5186-41B0-B073-35607700C8EF}"/>
              </a:ext>
            </a:extLst>
          </p:cNvPr>
          <p:cNvSpPr>
            <a:spLocks noGrp="1"/>
          </p:cNvSpPr>
          <p:nvPr>
            <p:ph type="sldNum" sz="quarter" idx="12"/>
          </p:nvPr>
        </p:nvSpPr>
        <p:spPr/>
        <p:txBody>
          <a:bodyPr/>
          <a:lstStyle/>
          <a:p>
            <a:fld id="{591CF9D4-B403-4ED6-BA34-CB166153BD67}" type="slidenum">
              <a:rPr lang="x-none" smtClean="0"/>
              <a:t>‹#›</a:t>
            </a:fld>
            <a:endParaRPr lang="x-none"/>
          </a:p>
        </p:txBody>
      </p:sp>
    </p:spTree>
    <p:extLst>
      <p:ext uri="{BB962C8B-B14F-4D97-AF65-F5344CB8AC3E}">
        <p14:creationId xmlns:p14="http://schemas.microsoft.com/office/powerpoint/2010/main" val="225826779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3135C8-BB37-45CA-9A36-54FD7FC948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F8DFCCC3-0F14-4657-A999-0ABE6D16DC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5445300A-C008-4003-AC71-6CF4CE37C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77EC4-EC0D-4F28-8F13-53533F30B7B6}" type="datetimeFigureOut">
              <a:rPr lang="x-none" smtClean="0"/>
              <a:t>1/5/18</a:t>
            </a:fld>
            <a:endParaRPr lang="x-none"/>
          </a:p>
        </p:txBody>
      </p:sp>
      <p:sp>
        <p:nvSpPr>
          <p:cNvPr id="5" name="Footer Placeholder 4">
            <a:extLst>
              <a:ext uri="{FF2B5EF4-FFF2-40B4-BE49-F238E27FC236}">
                <a16:creationId xmlns:a16="http://schemas.microsoft.com/office/drawing/2014/main" xmlns="" id="{36F5623A-A12A-4417-AA2E-9B60BB847A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3EAC9A77-3937-4AF3-96BA-9B9C6A9C9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CF9D4-B403-4ED6-BA34-CB166153BD67}" type="slidenum">
              <a:rPr lang="x-none" smtClean="0"/>
              <a:t>‹#›</a:t>
            </a:fld>
            <a:endParaRPr lang="x-none"/>
          </a:p>
        </p:txBody>
      </p:sp>
    </p:spTree>
    <p:extLst>
      <p:ext uri="{BB962C8B-B14F-4D97-AF65-F5344CB8AC3E}">
        <p14:creationId xmlns:p14="http://schemas.microsoft.com/office/powerpoint/2010/main" val="4159933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ustomXml" Target="../ink/ink1.xml"/><Relationship Id="rId6" Type="http://schemas.openxmlformats.org/officeDocument/2006/relationships/image" Target="../media/image4.png"/><Relationship Id="rId7" Type="http://schemas.openxmlformats.org/officeDocument/2006/relationships/customXml" Target="../ink/ink2.xml"/><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4" Type="http://schemas.openxmlformats.org/officeDocument/2006/relationships/image" Target="../media/image2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customXml" Target="../ink/ink4.xml"/><Relationship Id="rId9"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4" Type="http://schemas.openxmlformats.org/officeDocument/2006/relationships/image" Target="../media/image4.png"/><Relationship Id="rId5" Type="http://schemas.openxmlformats.org/officeDocument/2006/relationships/customXml" Target="../ink/ink6.xml"/><Relationship Id="rId6"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customXml" Target="../ink/ink7.xml"/></Relationships>
</file>

<file path=ppt/slides/_rels/slide8.xml.rels><?xml version="1.0" encoding="UTF-8" standalone="yes"?>
<Relationships xmlns="http://schemas.openxmlformats.org/package/2006/relationships"><Relationship Id="rId3" Type="http://schemas.openxmlformats.org/officeDocument/2006/relationships/image" Target="../media/image121.png"/><Relationship Id="rId4" Type="http://schemas.openxmlformats.org/officeDocument/2006/relationships/customXml" Target="../ink/ink8.xml"/><Relationship Id="rId5" Type="http://schemas.openxmlformats.org/officeDocument/2006/relationships/image" Target="../media/image110.png"/><Relationship Id="rId6" Type="http://schemas.openxmlformats.org/officeDocument/2006/relationships/customXml" Target="../ink/ink9.xml"/><Relationship Id="rId7" Type="http://schemas.openxmlformats.org/officeDocument/2006/relationships/image" Target="../media/image120.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emf"/></Relationships>
</file>

<file path=ppt/slides/_rels/slide12.xml.rels><?xml version="1.0" encoding="UTF-8" standalone="yes"?>
<Relationships xmlns="http://schemas.openxmlformats.org/package/2006/relationships"><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30.png"/><Relationship Id="rId14"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image" Target="../media/image190.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30.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13.xml.rels><?xml version="1.0" encoding="UTF-8" standalone="yes"?>
<Relationships xmlns="http://schemas.openxmlformats.org/package/2006/relationships"><Relationship Id="rId12" Type="http://schemas.openxmlformats.org/officeDocument/2006/relationships/image" Target="../media/image320.png"/><Relationship Id="rId13" Type="http://schemas.openxmlformats.org/officeDocument/2006/relationships/image" Target="../media/image38.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3.emf"/><Relationship Id="rId6" Type="http://schemas.openxmlformats.org/officeDocument/2006/relationships/image" Target="../media/image42.png"/><Relationship Id="rId7"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customXml" Target="../ink/ink10.xml"/><Relationship Id="rId4" Type="http://schemas.openxmlformats.org/officeDocument/2006/relationships/image" Target="../media/image55.png"/><Relationship Id="rId5" Type="http://schemas.openxmlformats.org/officeDocument/2006/relationships/image" Target="../media/image50.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60.emf"/><Relationship Id="rId4" Type="http://schemas.openxmlformats.org/officeDocument/2006/relationships/image" Target="../media/image60.png"/><Relationship Id="rId1" Type="http://schemas.openxmlformats.org/officeDocument/2006/relationships/slideLayout" Target="../slideLayouts/slideLayout2.xml"/><Relationship Id="rId2" Type="http://schemas.openxmlformats.org/officeDocument/2006/relationships/image" Target="../media/image59.emf"/></Relationships>
</file>

<file path=ppt/slides/_rels/slide20.xml.rels><?xml version="1.0" encoding="UTF-8" standalone="yes"?>
<Relationships xmlns="http://schemas.openxmlformats.org/package/2006/relationships"><Relationship Id="rId3" Type="http://schemas.openxmlformats.org/officeDocument/2006/relationships/image" Target="../media/image62.emf"/><Relationship Id="rId4" Type="http://schemas.openxmlformats.org/officeDocument/2006/relationships/image" Target="../media/image63.png"/><Relationship Id="rId1" Type="http://schemas.openxmlformats.org/officeDocument/2006/relationships/slideLayout" Target="../slideLayouts/slideLayout2.xml"/><Relationship Id="rId2" Type="http://schemas.openxmlformats.org/officeDocument/2006/relationships/image" Target="../media/image61.emf"/></Relationships>
</file>

<file path=ppt/slides/_rels/slide21.xml.rels><?xml version="1.0" encoding="UTF-8" standalone="yes"?>
<Relationships xmlns="http://schemas.openxmlformats.org/package/2006/relationships"><Relationship Id="rId3" Type="http://schemas.openxmlformats.org/officeDocument/2006/relationships/image" Target="../media/image64.emf"/><Relationship Id="rId4" Type="http://schemas.openxmlformats.org/officeDocument/2006/relationships/image" Target="../media/image66.png"/><Relationship Id="rId1" Type="http://schemas.openxmlformats.org/officeDocument/2006/relationships/slideLayout" Target="../slideLayouts/slideLayout2.xml"/><Relationship Id="rId2" Type="http://schemas.openxmlformats.org/officeDocument/2006/relationships/image" Target="../media/image63.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0.png"/><Relationship Id="rId3" Type="http://schemas.openxmlformats.org/officeDocument/2006/relationships/image" Target="../media/image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6.emf"/><Relationship Id="rId4"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image" Target="../media/image6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4" Type="http://schemas.openxmlformats.org/officeDocument/2006/relationships/image" Target="../media/image72.png"/><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30.xml.rels><?xml version="1.0" encoding="UTF-8" standalone="yes"?>
<Relationships xmlns="http://schemas.openxmlformats.org/package/2006/relationships"><Relationship Id="rId3" Type="http://schemas.openxmlformats.org/officeDocument/2006/relationships/image" Target="../media/image73.emf"/><Relationship Id="rId4" Type="http://schemas.openxmlformats.org/officeDocument/2006/relationships/image" Target="../media/image74.emf"/><Relationship Id="rId5" Type="http://schemas.openxmlformats.org/officeDocument/2006/relationships/image" Target="../media/image75.emf"/><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31.xml.rels><?xml version="1.0" encoding="UTF-8" standalone="yes"?>
<Relationships xmlns="http://schemas.openxmlformats.org/package/2006/relationships"><Relationship Id="rId3" Type="http://schemas.openxmlformats.org/officeDocument/2006/relationships/image" Target="../media/image76.emf"/><Relationship Id="rId4" Type="http://schemas.openxmlformats.org/officeDocument/2006/relationships/image" Target="../media/image77.emf"/><Relationship Id="rId5" Type="http://schemas.openxmlformats.org/officeDocument/2006/relationships/image" Target="../media/image78.emf"/><Relationship Id="rId1" Type="http://schemas.openxmlformats.org/officeDocument/2006/relationships/slideLayout" Target="../slideLayouts/slideLayout2.xml"/><Relationship Id="rId2" Type="http://schemas.openxmlformats.org/officeDocument/2006/relationships/image" Target="../media/image7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emf"/><Relationship Id="rId3" Type="http://schemas.openxmlformats.org/officeDocument/2006/relationships/image" Target="../media/image80.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emf"/><Relationship Id="rId3" Type="http://schemas.openxmlformats.org/officeDocument/2006/relationships/image" Target="../media/image82.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emf"/><Relationship Id="rId3" Type="http://schemas.openxmlformats.org/officeDocument/2006/relationships/image" Target="../media/image84.emf"/></Relationships>
</file>

<file path=ppt/slides/_rels/slide35.xml.rels><?xml version="1.0" encoding="UTF-8" standalone="yes"?>
<Relationships xmlns="http://schemas.openxmlformats.org/package/2006/relationships"><Relationship Id="rId5" Type="http://schemas.openxmlformats.org/officeDocument/2006/relationships/image" Target="../media/image630.png"/><Relationship Id="rId6" Type="http://schemas.openxmlformats.org/officeDocument/2006/relationships/image" Target="../media/image86.png"/><Relationship Id="rId7" Type="http://schemas.openxmlformats.org/officeDocument/2006/relationships/image" Target="../media/image87.png"/><Relationship Id="rId1" Type="http://schemas.openxmlformats.org/officeDocument/2006/relationships/slideLayout" Target="../slideLayouts/slideLayout2.xml"/><Relationship Id="rId2" Type="http://schemas.openxmlformats.org/officeDocument/2006/relationships/image" Target="../media/image85.png"/></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5" Type="http://schemas.openxmlformats.org/officeDocument/2006/relationships/image" Target="../media/image630.png"/><Relationship Id="rId6" Type="http://schemas.openxmlformats.org/officeDocument/2006/relationships/image" Target="../media/image89.png"/><Relationship Id="rId1" Type="http://schemas.openxmlformats.org/officeDocument/2006/relationships/slideLayout" Target="../slideLayouts/slideLayout2.xml"/><Relationship Id="rId2" Type="http://schemas.openxmlformats.org/officeDocument/2006/relationships/image" Target="../media/image9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23999" y="615095"/>
            <a:ext cx="9440411" cy="2268414"/>
          </a:xfrm>
        </p:spPr>
        <p:txBody>
          <a:bodyPr>
            <a:normAutofit/>
          </a:bodyPr>
          <a:lstStyle/>
          <a:p>
            <a:pPr algn="l"/>
            <a:r>
              <a:rPr lang="en-US" dirty="0">
                <a:solidFill>
                  <a:schemeClr val="accent2">
                    <a:lumMod val="50000"/>
                  </a:schemeClr>
                </a:solidFill>
              </a:rPr>
              <a:t>Quenched Bond Disorder in </a:t>
            </a:r>
            <a:r>
              <a:rPr lang="en-US" dirty="0" smtClean="0">
                <a:solidFill>
                  <a:schemeClr val="accent2">
                    <a:lumMod val="50000"/>
                  </a:schemeClr>
                </a:solidFill>
              </a:rPr>
              <a:t>Non-Collinear </a:t>
            </a:r>
            <a:r>
              <a:rPr lang="en-US" dirty="0">
                <a:solidFill>
                  <a:schemeClr val="accent2">
                    <a:lumMod val="50000"/>
                  </a:schemeClr>
                </a:solidFill>
              </a:rPr>
              <a:t>Magnets</a:t>
            </a:r>
            <a:endParaRPr lang="x-none"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3" y="3813053"/>
            <a:ext cx="9144000" cy="1655762"/>
          </a:xfrm>
        </p:spPr>
        <p:txBody>
          <a:bodyPr/>
          <a:lstStyle/>
          <a:p>
            <a:pPr algn="l"/>
            <a:r>
              <a:rPr lang="en-US" dirty="0">
                <a:solidFill>
                  <a:schemeClr val="tx1">
                    <a:lumMod val="65000"/>
                    <a:lumOff val="35000"/>
                  </a:schemeClr>
                </a:solidFill>
              </a:rPr>
              <a:t>Santanu Dey</a:t>
            </a:r>
          </a:p>
          <a:p>
            <a:pPr algn="l"/>
            <a:r>
              <a:rPr lang="en-US" dirty="0" err="1">
                <a:solidFill>
                  <a:schemeClr val="tx1">
                    <a:lumMod val="65000"/>
                    <a:lumOff val="35000"/>
                  </a:schemeClr>
                </a:solidFill>
              </a:rPr>
              <a:t>Technische</a:t>
            </a:r>
            <a:r>
              <a:rPr lang="en-US" dirty="0">
                <a:solidFill>
                  <a:schemeClr val="tx1">
                    <a:lumMod val="65000"/>
                    <a:lumOff val="35000"/>
                  </a:schemeClr>
                </a:solidFill>
              </a:rPr>
              <a:t> Universität Dresden</a:t>
            </a:r>
          </a:p>
        </p:txBody>
      </p:sp>
      <p:cxnSp>
        <p:nvCxnSpPr>
          <p:cNvPr id="5" name="Straight Connector 4">
            <a:extLst>
              <a:ext uri="{FF2B5EF4-FFF2-40B4-BE49-F238E27FC236}">
                <a16:creationId xmlns:a16="http://schemas.microsoft.com/office/drawing/2014/main" xmlns="" id="{0DC655DA-9C82-4575-97A3-8057E2A71008}"/>
              </a:ext>
            </a:extLst>
          </p:cNvPr>
          <p:cNvCxnSpPr>
            <a:cxnSpLocks/>
          </p:cNvCxnSpPr>
          <p:nvPr/>
        </p:nvCxnSpPr>
        <p:spPr>
          <a:xfrm>
            <a:off x="1635368" y="3405431"/>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9141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125C44-7ECF-4972-8CDB-951A823B7D0D}"/>
              </a:ext>
            </a:extLst>
          </p:cNvPr>
          <p:cNvSpPr>
            <a:spLocks noGrp="1"/>
          </p:cNvSpPr>
          <p:nvPr>
            <p:ph type="title"/>
          </p:nvPr>
        </p:nvSpPr>
        <p:spPr>
          <a:xfrm>
            <a:off x="838200" y="365126"/>
            <a:ext cx="10515600" cy="1041644"/>
          </a:xfrm>
        </p:spPr>
        <p:txBody>
          <a:bodyPr/>
          <a:lstStyle/>
          <a:p>
            <a:r>
              <a:rPr lang="en-US" dirty="0">
                <a:solidFill>
                  <a:schemeClr val="accent2">
                    <a:lumMod val="50000"/>
                  </a:schemeClr>
                </a:solidFill>
              </a:rPr>
              <a:t>Content</a:t>
            </a:r>
            <a:endParaRPr lang="x-none" dirty="0">
              <a:solidFill>
                <a:schemeClr val="accent2">
                  <a:lumMod val="50000"/>
                </a:schemeClr>
              </a:solidFill>
            </a:endParaRPr>
          </a:p>
        </p:txBody>
      </p:sp>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normAutofit fontScale="92500" lnSpcReduction="10000"/>
          </a:bodyPr>
          <a:lstStyle/>
          <a:p>
            <a:pPr>
              <a:buFont typeface="Wingdings" panose="05000000000000000000" pitchFamily="2" charset="2"/>
              <a:buChar char="§"/>
            </a:pPr>
            <a:r>
              <a:rPr lang="en-US" dirty="0">
                <a:solidFill>
                  <a:schemeClr val="tx1">
                    <a:lumMod val="65000"/>
                    <a:lumOff val="35000"/>
                  </a:schemeClr>
                </a:solidFill>
              </a:rPr>
              <a:t>Quenched disorder: Random fields</a:t>
            </a:r>
          </a:p>
          <a:p>
            <a:pPr lvl="1">
              <a:buFont typeface="Courier New" panose="02070309020205020404" pitchFamily="49" charset="0"/>
              <a:buChar char="o"/>
            </a:pPr>
            <a:r>
              <a:rPr lang="en-US" dirty="0">
                <a:solidFill>
                  <a:schemeClr val="tx1">
                    <a:lumMod val="85000"/>
                    <a:lumOff val="15000"/>
                  </a:schemeClr>
                </a:solidFill>
              </a:rPr>
              <a:t>Random fields and the </a:t>
            </a:r>
            <a:r>
              <a:rPr lang="en-US" dirty="0" err="1">
                <a:solidFill>
                  <a:schemeClr val="tx1">
                    <a:lumMod val="85000"/>
                    <a:lumOff val="15000"/>
                  </a:schemeClr>
                </a:solidFill>
              </a:rPr>
              <a:t>Imry</a:t>
            </a:r>
            <a:r>
              <a:rPr lang="en-US" dirty="0">
                <a:solidFill>
                  <a:schemeClr val="tx1">
                    <a:lumMod val="85000"/>
                    <a:lumOff val="15000"/>
                  </a:schemeClr>
                </a:solidFill>
              </a:rPr>
              <a:t>-Ma criterion.</a:t>
            </a:r>
          </a:p>
          <a:p>
            <a:pPr lvl="1">
              <a:buFont typeface="Courier New" panose="02070309020205020404" pitchFamily="49" charset="0"/>
              <a:buChar char="o"/>
            </a:pPr>
            <a:r>
              <a:rPr lang="en-US" dirty="0">
                <a:solidFill>
                  <a:schemeClr val="tx1">
                    <a:lumMod val="85000"/>
                    <a:lumOff val="15000"/>
                  </a:schemeClr>
                </a:solidFill>
              </a:rPr>
              <a:t>Separate </a:t>
            </a:r>
            <a:r>
              <a:rPr lang="en-US" dirty="0" smtClean="0">
                <a:solidFill>
                  <a:schemeClr val="tx1">
                    <a:lumMod val="85000"/>
                    <a:lumOff val="15000"/>
                  </a:schemeClr>
                </a:solidFill>
              </a:rPr>
              <a:t>lower critical </a:t>
            </a:r>
            <a:r>
              <a:rPr lang="en-US" dirty="0">
                <a:solidFill>
                  <a:schemeClr val="tx1">
                    <a:lumMod val="85000"/>
                    <a:lumOff val="15000"/>
                  </a:schemeClr>
                </a:solidFill>
              </a:rPr>
              <a:t>dimension for discrete and continuous symmetry</a:t>
            </a:r>
            <a:r>
              <a:rPr lang="en-US" dirty="0" smtClean="0">
                <a:solidFill>
                  <a:schemeClr val="tx1">
                    <a:lumMod val="85000"/>
                    <a:lumOff val="15000"/>
                  </a:schemeClr>
                </a:solidFill>
              </a:rPr>
              <a:t>.</a:t>
            </a:r>
          </a:p>
          <a:p>
            <a:pPr lvl="1">
              <a:buFont typeface="Courier New" panose="02070309020205020404" pitchFamily="49" charset="0"/>
              <a:buChar char="o"/>
            </a:pPr>
            <a:endParaRPr lang="en-US" dirty="0">
              <a:solidFill>
                <a:schemeClr val="tx1">
                  <a:lumMod val="85000"/>
                  <a:lumOff val="15000"/>
                </a:schemeClr>
              </a:solidFill>
            </a:endParaRPr>
          </a:p>
          <a:p>
            <a:pPr>
              <a:buFont typeface="Wingdings" panose="05000000000000000000" pitchFamily="2" charset="2"/>
              <a:buChar char="§"/>
            </a:pPr>
            <a:r>
              <a:rPr lang="en-US" dirty="0">
                <a:solidFill>
                  <a:schemeClr val="tx1">
                    <a:lumMod val="65000"/>
                    <a:lumOff val="35000"/>
                  </a:schemeClr>
                </a:solidFill>
              </a:rPr>
              <a:t>Quenched disorder: Random couplings</a:t>
            </a:r>
          </a:p>
          <a:p>
            <a:pPr lvl="1">
              <a:buFont typeface="Courier New" panose="02070309020205020404" pitchFamily="49" charset="0"/>
              <a:buChar char="o"/>
            </a:pPr>
            <a:r>
              <a:rPr lang="en-US" dirty="0">
                <a:solidFill>
                  <a:schemeClr val="tx1">
                    <a:lumMod val="85000"/>
                    <a:lumOff val="15000"/>
                  </a:schemeClr>
                </a:solidFill>
              </a:rPr>
              <a:t>Bond disorder in frustrated non-collinear magnets.</a:t>
            </a:r>
          </a:p>
          <a:p>
            <a:pPr lvl="1">
              <a:buFont typeface="Courier New" panose="02070309020205020404" pitchFamily="49" charset="0"/>
              <a:buChar char="o"/>
            </a:pPr>
            <a:r>
              <a:rPr lang="en-US" dirty="0">
                <a:solidFill>
                  <a:schemeClr val="tx1">
                    <a:lumMod val="85000"/>
                    <a:lumOff val="15000"/>
                  </a:schemeClr>
                </a:solidFill>
              </a:rPr>
              <a:t>Rigid in-commensurability domains</a:t>
            </a:r>
            <a:r>
              <a:rPr lang="en-US" dirty="0" smtClean="0">
                <a:solidFill>
                  <a:schemeClr val="tx1">
                    <a:lumMod val="85000"/>
                    <a:lumOff val="15000"/>
                  </a:schemeClr>
                </a:solidFill>
              </a:rPr>
              <a:t>.</a:t>
            </a:r>
          </a:p>
          <a:p>
            <a:pPr lvl="1">
              <a:buFont typeface="Courier New" panose="02070309020205020404" pitchFamily="49" charset="0"/>
              <a:buChar char="o"/>
            </a:pPr>
            <a:endParaRPr lang="en-US" dirty="0">
              <a:solidFill>
                <a:schemeClr val="tx1">
                  <a:lumMod val="85000"/>
                  <a:lumOff val="15000"/>
                </a:schemeClr>
              </a:solidFill>
            </a:endParaRPr>
          </a:p>
          <a:p>
            <a:pPr>
              <a:buFont typeface="Wingdings" panose="05000000000000000000" pitchFamily="2" charset="2"/>
              <a:buChar char="§"/>
            </a:pPr>
            <a:r>
              <a:rPr lang="en-US" dirty="0">
                <a:solidFill>
                  <a:schemeClr val="tx1">
                    <a:lumMod val="65000"/>
                    <a:lumOff val="35000"/>
                  </a:schemeClr>
                </a:solidFill>
              </a:rPr>
              <a:t>An example</a:t>
            </a:r>
          </a:p>
          <a:p>
            <a:pPr lvl="1">
              <a:buFont typeface="Courier New" panose="02070309020205020404" pitchFamily="49" charset="0"/>
              <a:buChar char="o"/>
            </a:pPr>
            <a:r>
              <a:rPr lang="en-US" dirty="0" smtClean="0">
                <a:solidFill>
                  <a:schemeClr val="tx1">
                    <a:lumMod val="85000"/>
                    <a:lumOff val="15000"/>
                  </a:schemeClr>
                </a:solidFill>
              </a:rPr>
              <a:t>Disordered </a:t>
            </a:r>
            <a:r>
              <a:rPr lang="en-US" dirty="0">
                <a:solidFill>
                  <a:schemeClr val="tx1">
                    <a:lumMod val="85000"/>
                    <a:lumOff val="15000"/>
                  </a:schemeClr>
                </a:solidFill>
              </a:rPr>
              <a:t>triangular lattice Heisenberg </a:t>
            </a:r>
            <a:r>
              <a:rPr lang="en-US" dirty="0" err="1" smtClean="0">
                <a:solidFill>
                  <a:schemeClr val="tx1">
                    <a:lumMod val="85000"/>
                    <a:lumOff val="15000"/>
                  </a:schemeClr>
                </a:solidFill>
              </a:rPr>
              <a:t>antiferromagnet</a:t>
            </a:r>
            <a:r>
              <a:rPr lang="en-US" dirty="0" smtClean="0">
                <a:solidFill>
                  <a:schemeClr val="tx1">
                    <a:lumMod val="85000"/>
                    <a:lumOff val="15000"/>
                  </a:schemeClr>
                </a:solidFill>
              </a:rPr>
              <a:t>.</a:t>
            </a:r>
          </a:p>
          <a:p>
            <a:pPr lvl="1">
              <a:buFont typeface="Courier New" panose="02070309020205020404" pitchFamily="49" charset="0"/>
              <a:buChar char="o"/>
            </a:pPr>
            <a:r>
              <a:rPr lang="en-US" dirty="0" smtClean="0"/>
              <a:t>Experiments on related systems</a:t>
            </a:r>
            <a:endParaRPr lang="en-US" dirty="0">
              <a:solidFill>
                <a:schemeClr val="tx1">
                  <a:lumMod val="85000"/>
                  <a:lumOff val="15000"/>
                </a:schemeClr>
              </a:solidFill>
            </a:endParaRPr>
          </a:p>
        </p:txBody>
      </p:sp>
      <p:cxnSp>
        <p:nvCxnSpPr>
          <p:cNvPr id="4" name="Straight Connector 3">
            <a:extLst>
              <a:ext uri="{FF2B5EF4-FFF2-40B4-BE49-F238E27FC236}">
                <a16:creationId xmlns:a16="http://schemas.microsoft.com/office/drawing/2014/main" xmlns="" id="{6CAEF362-8551-4FD9-841C-E82C58FA5029}"/>
              </a:ext>
            </a:extLst>
          </p:cNvPr>
          <p:cNvCxnSpPr>
            <a:cxnSpLocks/>
          </p:cNvCxnSpPr>
          <p:nvPr/>
        </p:nvCxnSpPr>
        <p:spPr>
          <a:xfrm>
            <a:off x="940777" y="1400542"/>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143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841598"/>
            <a:ext cx="9144000" cy="2268414"/>
          </a:xfrm>
        </p:spPr>
        <p:txBody>
          <a:bodyPr>
            <a:normAutofit/>
          </a:bodyPr>
          <a:lstStyle/>
          <a:p>
            <a:pPr algn="l"/>
            <a:r>
              <a:rPr lang="en-US" sz="4000" dirty="0">
                <a:solidFill>
                  <a:schemeClr val="accent2">
                    <a:lumMod val="50000"/>
                  </a:schemeClr>
                </a:solidFill>
              </a:rPr>
              <a:t>Quenched Disorder: Random Fields</a:t>
            </a:r>
            <a:endParaRPr lang="x-none" sz="4000"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3" y="3813053"/>
            <a:ext cx="9144000" cy="561800"/>
          </a:xfrm>
        </p:spPr>
        <p:txBody>
          <a:bodyPr>
            <a:normAutofit/>
          </a:bodyPr>
          <a:lstStyle/>
          <a:p>
            <a:pPr algn="l">
              <a:lnSpc>
                <a:spcPct val="100000"/>
              </a:lnSpc>
            </a:pPr>
            <a:r>
              <a:rPr lang="en-US" dirty="0">
                <a:solidFill>
                  <a:schemeClr val="tx1">
                    <a:lumMod val="65000"/>
                    <a:lumOff val="35000"/>
                  </a:schemeClr>
                </a:solidFill>
              </a:rPr>
              <a:t>Lower critical dimensions</a:t>
            </a:r>
          </a:p>
        </p:txBody>
      </p:sp>
      <p:cxnSp>
        <p:nvCxnSpPr>
          <p:cNvPr id="7" name="Straight Connector 6">
            <a:extLst>
              <a:ext uri="{FF2B5EF4-FFF2-40B4-BE49-F238E27FC236}">
                <a16:creationId xmlns:a16="http://schemas.microsoft.com/office/drawing/2014/main" xmlns="" id="{F645B3AE-7BD3-414D-8C84-8BAC6069E752}"/>
              </a:ext>
            </a:extLst>
          </p:cNvPr>
          <p:cNvCxnSpPr>
            <a:cxnSpLocks/>
          </p:cNvCxnSpPr>
          <p:nvPr/>
        </p:nvCxnSpPr>
        <p:spPr>
          <a:xfrm>
            <a:off x="1635368" y="3405431"/>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2050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t>
            </a:r>
            <a:r>
              <a:rPr lang="en-US" sz="3600" dirty="0" smtClean="0"/>
              <a:t>and the </a:t>
            </a:r>
            <a:r>
              <a:rPr lang="en-US" sz="3600" dirty="0" err="1" smtClean="0"/>
              <a:t>Imry</a:t>
            </a:r>
            <a:r>
              <a:rPr lang="en-US" sz="3600" dirty="0" smtClean="0"/>
              <a:t>-Ma criterion</a:t>
            </a:r>
            <a:endParaRPr lang="x-none" sz="36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lstStyle/>
              <a:p>
                <a:pPr marL="1371600" lvl="3" indent="0">
                  <a:buNone/>
                </a:pPr>
                <a:r>
                  <a:rPr lang="en-US" dirty="0" smtClean="0">
                    <a:solidFill>
                      <a:schemeClr val="tx1">
                        <a:lumMod val="65000"/>
                        <a:lumOff val="35000"/>
                      </a:schemeClr>
                    </a:solidFill>
                  </a:rPr>
                  <a:t>			</a:t>
                </a:r>
                <a:r>
                  <a:rPr lang="en-US" sz="2000" dirty="0" smtClean="0">
                    <a:solidFill>
                      <a:schemeClr val="tx1">
                        <a:lumMod val="85000"/>
                        <a:lumOff val="15000"/>
                      </a:schemeClr>
                    </a:solidFill>
                  </a:rPr>
                  <a:t>In </a:t>
                </a:r>
                <a:r>
                  <a:rPr lang="en-US" sz="2000" dirty="0">
                    <a:solidFill>
                      <a:schemeClr val="tx1">
                        <a:lumMod val="85000"/>
                        <a:lumOff val="15000"/>
                      </a:schemeClr>
                    </a:solidFill>
                  </a:rPr>
                  <a:t>the </a:t>
                </a:r>
                <a:r>
                  <a:rPr lang="en-US" sz="2000" u="sng" dirty="0">
                    <a:solidFill>
                      <a:schemeClr val="tx1">
                        <a:lumMod val="85000"/>
                        <a:lumOff val="15000"/>
                      </a:schemeClr>
                    </a:solidFill>
                  </a:rPr>
                  <a:t>absence</a:t>
                </a:r>
                <a:r>
                  <a:rPr lang="en-US" sz="2000" dirty="0">
                    <a:solidFill>
                      <a:schemeClr val="tx1">
                        <a:lumMod val="85000"/>
                        <a:lumOff val="15000"/>
                      </a:schemeClr>
                    </a:solidFill>
                  </a:rPr>
                  <a:t> of random fields</a:t>
                </a:r>
                <a:r>
                  <a:rPr lang="en-US" sz="2000" dirty="0" smtClean="0">
                    <a:solidFill>
                      <a:schemeClr val="tx1">
                        <a:lumMod val="85000"/>
                        <a:lumOff val="15000"/>
                      </a:schemeClr>
                    </a:solidFill>
                  </a:rPr>
                  <a:t>,</a:t>
                </a:r>
                <a:endParaRPr lang="en-US" sz="2000" dirty="0">
                  <a:solidFill>
                    <a:schemeClr val="tx1">
                      <a:lumMod val="85000"/>
                      <a:lumOff val="15000"/>
                    </a:schemeClr>
                  </a:solidFill>
                </a:endParaRPr>
              </a:p>
              <a:p>
                <a:pPr marL="1371600" lvl="3" indent="0">
                  <a:buNone/>
                </a:pPr>
                <a:r>
                  <a:rPr lang="en-US" sz="2000" b="0" dirty="0">
                    <a:solidFill>
                      <a:schemeClr val="tx1">
                        <a:lumMod val="85000"/>
                        <a:lumOff val="15000"/>
                      </a:schemeClr>
                    </a:solidFill>
                  </a:rPr>
                  <a:t>			     </a:t>
                </a:r>
                <a:r>
                  <a:rPr lang="en-US" sz="2000" b="0" dirty="0" smtClean="0">
                    <a:solidFill>
                      <a:schemeClr val="tx1">
                        <a:lumMod val="85000"/>
                        <a:lumOff val="15000"/>
                      </a:schemeClr>
                    </a:solidFill>
                  </a:rPr>
                  <a:t>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𝐻</m:t>
                    </m:r>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𝐽</m:t>
                    </m:r>
                    <m:nary>
                      <m:naryPr>
                        <m:chr m:val="∑"/>
                        <m:supHide m:val="on"/>
                        <m:ctrlPr>
                          <a:rPr lang="en-US" sz="2000" b="0" i="1" smtClean="0">
                            <a:solidFill>
                              <a:schemeClr val="tx1">
                                <a:lumMod val="85000"/>
                                <a:lumOff val="15000"/>
                              </a:schemeClr>
                            </a:solidFill>
                            <a:latin typeface="Cambria Math" charset="0"/>
                          </a:rPr>
                        </m:ctrlPr>
                      </m:naryPr>
                      <m:sub>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𝑖</m:t>
                        </m:r>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𝑗</m:t>
                        </m:r>
                        <m:r>
                          <a:rPr lang="en-US" sz="2000" b="0" i="1" smtClean="0">
                            <a:solidFill>
                              <a:schemeClr val="tx1">
                                <a:lumMod val="85000"/>
                                <a:lumOff val="15000"/>
                              </a:schemeClr>
                            </a:solidFill>
                            <a:latin typeface="Cambria Math" panose="02040503050406030204" pitchFamily="18" charset="0"/>
                          </a:rPr>
                          <m:t>⟩</m:t>
                        </m:r>
                      </m:sub>
                      <m:sup/>
                      <m:e>
                        <m:r>
                          <a:rPr lang="en-US" sz="2000" b="0" i="1" smtClean="0">
                            <a:solidFill>
                              <a:schemeClr val="tx1">
                                <a:lumMod val="85000"/>
                                <a:lumOff val="15000"/>
                              </a:schemeClr>
                            </a:solidFill>
                            <a:latin typeface="Cambria Math" panose="02040503050406030204" pitchFamily="18" charset="0"/>
                          </a:rPr>
                          <m:t> </m:t>
                        </m:r>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panose="02040503050406030204" pitchFamily="18" charset="0"/>
                              </a:rPr>
                              <m:t>𝑆</m:t>
                            </m:r>
                          </m:e>
                          <m:sub>
                            <m:r>
                              <a:rPr lang="en-US" sz="2000" b="0" i="1" smtClean="0">
                                <a:solidFill>
                                  <a:schemeClr val="tx1">
                                    <a:lumMod val="85000"/>
                                    <a:lumOff val="15000"/>
                                  </a:schemeClr>
                                </a:solidFill>
                                <a:latin typeface="Cambria Math" panose="02040503050406030204" pitchFamily="18" charset="0"/>
                              </a:rPr>
                              <m:t>𝑖</m:t>
                            </m:r>
                          </m:sub>
                          <m:sup>
                            <m:r>
                              <a:rPr lang="en-US" sz="2000" b="0" i="1" smtClean="0">
                                <a:solidFill>
                                  <a:schemeClr val="tx1">
                                    <a:lumMod val="85000"/>
                                    <a:lumOff val="15000"/>
                                  </a:schemeClr>
                                </a:solidFill>
                                <a:latin typeface="Cambria Math" charset="0"/>
                              </a:rPr>
                              <m:t>𝑍</m:t>
                            </m:r>
                          </m:sup>
                        </m:sSubSup>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panose="02040503050406030204" pitchFamily="18" charset="0"/>
                              </a:rPr>
                              <m:t>𝑆</m:t>
                            </m:r>
                          </m:e>
                          <m:sub>
                            <m:r>
                              <a:rPr lang="en-US" sz="2000" b="0" i="1" smtClean="0">
                                <a:solidFill>
                                  <a:schemeClr val="tx1">
                                    <a:lumMod val="85000"/>
                                    <a:lumOff val="15000"/>
                                  </a:schemeClr>
                                </a:solidFill>
                                <a:latin typeface="Cambria Math" panose="02040503050406030204" pitchFamily="18" charset="0"/>
                              </a:rPr>
                              <m:t>𝑗</m:t>
                            </m:r>
                          </m:sub>
                          <m:sup>
                            <m:r>
                              <a:rPr lang="en-US" sz="2000" b="0" i="1" smtClean="0">
                                <a:solidFill>
                                  <a:schemeClr val="tx1">
                                    <a:lumMod val="85000"/>
                                    <a:lumOff val="15000"/>
                                  </a:schemeClr>
                                </a:solidFill>
                                <a:latin typeface="Cambria Math" charset="0"/>
                              </a:rPr>
                              <m:t>𝑍</m:t>
                            </m:r>
                          </m:sup>
                        </m:sSubSup>
                      </m:e>
                    </m:nary>
                  </m:oMath>
                </a14:m>
                <a:endParaRPr lang="en-US" sz="2000" dirty="0" smtClean="0">
                  <a:solidFill>
                    <a:schemeClr val="tx1">
                      <a:lumMod val="85000"/>
                      <a:lumOff val="15000"/>
                    </a:schemeClr>
                  </a:solidFill>
                </a:endParaRPr>
              </a:p>
              <a:p>
                <a:pPr marL="1371600" lvl="3" indent="0">
                  <a:buNone/>
                </a:pPr>
                <a:endParaRPr lang="en-US" sz="2000" dirty="0" smtClean="0"/>
              </a:p>
              <a:p>
                <a:pPr marL="1371600" lvl="3" indent="0">
                  <a:buNone/>
                </a:pPr>
                <a:r>
                  <a:rPr lang="en-US" sz="2000" dirty="0"/>
                  <a:t>	</a:t>
                </a:r>
                <a:r>
                  <a:rPr lang="en-US" sz="2000" dirty="0" smtClean="0"/>
                  <a:t>		Due to </a:t>
                </a:r>
                <a:r>
                  <a:rPr lang="en-US" sz="2000" dirty="0" err="1" smtClean="0"/>
                  <a:t>Ising</a:t>
                </a:r>
                <a:r>
                  <a:rPr lang="en-US" sz="2000" dirty="0" smtClean="0"/>
                  <a:t> symmetry no energy</a:t>
                </a:r>
              </a:p>
              <a:p>
                <a:pPr marL="1371600" lvl="3" indent="0">
                  <a:buNone/>
                </a:pPr>
                <a:r>
                  <a:rPr lang="en-US" sz="2000" dirty="0"/>
                  <a:t>	</a:t>
                </a:r>
                <a:r>
                  <a:rPr lang="en-US" sz="2000" dirty="0" smtClean="0"/>
                  <a:t>		change in the bulk.</a:t>
                </a:r>
              </a:p>
              <a:p>
                <a:pPr marL="1371600" lvl="3" indent="0">
                  <a:buNone/>
                </a:pPr>
                <a:endParaRPr lang="en-US" sz="2000" dirty="0"/>
              </a:p>
              <a:p>
                <a:pPr marL="1371600" lvl="3" indent="0">
                  <a:buNone/>
                </a:pPr>
                <a:endParaRPr lang="en-US" sz="2000" dirty="0" smtClean="0"/>
              </a:p>
              <a:p>
                <a:pPr marL="1371600" lvl="3" indent="0">
                  <a:buNone/>
                </a:pPr>
                <a:endParaRPr lang="en-US" sz="2000" dirty="0"/>
              </a:p>
              <a:p>
                <a:pPr marL="1371600" lvl="3" indent="0">
                  <a:buNone/>
                </a:pPr>
                <a:endParaRPr lang="en-US" sz="2000" dirty="0" smtClean="0"/>
              </a:p>
              <a:p>
                <a:pPr marL="1371600" lvl="3" indent="0">
                  <a:buNone/>
                </a:pPr>
                <a:r>
                  <a:rPr lang="en-US" sz="2000" dirty="0"/>
                  <a:t>	</a:t>
                </a:r>
                <a:r>
                  <a:rPr lang="en-US" sz="2000" dirty="0" smtClean="0"/>
                  <a:t>		But a finite energy cost at</a:t>
                </a:r>
              </a:p>
              <a:p>
                <a:pPr marL="1371600" lvl="3" indent="0">
                  <a:buNone/>
                </a:pPr>
                <a:r>
                  <a:rPr lang="en-US" sz="2000" dirty="0" smtClean="0"/>
                  <a:t>			the surface of the domain</a:t>
                </a:r>
              </a:p>
              <a:p>
                <a:pPr marL="1371600" lvl="3" indent="0">
                  <a:buNone/>
                </a:pPr>
                <a:r>
                  <a:rPr lang="en-US" sz="2000" dirty="0"/>
                  <a:t>	</a:t>
                </a:r>
                <a:r>
                  <a:rPr lang="en-US" sz="2000" dirty="0" smtClean="0"/>
                  <a:t>		wall</a:t>
                </a:r>
                <a:endParaRPr lang="en-US" sz="2000" dirty="0"/>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140360"/>
              </a:xfrm>
              <a:blipFill rotWithShape="0">
                <a:blip r:embed="rId2"/>
                <a:stretch>
                  <a:fillRect t="-3976" b="-250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A </a:t>
            </a:r>
            <a:r>
              <a:rPr lang="en-US" sz="3200" dirty="0">
                <a:solidFill>
                  <a:schemeClr val="tx1">
                    <a:lumMod val="65000"/>
                    <a:lumOff val="35000"/>
                  </a:schemeClr>
                </a:solidFill>
                <a:latin typeface="+mj-lt"/>
              </a:rPr>
              <a:t>simple picture with </a:t>
            </a:r>
            <a:r>
              <a:rPr lang="en-US" sz="3200" dirty="0" err="1">
                <a:solidFill>
                  <a:schemeClr val="tx1">
                    <a:lumMod val="65000"/>
                    <a:lumOff val="35000"/>
                  </a:schemeClr>
                </a:solidFill>
                <a:latin typeface="+mj-lt"/>
              </a:rPr>
              <a:t>Ising</a:t>
            </a:r>
            <a:r>
              <a:rPr lang="en-US" sz="3200" dirty="0">
                <a:solidFill>
                  <a:schemeClr val="tx1">
                    <a:lumMod val="65000"/>
                    <a:lumOff val="35000"/>
                  </a:schemeClr>
                </a:solidFill>
                <a:latin typeface="+mj-lt"/>
              </a:rPr>
              <a:t> spins:</a:t>
            </a:r>
          </a:p>
        </p:txBody>
      </p:sp>
      <p:sp>
        <p:nvSpPr>
          <p:cNvPr id="137" name="Arrow: Striped Right 136">
            <a:extLst>
              <a:ext uri="{FF2B5EF4-FFF2-40B4-BE49-F238E27FC236}">
                <a16:creationId xmlns:a16="http://schemas.microsoft.com/office/drawing/2014/main" xmlns="" id="{EB20183C-82A6-4293-8B99-C5B6F040B72C}"/>
              </a:ext>
            </a:extLst>
          </p:cNvPr>
          <p:cNvSpPr/>
          <p:nvPr/>
        </p:nvSpPr>
        <p:spPr>
          <a:xfrm>
            <a:off x="4986146" y="4575565"/>
            <a:ext cx="2245297" cy="143670"/>
          </a:xfrm>
          <a:prstGeom prst="strip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xmlns="" id="{01786E26-9625-4544-A0A5-11D0345CDE2A}"/>
                  </a:ext>
                </a:extLst>
              </p:cNvPr>
              <p:cNvSpPr txBox="1"/>
              <p:nvPr/>
            </p:nvSpPr>
            <p:spPr>
              <a:xfrm>
                <a:off x="5073851" y="6190748"/>
                <a:ext cx="2140683" cy="402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𝑠𝑢𝑟𝑓𝑎𝑐𝑒</m:t>
                          </m:r>
                        </m:sub>
                      </m:sSub>
                      <m:r>
                        <a:rPr lang="en-US" i="1" smtClean="0">
                          <a:latin typeface="Cambria Math" panose="02040503050406030204" pitchFamily="18" charset="0"/>
                          <a:ea typeface="Cambria Math" panose="02040503050406030204" pitchFamily="18" charset="0"/>
                        </a:rPr>
                        <m:t>~</m:t>
                      </m:r>
                      <m:sSup>
                        <m:sSupPr>
                          <m:ctrlPr>
                            <a:rPr lang="en-US" i="1" smtClean="0">
                              <a:latin typeface="Cambria Math"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−1</m:t>
                          </m:r>
                        </m:sup>
                      </m:sSup>
                    </m:oMath>
                  </m:oMathPara>
                </a14:m>
                <a:endParaRPr lang="x-none" dirty="0"/>
              </a:p>
            </p:txBody>
          </p:sp>
        </mc:Choice>
        <mc:Fallback xmlns="">
          <p:sp>
            <p:nvSpPr>
              <p:cNvPr id="138" name="TextBox 137">
                <a:extLst>
                  <a:ext uri="{FF2B5EF4-FFF2-40B4-BE49-F238E27FC236}">
                    <a16:creationId xmlns:a16="http://schemas.microsoft.com/office/drawing/2014/main" xmlns="" xmlns:a14="http://schemas.microsoft.com/office/drawing/2010/main" id="{01786E26-9625-4544-A0A5-11D0345CDE2A}"/>
                  </a:ext>
                </a:extLst>
              </p:cNvPr>
              <p:cNvSpPr txBox="1">
                <a:spLocks noRot="1" noChangeAspect="1" noMove="1" noResize="1" noEditPoints="1" noAdjustHandles="1" noChangeArrowheads="1" noChangeShapeType="1" noTextEdit="1"/>
              </p:cNvSpPr>
              <p:nvPr/>
            </p:nvSpPr>
            <p:spPr>
              <a:xfrm>
                <a:off x="5073851" y="6190748"/>
                <a:ext cx="2140683" cy="402867"/>
              </a:xfrm>
              <a:prstGeom prst="rect">
                <a:avLst/>
              </a:prstGeom>
              <a:blipFill rotWithShape="0">
                <a:blip r:embed="rId3"/>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xmlns="" id="{40FF956C-F5D0-4904-8A7C-469BBED30572}"/>
                  </a:ext>
                </a:extLst>
              </p:cNvPr>
              <p:cNvSpPr txBox="1"/>
              <p:nvPr/>
            </p:nvSpPr>
            <p:spPr>
              <a:xfrm>
                <a:off x="4986146" y="3914743"/>
                <a:ext cx="21406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𝑏𝑢𝑙𝑘</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m:oMathPara>
                </a14:m>
                <a:endParaRPr lang="x-none" dirty="0"/>
              </a:p>
            </p:txBody>
          </p:sp>
        </mc:Choice>
        <mc:Fallback xmlns="">
          <p:sp>
            <p:nvSpPr>
              <p:cNvPr id="139" name="TextBox 138">
                <a:extLst>
                  <a:ext uri="{FF2B5EF4-FFF2-40B4-BE49-F238E27FC236}">
                    <a16:creationId xmlns:a16="http://schemas.microsoft.com/office/drawing/2014/main" xmlns="" xmlns:a14="http://schemas.microsoft.com/office/drawing/2010/main" id="{40FF956C-F5D0-4904-8A7C-469BBED30572}"/>
                  </a:ext>
                </a:extLst>
              </p:cNvPr>
              <p:cNvSpPr txBox="1">
                <a:spLocks noRot="1" noChangeAspect="1" noMove="1" noResize="1" noEditPoints="1" noAdjustHandles="1" noChangeArrowheads="1" noChangeShapeType="1" noTextEdit="1"/>
              </p:cNvSpPr>
              <p:nvPr/>
            </p:nvSpPr>
            <p:spPr>
              <a:xfrm>
                <a:off x="4986146" y="3914743"/>
                <a:ext cx="2140683"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63" name="Ink 62">
                <a:extLst>
                  <a:ext uri="{FF2B5EF4-FFF2-40B4-BE49-F238E27FC236}">
                    <a16:creationId xmlns:a16="http://schemas.microsoft.com/office/drawing/2014/main" xmlns="" id="{97771BAB-D58B-4263-8C32-E841ECD1E17B}"/>
                  </a:ext>
                </a:extLst>
              </p14:cNvPr>
              <p14:cNvContentPartPr/>
              <p14:nvPr/>
            </p14:nvContentPartPr>
            <p14:xfrm>
              <a:off x="797456" y="2425247"/>
              <a:ext cx="3687840" cy="3082680"/>
            </p14:xfrm>
          </p:contentPart>
        </mc:Choice>
        <mc:Fallback xmlns="">
          <p:pic>
            <p:nvPicPr>
              <p:cNvPr id="63" name="Ink 62">
                <a:extLst>
                  <a:ext uri="{FF2B5EF4-FFF2-40B4-BE49-F238E27FC236}">
                    <a16:creationId xmlns:a16="http://schemas.microsoft.com/office/drawing/2014/main" xmlns="" xmlns:p14="http://schemas.microsoft.com/office/powerpoint/2010/main" id="{97771BAB-D58B-4263-8C32-E841ECD1E17B}"/>
                  </a:ext>
                </a:extLst>
              </p:cNvPr>
              <p:cNvPicPr/>
              <p:nvPr/>
            </p:nvPicPr>
            <p:blipFill>
              <a:blip r:embed="rId6"/>
              <a:stretch>
                <a:fillRect/>
              </a:stretch>
            </p:blipFill>
            <p:spPr>
              <a:xfrm>
                <a:off x="788456" y="2416247"/>
                <a:ext cx="3705480" cy="3100320"/>
              </a:xfrm>
              <a:prstGeom prst="rect">
                <a:avLst/>
              </a:prstGeom>
            </p:spPr>
          </p:pic>
        </mc:Fallback>
      </mc:AlternateContent>
      <p:sp>
        <p:nvSpPr>
          <p:cNvPr id="64" name="Arrow: Up 57">
            <a:extLst>
              <a:ext uri="{FF2B5EF4-FFF2-40B4-BE49-F238E27FC236}">
                <a16:creationId xmlns:a16="http://schemas.microsoft.com/office/drawing/2014/main" xmlns="" id="{2FF3984E-711F-4105-B95E-A9A2D638487F}"/>
              </a:ext>
            </a:extLst>
          </p:cNvPr>
          <p:cNvSpPr/>
          <p:nvPr/>
        </p:nvSpPr>
        <p:spPr>
          <a:xfrm>
            <a:off x="1405346" y="417439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5" name="Arrow: Up 64">
            <a:extLst>
              <a:ext uri="{FF2B5EF4-FFF2-40B4-BE49-F238E27FC236}">
                <a16:creationId xmlns:a16="http://schemas.microsoft.com/office/drawing/2014/main" xmlns="" id="{6BFFCD81-F949-447A-9FC9-DF88BD70E345}"/>
              </a:ext>
            </a:extLst>
          </p:cNvPr>
          <p:cNvSpPr/>
          <p:nvPr/>
        </p:nvSpPr>
        <p:spPr>
          <a:xfrm>
            <a:off x="1697667" y="39263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6" name="Arrow: Up 65">
            <a:extLst>
              <a:ext uri="{FF2B5EF4-FFF2-40B4-BE49-F238E27FC236}">
                <a16:creationId xmlns:a16="http://schemas.microsoft.com/office/drawing/2014/main" xmlns="" id="{7EA4C78D-BBD3-4473-B424-587F794FACF0}"/>
              </a:ext>
            </a:extLst>
          </p:cNvPr>
          <p:cNvSpPr/>
          <p:nvPr/>
        </p:nvSpPr>
        <p:spPr>
          <a:xfrm>
            <a:off x="2013236" y="426470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7" name="Arrow: Up 66">
            <a:extLst>
              <a:ext uri="{FF2B5EF4-FFF2-40B4-BE49-F238E27FC236}">
                <a16:creationId xmlns:a16="http://schemas.microsoft.com/office/drawing/2014/main" xmlns="" id="{5211C9B3-90B9-4631-A80A-82C7B392F580}"/>
              </a:ext>
            </a:extLst>
          </p:cNvPr>
          <p:cNvSpPr/>
          <p:nvPr/>
        </p:nvSpPr>
        <p:spPr>
          <a:xfrm>
            <a:off x="1697667" y="469462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8" name="Arrow: Up 67">
            <a:extLst>
              <a:ext uri="{FF2B5EF4-FFF2-40B4-BE49-F238E27FC236}">
                <a16:creationId xmlns:a16="http://schemas.microsoft.com/office/drawing/2014/main" xmlns="" id="{17A866B3-5F14-458E-94AD-26019B9F9B7D}"/>
              </a:ext>
            </a:extLst>
          </p:cNvPr>
          <p:cNvSpPr/>
          <p:nvPr/>
        </p:nvSpPr>
        <p:spPr>
          <a:xfrm>
            <a:off x="1090371"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9" name="Arrow: Up 68">
            <a:extLst>
              <a:ext uri="{FF2B5EF4-FFF2-40B4-BE49-F238E27FC236}">
                <a16:creationId xmlns:a16="http://schemas.microsoft.com/office/drawing/2014/main" xmlns="" id="{6533292F-F228-4759-A51D-42E5BB51D450}"/>
              </a:ext>
            </a:extLst>
          </p:cNvPr>
          <p:cNvSpPr/>
          <p:nvPr/>
        </p:nvSpPr>
        <p:spPr>
          <a:xfrm>
            <a:off x="2282463" y="351074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0" name="Arrow: Up 69">
            <a:extLst>
              <a:ext uri="{FF2B5EF4-FFF2-40B4-BE49-F238E27FC236}">
                <a16:creationId xmlns:a16="http://schemas.microsoft.com/office/drawing/2014/main" xmlns="" id="{C625576E-B3B9-4A44-947F-B44ABADC4D22}"/>
              </a:ext>
            </a:extLst>
          </p:cNvPr>
          <p:cNvSpPr/>
          <p:nvPr/>
        </p:nvSpPr>
        <p:spPr>
          <a:xfrm>
            <a:off x="2484185" y="40568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1" name="Arrow: Up 70">
            <a:extLst>
              <a:ext uri="{FF2B5EF4-FFF2-40B4-BE49-F238E27FC236}">
                <a16:creationId xmlns:a16="http://schemas.microsoft.com/office/drawing/2014/main" xmlns="" id="{7B54DDFD-8801-4492-BAA3-B3054121AA5E}"/>
              </a:ext>
            </a:extLst>
          </p:cNvPr>
          <p:cNvSpPr/>
          <p:nvPr/>
        </p:nvSpPr>
        <p:spPr>
          <a:xfrm>
            <a:off x="2332899" y="466298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2" name="Arrow: Up 71">
            <a:extLst>
              <a:ext uri="{FF2B5EF4-FFF2-40B4-BE49-F238E27FC236}">
                <a16:creationId xmlns:a16="http://schemas.microsoft.com/office/drawing/2014/main" xmlns="" id="{F5B64205-5683-4979-8527-406AAAA0CBF2}"/>
              </a:ext>
            </a:extLst>
          </p:cNvPr>
          <p:cNvSpPr/>
          <p:nvPr/>
        </p:nvSpPr>
        <p:spPr>
          <a:xfrm>
            <a:off x="1912386" y="349300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3" name="Arrow: Up 72">
            <a:extLst>
              <a:ext uri="{FF2B5EF4-FFF2-40B4-BE49-F238E27FC236}">
                <a16:creationId xmlns:a16="http://schemas.microsoft.com/office/drawing/2014/main" xmlns="" id="{C8DCD650-0C34-4D6F-B938-131426C237D5}"/>
              </a:ext>
            </a:extLst>
          </p:cNvPr>
          <p:cNvSpPr/>
          <p:nvPr/>
        </p:nvSpPr>
        <p:spPr>
          <a:xfrm>
            <a:off x="2058392" y="505194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4" name="Arrow: Up 73">
            <a:extLst>
              <a:ext uri="{FF2B5EF4-FFF2-40B4-BE49-F238E27FC236}">
                <a16:creationId xmlns:a16="http://schemas.microsoft.com/office/drawing/2014/main" xmlns="" id="{2B021BF5-3BB1-4D1B-84BE-F85BB54E6066}"/>
              </a:ext>
            </a:extLst>
          </p:cNvPr>
          <p:cNvSpPr/>
          <p:nvPr/>
        </p:nvSpPr>
        <p:spPr>
          <a:xfrm>
            <a:off x="1383286" y="490243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5" name="Arrow: Up 93">
            <a:extLst>
              <a:ext uri="{FF2B5EF4-FFF2-40B4-BE49-F238E27FC236}">
                <a16:creationId xmlns:a16="http://schemas.microsoft.com/office/drawing/2014/main" xmlns="" id="{A7AA328E-A917-4F92-A3C8-B5EC49E727AC}"/>
              </a:ext>
            </a:extLst>
          </p:cNvPr>
          <p:cNvSpPr/>
          <p:nvPr/>
        </p:nvSpPr>
        <p:spPr>
          <a:xfrm>
            <a:off x="1098761" y="3945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6" name="Arrow: Up 94">
            <a:extLst>
              <a:ext uri="{FF2B5EF4-FFF2-40B4-BE49-F238E27FC236}">
                <a16:creationId xmlns:a16="http://schemas.microsoft.com/office/drawing/2014/main" xmlns="" id="{FC69F0A4-2A01-4795-9307-01E0E0A7FF17}"/>
              </a:ext>
            </a:extLst>
          </p:cNvPr>
          <p:cNvSpPr/>
          <p:nvPr/>
        </p:nvSpPr>
        <p:spPr>
          <a:xfrm>
            <a:off x="2661401" y="31081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7" name="Arrow: Up 95">
            <a:extLst>
              <a:ext uri="{FF2B5EF4-FFF2-40B4-BE49-F238E27FC236}">
                <a16:creationId xmlns:a16="http://schemas.microsoft.com/office/drawing/2014/main" xmlns="" id="{FE3CEC23-C6A1-4875-A9D0-FDAA89C9668E}"/>
              </a:ext>
            </a:extLst>
          </p:cNvPr>
          <p:cNvSpPr/>
          <p:nvPr/>
        </p:nvSpPr>
        <p:spPr>
          <a:xfrm>
            <a:off x="2922592" y="382222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8" name="Arrow: Up 96">
            <a:extLst>
              <a:ext uri="{FF2B5EF4-FFF2-40B4-BE49-F238E27FC236}">
                <a16:creationId xmlns:a16="http://schemas.microsoft.com/office/drawing/2014/main" xmlns="" id="{36A72173-DE9C-47D8-90C1-F779F5C7107E}"/>
              </a:ext>
            </a:extLst>
          </p:cNvPr>
          <p:cNvSpPr/>
          <p:nvPr/>
        </p:nvSpPr>
        <p:spPr>
          <a:xfrm>
            <a:off x="2996541" y="262634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9" name="Arrow: Up 97">
            <a:extLst>
              <a:ext uri="{FF2B5EF4-FFF2-40B4-BE49-F238E27FC236}">
                <a16:creationId xmlns:a16="http://schemas.microsoft.com/office/drawing/2014/main" xmlns="" id="{6FC215B2-2463-4E8F-92CF-5AEF66A93445}"/>
              </a:ext>
            </a:extLst>
          </p:cNvPr>
          <p:cNvSpPr/>
          <p:nvPr/>
        </p:nvSpPr>
        <p:spPr>
          <a:xfrm>
            <a:off x="3280642" y="31652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0" name="Arrow: Up 98">
            <a:extLst>
              <a:ext uri="{FF2B5EF4-FFF2-40B4-BE49-F238E27FC236}">
                <a16:creationId xmlns:a16="http://schemas.microsoft.com/office/drawing/2014/main" xmlns="" id="{69081293-8914-422C-BC95-EF0FED5FC437}"/>
              </a:ext>
            </a:extLst>
          </p:cNvPr>
          <p:cNvSpPr/>
          <p:nvPr/>
        </p:nvSpPr>
        <p:spPr>
          <a:xfrm>
            <a:off x="3406064" y="249841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1" name="Arrow: Up 99">
            <a:extLst>
              <a:ext uri="{FF2B5EF4-FFF2-40B4-BE49-F238E27FC236}">
                <a16:creationId xmlns:a16="http://schemas.microsoft.com/office/drawing/2014/main" xmlns="" id="{9F645E89-DC20-4F13-9488-423081A476DB}"/>
              </a:ext>
            </a:extLst>
          </p:cNvPr>
          <p:cNvSpPr/>
          <p:nvPr/>
        </p:nvSpPr>
        <p:spPr>
          <a:xfrm>
            <a:off x="3345230" y="385643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2" name="Arrow: Up 100">
            <a:extLst>
              <a:ext uri="{FF2B5EF4-FFF2-40B4-BE49-F238E27FC236}">
                <a16:creationId xmlns:a16="http://schemas.microsoft.com/office/drawing/2014/main" xmlns="" id="{5AEEC21C-A27C-447A-A421-A61A0FE9CB28}"/>
              </a:ext>
            </a:extLst>
          </p:cNvPr>
          <p:cNvSpPr/>
          <p:nvPr/>
        </p:nvSpPr>
        <p:spPr>
          <a:xfrm>
            <a:off x="3815017" y="280151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3" name="Arrow: Up 101">
            <a:extLst>
              <a:ext uri="{FF2B5EF4-FFF2-40B4-BE49-F238E27FC236}">
                <a16:creationId xmlns:a16="http://schemas.microsoft.com/office/drawing/2014/main" xmlns="" id="{84B0DBC9-B60E-4A0F-BC4C-2994C1F769B3}"/>
              </a:ext>
            </a:extLst>
          </p:cNvPr>
          <p:cNvSpPr/>
          <p:nvPr/>
        </p:nvSpPr>
        <p:spPr>
          <a:xfrm>
            <a:off x="3496376"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7" name="Arrow: Up 102">
            <a:extLst>
              <a:ext uri="{FF2B5EF4-FFF2-40B4-BE49-F238E27FC236}">
                <a16:creationId xmlns:a16="http://schemas.microsoft.com/office/drawing/2014/main" xmlns="" id="{412A6657-C05D-4BA9-A074-12B8C79F4BA7}"/>
              </a:ext>
            </a:extLst>
          </p:cNvPr>
          <p:cNvSpPr/>
          <p:nvPr/>
        </p:nvSpPr>
        <p:spPr>
          <a:xfrm>
            <a:off x="2832803" y="464934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0" name="Arrow: Up 103">
            <a:extLst>
              <a:ext uri="{FF2B5EF4-FFF2-40B4-BE49-F238E27FC236}">
                <a16:creationId xmlns:a16="http://schemas.microsoft.com/office/drawing/2014/main" xmlns="" id="{AE9034D6-4304-40E9-A17E-A7D718A8143D}"/>
              </a:ext>
            </a:extLst>
          </p:cNvPr>
          <p:cNvSpPr/>
          <p:nvPr/>
        </p:nvSpPr>
        <p:spPr>
          <a:xfrm>
            <a:off x="3786276" y="344082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1" name="Arrow: Up 104">
            <a:extLst>
              <a:ext uri="{FF2B5EF4-FFF2-40B4-BE49-F238E27FC236}">
                <a16:creationId xmlns:a16="http://schemas.microsoft.com/office/drawing/2014/main" xmlns="" id="{265785A4-17AC-4526-859E-D81D5F40F3E9}"/>
              </a:ext>
            </a:extLst>
          </p:cNvPr>
          <p:cNvSpPr/>
          <p:nvPr/>
        </p:nvSpPr>
        <p:spPr>
          <a:xfrm>
            <a:off x="4191564" y="327932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2" name="Arrow: Up 105">
            <a:extLst>
              <a:ext uri="{FF2B5EF4-FFF2-40B4-BE49-F238E27FC236}">
                <a16:creationId xmlns:a16="http://schemas.microsoft.com/office/drawing/2014/main" xmlns="" id="{FCC75C35-2930-4CFF-BC01-5B31F2518EC3}"/>
              </a:ext>
            </a:extLst>
          </p:cNvPr>
          <p:cNvSpPr/>
          <p:nvPr/>
        </p:nvSpPr>
        <p:spPr>
          <a:xfrm>
            <a:off x="4048982" y="3952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3" name="Arrow: Up 107">
            <a:extLst>
              <a:ext uri="{FF2B5EF4-FFF2-40B4-BE49-F238E27FC236}">
                <a16:creationId xmlns:a16="http://schemas.microsoft.com/office/drawing/2014/main" xmlns="" id="{5853CF76-3B79-4C6C-8D2B-1F63A85BA664}"/>
              </a:ext>
            </a:extLst>
          </p:cNvPr>
          <p:cNvSpPr/>
          <p:nvPr/>
        </p:nvSpPr>
        <p:spPr>
          <a:xfrm>
            <a:off x="3702980" y="423784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4" name="Arrow: Up 108">
            <a:extLst>
              <a:ext uri="{FF2B5EF4-FFF2-40B4-BE49-F238E27FC236}">
                <a16:creationId xmlns:a16="http://schemas.microsoft.com/office/drawing/2014/main" xmlns="" id="{F68D9020-86F0-4012-BE4D-B95C71AB746D}"/>
              </a:ext>
            </a:extLst>
          </p:cNvPr>
          <p:cNvSpPr/>
          <p:nvPr/>
        </p:nvSpPr>
        <p:spPr>
          <a:xfrm>
            <a:off x="3131557" y="450796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mc:AlternateContent xmlns:mc="http://schemas.openxmlformats.org/markup-compatibility/2006" xmlns:p14="http://schemas.microsoft.com/office/powerpoint/2010/main">
        <mc:Choice Requires="p14">
          <p:contentPart p14:bwMode="auto" r:id="rId7">
            <p14:nvContentPartPr>
              <p14:cNvPr id="145" name="Ink 144">
                <a:extLst>
                  <a:ext uri="{FF2B5EF4-FFF2-40B4-BE49-F238E27FC236}">
                    <a16:creationId xmlns:a16="http://schemas.microsoft.com/office/drawing/2014/main" xmlns="" id="{1A69842A-636F-4219-99B9-10133EDDD055}"/>
                  </a:ext>
                </a:extLst>
              </p14:cNvPr>
              <p14:cNvContentPartPr/>
              <p14:nvPr/>
            </p14:nvContentPartPr>
            <p14:xfrm>
              <a:off x="8190837" y="2206893"/>
              <a:ext cx="3687840" cy="3082680"/>
            </p14:xfrm>
          </p:contentPart>
        </mc:Choice>
        <mc:Fallback xmlns="">
          <p:pic>
            <p:nvPicPr>
              <p:cNvPr id="145" name="Ink 144">
                <a:extLst>
                  <a:ext uri="{FF2B5EF4-FFF2-40B4-BE49-F238E27FC236}">
                    <a16:creationId xmlns:a16="http://schemas.microsoft.com/office/drawing/2014/main" xmlns="" xmlns:p14="http://schemas.microsoft.com/office/powerpoint/2010/main" id="{1A69842A-636F-4219-99B9-10133EDDD055}"/>
                  </a:ext>
                </a:extLst>
              </p:cNvPr>
              <p:cNvPicPr/>
              <p:nvPr/>
            </p:nvPicPr>
            <p:blipFill>
              <a:blip r:embed="rId6"/>
              <a:stretch>
                <a:fillRect/>
              </a:stretch>
            </p:blipFill>
            <p:spPr>
              <a:xfrm>
                <a:off x="8181837" y="2197893"/>
                <a:ext cx="3705480" cy="3100320"/>
              </a:xfrm>
              <a:prstGeom prst="rect">
                <a:avLst/>
              </a:prstGeom>
            </p:spPr>
          </p:pic>
        </mc:Fallback>
      </mc:AlternateContent>
      <p:sp>
        <p:nvSpPr>
          <p:cNvPr id="146" name="Arrow: Up 110">
            <a:extLst>
              <a:ext uri="{FF2B5EF4-FFF2-40B4-BE49-F238E27FC236}">
                <a16:creationId xmlns:a16="http://schemas.microsoft.com/office/drawing/2014/main" xmlns="" id="{738492BE-6664-4115-AF95-9CAF0B0BD45D}"/>
              </a:ext>
            </a:extLst>
          </p:cNvPr>
          <p:cNvSpPr/>
          <p:nvPr/>
        </p:nvSpPr>
        <p:spPr>
          <a:xfrm>
            <a:off x="8798727" y="395603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7" name="Arrow: Up 111">
            <a:extLst>
              <a:ext uri="{FF2B5EF4-FFF2-40B4-BE49-F238E27FC236}">
                <a16:creationId xmlns:a16="http://schemas.microsoft.com/office/drawing/2014/main" xmlns="" id="{D0C69F45-DE95-48B8-A5BC-92FBA339B664}"/>
              </a:ext>
            </a:extLst>
          </p:cNvPr>
          <p:cNvSpPr/>
          <p:nvPr/>
        </p:nvSpPr>
        <p:spPr>
          <a:xfrm>
            <a:off x="9091048" y="370800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8" name="Arrow: Up 112">
            <a:extLst>
              <a:ext uri="{FF2B5EF4-FFF2-40B4-BE49-F238E27FC236}">
                <a16:creationId xmlns:a16="http://schemas.microsoft.com/office/drawing/2014/main" xmlns="" id="{FC28C6C9-7844-428A-9F0A-F0C8C1B6B679}"/>
              </a:ext>
            </a:extLst>
          </p:cNvPr>
          <p:cNvSpPr/>
          <p:nvPr/>
        </p:nvSpPr>
        <p:spPr>
          <a:xfrm>
            <a:off x="9406617" y="404635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9" name="Arrow: Up 113">
            <a:extLst>
              <a:ext uri="{FF2B5EF4-FFF2-40B4-BE49-F238E27FC236}">
                <a16:creationId xmlns:a16="http://schemas.microsoft.com/office/drawing/2014/main" xmlns="" id="{F48582DC-98FF-4BBB-A1BB-99BD1106CDDB}"/>
              </a:ext>
            </a:extLst>
          </p:cNvPr>
          <p:cNvSpPr/>
          <p:nvPr/>
        </p:nvSpPr>
        <p:spPr>
          <a:xfrm>
            <a:off x="9091048" y="447627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0" name="Arrow: Up 114">
            <a:extLst>
              <a:ext uri="{FF2B5EF4-FFF2-40B4-BE49-F238E27FC236}">
                <a16:creationId xmlns:a16="http://schemas.microsoft.com/office/drawing/2014/main" xmlns="" id="{BD6411CF-E1AE-42E4-B798-DEE2E61C8653}"/>
              </a:ext>
            </a:extLst>
          </p:cNvPr>
          <p:cNvSpPr/>
          <p:nvPr/>
        </p:nvSpPr>
        <p:spPr>
          <a:xfrm>
            <a:off x="8483752" y="44350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1" name="Arrow: Up 115">
            <a:extLst>
              <a:ext uri="{FF2B5EF4-FFF2-40B4-BE49-F238E27FC236}">
                <a16:creationId xmlns:a16="http://schemas.microsoft.com/office/drawing/2014/main" xmlns="" id="{AE44546A-9CBC-427E-8155-E6FFC93BA7BC}"/>
              </a:ext>
            </a:extLst>
          </p:cNvPr>
          <p:cNvSpPr/>
          <p:nvPr/>
        </p:nvSpPr>
        <p:spPr>
          <a:xfrm>
            <a:off x="9675844" y="329238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2" name="Arrow: Up 116">
            <a:extLst>
              <a:ext uri="{FF2B5EF4-FFF2-40B4-BE49-F238E27FC236}">
                <a16:creationId xmlns:a16="http://schemas.microsoft.com/office/drawing/2014/main" xmlns="" id="{DC5CDFE4-37A8-4FB6-8AA4-4AF02F1F1B11}"/>
              </a:ext>
            </a:extLst>
          </p:cNvPr>
          <p:cNvSpPr/>
          <p:nvPr/>
        </p:nvSpPr>
        <p:spPr>
          <a:xfrm>
            <a:off x="9877566" y="383854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3" name="Arrow: Up 117">
            <a:extLst>
              <a:ext uri="{FF2B5EF4-FFF2-40B4-BE49-F238E27FC236}">
                <a16:creationId xmlns:a16="http://schemas.microsoft.com/office/drawing/2014/main" xmlns="" id="{D0F29C16-F0AB-4D1C-9668-63F2FFD5D13C}"/>
              </a:ext>
            </a:extLst>
          </p:cNvPr>
          <p:cNvSpPr/>
          <p:nvPr/>
        </p:nvSpPr>
        <p:spPr>
          <a:xfrm>
            <a:off x="9726280" y="444462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4" name="Arrow: Up 118">
            <a:extLst>
              <a:ext uri="{FF2B5EF4-FFF2-40B4-BE49-F238E27FC236}">
                <a16:creationId xmlns:a16="http://schemas.microsoft.com/office/drawing/2014/main" xmlns="" id="{202EE75C-8EF8-40E1-9B18-F0EC8E1445A0}"/>
              </a:ext>
            </a:extLst>
          </p:cNvPr>
          <p:cNvSpPr/>
          <p:nvPr/>
        </p:nvSpPr>
        <p:spPr>
          <a:xfrm>
            <a:off x="9305767" y="327464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5" name="Arrow: Up 119">
            <a:extLst>
              <a:ext uri="{FF2B5EF4-FFF2-40B4-BE49-F238E27FC236}">
                <a16:creationId xmlns:a16="http://schemas.microsoft.com/office/drawing/2014/main" xmlns="" id="{7B6A40F5-4D6A-44A7-B828-03E6AB8F1700}"/>
              </a:ext>
            </a:extLst>
          </p:cNvPr>
          <p:cNvSpPr/>
          <p:nvPr/>
        </p:nvSpPr>
        <p:spPr>
          <a:xfrm>
            <a:off x="9451773" y="483359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6" name="Arrow: Up 120">
            <a:extLst>
              <a:ext uri="{FF2B5EF4-FFF2-40B4-BE49-F238E27FC236}">
                <a16:creationId xmlns:a16="http://schemas.microsoft.com/office/drawing/2014/main" xmlns="" id="{8C96379A-A3BB-47AA-8DB3-B36FD6F312E9}"/>
              </a:ext>
            </a:extLst>
          </p:cNvPr>
          <p:cNvSpPr/>
          <p:nvPr/>
        </p:nvSpPr>
        <p:spPr>
          <a:xfrm>
            <a:off x="8776667" y="46840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7" name="Arrow: Up 121">
            <a:extLst>
              <a:ext uri="{FF2B5EF4-FFF2-40B4-BE49-F238E27FC236}">
                <a16:creationId xmlns:a16="http://schemas.microsoft.com/office/drawing/2014/main" xmlns="" id="{C284C0BB-CAF8-4ED9-9B43-2B688B65F331}"/>
              </a:ext>
            </a:extLst>
          </p:cNvPr>
          <p:cNvSpPr/>
          <p:nvPr/>
        </p:nvSpPr>
        <p:spPr>
          <a:xfrm>
            <a:off x="8492142" y="372759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8" name="Arrow: Up 122">
            <a:extLst>
              <a:ext uri="{FF2B5EF4-FFF2-40B4-BE49-F238E27FC236}">
                <a16:creationId xmlns:a16="http://schemas.microsoft.com/office/drawing/2014/main" xmlns="" id="{C8E8F6E2-1744-457F-9A0A-9610F3218DA2}"/>
              </a:ext>
            </a:extLst>
          </p:cNvPr>
          <p:cNvSpPr/>
          <p:nvPr/>
        </p:nvSpPr>
        <p:spPr>
          <a:xfrm rot="10800000">
            <a:off x="10055273" y="2927040"/>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59" name="Arrow: Up 123">
            <a:extLst>
              <a:ext uri="{FF2B5EF4-FFF2-40B4-BE49-F238E27FC236}">
                <a16:creationId xmlns:a16="http://schemas.microsoft.com/office/drawing/2014/main" xmlns="" id="{60C3ED97-FDBD-4354-A27A-4F75CCDF2421}"/>
              </a:ext>
            </a:extLst>
          </p:cNvPr>
          <p:cNvSpPr/>
          <p:nvPr/>
        </p:nvSpPr>
        <p:spPr>
          <a:xfrm rot="10800000">
            <a:off x="10315839" y="360941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0" name="Arrow: Up 124">
            <a:extLst>
              <a:ext uri="{FF2B5EF4-FFF2-40B4-BE49-F238E27FC236}">
                <a16:creationId xmlns:a16="http://schemas.microsoft.com/office/drawing/2014/main" xmlns="" id="{2A9B9A13-ADC0-4961-9C5C-06CCC5FC2F53}"/>
              </a:ext>
            </a:extLst>
          </p:cNvPr>
          <p:cNvSpPr/>
          <p:nvPr/>
        </p:nvSpPr>
        <p:spPr>
          <a:xfrm rot="10800000">
            <a:off x="10360995" y="2421632"/>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1" name="Arrow: Up 125">
            <a:extLst>
              <a:ext uri="{FF2B5EF4-FFF2-40B4-BE49-F238E27FC236}">
                <a16:creationId xmlns:a16="http://schemas.microsoft.com/office/drawing/2014/main" xmlns="" id="{94A621BC-5358-47E1-BADA-96951D68E391}"/>
              </a:ext>
            </a:extLst>
          </p:cNvPr>
          <p:cNvSpPr/>
          <p:nvPr/>
        </p:nvSpPr>
        <p:spPr>
          <a:xfrm rot="10800000">
            <a:off x="10674023" y="294692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2" name="Arrow: Up 126">
            <a:extLst>
              <a:ext uri="{FF2B5EF4-FFF2-40B4-BE49-F238E27FC236}">
                <a16:creationId xmlns:a16="http://schemas.microsoft.com/office/drawing/2014/main" xmlns="" id="{ABD504C6-D6C9-439A-A5F0-30FD600A4037}"/>
              </a:ext>
            </a:extLst>
          </p:cNvPr>
          <p:cNvSpPr/>
          <p:nvPr/>
        </p:nvSpPr>
        <p:spPr>
          <a:xfrm rot="10800000">
            <a:off x="10799445" y="228006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3" name="Arrow: Up 127">
            <a:extLst>
              <a:ext uri="{FF2B5EF4-FFF2-40B4-BE49-F238E27FC236}">
                <a16:creationId xmlns:a16="http://schemas.microsoft.com/office/drawing/2014/main" xmlns="" id="{B85E7EA0-1E82-42C9-B062-46371515AF92}"/>
              </a:ext>
            </a:extLst>
          </p:cNvPr>
          <p:cNvSpPr/>
          <p:nvPr/>
        </p:nvSpPr>
        <p:spPr>
          <a:xfrm rot="10800000">
            <a:off x="10738611" y="363807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4" name="Arrow: Up 128">
            <a:extLst>
              <a:ext uri="{FF2B5EF4-FFF2-40B4-BE49-F238E27FC236}">
                <a16:creationId xmlns:a16="http://schemas.microsoft.com/office/drawing/2014/main" xmlns="" id="{40C537BF-8B4B-490C-B87C-AB1CAA09E01A}"/>
              </a:ext>
            </a:extLst>
          </p:cNvPr>
          <p:cNvSpPr/>
          <p:nvPr/>
        </p:nvSpPr>
        <p:spPr>
          <a:xfrm rot="10800000">
            <a:off x="11208398" y="258315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5" name="Arrow: Up 129">
            <a:extLst>
              <a:ext uri="{FF2B5EF4-FFF2-40B4-BE49-F238E27FC236}">
                <a16:creationId xmlns:a16="http://schemas.microsoft.com/office/drawing/2014/main" xmlns="" id="{2A3CB386-DE06-42D4-9932-1395F9D3E036}"/>
              </a:ext>
            </a:extLst>
          </p:cNvPr>
          <p:cNvSpPr/>
          <p:nvPr/>
        </p:nvSpPr>
        <p:spPr>
          <a:xfrm rot="10800000">
            <a:off x="10889757" y="443509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6" name="Arrow: Up 130">
            <a:extLst>
              <a:ext uri="{FF2B5EF4-FFF2-40B4-BE49-F238E27FC236}">
                <a16:creationId xmlns:a16="http://schemas.microsoft.com/office/drawing/2014/main" xmlns="" id="{279DF280-BAF8-4AAA-B09C-FEE9B6AE1F8B}"/>
              </a:ext>
            </a:extLst>
          </p:cNvPr>
          <p:cNvSpPr/>
          <p:nvPr/>
        </p:nvSpPr>
        <p:spPr>
          <a:xfrm rot="10800000">
            <a:off x="10250431" y="445826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7" name="Arrow: Up 131">
            <a:extLst>
              <a:ext uri="{FF2B5EF4-FFF2-40B4-BE49-F238E27FC236}">
                <a16:creationId xmlns:a16="http://schemas.microsoft.com/office/drawing/2014/main" xmlns="" id="{27AF68F8-0320-4AFF-8919-64790764E012}"/>
              </a:ext>
            </a:extLst>
          </p:cNvPr>
          <p:cNvSpPr/>
          <p:nvPr/>
        </p:nvSpPr>
        <p:spPr>
          <a:xfrm rot="10800000">
            <a:off x="11179657" y="322246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8" name="Arrow: Up 132">
            <a:extLst>
              <a:ext uri="{FF2B5EF4-FFF2-40B4-BE49-F238E27FC236}">
                <a16:creationId xmlns:a16="http://schemas.microsoft.com/office/drawing/2014/main" xmlns="" id="{3FC58D31-6BA7-4FAB-A35F-343448BC334E}"/>
              </a:ext>
            </a:extLst>
          </p:cNvPr>
          <p:cNvSpPr/>
          <p:nvPr/>
        </p:nvSpPr>
        <p:spPr>
          <a:xfrm rot="10800000">
            <a:off x="11584945" y="3060972"/>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69" name="Arrow: Up 133">
            <a:extLst>
              <a:ext uri="{FF2B5EF4-FFF2-40B4-BE49-F238E27FC236}">
                <a16:creationId xmlns:a16="http://schemas.microsoft.com/office/drawing/2014/main" xmlns="" id="{523C96AD-B81D-4416-A3C6-75A3522A721B}"/>
              </a:ext>
            </a:extLst>
          </p:cNvPr>
          <p:cNvSpPr/>
          <p:nvPr/>
        </p:nvSpPr>
        <p:spPr>
          <a:xfrm rot="10800000">
            <a:off x="11442363" y="373459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70" name="Arrow: Up 134">
            <a:extLst>
              <a:ext uri="{FF2B5EF4-FFF2-40B4-BE49-F238E27FC236}">
                <a16:creationId xmlns:a16="http://schemas.microsoft.com/office/drawing/2014/main" xmlns="" id="{BF5A75CC-E408-4729-8BB1-D081ACDA2276}"/>
              </a:ext>
            </a:extLst>
          </p:cNvPr>
          <p:cNvSpPr/>
          <p:nvPr/>
        </p:nvSpPr>
        <p:spPr>
          <a:xfrm rot="10800000">
            <a:off x="11096361" y="401948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71" name="Arrow: Up 135">
            <a:extLst>
              <a:ext uri="{FF2B5EF4-FFF2-40B4-BE49-F238E27FC236}">
                <a16:creationId xmlns:a16="http://schemas.microsoft.com/office/drawing/2014/main" xmlns="" id="{25A6FB02-8DE6-4FC8-9868-B3BC6DD2F3F7}"/>
              </a:ext>
            </a:extLst>
          </p:cNvPr>
          <p:cNvSpPr/>
          <p:nvPr/>
        </p:nvSpPr>
        <p:spPr>
          <a:xfrm rot="10800000">
            <a:off x="10524938" y="428960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Tree>
    <p:extLst>
      <p:ext uri="{BB962C8B-B14F-4D97-AF65-F5344CB8AC3E}">
        <p14:creationId xmlns:p14="http://schemas.microsoft.com/office/powerpoint/2010/main" val="14609485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lstStyle/>
              <a:p>
                <a:pPr marL="1371600" lvl="3" indent="0">
                  <a:buNone/>
                </a:pPr>
                <a:r>
                  <a:rPr lang="en-US" dirty="0" smtClean="0">
                    <a:solidFill>
                      <a:schemeClr val="tx1">
                        <a:lumMod val="65000"/>
                        <a:lumOff val="35000"/>
                      </a:schemeClr>
                    </a:solidFill>
                  </a:rPr>
                  <a:t>			</a:t>
                </a:r>
                <a:r>
                  <a:rPr lang="en-US" sz="2000" dirty="0" smtClean="0">
                    <a:solidFill>
                      <a:schemeClr val="tx1">
                        <a:lumMod val="85000"/>
                        <a:lumOff val="15000"/>
                      </a:schemeClr>
                    </a:solidFill>
                  </a:rPr>
                  <a:t>In </a:t>
                </a:r>
                <a:r>
                  <a:rPr lang="en-US" sz="2000" dirty="0">
                    <a:solidFill>
                      <a:schemeClr val="tx1">
                        <a:lumMod val="85000"/>
                        <a:lumOff val="15000"/>
                      </a:schemeClr>
                    </a:solidFill>
                  </a:rPr>
                  <a:t>the </a:t>
                </a:r>
                <a:r>
                  <a:rPr lang="en-US" sz="2000" u="sng" dirty="0">
                    <a:solidFill>
                      <a:schemeClr val="tx1">
                        <a:lumMod val="85000"/>
                        <a:lumOff val="15000"/>
                      </a:schemeClr>
                    </a:solidFill>
                  </a:rPr>
                  <a:t>presence</a:t>
                </a:r>
                <a:r>
                  <a:rPr lang="en-US" sz="2000" dirty="0">
                    <a:solidFill>
                      <a:schemeClr val="tx1">
                        <a:lumMod val="85000"/>
                        <a:lumOff val="15000"/>
                      </a:schemeClr>
                    </a:solidFill>
                  </a:rPr>
                  <a:t> of </a:t>
                </a:r>
                <a:r>
                  <a:rPr lang="en-US" sz="2000" dirty="0">
                    <a:solidFill>
                      <a:srgbClr val="FF0000"/>
                    </a:solidFill>
                  </a:rPr>
                  <a:t>random fields</a:t>
                </a:r>
                <a:r>
                  <a:rPr lang="en-US" sz="2000" dirty="0" smtClean="0">
                    <a:solidFill>
                      <a:schemeClr val="tx1">
                        <a:lumMod val="85000"/>
                        <a:lumOff val="15000"/>
                      </a:schemeClr>
                    </a:solidFill>
                  </a:rPr>
                  <a:t>,</a:t>
                </a:r>
                <a:endParaRPr lang="en-US" sz="2000" dirty="0">
                  <a:solidFill>
                    <a:schemeClr val="tx1">
                      <a:lumMod val="85000"/>
                      <a:lumOff val="15000"/>
                    </a:schemeClr>
                  </a:solidFill>
                </a:endParaRPr>
              </a:p>
              <a:p>
                <a:pPr marL="1371600" lvl="3" indent="0">
                  <a:buNone/>
                </a:pPr>
                <a:r>
                  <a:rPr lang="en-US" sz="2000" b="0" dirty="0">
                    <a:solidFill>
                      <a:schemeClr val="tx1">
                        <a:lumMod val="85000"/>
                        <a:lumOff val="15000"/>
                      </a:schemeClr>
                    </a:solidFill>
                  </a:rPr>
                  <a:t>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𝐻</m:t>
                    </m:r>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𝐽</m:t>
                    </m:r>
                    <m:nary>
                      <m:naryPr>
                        <m:chr m:val="∑"/>
                        <m:supHide m:val="on"/>
                        <m:ctrlPr>
                          <a:rPr lang="en-US" sz="2000" i="1">
                            <a:solidFill>
                              <a:schemeClr val="tx1">
                                <a:lumMod val="85000"/>
                                <a:lumOff val="15000"/>
                              </a:schemeClr>
                            </a:solidFill>
                            <a:latin typeface="Cambria Math" charset="0"/>
                          </a:rPr>
                        </m:ctrlPr>
                      </m:naryPr>
                      <m:sub>
                        <m:r>
                          <a:rPr lang="en-US" sz="2000" i="1">
                            <a:solidFill>
                              <a:schemeClr val="tx1">
                                <a:lumMod val="85000"/>
                                <a:lumOff val="15000"/>
                              </a:schemeClr>
                            </a:solidFill>
                            <a:latin typeface="Cambria Math" panose="02040503050406030204" pitchFamily="18" charset="0"/>
                          </a:rPr>
                          <m:t>⟨</m:t>
                        </m:r>
                        <m:r>
                          <a:rPr lang="en-US" sz="2000" i="1">
                            <a:solidFill>
                              <a:schemeClr val="tx1">
                                <a:lumMod val="85000"/>
                                <a:lumOff val="15000"/>
                              </a:schemeClr>
                            </a:solidFill>
                            <a:latin typeface="Cambria Math" panose="02040503050406030204" pitchFamily="18" charset="0"/>
                          </a:rPr>
                          <m:t>𝑖</m:t>
                        </m:r>
                        <m:r>
                          <a:rPr lang="en-US" sz="2000" i="1">
                            <a:solidFill>
                              <a:schemeClr val="tx1">
                                <a:lumMod val="85000"/>
                                <a:lumOff val="15000"/>
                              </a:schemeClr>
                            </a:solidFill>
                            <a:latin typeface="Cambria Math" panose="02040503050406030204" pitchFamily="18" charset="0"/>
                          </a:rPr>
                          <m:t>,</m:t>
                        </m:r>
                        <m:r>
                          <a:rPr lang="en-US" sz="2000" i="1">
                            <a:solidFill>
                              <a:schemeClr val="tx1">
                                <a:lumMod val="85000"/>
                                <a:lumOff val="15000"/>
                              </a:schemeClr>
                            </a:solidFill>
                            <a:latin typeface="Cambria Math" panose="02040503050406030204" pitchFamily="18" charset="0"/>
                          </a:rPr>
                          <m:t>𝑗</m:t>
                        </m:r>
                        <m:r>
                          <a:rPr lang="en-US" sz="2000" i="1">
                            <a:solidFill>
                              <a:schemeClr val="tx1">
                                <a:lumMod val="85000"/>
                                <a:lumOff val="15000"/>
                              </a:schemeClr>
                            </a:solidFill>
                            <a:latin typeface="Cambria Math" panose="02040503050406030204" pitchFamily="18" charset="0"/>
                          </a:rPr>
                          <m:t>⟩</m:t>
                        </m:r>
                      </m:sub>
                      <m:sup/>
                      <m:e>
                        <m:r>
                          <a:rPr lang="en-US" sz="2000" i="1">
                            <a:solidFill>
                              <a:schemeClr val="tx1">
                                <a:lumMod val="85000"/>
                                <a:lumOff val="15000"/>
                              </a:schemeClr>
                            </a:solidFill>
                            <a:latin typeface="Cambria Math" panose="02040503050406030204" pitchFamily="18" charset="0"/>
                          </a:rPr>
                          <m:t> </m:t>
                        </m:r>
                        <m:sSubSup>
                          <m:sSubSupPr>
                            <m:ctrlPr>
                              <a:rPr lang="en-US" sz="2000" b="0" i="1" smtClean="0">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r>
                              <a:rPr lang="en-US" sz="2000" i="1">
                                <a:solidFill>
                                  <a:schemeClr val="tx1">
                                    <a:lumMod val="85000"/>
                                    <a:lumOff val="15000"/>
                                  </a:schemeClr>
                                </a:solidFill>
                                <a:latin typeface="Cambria Math" panose="02040503050406030204" pitchFamily="18" charset="0"/>
                              </a:rPr>
                              <m:t>𝑖</m:t>
                            </m:r>
                          </m:sub>
                          <m:sup>
                            <m:r>
                              <a:rPr lang="en-US" sz="2000" b="0" i="1" smtClean="0">
                                <a:solidFill>
                                  <a:schemeClr val="tx1">
                                    <a:lumMod val="85000"/>
                                    <a:lumOff val="15000"/>
                                  </a:schemeClr>
                                </a:solidFill>
                                <a:latin typeface="Cambria Math" charset="0"/>
                              </a:rPr>
                              <m:t>𝑍</m:t>
                            </m:r>
                          </m:sup>
                        </m:sSubSup>
                        <m:sSubSup>
                          <m:sSubSupPr>
                            <m:ctrlPr>
                              <a:rPr lang="en-US" sz="2000" b="0" i="1" smtClean="0">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r>
                              <a:rPr lang="en-US" sz="2000" i="1">
                                <a:solidFill>
                                  <a:schemeClr val="tx1">
                                    <a:lumMod val="85000"/>
                                    <a:lumOff val="15000"/>
                                  </a:schemeClr>
                                </a:solidFill>
                                <a:latin typeface="Cambria Math" panose="02040503050406030204" pitchFamily="18" charset="0"/>
                              </a:rPr>
                              <m:t>𝑗</m:t>
                            </m:r>
                          </m:sub>
                          <m:sup>
                            <m:r>
                              <a:rPr lang="en-US" sz="2000" b="0" i="1" smtClean="0">
                                <a:solidFill>
                                  <a:schemeClr val="tx1">
                                    <a:lumMod val="85000"/>
                                    <a:lumOff val="15000"/>
                                  </a:schemeClr>
                                </a:solidFill>
                                <a:latin typeface="Cambria Math" charset="0"/>
                              </a:rPr>
                              <m:t>𝑍</m:t>
                            </m:r>
                          </m:sup>
                        </m:sSubSup>
                      </m:e>
                    </m:nary>
                    <m:r>
                      <a:rPr lang="en-US" sz="2000" b="0" i="1" smtClean="0">
                        <a:solidFill>
                          <a:schemeClr val="tx1">
                            <a:lumMod val="85000"/>
                            <a:lumOff val="15000"/>
                          </a:schemeClr>
                        </a:solidFill>
                        <a:latin typeface="Cambria Math" panose="02040503050406030204" pitchFamily="18" charset="0"/>
                      </a:rPr>
                      <m:t>+</m:t>
                    </m:r>
                    <m:nary>
                      <m:naryPr>
                        <m:chr m:val="∑"/>
                        <m:supHide m:val="on"/>
                        <m:ctrlPr>
                          <a:rPr lang="en-US" sz="2000" b="0" i="1" smtClean="0">
                            <a:solidFill>
                              <a:schemeClr val="tx1">
                                <a:lumMod val="85000"/>
                                <a:lumOff val="15000"/>
                              </a:schemeClr>
                            </a:solidFill>
                            <a:latin typeface="Cambria Math" charset="0"/>
                          </a:rPr>
                        </m:ctrlPr>
                      </m:naryPr>
                      <m:sub>
                        <m:r>
                          <m:rPr>
                            <m:brk m:alnAt="7"/>
                          </m:rPr>
                          <a:rPr lang="en-US" sz="2000" b="0" i="1" smtClean="0">
                            <a:solidFill>
                              <a:schemeClr val="tx1">
                                <a:lumMod val="85000"/>
                                <a:lumOff val="15000"/>
                              </a:schemeClr>
                            </a:solidFill>
                            <a:latin typeface="Cambria Math" panose="02040503050406030204" pitchFamily="18" charset="0"/>
                          </a:rPr>
                          <m:t>𝑖</m:t>
                        </m:r>
                      </m:sub>
                      <m:sup/>
                      <m:e>
                        <m:sSub>
                          <m:sSubPr>
                            <m:ctrlPr>
                              <a:rPr lang="en-US" sz="2000" b="0" i="1" smtClean="0">
                                <a:solidFill>
                                  <a:srgbClr val="FF0000"/>
                                </a:solidFill>
                                <a:latin typeface="Cambria Math" charset="0"/>
                              </a:rPr>
                            </m:ctrlPr>
                          </m:sSubPr>
                          <m:e>
                            <m:r>
                              <a:rPr lang="en-US" sz="2000" b="0" i="1" smtClean="0">
                                <a:solidFill>
                                  <a:srgbClr val="FF0000"/>
                                </a:solidFill>
                                <a:latin typeface="Cambria Math" panose="02040503050406030204" pitchFamily="18" charset="0"/>
                              </a:rPr>
                              <m:t>h</m:t>
                            </m:r>
                          </m:e>
                          <m:sub>
                            <m:r>
                              <a:rPr lang="en-US" sz="2000" b="0" i="1" smtClean="0">
                                <a:solidFill>
                                  <a:srgbClr val="FF0000"/>
                                </a:solidFill>
                                <a:latin typeface="Cambria Math" panose="02040503050406030204" pitchFamily="18" charset="0"/>
                              </a:rPr>
                              <m:t>𝑖</m:t>
                            </m:r>
                          </m:sub>
                        </m:sSub>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panose="02040503050406030204" pitchFamily="18" charset="0"/>
                              </a:rPr>
                              <m:t>𝑆</m:t>
                            </m:r>
                          </m:e>
                          <m:sub>
                            <m:r>
                              <a:rPr lang="en-US" sz="2000" b="0" i="1" smtClean="0">
                                <a:solidFill>
                                  <a:schemeClr val="tx1">
                                    <a:lumMod val="85000"/>
                                    <a:lumOff val="15000"/>
                                  </a:schemeClr>
                                </a:solidFill>
                                <a:latin typeface="Cambria Math" panose="02040503050406030204" pitchFamily="18" charset="0"/>
                              </a:rPr>
                              <m:t>𝑖</m:t>
                            </m:r>
                          </m:sub>
                          <m:sup>
                            <m:r>
                              <a:rPr lang="en-US" sz="2000" b="0" i="1" smtClean="0">
                                <a:solidFill>
                                  <a:schemeClr val="tx1">
                                    <a:lumMod val="85000"/>
                                    <a:lumOff val="15000"/>
                                  </a:schemeClr>
                                </a:solidFill>
                                <a:latin typeface="Cambria Math" charset="0"/>
                              </a:rPr>
                              <m:t>𝑍</m:t>
                            </m:r>
                          </m:sup>
                        </m:sSubSup>
                      </m:e>
                    </m:nary>
                  </m:oMath>
                </a14:m>
                <a:endParaRPr lang="en-US" sz="2000" dirty="0" smtClean="0">
                  <a:solidFill>
                    <a:schemeClr val="tx1">
                      <a:lumMod val="85000"/>
                      <a:lumOff val="15000"/>
                    </a:schemeClr>
                  </a:solidFill>
                </a:endParaRPr>
              </a:p>
              <a:p>
                <a:pPr marL="1371600" lvl="3" indent="0">
                  <a:buNone/>
                </a:pPr>
                <a:r>
                  <a:rPr lang="en-US" sz="2000" dirty="0"/>
                  <a:t>	</a:t>
                </a:r>
                <a:r>
                  <a:rPr lang="en-US" sz="2000" dirty="0" smtClean="0"/>
                  <a:t>		</a:t>
                </a:r>
              </a:p>
              <a:p>
                <a:pPr marL="1371600" lvl="3" indent="0">
                  <a:buNone/>
                </a:pPr>
                <a:r>
                  <a:rPr lang="en-US" sz="2000" dirty="0"/>
                  <a:t>	</a:t>
                </a:r>
                <a:r>
                  <a:rPr lang="en-US" sz="2000" dirty="0" smtClean="0"/>
                  <a:t>		but this time the bulk energy </a:t>
                </a:r>
                <a:r>
                  <a:rPr lang="en-US" sz="2000" dirty="0" smtClean="0">
                    <a:solidFill>
                      <a:schemeClr val="tx1">
                        <a:lumMod val="85000"/>
                        <a:lumOff val="15000"/>
                      </a:schemeClr>
                    </a:solidFill>
                  </a:rPr>
                  <a:t>is affected.</a:t>
                </a:r>
              </a:p>
              <a:p>
                <a:pPr marL="1371600" lvl="3" indent="0">
                  <a:buNone/>
                </a:pPr>
                <a:endParaRPr lang="en-US" sz="2000" dirty="0"/>
              </a:p>
              <a:p>
                <a:pPr marL="1371600" lvl="3" indent="0">
                  <a:buNone/>
                </a:pPr>
                <a:endParaRPr lang="en-US" sz="2000" dirty="0" smtClean="0">
                  <a:solidFill>
                    <a:schemeClr val="tx1">
                      <a:lumMod val="85000"/>
                      <a:lumOff val="15000"/>
                    </a:schemeClr>
                  </a:solidFill>
                </a:endParaRPr>
              </a:p>
              <a:p>
                <a:pPr marL="1371600" lvl="3" indent="0">
                  <a:buNone/>
                </a:pPr>
                <a:endParaRPr lang="en-US" sz="2000" dirty="0"/>
              </a:p>
              <a:p>
                <a:pPr marL="1371600" lvl="3" indent="0">
                  <a:buNone/>
                </a:pPr>
                <a:endParaRPr lang="en-US" sz="2000" dirty="0" smtClean="0">
                  <a:solidFill>
                    <a:schemeClr val="tx1">
                      <a:lumMod val="85000"/>
                      <a:lumOff val="15000"/>
                    </a:schemeClr>
                  </a:solidFill>
                </a:endParaRPr>
              </a:p>
              <a:p>
                <a:pPr marL="1371600" lvl="3" indent="0">
                  <a:buNone/>
                </a:pPr>
                <a:endParaRPr lang="en-US" sz="2000" dirty="0"/>
              </a:p>
              <a:p>
                <a:pPr marL="1371600" lvl="3" indent="0">
                  <a:buNone/>
                </a:pPr>
                <a:endParaRPr lang="en-US" sz="2000" dirty="0" smtClean="0">
                  <a:solidFill>
                    <a:schemeClr val="tx1">
                      <a:lumMod val="85000"/>
                      <a:lumOff val="15000"/>
                    </a:schemeClr>
                  </a:solidFill>
                </a:endParaRPr>
              </a:p>
              <a:p>
                <a:pPr marL="1371600" lvl="3" indent="0">
                  <a:buNone/>
                </a:pPr>
                <a:r>
                  <a:rPr lang="en-US" sz="2000" dirty="0"/>
                  <a:t>	</a:t>
                </a:r>
                <a:r>
                  <a:rPr lang="en-US" sz="2000" dirty="0" smtClean="0"/>
                  <a:t>	</a:t>
                </a:r>
                <a:r>
                  <a:rPr lang="en-US" sz="2000" dirty="0"/>
                  <a:t>	</a:t>
                </a:r>
                <a:r>
                  <a:rPr lang="en-US" sz="2000" dirty="0" smtClean="0"/>
                  <a:t>The energy cost is the same</a:t>
                </a:r>
                <a:endParaRPr lang="en-US" sz="2000" dirty="0">
                  <a:solidFill>
                    <a:schemeClr val="tx1">
                      <a:lumMod val="85000"/>
                      <a:lumOff val="15000"/>
                    </a:schemeClr>
                  </a:solidFill>
                </a:endParaRPr>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140360"/>
              </a:xfrm>
              <a:blipFill rotWithShape="0">
                <a:blip r:embed="rId2"/>
                <a:stretch>
                  <a:fillRect t="-397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110" name="Ink 109">
                <a:extLst>
                  <a:ext uri="{FF2B5EF4-FFF2-40B4-BE49-F238E27FC236}">
                    <a16:creationId xmlns:a16="http://schemas.microsoft.com/office/drawing/2014/main" xmlns="" id="{1A69842A-636F-4219-99B9-10133EDDD055}"/>
                  </a:ext>
                </a:extLst>
              </p14:cNvPr>
              <p14:cNvContentPartPr/>
              <p14:nvPr/>
            </p14:nvContentPartPr>
            <p14:xfrm>
              <a:off x="7565268" y="3336236"/>
              <a:ext cx="3687840" cy="3082680"/>
            </p14:xfrm>
          </p:contentPart>
        </mc:Choice>
        <mc:Fallback xmlns="">
          <p:pic>
            <p:nvPicPr>
              <p:cNvPr id="110" name="Ink 109">
                <a:extLst>
                  <a:ext uri="{FF2B5EF4-FFF2-40B4-BE49-F238E27FC236}">
                    <a16:creationId xmlns:a16="http://schemas.microsoft.com/office/drawing/2014/main" id="{1A69842A-636F-4219-99B9-10133EDDD055}"/>
                  </a:ext>
                </a:extLst>
              </p:cNvPr>
              <p:cNvPicPr/>
              <p:nvPr/>
            </p:nvPicPr>
            <p:blipFill>
              <a:blip r:embed="rId4"/>
              <a:stretch>
                <a:fillRect/>
              </a:stretch>
            </p:blipFill>
            <p:spPr>
              <a:xfrm>
                <a:off x="7556268" y="3327596"/>
                <a:ext cx="3705480" cy="3100320"/>
              </a:xfrm>
              <a:prstGeom prst="rect">
                <a:avLst/>
              </a:prstGeom>
            </p:spPr>
          </p:pic>
        </mc:Fallback>
      </mc:AlternateContent>
      <p:sp>
        <p:nvSpPr>
          <p:cNvPr id="111" name="Arrow: Up 110">
            <a:extLst>
              <a:ext uri="{FF2B5EF4-FFF2-40B4-BE49-F238E27FC236}">
                <a16:creationId xmlns:a16="http://schemas.microsoft.com/office/drawing/2014/main" xmlns="" id="{738492BE-6664-4115-AF95-9CAF0B0BD45D}"/>
              </a:ext>
            </a:extLst>
          </p:cNvPr>
          <p:cNvSpPr/>
          <p:nvPr/>
        </p:nvSpPr>
        <p:spPr>
          <a:xfrm>
            <a:off x="8173158" y="508538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2" name="Arrow: Up 111">
            <a:extLst>
              <a:ext uri="{FF2B5EF4-FFF2-40B4-BE49-F238E27FC236}">
                <a16:creationId xmlns:a16="http://schemas.microsoft.com/office/drawing/2014/main" xmlns="" id="{D0C69F45-DE95-48B8-A5BC-92FBA339B664}"/>
              </a:ext>
            </a:extLst>
          </p:cNvPr>
          <p:cNvSpPr/>
          <p:nvPr/>
        </p:nvSpPr>
        <p:spPr>
          <a:xfrm>
            <a:off x="8465479" y="483734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3" name="Arrow: Up 112">
            <a:extLst>
              <a:ext uri="{FF2B5EF4-FFF2-40B4-BE49-F238E27FC236}">
                <a16:creationId xmlns:a16="http://schemas.microsoft.com/office/drawing/2014/main" xmlns="" id="{FC28C6C9-7844-428A-9F0A-F0C8C1B6B679}"/>
              </a:ext>
            </a:extLst>
          </p:cNvPr>
          <p:cNvSpPr/>
          <p:nvPr/>
        </p:nvSpPr>
        <p:spPr>
          <a:xfrm>
            <a:off x="8781048" y="517569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4" name="Arrow: Up 113">
            <a:extLst>
              <a:ext uri="{FF2B5EF4-FFF2-40B4-BE49-F238E27FC236}">
                <a16:creationId xmlns:a16="http://schemas.microsoft.com/office/drawing/2014/main" xmlns="" id="{F48582DC-98FF-4BBB-A1BB-99BD1106CDDB}"/>
              </a:ext>
            </a:extLst>
          </p:cNvPr>
          <p:cNvSpPr/>
          <p:nvPr/>
        </p:nvSpPr>
        <p:spPr>
          <a:xfrm>
            <a:off x="8465479" y="560561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5" name="Arrow: Up 114">
            <a:extLst>
              <a:ext uri="{FF2B5EF4-FFF2-40B4-BE49-F238E27FC236}">
                <a16:creationId xmlns:a16="http://schemas.microsoft.com/office/drawing/2014/main" xmlns="" id="{BD6411CF-E1AE-42E4-B798-DEE2E61C8653}"/>
              </a:ext>
            </a:extLst>
          </p:cNvPr>
          <p:cNvSpPr/>
          <p:nvPr/>
        </p:nvSpPr>
        <p:spPr>
          <a:xfrm>
            <a:off x="7858183" y="556444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6" name="Arrow: Up 115">
            <a:extLst>
              <a:ext uri="{FF2B5EF4-FFF2-40B4-BE49-F238E27FC236}">
                <a16:creationId xmlns:a16="http://schemas.microsoft.com/office/drawing/2014/main" xmlns="" id="{AE44546A-9CBC-427E-8155-E6FFC93BA7BC}"/>
              </a:ext>
            </a:extLst>
          </p:cNvPr>
          <p:cNvSpPr/>
          <p:nvPr/>
        </p:nvSpPr>
        <p:spPr>
          <a:xfrm>
            <a:off x="9050275" y="442173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7" name="Arrow: Up 116">
            <a:extLst>
              <a:ext uri="{FF2B5EF4-FFF2-40B4-BE49-F238E27FC236}">
                <a16:creationId xmlns:a16="http://schemas.microsoft.com/office/drawing/2014/main" xmlns="" id="{DC5CDFE4-37A8-4FB6-8AA4-4AF02F1F1B11}"/>
              </a:ext>
            </a:extLst>
          </p:cNvPr>
          <p:cNvSpPr/>
          <p:nvPr/>
        </p:nvSpPr>
        <p:spPr>
          <a:xfrm>
            <a:off x="9251997" y="496788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8" name="Arrow: Up 117">
            <a:extLst>
              <a:ext uri="{FF2B5EF4-FFF2-40B4-BE49-F238E27FC236}">
                <a16:creationId xmlns:a16="http://schemas.microsoft.com/office/drawing/2014/main" xmlns="" id="{D0F29C16-F0AB-4D1C-9668-63F2FFD5D13C}"/>
              </a:ext>
            </a:extLst>
          </p:cNvPr>
          <p:cNvSpPr/>
          <p:nvPr/>
        </p:nvSpPr>
        <p:spPr>
          <a:xfrm>
            <a:off x="9100711" y="557397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9" name="Arrow: Up 118">
            <a:extLst>
              <a:ext uri="{FF2B5EF4-FFF2-40B4-BE49-F238E27FC236}">
                <a16:creationId xmlns:a16="http://schemas.microsoft.com/office/drawing/2014/main" xmlns="" id="{202EE75C-8EF8-40E1-9B18-F0EC8E1445A0}"/>
              </a:ext>
            </a:extLst>
          </p:cNvPr>
          <p:cNvSpPr/>
          <p:nvPr/>
        </p:nvSpPr>
        <p:spPr>
          <a:xfrm>
            <a:off x="8680198" y="440399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0" name="Arrow: Up 119">
            <a:extLst>
              <a:ext uri="{FF2B5EF4-FFF2-40B4-BE49-F238E27FC236}">
                <a16:creationId xmlns:a16="http://schemas.microsoft.com/office/drawing/2014/main" xmlns="" id="{7B6A40F5-4D6A-44A7-B828-03E6AB8F1700}"/>
              </a:ext>
            </a:extLst>
          </p:cNvPr>
          <p:cNvSpPr/>
          <p:nvPr/>
        </p:nvSpPr>
        <p:spPr>
          <a:xfrm>
            <a:off x="8826204" y="596293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1" name="Arrow: Up 120">
            <a:extLst>
              <a:ext uri="{FF2B5EF4-FFF2-40B4-BE49-F238E27FC236}">
                <a16:creationId xmlns:a16="http://schemas.microsoft.com/office/drawing/2014/main" xmlns="" id="{8C96379A-A3BB-47AA-8DB3-B36FD6F312E9}"/>
              </a:ext>
            </a:extLst>
          </p:cNvPr>
          <p:cNvSpPr/>
          <p:nvPr/>
        </p:nvSpPr>
        <p:spPr>
          <a:xfrm>
            <a:off x="8151098" y="581342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2" name="Arrow: Up 121">
            <a:extLst>
              <a:ext uri="{FF2B5EF4-FFF2-40B4-BE49-F238E27FC236}">
                <a16:creationId xmlns:a16="http://schemas.microsoft.com/office/drawing/2014/main" xmlns="" id="{C284C0BB-CAF8-4ED9-9B43-2B688B65F331}"/>
              </a:ext>
            </a:extLst>
          </p:cNvPr>
          <p:cNvSpPr/>
          <p:nvPr/>
        </p:nvSpPr>
        <p:spPr>
          <a:xfrm>
            <a:off x="7866573" y="485693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3" name="Arrow: Up 122">
            <a:extLst>
              <a:ext uri="{FF2B5EF4-FFF2-40B4-BE49-F238E27FC236}">
                <a16:creationId xmlns:a16="http://schemas.microsoft.com/office/drawing/2014/main" xmlns="" id="{C8E8F6E2-1744-457F-9A0A-9610F3218DA2}"/>
              </a:ext>
            </a:extLst>
          </p:cNvPr>
          <p:cNvSpPr/>
          <p:nvPr/>
        </p:nvSpPr>
        <p:spPr>
          <a:xfrm rot="10800000">
            <a:off x="9429704" y="405638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4" name="Arrow: Up 123">
            <a:extLst>
              <a:ext uri="{FF2B5EF4-FFF2-40B4-BE49-F238E27FC236}">
                <a16:creationId xmlns:a16="http://schemas.microsoft.com/office/drawing/2014/main" xmlns="" id="{60C3ED97-FDBD-4354-A27A-4F75CCDF2421}"/>
              </a:ext>
            </a:extLst>
          </p:cNvPr>
          <p:cNvSpPr/>
          <p:nvPr/>
        </p:nvSpPr>
        <p:spPr>
          <a:xfrm rot="10800000">
            <a:off x="9690270" y="473875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5" name="Arrow: Up 124">
            <a:extLst>
              <a:ext uri="{FF2B5EF4-FFF2-40B4-BE49-F238E27FC236}">
                <a16:creationId xmlns:a16="http://schemas.microsoft.com/office/drawing/2014/main" xmlns="" id="{2A9B9A13-ADC0-4961-9C5C-06CCC5FC2F53}"/>
              </a:ext>
            </a:extLst>
          </p:cNvPr>
          <p:cNvSpPr/>
          <p:nvPr/>
        </p:nvSpPr>
        <p:spPr>
          <a:xfrm rot="10800000">
            <a:off x="9735426" y="355097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7" name="Arrow: Up 126">
            <a:extLst>
              <a:ext uri="{FF2B5EF4-FFF2-40B4-BE49-F238E27FC236}">
                <a16:creationId xmlns:a16="http://schemas.microsoft.com/office/drawing/2014/main" xmlns="" id="{ABD504C6-D6C9-439A-A5F0-30FD600A4037}"/>
              </a:ext>
            </a:extLst>
          </p:cNvPr>
          <p:cNvSpPr/>
          <p:nvPr/>
        </p:nvSpPr>
        <p:spPr>
          <a:xfrm rot="10800000">
            <a:off x="10173876" y="340940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8" name="Arrow: Up 127">
            <a:extLst>
              <a:ext uri="{FF2B5EF4-FFF2-40B4-BE49-F238E27FC236}">
                <a16:creationId xmlns:a16="http://schemas.microsoft.com/office/drawing/2014/main" xmlns="" id="{B85E7EA0-1E82-42C9-B062-46371515AF92}"/>
              </a:ext>
            </a:extLst>
          </p:cNvPr>
          <p:cNvSpPr/>
          <p:nvPr/>
        </p:nvSpPr>
        <p:spPr>
          <a:xfrm rot="10800000">
            <a:off x="10034003" y="4297712"/>
            <a:ext cx="213526" cy="713479"/>
          </a:xfrm>
          <a:prstGeom prst="upArrow">
            <a:avLst/>
          </a:prstGeom>
          <a:solidFill>
            <a:schemeClr val="accent1"/>
          </a:solidFill>
          <a:ln>
            <a:solidFill>
              <a:schemeClr val="accent1">
                <a:lumMod val="60000"/>
                <a:lumOff val="40000"/>
              </a:schemeClr>
            </a:solid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x-none"/>
          </a:p>
        </p:txBody>
      </p:sp>
      <p:sp>
        <p:nvSpPr>
          <p:cNvPr id="129" name="Arrow: Up 128">
            <a:extLst>
              <a:ext uri="{FF2B5EF4-FFF2-40B4-BE49-F238E27FC236}">
                <a16:creationId xmlns:a16="http://schemas.microsoft.com/office/drawing/2014/main" xmlns="" id="{40C537BF-8B4B-490C-B87C-AB1CAA09E01A}"/>
              </a:ext>
            </a:extLst>
          </p:cNvPr>
          <p:cNvSpPr/>
          <p:nvPr/>
        </p:nvSpPr>
        <p:spPr>
          <a:xfrm rot="10800000">
            <a:off x="10582829" y="3712501"/>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0" name="Arrow: Up 129">
            <a:extLst>
              <a:ext uri="{FF2B5EF4-FFF2-40B4-BE49-F238E27FC236}">
                <a16:creationId xmlns:a16="http://schemas.microsoft.com/office/drawing/2014/main" xmlns="" id="{2A3CB386-DE06-42D4-9932-1395F9D3E036}"/>
              </a:ext>
            </a:extLst>
          </p:cNvPr>
          <p:cNvSpPr/>
          <p:nvPr/>
        </p:nvSpPr>
        <p:spPr>
          <a:xfrm rot="10800000">
            <a:off x="10264188" y="5564442"/>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1" name="Arrow: Up 130">
            <a:extLst>
              <a:ext uri="{FF2B5EF4-FFF2-40B4-BE49-F238E27FC236}">
                <a16:creationId xmlns:a16="http://schemas.microsoft.com/office/drawing/2014/main" xmlns="" id="{279DF280-BAF8-4AAA-B09C-FEE9B6AE1F8B}"/>
              </a:ext>
            </a:extLst>
          </p:cNvPr>
          <p:cNvSpPr/>
          <p:nvPr/>
        </p:nvSpPr>
        <p:spPr>
          <a:xfrm rot="10800000">
            <a:off x="9624862" y="558760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2" name="Arrow: Up 131">
            <a:extLst>
              <a:ext uri="{FF2B5EF4-FFF2-40B4-BE49-F238E27FC236}">
                <a16:creationId xmlns:a16="http://schemas.microsoft.com/office/drawing/2014/main" xmlns="" id="{27AF68F8-0320-4AFF-8919-64790764E012}"/>
              </a:ext>
            </a:extLst>
          </p:cNvPr>
          <p:cNvSpPr/>
          <p:nvPr/>
        </p:nvSpPr>
        <p:spPr>
          <a:xfrm rot="10800000">
            <a:off x="10554088" y="435180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3" name="Arrow: Up 132">
            <a:extLst>
              <a:ext uri="{FF2B5EF4-FFF2-40B4-BE49-F238E27FC236}">
                <a16:creationId xmlns:a16="http://schemas.microsoft.com/office/drawing/2014/main" xmlns="" id="{3FC58D31-6BA7-4FAB-A35F-343448BC334E}"/>
              </a:ext>
            </a:extLst>
          </p:cNvPr>
          <p:cNvSpPr/>
          <p:nvPr/>
        </p:nvSpPr>
        <p:spPr>
          <a:xfrm rot="10800000">
            <a:off x="10959376" y="419031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4" name="Arrow: Up 133">
            <a:extLst>
              <a:ext uri="{FF2B5EF4-FFF2-40B4-BE49-F238E27FC236}">
                <a16:creationId xmlns:a16="http://schemas.microsoft.com/office/drawing/2014/main" xmlns="" id="{523C96AD-B81D-4416-A3C6-75A3522A721B}"/>
              </a:ext>
            </a:extLst>
          </p:cNvPr>
          <p:cNvSpPr/>
          <p:nvPr/>
        </p:nvSpPr>
        <p:spPr>
          <a:xfrm rot="10800000">
            <a:off x="10816794" y="486393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5" name="Arrow: Up 134">
            <a:extLst>
              <a:ext uri="{FF2B5EF4-FFF2-40B4-BE49-F238E27FC236}">
                <a16:creationId xmlns:a16="http://schemas.microsoft.com/office/drawing/2014/main" xmlns="" id="{BF5A75CC-E408-4729-8BB1-D081ACDA2276}"/>
              </a:ext>
            </a:extLst>
          </p:cNvPr>
          <p:cNvSpPr/>
          <p:nvPr/>
        </p:nvSpPr>
        <p:spPr>
          <a:xfrm rot="10800000">
            <a:off x="10470792" y="5148830"/>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6" name="Arrow: Up 135">
            <a:extLst>
              <a:ext uri="{FF2B5EF4-FFF2-40B4-BE49-F238E27FC236}">
                <a16:creationId xmlns:a16="http://schemas.microsoft.com/office/drawing/2014/main" xmlns="" id="{25A6FB02-8DE6-4FC8-9868-B3BC6DD2F3F7}"/>
              </a:ext>
            </a:extLst>
          </p:cNvPr>
          <p:cNvSpPr/>
          <p:nvPr/>
        </p:nvSpPr>
        <p:spPr>
          <a:xfrm rot="10800000">
            <a:off x="9899369" y="5418950"/>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7" name="Arrow: Striped Right 136">
            <a:extLst>
              <a:ext uri="{FF2B5EF4-FFF2-40B4-BE49-F238E27FC236}">
                <a16:creationId xmlns:a16="http://schemas.microsoft.com/office/drawing/2014/main" xmlns="" id="{EB20183C-82A6-4293-8B99-C5B6F040B72C}"/>
              </a:ext>
            </a:extLst>
          </p:cNvPr>
          <p:cNvSpPr/>
          <p:nvPr/>
        </p:nvSpPr>
        <p:spPr>
          <a:xfrm>
            <a:off x="4969237" y="4981525"/>
            <a:ext cx="2245297" cy="143670"/>
          </a:xfrm>
          <a:prstGeom prst="striped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xmlns="" id="{01786E26-9625-4544-A0A5-11D0345CDE2A}"/>
                  </a:ext>
                </a:extLst>
              </p:cNvPr>
              <p:cNvSpPr txBox="1"/>
              <p:nvPr/>
            </p:nvSpPr>
            <p:spPr>
              <a:xfrm>
                <a:off x="5029868" y="5901891"/>
                <a:ext cx="2140683" cy="402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𝑠𝑢𝑟𝑓𝑎𝑐𝑒</m:t>
                          </m:r>
                        </m:sub>
                      </m:sSub>
                      <m:r>
                        <a:rPr lang="en-US" i="1" smtClean="0">
                          <a:latin typeface="Cambria Math" panose="02040503050406030204" pitchFamily="18" charset="0"/>
                          <a:ea typeface="Cambria Math" panose="02040503050406030204" pitchFamily="18" charset="0"/>
                        </a:rPr>
                        <m:t>~</m:t>
                      </m:r>
                      <m:sSup>
                        <m:sSupPr>
                          <m:ctrlPr>
                            <a:rPr lang="en-US" i="1" smtClean="0">
                              <a:latin typeface="Cambria Math"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−1</m:t>
                          </m:r>
                        </m:sup>
                      </m:sSup>
                    </m:oMath>
                  </m:oMathPara>
                </a14:m>
                <a:endParaRPr lang="x-none" dirty="0"/>
              </a:p>
            </p:txBody>
          </p:sp>
        </mc:Choice>
        <mc:Fallback xmlns="">
          <p:sp>
            <p:nvSpPr>
              <p:cNvPr id="138" name="TextBox 137">
                <a:extLst>
                  <a:ext uri="{FF2B5EF4-FFF2-40B4-BE49-F238E27FC236}">
                    <a16:creationId xmlns:a16="http://schemas.microsoft.com/office/drawing/2014/main" xmlns="" xmlns:a14="http://schemas.microsoft.com/office/drawing/2010/main" id="{01786E26-9625-4544-A0A5-11D0345CDE2A}"/>
                  </a:ext>
                </a:extLst>
              </p:cNvPr>
              <p:cNvSpPr txBox="1">
                <a:spLocks noRot="1" noChangeAspect="1" noMove="1" noResize="1" noEditPoints="1" noAdjustHandles="1" noChangeArrowheads="1" noChangeShapeType="1" noTextEdit="1"/>
              </p:cNvSpPr>
              <p:nvPr/>
            </p:nvSpPr>
            <p:spPr>
              <a:xfrm>
                <a:off x="5029868" y="5901891"/>
                <a:ext cx="2140683" cy="402867"/>
              </a:xfrm>
              <a:prstGeom prst="rect">
                <a:avLst/>
              </a:prstGeom>
              <a:blipFill rotWithShape="0">
                <a:blip r:embed="rId5"/>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xmlns="" id="{40FF956C-F5D0-4904-8A7C-469BBED30572}"/>
                  </a:ext>
                </a:extLst>
              </p:cNvPr>
              <p:cNvSpPr txBox="1"/>
              <p:nvPr/>
            </p:nvSpPr>
            <p:spPr>
              <a:xfrm>
                <a:off x="4471422" y="3409683"/>
                <a:ext cx="4547977" cy="2149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𝑏𝑢𝑙𝑘</m:t>
                          </m:r>
                        </m:sub>
                      </m:sSub>
                      <m:r>
                        <a:rPr lang="en-US" i="1" smtClean="0">
                          <a:latin typeface="Cambria Math" panose="02040503050406030204" pitchFamily="18" charset="0"/>
                          <a:ea typeface="Cambria Math" panose="02040503050406030204" pitchFamily="18" charset="0"/>
                        </a:rPr>
                        <m:t>~</m:t>
                      </m:r>
                      <m:nary>
                        <m:naryPr>
                          <m:chr m:val="∑"/>
                          <m:limLoc m:val="subSup"/>
                          <m:supHide m:val="on"/>
                          <m:ctrlPr>
                            <a:rPr lang="en-US" i="1" smtClean="0">
                              <a:latin typeface="Cambria Math" charset="0"/>
                              <a:ea typeface="Cambria Math" panose="02040503050406030204" pitchFamily="18" charset="0"/>
                            </a:rPr>
                          </m:ctrlPr>
                        </m:naryPr>
                        <m:sub>
                          <m:r>
                            <m:rPr>
                              <m:brk m:alnAt="9"/>
                            </m:rPr>
                            <a:rPr lang="en-US" b="0" i="1" smtClean="0">
                              <a:latin typeface="Cambria Math" panose="02040503050406030204" pitchFamily="18" charset="0"/>
                              <a:ea typeface="Cambria Math" panose="02040503050406030204" pitchFamily="18" charset="0"/>
                            </a:rPr>
                            <m:t>𝑖</m:t>
                          </m:r>
                        </m:sub>
                        <m:sup/>
                        <m:e>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𝑖</m:t>
                              </m:r>
                            </m:sub>
                          </m:sSub>
                          <m:r>
                            <m:rPr>
                              <m:sty m:val="p"/>
                            </m:rPr>
                            <a:rPr lang="en-US" b="0" i="0" smtClean="0">
                              <a:latin typeface="Cambria Math" charset="0"/>
                              <a:ea typeface="Cambria Math" panose="02040503050406030204" pitchFamily="18" charset="0"/>
                            </a:rPr>
                            <m:t>Δ</m:t>
                          </m:r>
                          <m:sSubSup>
                            <m:sSubSupPr>
                              <m:ctrlPr>
                                <a:rPr lang="en-US" b="0" i="1" smtClean="0">
                                  <a:latin typeface="Cambria Math" charset="0"/>
                                  <a:ea typeface="Cambria Math" panose="02040503050406030204" pitchFamily="18" charset="0"/>
                                </a:rPr>
                              </m:ctrlPr>
                            </m:sSubSupPr>
                            <m:e>
                              <m:r>
                                <a:rPr lang="en-US" b="0" i="1" smtClean="0">
                                  <a:latin typeface="Cambria Math" charset="0"/>
                                  <a:ea typeface="Cambria Math" panose="02040503050406030204" pitchFamily="18" charset="0"/>
                                </a:rPr>
                                <m:t>𝑆</m:t>
                              </m:r>
                            </m:e>
                            <m:sub>
                              <m:r>
                                <a:rPr lang="en-US" b="0" i="1" smtClean="0">
                                  <a:latin typeface="Cambria Math" charset="0"/>
                                  <a:ea typeface="Cambria Math" panose="02040503050406030204" pitchFamily="18" charset="0"/>
                                </a:rPr>
                                <m:t>𝑖</m:t>
                              </m:r>
                            </m:sub>
                            <m:sup>
                              <m:r>
                                <a:rPr lang="en-US" b="0" i="1" smtClean="0">
                                  <a:latin typeface="Cambria Math" charset="0"/>
                                  <a:ea typeface="Cambria Math" panose="02040503050406030204" pitchFamily="18" charset="0"/>
                                </a:rPr>
                                <m:t>𝑍</m:t>
                              </m:r>
                            </m:sup>
                          </m:sSubSup>
                        </m:e>
                      </m:nary>
                      <m:r>
                        <a:rPr lang="en-US"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charset="0"/>
                              <a:ea typeface="Cambria Math" panose="02040503050406030204" pitchFamily="18" charset="0"/>
                            </a:rPr>
                          </m:ctrlPr>
                        </m:naryPr>
                        <m:sub>
                          <m:r>
                            <a:rPr lang="en-US" b="0" i="1" smtClean="0">
                              <a:latin typeface="Cambria Math" charset="0"/>
                              <a:ea typeface="Cambria Math" panose="02040503050406030204" pitchFamily="18" charset="0"/>
                            </a:rPr>
                            <m:t>𝑖</m:t>
                          </m:r>
                        </m:sub>
                        <m:sup/>
                        <m:e>
                          <m:sSub>
                            <m:sSubPr>
                              <m:ctrlPr>
                                <a:rPr lang="en-US" b="0" i="1" smtClean="0">
                                  <a:latin typeface="Cambria Math" charset="0"/>
                                  <a:ea typeface="Cambria Math" panose="02040503050406030204" pitchFamily="18" charset="0"/>
                                </a:rPr>
                              </m:ctrlPr>
                            </m:sSubPr>
                            <m:e>
                              <m:r>
                                <a:rPr lang="en-US" b="0" i="1" smtClean="0">
                                  <a:latin typeface="Cambria Math" charset="0"/>
                                  <a:ea typeface="Cambria Math" panose="02040503050406030204" pitchFamily="18" charset="0"/>
                                </a:rPr>
                                <m:t>h</m:t>
                              </m:r>
                            </m:e>
                            <m:sub>
                              <m:r>
                                <a:rPr lang="en-US" b="0" i="1" smtClean="0">
                                  <a:latin typeface="Cambria Math" charset="0"/>
                                  <a:ea typeface="Cambria Math" panose="02040503050406030204" pitchFamily="18" charset="0"/>
                                </a:rPr>
                                <m:t>𝑖</m:t>
                              </m:r>
                            </m:sub>
                          </m:sSub>
                        </m:e>
                      </m:nary>
                      <m:r>
                        <a:rPr lang="en-US" b="0" i="1" smtClean="0">
                          <a:latin typeface="Cambria Math" charset="0"/>
                          <a:ea typeface="Cambria Math" panose="02040503050406030204" pitchFamily="18" charset="0"/>
                        </a:rPr>
                        <m:t>&lt; |</m:t>
                      </m:r>
                      <m:nary>
                        <m:naryPr>
                          <m:chr m:val="∑"/>
                          <m:supHide m:val="on"/>
                          <m:ctrlPr>
                            <a:rPr lang="en-US" i="1">
                              <a:latin typeface="Cambria Math" charset="0"/>
                              <a:ea typeface="Cambria Math" panose="02040503050406030204" pitchFamily="18" charset="0"/>
                            </a:rPr>
                          </m:ctrlPr>
                        </m:naryPr>
                        <m:sub>
                          <m:r>
                            <a:rPr lang="en-US" i="1">
                              <a:latin typeface="Cambria Math" charset="0"/>
                              <a:ea typeface="Cambria Math" panose="02040503050406030204" pitchFamily="18" charset="0"/>
                            </a:rPr>
                            <m:t>𝑖</m:t>
                          </m:r>
                        </m:sub>
                        <m:sup/>
                        <m:e>
                          <m:sSub>
                            <m:sSubPr>
                              <m:ctrlPr>
                                <a:rPr lang="en-US" i="1">
                                  <a:latin typeface="Cambria Math" charset="0"/>
                                  <a:ea typeface="Cambria Math" panose="02040503050406030204" pitchFamily="18" charset="0"/>
                                </a:rPr>
                              </m:ctrlPr>
                            </m:sSubPr>
                            <m:e>
                              <m:r>
                                <a:rPr lang="en-US" i="1">
                                  <a:latin typeface="Cambria Math" charset="0"/>
                                  <a:ea typeface="Cambria Math" panose="02040503050406030204" pitchFamily="18" charset="0"/>
                                </a:rPr>
                                <m:t>h</m:t>
                              </m:r>
                            </m:e>
                            <m:sub>
                              <m:r>
                                <a:rPr lang="en-US" i="1">
                                  <a:latin typeface="Cambria Math" charset="0"/>
                                  <a:ea typeface="Cambria Math" panose="02040503050406030204" pitchFamily="18" charset="0"/>
                                </a:rPr>
                                <m:t>𝑖</m:t>
                              </m:r>
                            </m:sub>
                          </m:sSub>
                          <m:r>
                            <a:rPr lang="en-US" b="0" i="1" smtClean="0">
                              <a:latin typeface="Cambria Math" charset="0"/>
                              <a:ea typeface="Cambria Math" panose="02040503050406030204" pitchFamily="18" charset="0"/>
                            </a:rPr>
                            <m:t>|</m:t>
                          </m:r>
                        </m:e>
                      </m:nary>
                      <m:r>
                        <a:rPr lang="en-US" b="0" i="1" smtClean="0">
                          <a:latin typeface="Cambria Math" charset="0"/>
                          <a:ea typeface="Cambria Math" panose="02040503050406030204" pitchFamily="18" charset="0"/>
                        </a:rPr>
                        <m:t>∼</m:t>
                      </m:r>
                      <m:sSup>
                        <m:sSupPr>
                          <m:ctrlPr>
                            <a:rPr lang="en-US" b="0" i="1" smtClean="0">
                              <a:latin typeface="Cambria Math" charset="0"/>
                              <a:ea typeface="Cambria Math" panose="02040503050406030204" pitchFamily="18" charset="0"/>
                            </a:rPr>
                          </m:ctrlPr>
                        </m:sSupPr>
                        <m:e>
                          <m:r>
                            <a:rPr lang="en-US" b="0" i="1" smtClean="0">
                              <a:latin typeface="Cambria Math" charset="0"/>
                              <a:ea typeface="Cambria Math" panose="02040503050406030204" pitchFamily="18" charset="0"/>
                            </a:rPr>
                            <m:t>𝐿</m:t>
                          </m:r>
                        </m:e>
                        <m:sup>
                          <m:f>
                            <m:fPr>
                              <m:ctrlPr>
                                <a:rPr lang="en-US" b="0" i="1" smtClean="0">
                                  <a:latin typeface="Cambria Math" charset="0"/>
                                  <a:ea typeface="Cambria Math" panose="02040503050406030204" pitchFamily="18" charset="0"/>
                                </a:rPr>
                              </m:ctrlPr>
                            </m:fPr>
                            <m:num>
                              <m:r>
                                <a:rPr lang="en-US" b="0" i="1" smtClean="0">
                                  <a:latin typeface="Cambria Math" charset="0"/>
                                  <a:ea typeface="Cambria Math" panose="02040503050406030204" pitchFamily="18" charset="0"/>
                                </a:rPr>
                                <m:t>𝑑</m:t>
                              </m:r>
                            </m:num>
                            <m:den>
                              <m:r>
                                <a:rPr lang="en-US" b="0" i="1" smtClean="0">
                                  <a:latin typeface="Cambria Math" charset="0"/>
                                  <a:ea typeface="Cambria Math" panose="02040503050406030204" pitchFamily="18" charset="0"/>
                                </a:rPr>
                                <m:t>2</m:t>
                              </m:r>
                            </m:den>
                          </m:f>
                        </m:sup>
                      </m:sSup>
                    </m:oMath>
                  </m:oMathPara>
                </a14:m>
                <a:endParaRPr lang="en-US" b="0" dirty="0" smtClean="0">
                  <a:ea typeface="Cambria Math" panose="02040503050406030204" pitchFamily="18" charset="0"/>
                </a:endParaRPr>
              </a:p>
              <a:p>
                <a:r>
                  <a:rPr lang="en-US" dirty="0">
                    <a:ea typeface="Cambria Math" panose="02040503050406030204" pitchFamily="18" charset="0"/>
                  </a:rPr>
                  <a:t>	A</a:t>
                </a:r>
                <a:r>
                  <a:rPr lang="en-US" dirty="0" smtClean="0">
                    <a:ea typeface="Cambria Math" panose="02040503050406030204" pitchFamily="18" charset="0"/>
                  </a:rPr>
                  <a:t> “typical value” for</a:t>
                </a:r>
              </a:p>
              <a:p>
                <a:r>
                  <a:rPr lang="en-US" b="0" dirty="0">
                    <a:ea typeface="Cambria Math" panose="02040503050406030204" pitchFamily="18" charset="0"/>
                  </a:rPr>
                  <a:t>	</a:t>
                </a:r>
                <a:r>
                  <a:rPr lang="en-US" b="0" dirty="0" smtClean="0">
                    <a:ea typeface="Cambria Math" panose="02040503050406030204" pitchFamily="18" charset="0"/>
                  </a:rPr>
                  <a:t>possible energy gain.</a:t>
                </a:r>
              </a:p>
              <a:p>
                <a:endParaRPr lang="en-US" b="0" dirty="0" smtClean="0">
                  <a:ea typeface="Cambria Math" panose="02040503050406030204" pitchFamily="18" charset="0"/>
                </a:endParaRPr>
              </a:p>
              <a:p>
                <a:r>
                  <a:rPr lang="en-US" dirty="0">
                    <a:ea typeface="Cambria Math" panose="02040503050406030204" pitchFamily="18" charset="0"/>
                  </a:rPr>
                  <a:t/>
                </a:r>
                <a:br>
                  <a:rPr lang="en-US" dirty="0">
                    <a:ea typeface="Cambria Math" panose="02040503050406030204" pitchFamily="18" charset="0"/>
                  </a:rPr>
                </a:br>
                <a:endParaRPr lang="x-none" dirty="0"/>
              </a:p>
            </p:txBody>
          </p:sp>
        </mc:Choice>
        <mc:Fallback xmlns="">
          <p:sp>
            <p:nvSpPr>
              <p:cNvPr id="139" name="TextBox 138">
                <a:extLst>
                  <a:ext uri="{FF2B5EF4-FFF2-40B4-BE49-F238E27FC236}">
                    <a16:creationId xmlns="" xmlns:a16="http://schemas.microsoft.com/office/drawing/2014/main" xmlns:a14="http://schemas.microsoft.com/office/drawing/2010/main" id="{40FF956C-F5D0-4904-8A7C-469BBED30572}"/>
                  </a:ext>
                </a:extLst>
              </p:cNvPr>
              <p:cNvSpPr txBox="1">
                <a:spLocks noRot="1" noChangeAspect="1" noMove="1" noResize="1" noEditPoints="1" noAdjustHandles="1" noChangeArrowheads="1" noChangeShapeType="1" noTextEdit="1"/>
              </p:cNvSpPr>
              <p:nvPr/>
            </p:nvSpPr>
            <p:spPr>
              <a:xfrm>
                <a:off x="4471422" y="3409683"/>
                <a:ext cx="4547977" cy="2149563"/>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211710" y="4405634"/>
                <a:ext cx="369781" cy="3754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charset="0"/>
                            </a:rPr>
                          </m:ctrlPr>
                        </m:accPr>
                        <m:e>
                          <m:r>
                            <a:rPr lang="en-US" b="0" i="1" smtClean="0">
                              <a:latin typeface="Cambria Math" charset="0"/>
                            </a:rPr>
                            <m:t>h</m:t>
                          </m:r>
                        </m:e>
                      </m:acc>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0211710" y="4405634"/>
                <a:ext cx="369781" cy="375424"/>
              </a:xfrm>
              <a:prstGeom prst="rect">
                <a:avLst/>
              </a:prstGeom>
              <a:blipFill rotWithShape="0">
                <a:blip r:embed="rId7"/>
                <a:stretch>
                  <a:fillRect/>
                </a:stretch>
              </a:blipFill>
            </p:spPr>
            <p:txBody>
              <a:bodyPr/>
              <a:lstStyle/>
              <a:p>
                <a:r>
                  <a:rPr lang="en-US">
                    <a:noFill/>
                  </a:rPr>
                  <a:t> </a:t>
                </a:r>
              </a:p>
            </p:txBody>
          </p:sp>
        </mc:Fallback>
      </mc:AlternateContent>
      <p:sp>
        <p:nvSpPr>
          <p:cNvPr id="7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and the </a:t>
            </a:r>
            <a:r>
              <a:rPr lang="en-US" sz="3600" dirty="0" err="1"/>
              <a:t>Imry</a:t>
            </a:r>
            <a:r>
              <a:rPr lang="en-US" sz="3600" dirty="0"/>
              <a:t>-Ma criterion</a:t>
            </a:r>
            <a:endParaRPr lang="x-none" sz="3600" dirty="0"/>
          </a:p>
        </p:txBody>
      </p:sp>
      <p:cxnSp>
        <p:nvCxnSpPr>
          <p:cNvPr id="79" name="Straight Connector 7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A </a:t>
            </a:r>
            <a:r>
              <a:rPr lang="en-US" sz="3200" dirty="0">
                <a:solidFill>
                  <a:schemeClr val="tx1">
                    <a:lumMod val="65000"/>
                    <a:lumOff val="35000"/>
                  </a:schemeClr>
                </a:solidFill>
                <a:latin typeface="+mj-lt"/>
              </a:rPr>
              <a:t>simple picture with </a:t>
            </a:r>
            <a:r>
              <a:rPr lang="en-US" sz="3200" dirty="0" err="1">
                <a:solidFill>
                  <a:schemeClr val="tx1">
                    <a:lumMod val="65000"/>
                    <a:lumOff val="35000"/>
                  </a:schemeClr>
                </a:solidFill>
                <a:latin typeface="+mj-lt"/>
              </a:rPr>
              <a:t>Ising</a:t>
            </a:r>
            <a:r>
              <a:rPr lang="en-US" sz="3200" dirty="0">
                <a:solidFill>
                  <a:schemeClr val="tx1">
                    <a:lumMod val="65000"/>
                    <a:lumOff val="35000"/>
                  </a:schemeClr>
                </a:solidFill>
                <a:latin typeface="+mj-lt"/>
              </a:rPr>
              <a:t> spins:</a:t>
            </a:r>
          </a:p>
        </p:txBody>
      </p:sp>
      <mc:AlternateContent xmlns:mc="http://schemas.openxmlformats.org/markup-compatibility/2006" xmlns:p14="http://schemas.microsoft.com/office/powerpoint/2010/main">
        <mc:Choice Requires="p14">
          <p:contentPart p14:bwMode="auto" r:id="rId8">
            <p14:nvContentPartPr>
              <p14:cNvPr id="81" name="Ink 80">
                <a:extLst>
                  <a:ext uri="{FF2B5EF4-FFF2-40B4-BE49-F238E27FC236}">
                    <a16:creationId xmlns:a16="http://schemas.microsoft.com/office/drawing/2014/main" xmlns="" id="{97771BAB-D58B-4263-8C32-E841ECD1E17B}"/>
                  </a:ext>
                </a:extLst>
              </p14:cNvPr>
              <p14:cNvContentPartPr/>
              <p14:nvPr/>
            </p14:nvContentPartPr>
            <p14:xfrm>
              <a:off x="797456" y="2425247"/>
              <a:ext cx="3687840" cy="3082680"/>
            </p14:xfrm>
          </p:contentPart>
        </mc:Choice>
        <mc:Fallback xmlns="">
          <p:pic>
            <p:nvPicPr>
              <p:cNvPr id="81" name="Ink 80">
                <a:extLst>
                  <a:ext uri="{FF2B5EF4-FFF2-40B4-BE49-F238E27FC236}">
                    <a16:creationId xmlns:a16="http://schemas.microsoft.com/office/drawing/2014/main" xmlns="" xmlns:p14="http://schemas.microsoft.com/office/powerpoint/2010/main" id="{97771BAB-D58B-4263-8C32-E841ECD1E17B}"/>
                  </a:ext>
                </a:extLst>
              </p:cNvPr>
              <p:cNvPicPr/>
              <p:nvPr/>
            </p:nvPicPr>
            <p:blipFill>
              <a:blip r:embed="rId9"/>
              <a:stretch>
                <a:fillRect/>
              </a:stretch>
            </p:blipFill>
            <p:spPr>
              <a:xfrm>
                <a:off x="788456" y="2416247"/>
                <a:ext cx="3705480" cy="3100320"/>
              </a:xfrm>
              <a:prstGeom prst="rect">
                <a:avLst/>
              </a:prstGeom>
            </p:spPr>
          </p:pic>
        </mc:Fallback>
      </mc:AlternateContent>
      <p:sp>
        <p:nvSpPr>
          <p:cNvPr id="82" name="Arrow: Up 57">
            <a:extLst>
              <a:ext uri="{FF2B5EF4-FFF2-40B4-BE49-F238E27FC236}">
                <a16:creationId xmlns:a16="http://schemas.microsoft.com/office/drawing/2014/main" xmlns="" id="{2FF3984E-711F-4105-B95E-A9A2D638487F}"/>
              </a:ext>
            </a:extLst>
          </p:cNvPr>
          <p:cNvSpPr/>
          <p:nvPr/>
        </p:nvSpPr>
        <p:spPr>
          <a:xfrm>
            <a:off x="1405346" y="417439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3" name="Arrow: Up 64">
            <a:extLst>
              <a:ext uri="{FF2B5EF4-FFF2-40B4-BE49-F238E27FC236}">
                <a16:creationId xmlns:a16="http://schemas.microsoft.com/office/drawing/2014/main" xmlns="" id="{6BFFCD81-F949-447A-9FC9-DF88BD70E345}"/>
              </a:ext>
            </a:extLst>
          </p:cNvPr>
          <p:cNvSpPr/>
          <p:nvPr/>
        </p:nvSpPr>
        <p:spPr>
          <a:xfrm>
            <a:off x="1697667" y="39263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4" name="Arrow: Up 65">
            <a:extLst>
              <a:ext uri="{FF2B5EF4-FFF2-40B4-BE49-F238E27FC236}">
                <a16:creationId xmlns:a16="http://schemas.microsoft.com/office/drawing/2014/main" xmlns="" id="{7EA4C78D-BBD3-4473-B424-587F794FACF0}"/>
              </a:ext>
            </a:extLst>
          </p:cNvPr>
          <p:cNvSpPr/>
          <p:nvPr/>
        </p:nvSpPr>
        <p:spPr>
          <a:xfrm>
            <a:off x="2013236" y="426470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5" name="Arrow: Up 66">
            <a:extLst>
              <a:ext uri="{FF2B5EF4-FFF2-40B4-BE49-F238E27FC236}">
                <a16:creationId xmlns:a16="http://schemas.microsoft.com/office/drawing/2014/main" xmlns="" id="{5211C9B3-90B9-4631-A80A-82C7B392F580}"/>
              </a:ext>
            </a:extLst>
          </p:cNvPr>
          <p:cNvSpPr/>
          <p:nvPr/>
        </p:nvSpPr>
        <p:spPr>
          <a:xfrm>
            <a:off x="1697667" y="469462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6" name="Arrow: Up 67">
            <a:extLst>
              <a:ext uri="{FF2B5EF4-FFF2-40B4-BE49-F238E27FC236}">
                <a16:creationId xmlns:a16="http://schemas.microsoft.com/office/drawing/2014/main" xmlns="" id="{17A866B3-5F14-458E-94AD-26019B9F9B7D}"/>
              </a:ext>
            </a:extLst>
          </p:cNvPr>
          <p:cNvSpPr/>
          <p:nvPr/>
        </p:nvSpPr>
        <p:spPr>
          <a:xfrm>
            <a:off x="1090371"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7" name="Arrow: Up 68">
            <a:extLst>
              <a:ext uri="{FF2B5EF4-FFF2-40B4-BE49-F238E27FC236}">
                <a16:creationId xmlns:a16="http://schemas.microsoft.com/office/drawing/2014/main" xmlns="" id="{6533292F-F228-4759-A51D-42E5BB51D450}"/>
              </a:ext>
            </a:extLst>
          </p:cNvPr>
          <p:cNvSpPr/>
          <p:nvPr/>
        </p:nvSpPr>
        <p:spPr>
          <a:xfrm>
            <a:off x="2282463" y="351074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8" name="Arrow: Up 69">
            <a:extLst>
              <a:ext uri="{FF2B5EF4-FFF2-40B4-BE49-F238E27FC236}">
                <a16:creationId xmlns:a16="http://schemas.microsoft.com/office/drawing/2014/main" xmlns="" id="{C625576E-B3B9-4A44-947F-B44ABADC4D22}"/>
              </a:ext>
            </a:extLst>
          </p:cNvPr>
          <p:cNvSpPr/>
          <p:nvPr/>
        </p:nvSpPr>
        <p:spPr>
          <a:xfrm>
            <a:off x="2484185" y="40568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89" name="Arrow: Up 70">
            <a:extLst>
              <a:ext uri="{FF2B5EF4-FFF2-40B4-BE49-F238E27FC236}">
                <a16:creationId xmlns:a16="http://schemas.microsoft.com/office/drawing/2014/main" xmlns="" id="{7B54DDFD-8801-4492-BAA3-B3054121AA5E}"/>
              </a:ext>
            </a:extLst>
          </p:cNvPr>
          <p:cNvSpPr/>
          <p:nvPr/>
        </p:nvSpPr>
        <p:spPr>
          <a:xfrm>
            <a:off x="2332899" y="466298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0" name="Arrow: Up 71">
            <a:extLst>
              <a:ext uri="{FF2B5EF4-FFF2-40B4-BE49-F238E27FC236}">
                <a16:creationId xmlns:a16="http://schemas.microsoft.com/office/drawing/2014/main" xmlns="" id="{F5B64205-5683-4979-8527-406AAAA0CBF2}"/>
              </a:ext>
            </a:extLst>
          </p:cNvPr>
          <p:cNvSpPr/>
          <p:nvPr/>
        </p:nvSpPr>
        <p:spPr>
          <a:xfrm>
            <a:off x="1912386" y="349300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1" name="Arrow: Up 72">
            <a:extLst>
              <a:ext uri="{FF2B5EF4-FFF2-40B4-BE49-F238E27FC236}">
                <a16:creationId xmlns:a16="http://schemas.microsoft.com/office/drawing/2014/main" xmlns="" id="{C8DCD650-0C34-4D6F-B938-131426C237D5}"/>
              </a:ext>
            </a:extLst>
          </p:cNvPr>
          <p:cNvSpPr/>
          <p:nvPr/>
        </p:nvSpPr>
        <p:spPr>
          <a:xfrm>
            <a:off x="2058392" y="505194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2" name="Arrow: Up 73">
            <a:extLst>
              <a:ext uri="{FF2B5EF4-FFF2-40B4-BE49-F238E27FC236}">
                <a16:creationId xmlns:a16="http://schemas.microsoft.com/office/drawing/2014/main" xmlns="" id="{2B021BF5-3BB1-4D1B-84BE-F85BB54E6066}"/>
              </a:ext>
            </a:extLst>
          </p:cNvPr>
          <p:cNvSpPr/>
          <p:nvPr/>
        </p:nvSpPr>
        <p:spPr>
          <a:xfrm>
            <a:off x="1383286" y="490243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3" name="Arrow: Up 93">
            <a:extLst>
              <a:ext uri="{FF2B5EF4-FFF2-40B4-BE49-F238E27FC236}">
                <a16:creationId xmlns:a16="http://schemas.microsoft.com/office/drawing/2014/main" xmlns="" id="{A7AA328E-A917-4F92-A3C8-B5EC49E727AC}"/>
              </a:ext>
            </a:extLst>
          </p:cNvPr>
          <p:cNvSpPr/>
          <p:nvPr/>
        </p:nvSpPr>
        <p:spPr>
          <a:xfrm>
            <a:off x="1098761" y="3945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7" name="Arrow: Up 94">
            <a:extLst>
              <a:ext uri="{FF2B5EF4-FFF2-40B4-BE49-F238E27FC236}">
                <a16:creationId xmlns:a16="http://schemas.microsoft.com/office/drawing/2014/main" xmlns="" id="{FC69F0A4-2A01-4795-9307-01E0E0A7FF17}"/>
              </a:ext>
            </a:extLst>
          </p:cNvPr>
          <p:cNvSpPr/>
          <p:nvPr/>
        </p:nvSpPr>
        <p:spPr>
          <a:xfrm>
            <a:off x="2661401" y="31081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0" name="Arrow: Up 95">
            <a:extLst>
              <a:ext uri="{FF2B5EF4-FFF2-40B4-BE49-F238E27FC236}">
                <a16:creationId xmlns:a16="http://schemas.microsoft.com/office/drawing/2014/main" xmlns="" id="{FE3CEC23-C6A1-4875-A9D0-FDAA89C9668E}"/>
              </a:ext>
            </a:extLst>
          </p:cNvPr>
          <p:cNvSpPr/>
          <p:nvPr/>
        </p:nvSpPr>
        <p:spPr>
          <a:xfrm>
            <a:off x="2922592" y="382222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1" name="Arrow: Up 96">
            <a:extLst>
              <a:ext uri="{FF2B5EF4-FFF2-40B4-BE49-F238E27FC236}">
                <a16:creationId xmlns:a16="http://schemas.microsoft.com/office/drawing/2014/main" xmlns="" id="{36A72173-DE9C-47D8-90C1-F779F5C7107E}"/>
              </a:ext>
            </a:extLst>
          </p:cNvPr>
          <p:cNvSpPr/>
          <p:nvPr/>
        </p:nvSpPr>
        <p:spPr>
          <a:xfrm>
            <a:off x="2996541" y="262634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2" name="Arrow: Up 97">
            <a:extLst>
              <a:ext uri="{FF2B5EF4-FFF2-40B4-BE49-F238E27FC236}">
                <a16:creationId xmlns:a16="http://schemas.microsoft.com/office/drawing/2014/main" xmlns="" id="{6FC215B2-2463-4E8F-92CF-5AEF66A93445}"/>
              </a:ext>
            </a:extLst>
          </p:cNvPr>
          <p:cNvSpPr/>
          <p:nvPr/>
        </p:nvSpPr>
        <p:spPr>
          <a:xfrm>
            <a:off x="3280642" y="31652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3" name="Arrow: Up 98">
            <a:extLst>
              <a:ext uri="{FF2B5EF4-FFF2-40B4-BE49-F238E27FC236}">
                <a16:creationId xmlns:a16="http://schemas.microsoft.com/office/drawing/2014/main" xmlns="" id="{69081293-8914-422C-BC95-EF0FED5FC437}"/>
              </a:ext>
            </a:extLst>
          </p:cNvPr>
          <p:cNvSpPr/>
          <p:nvPr/>
        </p:nvSpPr>
        <p:spPr>
          <a:xfrm>
            <a:off x="3406064" y="249841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4" name="Arrow: Up 99">
            <a:extLst>
              <a:ext uri="{FF2B5EF4-FFF2-40B4-BE49-F238E27FC236}">
                <a16:creationId xmlns:a16="http://schemas.microsoft.com/office/drawing/2014/main" xmlns="" id="{9F645E89-DC20-4F13-9488-423081A476DB}"/>
              </a:ext>
            </a:extLst>
          </p:cNvPr>
          <p:cNvSpPr/>
          <p:nvPr/>
        </p:nvSpPr>
        <p:spPr>
          <a:xfrm>
            <a:off x="3345230" y="385643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5" name="Arrow: Up 100">
            <a:extLst>
              <a:ext uri="{FF2B5EF4-FFF2-40B4-BE49-F238E27FC236}">
                <a16:creationId xmlns:a16="http://schemas.microsoft.com/office/drawing/2014/main" xmlns="" id="{5AEEC21C-A27C-447A-A421-A61A0FE9CB28}"/>
              </a:ext>
            </a:extLst>
          </p:cNvPr>
          <p:cNvSpPr/>
          <p:nvPr/>
        </p:nvSpPr>
        <p:spPr>
          <a:xfrm>
            <a:off x="3815017" y="280151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6" name="Arrow: Up 101">
            <a:extLst>
              <a:ext uri="{FF2B5EF4-FFF2-40B4-BE49-F238E27FC236}">
                <a16:creationId xmlns:a16="http://schemas.microsoft.com/office/drawing/2014/main" xmlns="" id="{84B0DBC9-B60E-4A0F-BC4C-2994C1F769B3}"/>
              </a:ext>
            </a:extLst>
          </p:cNvPr>
          <p:cNvSpPr/>
          <p:nvPr/>
        </p:nvSpPr>
        <p:spPr>
          <a:xfrm>
            <a:off x="3496376"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7" name="Arrow: Up 102">
            <a:extLst>
              <a:ext uri="{FF2B5EF4-FFF2-40B4-BE49-F238E27FC236}">
                <a16:creationId xmlns:a16="http://schemas.microsoft.com/office/drawing/2014/main" xmlns="" id="{412A6657-C05D-4BA9-A074-12B8C79F4BA7}"/>
              </a:ext>
            </a:extLst>
          </p:cNvPr>
          <p:cNvSpPr/>
          <p:nvPr/>
        </p:nvSpPr>
        <p:spPr>
          <a:xfrm>
            <a:off x="2832803" y="464934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8" name="Arrow: Up 103">
            <a:extLst>
              <a:ext uri="{FF2B5EF4-FFF2-40B4-BE49-F238E27FC236}">
                <a16:creationId xmlns:a16="http://schemas.microsoft.com/office/drawing/2014/main" xmlns="" id="{AE9034D6-4304-40E9-A17E-A7D718A8143D}"/>
              </a:ext>
            </a:extLst>
          </p:cNvPr>
          <p:cNvSpPr/>
          <p:nvPr/>
        </p:nvSpPr>
        <p:spPr>
          <a:xfrm>
            <a:off x="3786276" y="344082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49" name="Arrow: Up 104">
            <a:extLst>
              <a:ext uri="{FF2B5EF4-FFF2-40B4-BE49-F238E27FC236}">
                <a16:creationId xmlns:a16="http://schemas.microsoft.com/office/drawing/2014/main" xmlns="" id="{265785A4-17AC-4526-859E-D81D5F40F3E9}"/>
              </a:ext>
            </a:extLst>
          </p:cNvPr>
          <p:cNvSpPr/>
          <p:nvPr/>
        </p:nvSpPr>
        <p:spPr>
          <a:xfrm>
            <a:off x="4191564" y="327932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0" name="Arrow: Up 105">
            <a:extLst>
              <a:ext uri="{FF2B5EF4-FFF2-40B4-BE49-F238E27FC236}">
                <a16:creationId xmlns:a16="http://schemas.microsoft.com/office/drawing/2014/main" xmlns="" id="{FCC75C35-2930-4CFF-BC01-5B31F2518EC3}"/>
              </a:ext>
            </a:extLst>
          </p:cNvPr>
          <p:cNvSpPr/>
          <p:nvPr/>
        </p:nvSpPr>
        <p:spPr>
          <a:xfrm>
            <a:off x="4048982" y="3952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1" name="Arrow: Up 107">
            <a:extLst>
              <a:ext uri="{FF2B5EF4-FFF2-40B4-BE49-F238E27FC236}">
                <a16:creationId xmlns:a16="http://schemas.microsoft.com/office/drawing/2014/main" xmlns="" id="{5853CF76-3B79-4C6C-8D2B-1F63A85BA664}"/>
              </a:ext>
            </a:extLst>
          </p:cNvPr>
          <p:cNvSpPr/>
          <p:nvPr/>
        </p:nvSpPr>
        <p:spPr>
          <a:xfrm>
            <a:off x="3702980" y="423784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52" name="Arrow: Up 108">
            <a:extLst>
              <a:ext uri="{FF2B5EF4-FFF2-40B4-BE49-F238E27FC236}">
                <a16:creationId xmlns:a16="http://schemas.microsoft.com/office/drawing/2014/main" xmlns="" id="{F68D9020-86F0-4012-BE4D-B95C71AB746D}"/>
              </a:ext>
            </a:extLst>
          </p:cNvPr>
          <p:cNvSpPr/>
          <p:nvPr/>
        </p:nvSpPr>
        <p:spPr>
          <a:xfrm>
            <a:off x="3131557" y="450796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Tree>
    <p:extLst>
      <p:ext uri="{BB962C8B-B14F-4D97-AF65-F5344CB8AC3E}">
        <p14:creationId xmlns:p14="http://schemas.microsoft.com/office/powerpoint/2010/main" val="8834421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2"/>
                <a:ext cx="10515600" cy="4598373"/>
              </a:xfrm>
            </p:spPr>
            <p:txBody>
              <a:bodyPr>
                <a:normAutofit/>
              </a:bodyPr>
              <a:lstStyle/>
              <a:p>
                <a:pPr marL="1371600" lvl="3" indent="0">
                  <a:buNone/>
                </a:pPr>
                <a:r>
                  <a:rPr lang="en-US" dirty="0" smtClean="0">
                    <a:solidFill>
                      <a:schemeClr val="tx1">
                        <a:lumMod val="65000"/>
                        <a:lumOff val="35000"/>
                      </a:schemeClr>
                    </a:solidFill>
                  </a:rPr>
                  <a:t>			</a:t>
                </a:r>
                <a:r>
                  <a:rPr lang="en-US" sz="2000" dirty="0"/>
                  <a:t>In the </a:t>
                </a:r>
                <a:r>
                  <a:rPr lang="en-US" sz="2000" u="sng" dirty="0"/>
                  <a:t>presence</a:t>
                </a:r>
                <a:r>
                  <a:rPr lang="en-US" sz="2000" dirty="0"/>
                  <a:t> of </a:t>
                </a:r>
                <a:r>
                  <a:rPr lang="en-US" sz="2000" dirty="0">
                    <a:solidFill>
                      <a:srgbClr val="FF0000"/>
                    </a:solidFill>
                  </a:rPr>
                  <a:t>random fields</a:t>
                </a:r>
                <a:r>
                  <a:rPr lang="en-US" sz="2000" dirty="0"/>
                  <a:t>,</a:t>
                </a:r>
              </a:p>
              <a:p>
                <a:pPr marL="1371600" lvl="3" indent="0">
                  <a:buNone/>
                </a:pPr>
                <a:r>
                  <a:rPr lang="en-US" sz="2000" dirty="0"/>
                  <a:t>			      </a:t>
                </a:r>
                <a14:m>
                  <m:oMath xmlns:m="http://schemas.openxmlformats.org/officeDocument/2006/math">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𝐽</m:t>
                    </m:r>
                    <m:nary>
                      <m:naryPr>
                        <m:chr m:val="∑"/>
                        <m:supHide m:val="on"/>
                        <m:ctrlPr>
                          <a:rPr lang="en-US" sz="2000" i="1">
                            <a:latin typeface="Cambria Math" charset="0"/>
                          </a:rPr>
                        </m:ctrlPr>
                      </m:naryPr>
                      <m:sub>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rPr>
                          <m:t>⟩</m:t>
                        </m:r>
                      </m:sub>
                      <m:sup/>
                      <m:e>
                        <m:r>
                          <a:rPr lang="en-US" sz="2000" i="1">
                            <a:latin typeface="Cambria Math" panose="02040503050406030204" pitchFamily="18" charset="0"/>
                          </a:rPr>
                          <m:t> </m:t>
                        </m:r>
                        <m:sSubSup>
                          <m:sSubSupPr>
                            <m:ctrlPr>
                              <a:rPr lang="en-US" sz="2000" i="1">
                                <a:latin typeface="Cambria Math" charset="0"/>
                              </a:rPr>
                            </m:ctrlPr>
                          </m:sSubSupPr>
                          <m:e>
                            <m:r>
                              <a:rPr lang="en-US" sz="2000" i="1">
                                <a:latin typeface="Cambria Math" panose="02040503050406030204" pitchFamily="18" charset="0"/>
                              </a:rPr>
                              <m:t>𝑆</m:t>
                            </m:r>
                          </m:e>
                          <m:sub>
                            <m:r>
                              <a:rPr lang="en-US" sz="2000" i="1">
                                <a:latin typeface="Cambria Math" panose="02040503050406030204" pitchFamily="18" charset="0"/>
                              </a:rPr>
                              <m:t>𝑖</m:t>
                            </m:r>
                          </m:sub>
                          <m:sup>
                            <m:r>
                              <a:rPr lang="en-US" sz="2000" i="1">
                                <a:latin typeface="Cambria Math" charset="0"/>
                              </a:rPr>
                              <m:t>𝑍</m:t>
                            </m:r>
                          </m:sup>
                        </m:sSubSup>
                        <m:sSubSup>
                          <m:sSubSupPr>
                            <m:ctrlPr>
                              <a:rPr lang="en-US" sz="2000" i="1">
                                <a:latin typeface="Cambria Math" charset="0"/>
                              </a:rPr>
                            </m:ctrlPr>
                          </m:sSubSupPr>
                          <m:e>
                            <m:r>
                              <a:rPr lang="en-US" sz="2000" i="1">
                                <a:latin typeface="Cambria Math" panose="02040503050406030204" pitchFamily="18" charset="0"/>
                              </a:rPr>
                              <m:t>𝑆</m:t>
                            </m:r>
                          </m:e>
                          <m:sub>
                            <m:r>
                              <a:rPr lang="en-US" sz="2000" i="1">
                                <a:latin typeface="Cambria Math" panose="02040503050406030204" pitchFamily="18" charset="0"/>
                              </a:rPr>
                              <m:t>𝑗</m:t>
                            </m:r>
                          </m:sub>
                          <m:sup>
                            <m:r>
                              <a:rPr lang="en-US" sz="2000" i="1">
                                <a:latin typeface="Cambria Math" charset="0"/>
                              </a:rPr>
                              <m:t>𝑍</m:t>
                            </m:r>
                          </m:sup>
                        </m:sSubSup>
                      </m:e>
                    </m:nary>
                    <m:r>
                      <a:rPr lang="en-US" sz="2000" i="1">
                        <a:latin typeface="Cambria Math" panose="02040503050406030204" pitchFamily="18" charset="0"/>
                      </a:rPr>
                      <m:t>+</m:t>
                    </m:r>
                    <m:nary>
                      <m:naryPr>
                        <m:chr m:val="∑"/>
                        <m:supHide m:val="on"/>
                        <m:ctrlPr>
                          <a:rPr lang="en-US" sz="2000" i="1">
                            <a:latin typeface="Cambria Math" charset="0"/>
                          </a:rPr>
                        </m:ctrlPr>
                      </m:naryPr>
                      <m:sub>
                        <m:r>
                          <m:rPr>
                            <m:brk m:alnAt="7"/>
                          </m:rPr>
                          <a:rPr lang="en-US" sz="2000" i="1">
                            <a:latin typeface="Cambria Math" panose="02040503050406030204" pitchFamily="18" charset="0"/>
                          </a:rPr>
                          <m:t>𝑖</m:t>
                        </m:r>
                      </m:sub>
                      <m:sup/>
                      <m:e>
                        <m:sSub>
                          <m:sSubPr>
                            <m:ctrlPr>
                              <a:rPr lang="en-US" sz="2000" i="1">
                                <a:solidFill>
                                  <a:srgbClr val="FF0000"/>
                                </a:solidFill>
                                <a:latin typeface="Cambria Math" charset="0"/>
                              </a:rPr>
                            </m:ctrlPr>
                          </m:sSubPr>
                          <m:e>
                            <m:r>
                              <a:rPr lang="en-US" sz="2000" i="1">
                                <a:solidFill>
                                  <a:srgbClr val="FF0000"/>
                                </a:solidFill>
                                <a:latin typeface="Cambria Math" panose="02040503050406030204" pitchFamily="18" charset="0"/>
                              </a:rPr>
                              <m:t>h</m:t>
                            </m:r>
                          </m:e>
                          <m:sub>
                            <m:r>
                              <a:rPr lang="en-US" sz="2000" i="1">
                                <a:solidFill>
                                  <a:srgbClr val="FF0000"/>
                                </a:solidFill>
                                <a:latin typeface="Cambria Math" panose="02040503050406030204" pitchFamily="18" charset="0"/>
                              </a:rPr>
                              <m:t>𝑖</m:t>
                            </m:r>
                          </m:sub>
                        </m:sSub>
                        <m:sSubSup>
                          <m:sSubSupPr>
                            <m:ctrlPr>
                              <a:rPr lang="en-US" sz="2000" i="1">
                                <a:latin typeface="Cambria Math" charset="0"/>
                              </a:rPr>
                            </m:ctrlPr>
                          </m:sSubSupPr>
                          <m:e>
                            <m:r>
                              <a:rPr lang="en-US" sz="2000" i="1">
                                <a:latin typeface="Cambria Math" panose="02040503050406030204" pitchFamily="18" charset="0"/>
                              </a:rPr>
                              <m:t>𝑆</m:t>
                            </m:r>
                          </m:e>
                          <m:sub>
                            <m:r>
                              <a:rPr lang="en-US" sz="2000" i="1">
                                <a:latin typeface="Cambria Math" panose="02040503050406030204" pitchFamily="18" charset="0"/>
                              </a:rPr>
                              <m:t>𝑖</m:t>
                            </m:r>
                          </m:sub>
                          <m:sup>
                            <m:r>
                              <a:rPr lang="en-US" sz="2000" i="1">
                                <a:latin typeface="Cambria Math" charset="0"/>
                              </a:rPr>
                              <m:t>𝑍</m:t>
                            </m:r>
                          </m:sup>
                        </m:sSubSup>
                      </m:e>
                    </m:nary>
                  </m:oMath>
                </a14:m>
                <a:endParaRPr lang="en-US" sz="2000" dirty="0" smtClean="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r>
                  <a:rPr lang="en-US" sz="2000" dirty="0">
                    <a:solidFill>
                      <a:schemeClr val="tx1">
                        <a:lumMod val="85000"/>
                        <a:lumOff val="15000"/>
                      </a:schemeClr>
                    </a:solidFill>
                  </a:rPr>
                  <a:t>			long range order is destroyed if,</a:t>
                </a: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r>
                  <a:rPr lang="en-US" sz="2000" dirty="0"/>
                  <a:t>	</a:t>
                </a:r>
                <a:r>
                  <a:rPr lang="en-US" sz="2000" dirty="0" smtClean="0"/>
                  <a:t>		</a:t>
                </a:r>
                <a:r>
                  <a:rPr lang="en-US" sz="2000" dirty="0" smtClean="0">
                    <a:solidFill>
                      <a:schemeClr val="tx1">
                        <a:lumMod val="85000"/>
                        <a:lumOff val="15000"/>
                      </a:schemeClr>
                    </a:solidFill>
                  </a:rPr>
                  <a:t>This makes </a:t>
                </a:r>
              </a:p>
              <a:p>
                <a:pPr marL="1371600" lvl="3" indent="0">
                  <a:buNone/>
                </a:pPr>
                <a:r>
                  <a:rPr lang="en-US" sz="2000" b="0" dirty="0"/>
                  <a:t>	</a:t>
                </a:r>
                <a:r>
                  <a:rPr lang="en-US" sz="2000" b="0" dirty="0" smtClean="0"/>
                  <a:t>		                     </a:t>
                </a:r>
                <a14:m>
                  <m:oMath xmlns:m="http://schemas.openxmlformats.org/officeDocument/2006/math">
                    <m:sSub>
                      <m:sSubPr>
                        <m:ctrlPr>
                          <a:rPr lang="en-US" sz="2000" b="0" i="1" smtClean="0">
                            <a:solidFill>
                              <a:schemeClr val="accent2">
                                <a:lumMod val="50000"/>
                              </a:schemeClr>
                            </a:solidFill>
                            <a:latin typeface="Cambria Math" charset="0"/>
                          </a:rPr>
                        </m:ctrlPr>
                      </m:sSubPr>
                      <m:e>
                        <m:r>
                          <a:rPr lang="en-US" sz="2000" b="0" i="1" smtClean="0">
                            <a:solidFill>
                              <a:schemeClr val="accent2">
                                <a:lumMod val="50000"/>
                              </a:schemeClr>
                            </a:solidFill>
                            <a:latin typeface="Cambria Math" charset="0"/>
                          </a:rPr>
                          <m:t>𝑑</m:t>
                        </m:r>
                      </m:e>
                      <m:sub>
                        <m:r>
                          <a:rPr lang="en-US" sz="2000" b="0" i="1" smtClean="0">
                            <a:solidFill>
                              <a:schemeClr val="accent2">
                                <a:lumMod val="50000"/>
                              </a:schemeClr>
                            </a:solidFill>
                            <a:latin typeface="Cambria Math" charset="0"/>
                          </a:rPr>
                          <m:t>𝑐</m:t>
                        </m:r>
                      </m:sub>
                    </m:sSub>
                    <m:r>
                      <a:rPr lang="en-US" sz="2000" b="0" i="1" smtClean="0">
                        <a:solidFill>
                          <a:schemeClr val="accent2">
                            <a:lumMod val="50000"/>
                          </a:schemeClr>
                        </a:solidFill>
                        <a:latin typeface="Cambria Math" charset="0"/>
                      </a:rPr>
                      <m:t>=2</m:t>
                    </m:r>
                  </m:oMath>
                </a14:m>
                <a:r>
                  <a:rPr lang="en-US" sz="2000" dirty="0" smtClean="0">
                    <a:solidFill>
                      <a:schemeClr val="accent2">
                        <a:lumMod val="50000"/>
                      </a:schemeClr>
                    </a:solidFill>
                  </a:rPr>
                  <a:t>     </a:t>
                </a:r>
                <a:r>
                  <a:rPr lang="en-US" sz="2000" dirty="0" smtClean="0">
                    <a:solidFill>
                      <a:schemeClr val="tx1">
                        <a:lumMod val="85000"/>
                        <a:lumOff val="15000"/>
                      </a:schemeClr>
                    </a:solidFill>
                  </a:rPr>
                  <a:t>the lower</a:t>
                </a:r>
              </a:p>
              <a:p>
                <a:pPr marL="1371600" lvl="3" indent="0">
                  <a:buNone/>
                </a:pPr>
                <a:r>
                  <a:rPr lang="en-US" sz="2000" dirty="0"/>
                  <a:t>	</a:t>
                </a:r>
                <a:r>
                  <a:rPr lang="en-US" sz="2000" dirty="0" smtClean="0"/>
                  <a:t>		critical dimension</a:t>
                </a:r>
                <a:r>
                  <a:rPr lang="en-US" sz="2000" dirty="0" smtClean="0">
                    <a:solidFill>
                      <a:schemeClr val="tx1">
                        <a:lumMod val="85000"/>
                        <a:lumOff val="15000"/>
                      </a:schemeClr>
                    </a:solidFill>
                  </a:rPr>
                  <a:t> </a:t>
                </a:r>
                <a:r>
                  <a:rPr lang="en-US" sz="2000" dirty="0">
                    <a:solidFill>
                      <a:schemeClr val="tx1">
                        <a:lumMod val="85000"/>
                        <a:lumOff val="15000"/>
                      </a:schemeClr>
                    </a:solidFill>
                  </a:rPr>
                  <a:t>for discrete </a:t>
                </a:r>
                <a:r>
                  <a:rPr lang="en-US" sz="2000" dirty="0" smtClean="0">
                    <a:solidFill>
                      <a:schemeClr val="tx1">
                        <a:lumMod val="85000"/>
                        <a:lumOff val="15000"/>
                      </a:schemeClr>
                    </a:solidFill>
                  </a:rPr>
                  <a:t>symmetries</a:t>
                </a:r>
                <a:r>
                  <a:rPr lang="en-US" sz="2000" dirty="0">
                    <a:solidFill>
                      <a:schemeClr val="tx1">
                        <a:lumMod val="85000"/>
                        <a:lumOff val="15000"/>
                      </a:schemeClr>
                    </a:solidFill>
                  </a:rPr>
                  <a:t>.</a:t>
                </a:r>
              </a:p>
              <a:p>
                <a:pPr marL="1371600" lvl="3" indent="0">
                  <a:buNone/>
                </a:pPr>
                <a:endParaRPr lang="en-US" sz="2000" dirty="0">
                  <a:solidFill>
                    <a:schemeClr val="tx1">
                      <a:lumMod val="65000"/>
                      <a:lumOff val="35000"/>
                    </a:schemeClr>
                  </a:solidFill>
                </a:endParaRPr>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2"/>
                <a:ext cx="10515600" cy="4598373"/>
              </a:xfrm>
              <a:blipFill rotWithShape="0">
                <a:blip r:embed="rId2"/>
                <a:stretch>
                  <a:fillRect t="-358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52" name="Ink 51">
                <a:extLst>
                  <a:ext uri="{FF2B5EF4-FFF2-40B4-BE49-F238E27FC236}">
                    <a16:creationId xmlns:a16="http://schemas.microsoft.com/office/drawing/2014/main" xmlns="" id="{97771BAB-D58B-4263-8C32-E841ECD1E17B}"/>
                  </a:ext>
                </a:extLst>
              </p14:cNvPr>
              <p14:cNvContentPartPr/>
              <p14:nvPr/>
            </p14:nvContentPartPr>
            <p14:xfrm>
              <a:off x="797456" y="2425247"/>
              <a:ext cx="3687840" cy="3082680"/>
            </p14:xfrm>
          </p:contentPart>
        </mc:Choice>
        <mc:Fallback xmlns="">
          <p:pic>
            <p:nvPicPr>
              <p:cNvPr id="52" name="Ink 51">
                <a:extLst>
                  <a:ext uri="{FF2B5EF4-FFF2-40B4-BE49-F238E27FC236}">
                    <a16:creationId xmlns:a16="http://schemas.microsoft.com/office/drawing/2014/main" xmlns="" xmlns:p14="http://schemas.microsoft.com/office/powerpoint/2010/main" id="{97771BAB-D58B-4263-8C32-E841ECD1E17B}"/>
                  </a:ext>
                </a:extLst>
              </p:cNvPr>
              <p:cNvPicPr/>
              <p:nvPr/>
            </p:nvPicPr>
            <p:blipFill>
              <a:blip r:embed="rId4"/>
              <a:stretch>
                <a:fillRect/>
              </a:stretch>
            </p:blipFill>
            <p:spPr>
              <a:xfrm>
                <a:off x="788456" y="2416247"/>
                <a:ext cx="3705480" cy="3100320"/>
              </a:xfrm>
              <a:prstGeom prst="rect">
                <a:avLst/>
              </a:prstGeom>
            </p:spPr>
          </p:pic>
        </mc:Fallback>
      </mc:AlternateContent>
      <p:sp>
        <p:nvSpPr>
          <p:cNvPr id="58" name="Arrow: Up 57">
            <a:extLst>
              <a:ext uri="{FF2B5EF4-FFF2-40B4-BE49-F238E27FC236}">
                <a16:creationId xmlns:a16="http://schemas.microsoft.com/office/drawing/2014/main" xmlns="" id="{2FF3984E-711F-4105-B95E-A9A2D638487F}"/>
              </a:ext>
            </a:extLst>
          </p:cNvPr>
          <p:cNvSpPr/>
          <p:nvPr/>
        </p:nvSpPr>
        <p:spPr>
          <a:xfrm>
            <a:off x="1405346" y="417439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65" name="Arrow: Up 64">
            <a:extLst>
              <a:ext uri="{FF2B5EF4-FFF2-40B4-BE49-F238E27FC236}">
                <a16:creationId xmlns:a16="http://schemas.microsoft.com/office/drawing/2014/main" xmlns="" id="{6BFFCD81-F949-447A-9FC9-DF88BD70E345}"/>
              </a:ext>
            </a:extLst>
          </p:cNvPr>
          <p:cNvSpPr/>
          <p:nvPr/>
        </p:nvSpPr>
        <p:spPr>
          <a:xfrm>
            <a:off x="1697667" y="39263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66" name="Arrow: Up 65">
            <a:extLst>
              <a:ext uri="{FF2B5EF4-FFF2-40B4-BE49-F238E27FC236}">
                <a16:creationId xmlns:a16="http://schemas.microsoft.com/office/drawing/2014/main" xmlns="" id="{7EA4C78D-BBD3-4473-B424-587F794FACF0}"/>
              </a:ext>
            </a:extLst>
          </p:cNvPr>
          <p:cNvSpPr/>
          <p:nvPr/>
        </p:nvSpPr>
        <p:spPr>
          <a:xfrm>
            <a:off x="2013236" y="426470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67" name="Arrow: Up 66">
            <a:extLst>
              <a:ext uri="{FF2B5EF4-FFF2-40B4-BE49-F238E27FC236}">
                <a16:creationId xmlns:a16="http://schemas.microsoft.com/office/drawing/2014/main" xmlns="" id="{5211C9B3-90B9-4631-A80A-82C7B392F580}"/>
              </a:ext>
            </a:extLst>
          </p:cNvPr>
          <p:cNvSpPr/>
          <p:nvPr/>
        </p:nvSpPr>
        <p:spPr>
          <a:xfrm>
            <a:off x="1697667" y="469462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68" name="Arrow: Up 67">
            <a:extLst>
              <a:ext uri="{FF2B5EF4-FFF2-40B4-BE49-F238E27FC236}">
                <a16:creationId xmlns:a16="http://schemas.microsoft.com/office/drawing/2014/main" xmlns="" id="{17A866B3-5F14-458E-94AD-26019B9F9B7D}"/>
              </a:ext>
            </a:extLst>
          </p:cNvPr>
          <p:cNvSpPr/>
          <p:nvPr/>
        </p:nvSpPr>
        <p:spPr>
          <a:xfrm>
            <a:off x="1090371"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69" name="Arrow: Up 68">
            <a:extLst>
              <a:ext uri="{FF2B5EF4-FFF2-40B4-BE49-F238E27FC236}">
                <a16:creationId xmlns:a16="http://schemas.microsoft.com/office/drawing/2014/main" xmlns="" id="{6533292F-F228-4759-A51D-42E5BB51D450}"/>
              </a:ext>
            </a:extLst>
          </p:cNvPr>
          <p:cNvSpPr/>
          <p:nvPr/>
        </p:nvSpPr>
        <p:spPr>
          <a:xfrm>
            <a:off x="2282463" y="351074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0" name="Arrow: Up 69">
            <a:extLst>
              <a:ext uri="{FF2B5EF4-FFF2-40B4-BE49-F238E27FC236}">
                <a16:creationId xmlns:a16="http://schemas.microsoft.com/office/drawing/2014/main" xmlns="" id="{C625576E-B3B9-4A44-947F-B44ABADC4D22}"/>
              </a:ext>
            </a:extLst>
          </p:cNvPr>
          <p:cNvSpPr/>
          <p:nvPr/>
        </p:nvSpPr>
        <p:spPr>
          <a:xfrm>
            <a:off x="2484185" y="40568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1" name="Arrow: Up 70">
            <a:extLst>
              <a:ext uri="{FF2B5EF4-FFF2-40B4-BE49-F238E27FC236}">
                <a16:creationId xmlns:a16="http://schemas.microsoft.com/office/drawing/2014/main" xmlns="" id="{7B54DDFD-8801-4492-BAA3-B3054121AA5E}"/>
              </a:ext>
            </a:extLst>
          </p:cNvPr>
          <p:cNvSpPr/>
          <p:nvPr/>
        </p:nvSpPr>
        <p:spPr>
          <a:xfrm>
            <a:off x="2332899" y="466298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2" name="Arrow: Up 71">
            <a:extLst>
              <a:ext uri="{FF2B5EF4-FFF2-40B4-BE49-F238E27FC236}">
                <a16:creationId xmlns:a16="http://schemas.microsoft.com/office/drawing/2014/main" xmlns="" id="{F5B64205-5683-4979-8527-406AAAA0CBF2}"/>
              </a:ext>
            </a:extLst>
          </p:cNvPr>
          <p:cNvSpPr/>
          <p:nvPr/>
        </p:nvSpPr>
        <p:spPr>
          <a:xfrm>
            <a:off x="1912386" y="349300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3" name="Arrow: Up 72">
            <a:extLst>
              <a:ext uri="{FF2B5EF4-FFF2-40B4-BE49-F238E27FC236}">
                <a16:creationId xmlns:a16="http://schemas.microsoft.com/office/drawing/2014/main" xmlns="" id="{C8DCD650-0C34-4D6F-B938-131426C237D5}"/>
              </a:ext>
            </a:extLst>
          </p:cNvPr>
          <p:cNvSpPr/>
          <p:nvPr/>
        </p:nvSpPr>
        <p:spPr>
          <a:xfrm>
            <a:off x="2058392" y="505194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74" name="Arrow: Up 73">
            <a:extLst>
              <a:ext uri="{FF2B5EF4-FFF2-40B4-BE49-F238E27FC236}">
                <a16:creationId xmlns:a16="http://schemas.microsoft.com/office/drawing/2014/main" xmlns="" id="{2B021BF5-3BB1-4D1B-84BE-F85BB54E6066}"/>
              </a:ext>
            </a:extLst>
          </p:cNvPr>
          <p:cNvSpPr/>
          <p:nvPr/>
        </p:nvSpPr>
        <p:spPr>
          <a:xfrm>
            <a:off x="1383286" y="490243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4" name="Arrow: Up 93">
            <a:extLst>
              <a:ext uri="{FF2B5EF4-FFF2-40B4-BE49-F238E27FC236}">
                <a16:creationId xmlns:a16="http://schemas.microsoft.com/office/drawing/2014/main" xmlns="" id="{A7AA328E-A917-4F92-A3C8-B5EC49E727AC}"/>
              </a:ext>
            </a:extLst>
          </p:cNvPr>
          <p:cNvSpPr/>
          <p:nvPr/>
        </p:nvSpPr>
        <p:spPr>
          <a:xfrm>
            <a:off x="1098761" y="3945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5" name="Arrow: Up 94">
            <a:extLst>
              <a:ext uri="{FF2B5EF4-FFF2-40B4-BE49-F238E27FC236}">
                <a16:creationId xmlns:a16="http://schemas.microsoft.com/office/drawing/2014/main" xmlns="" id="{FC69F0A4-2A01-4795-9307-01E0E0A7FF17}"/>
              </a:ext>
            </a:extLst>
          </p:cNvPr>
          <p:cNvSpPr/>
          <p:nvPr/>
        </p:nvSpPr>
        <p:spPr>
          <a:xfrm>
            <a:off x="2661401" y="31081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6" name="Arrow: Up 95">
            <a:extLst>
              <a:ext uri="{FF2B5EF4-FFF2-40B4-BE49-F238E27FC236}">
                <a16:creationId xmlns:a16="http://schemas.microsoft.com/office/drawing/2014/main" xmlns="" id="{FE3CEC23-C6A1-4875-A9D0-FDAA89C9668E}"/>
              </a:ext>
            </a:extLst>
          </p:cNvPr>
          <p:cNvSpPr/>
          <p:nvPr/>
        </p:nvSpPr>
        <p:spPr>
          <a:xfrm>
            <a:off x="2922592" y="382222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7" name="Arrow: Up 96">
            <a:extLst>
              <a:ext uri="{FF2B5EF4-FFF2-40B4-BE49-F238E27FC236}">
                <a16:creationId xmlns:a16="http://schemas.microsoft.com/office/drawing/2014/main" xmlns="" id="{36A72173-DE9C-47D8-90C1-F779F5C7107E}"/>
              </a:ext>
            </a:extLst>
          </p:cNvPr>
          <p:cNvSpPr/>
          <p:nvPr/>
        </p:nvSpPr>
        <p:spPr>
          <a:xfrm>
            <a:off x="2996541" y="262634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8" name="Arrow: Up 97">
            <a:extLst>
              <a:ext uri="{FF2B5EF4-FFF2-40B4-BE49-F238E27FC236}">
                <a16:creationId xmlns:a16="http://schemas.microsoft.com/office/drawing/2014/main" xmlns="" id="{6FC215B2-2463-4E8F-92CF-5AEF66A93445}"/>
              </a:ext>
            </a:extLst>
          </p:cNvPr>
          <p:cNvSpPr/>
          <p:nvPr/>
        </p:nvSpPr>
        <p:spPr>
          <a:xfrm>
            <a:off x="3280642" y="31652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99" name="Arrow: Up 98">
            <a:extLst>
              <a:ext uri="{FF2B5EF4-FFF2-40B4-BE49-F238E27FC236}">
                <a16:creationId xmlns:a16="http://schemas.microsoft.com/office/drawing/2014/main" xmlns="" id="{69081293-8914-422C-BC95-EF0FED5FC437}"/>
              </a:ext>
            </a:extLst>
          </p:cNvPr>
          <p:cNvSpPr/>
          <p:nvPr/>
        </p:nvSpPr>
        <p:spPr>
          <a:xfrm>
            <a:off x="3406064" y="249841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0" name="Arrow: Up 99">
            <a:extLst>
              <a:ext uri="{FF2B5EF4-FFF2-40B4-BE49-F238E27FC236}">
                <a16:creationId xmlns:a16="http://schemas.microsoft.com/office/drawing/2014/main" xmlns="" id="{9F645E89-DC20-4F13-9488-423081A476DB}"/>
              </a:ext>
            </a:extLst>
          </p:cNvPr>
          <p:cNvSpPr/>
          <p:nvPr/>
        </p:nvSpPr>
        <p:spPr>
          <a:xfrm>
            <a:off x="3345230" y="385643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1" name="Arrow: Up 100">
            <a:extLst>
              <a:ext uri="{FF2B5EF4-FFF2-40B4-BE49-F238E27FC236}">
                <a16:creationId xmlns:a16="http://schemas.microsoft.com/office/drawing/2014/main" xmlns="" id="{5AEEC21C-A27C-447A-A421-A61A0FE9CB28}"/>
              </a:ext>
            </a:extLst>
          </p:cNvPr>
          <p:cNvSpPr/>
          <p:nvPr/>
        </p:nvSpPr>
        <p:spPr>
          <a:xfrm>
            <a:off x="3815017" y="280151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2" name="Arrow: Up 101">
            <a:extLst>
              <a:ext uri="{FF2B5EF4-FFF2-40B4-BE49-F238E27FC236}">
                <a16:creationId xmlns:a16="http://schemas.microsoft.com/office/drawing/2014/main" xmlns="" id="{84B0DBC9-B60E-4A0F-BC4C-2994C1F769B3}"/>
              </a:ext>
            </a:extLst>
          </p:cNvPr>
          <p:cNvSpPr/>
          <p:nvPr/>
        </p:nvSpPr>
        <p:spPr>
          <a:xfrm>
            <a:off x="3496376" y="465345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3" name="Arrow: Up 102">
            <a:extLst>
              <a:ext uri="{FF2B5EF4-FFF2-40B4-BE49-F238E27FC236}">
                <a16:creationId xmlns:a16="http://schemas.microsoft.com/office/drawing/2014/main" xmlns="" id="{412A6657-C05D-4BA9-A074-12B8C79F4BA7}"/>
              </a:ext>
            </a:extLst>
          </p:cNvPr>
          <p:cNvSpPr/>
          <p:nvPr/>
        </p:nvSpPr>
        <p:spPr>
          <a:xfrm>
            <a:off x="2832803" y="464934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4" name="Arrow: Up 103">
            <a:extLst>
              <a:ext uri="{FF2B5EF4-FFF2-40B4-BE49-F238E27FC236}">
                <a16:creationId xmlns:a16="http://schemas.microsoft.com/office/drawing/2014/main" xmlns="" id="{AE9034D6-4304-40E9-A17E-A7D718A8143D}"/>
              </a:ext>
            </a:extLst>
          </p:cNvPr>
          <p:cNvSpPr/>
          <p:nvPr/>
        </p:nvSpPr>
        <p:spPr>
          <a:xfrm>
            <a:off x="3786276" y="344082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5" name="Arrow: Up 104">
            <a:extLst>
              <a:ext uri="{FF2B5EF4-FFF2-40B4-BE49-F238E27FC236}">
                <a16:creationId xmlns:a16="http://schemas.microsoft.com/office/drawing/2014/main" xmlns="" id="{265785A4-17AC-4526-859E-D81D5F40F3E9}"/>
              </a:ext>
            </a:extLst>
          </p:cNvPr>
          <p:cNvSpPr/>
          <p:nvPr/>
        </p:nvSpPr>
        <p:spPr>
          <a:xfrm>
            <a:off x="4191564" y="327932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6" name="Arrow: Up 105">
            <a:extLst>
              <a:ext uri="{FF2B5EF4-FFF2-40B4-BE49-F238E27FC236}">
                <a16:creationId xmlns:a16="http://schemas.microsoft.com/office/drawing/2014/main" xmlns="" id="{FCC75C35-2930-4CFF-BC01-5B31F2518EC3}"/>
              </a:ext>
            </a:extLst>
          </p:cNvPr>
          <p:cNvSpPr/>
          <p:nvPr/>
        </p:nvSpPr>
        <p:spPr>
          <a:xfrm>
            <a:off x="4048982" y="395295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8" name="Arrow: Up 107">
            <a:extLst>
              <a:ext uri="{FF2B5EF4-FFF2-40B4-BE49-F238E27FC236}">
                <a16:creationId xmlns:a16="http://schemas.microsoft.com/office/drawing/2014/main" xmlns="" id="{5853CF76-3B79-4C6C-8D2B-1F63A85BA664}"/>
              </a:ext>
            </a:extLst>
          </p:cNvPr>
          <p:cNvSpPr/>
          <p:nvPr/>
        </p:nvSpPr>
        <p:spPr>
          <a:xfrm>
            <a:off x="3702980" y="423784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09" name="Arrow: Up 108">
            <a:extLst>
              <a:ext uri="{FF2B5EF4-FFF2-40B4-BE49-F238E27FC236}">
                <a16:creationId xmlns:a16="http://schemas.microsoft.com/office/drawing/2014/main" xmlns="" id="{F68D9020-86F0-4012-BE4D-B95C71AB746D}"/>
              </a:ext>
            </a:extLst>
          </p:cNvPr>
          <p:cNvSpPr/>
          <p:nvPr/>
        </p:nvSpPr>
        <p:spPr>
          <a:xfrm>
            <a:off x="3131557" y="450796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mc:AlternateContent xmlns:mc="http://schemas.openxmlformats.org/markup-compatibility/2006" xmlns:p14="http://schemas.microsoft.com/office/powerpoint/2010/main">
        <mc:Choice Requires="p14">
          <p:contentPart p14:bwMode="auto" r:id="rId5">
            <p14:nvContentPartPr>
              <p14:cNvPr id="110" name="Ink 109">
                <a:extLst>
                  <a:ext uri="{FF2B5EF4-FFF2-40B4-BE49-F238E27FC236}">
                    <a16:creationId xmlns:a16="http://schemas.microsoft.com/office/drawing/2014/main" xmlns="" id="{1A69842A-636F-4219-99B9-10133EDDD055}"/>
                  </a:ext>
                </a:extLst>
              </p14:cNvPr>
              <p14:cNvContentPartPr/>
              <p14:nvPr/>
            </p14:nvContentPartPr>
            <p14:xfrm>
              <a:off x="8190837" y="2206893"/>
              <a:ext cx="3687840" cy="3082680"/>
            </p14:xfrm>
          </p:contentPart>
        </mc:Choice>
        <mc:Fallback xmlns="">
          <p:pic>
            <p:nvPicPr>
              <p:cNvPr id="110" name="Ink 109">
                <a:extLst>
                  <a:ext uri="{FF2B5EF4-FFF2-40B4-BE49-F238E27FC236}">
                    <a16:creationId xmlns:a16="http://schemas.microsoft.com/office/drawing/2014/main" xmlns="" xmlns:p14="http://schemas.microsoft.com/office/powerpoint/2010/main" id="{1A69842A-636F-4219-99B9-10133EDDD055}"/>
                  </a:ext>
                </a:extLst>
              </p:cNvPr>
              <p:cNvPicPr/>
              <p:nvPr/>
            </p:nvPicPr>
            <p:blipFill>
              <a:blip r:embed="rId4"/>
              <a:stretch>
                <a:fillRect/>
              </a:stretch>
            </p:blipFill>
            <p:spPr>
              <a:xfrm>
                <a:off x="8181837" y="2197893"/>
                <a:ext cx="3705480" cy="3100320"/>
              </a:xfrm>
              <a:prstGeom prst="rect">
                <a:avLst/>
              </a:prstGeom>
            </p:spPr>
          </p:pic>
        </mc:Fallback>
      </mc:AlternateContent>
      <p:sp>
        <p:nvSpPr>
          <p:cNvPr id="111" name="Arrow: Up 110">
            <a:extLst>
              <a:ext uri="{FF2B5EF4-FFF2-40B4-BE49-F238E27FC236}">
                <a16:creationId xmlns:a16="http://schemas.microsoft.com/office/drawing/2014/main" xmlns="" id="{738492BE-6664-4115-AF95-9CAF0B0BD45D}"/>
              </a:ext>
            </a:extLst>
          </p:cNvPr>
          <p:cNvSpPr/>
          <p:nvPr/>
        </p:nvSpPr>
        <p:spPr>
          <a:xfrm>
            <a:off x="8798727" y="395603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2" name="Arrow: Up 111">
            <a:extLst>
              <a:ext uri="{FF2B5EF4-FFF2-40B4-BE49-F238E27FC236}">
                <a16:creationId xmlns:a16="http://schemas.microsoft.com/office/drawing/2014/main" xmlns="" id="{D0C69F45-DE95-48B8-A5BC-92FBA339B664}"/>
              </a:ext>
            </a:extLst>
          </p:cNvPr>
          <p:cNvSpPr/>
          <p:nvPr/>
        </p:nvSpPr>
        <p:spPr>
          <a:xfrm>
            <a:off x="9091048" y="370800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3" name="Arrow: Up 112">
            <a:extLst>
              <a:ext uri="{FF2B5EF4-FFF2-40B4-BE49-F238E27FC236}">
                <a16:creationId xmlns:a16="http://schemas.microsoft.com/office/drawing/2014/main" xmlns="" id="{FC28C6C9-7844-428A-9F0A-F0C8C1B6B679}"/>
              </a:ext>
            </a:extLst>
          </p:cNvPr>
          <p:cNvSpPr/>
          <p:nvPr/>
        </p:nvSpPr>
        <p:spPr>
          <a:xfrm>
            <a:off x="9406617" y="404635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4" name="Arrow: Up 113">
            <a:extLst>
              <a:ext uri="{FF2B5EF4-FFF2-40B4-BE49-F238E27FC236}">
                <a16:creationId xmlns:a16="http://schemas.microsoft.com/office/drawing/2014/main" xmlns="" id="{F48582DC-98FF-4BBB-A1BB-99BD1106CDDB}"/>
              </a:ext>
            </a:extLst>
          </p:cNvPr>
          <p:cNvSpPr/>
          <p:nvPr/>
        </p:nvSpPr>
        <p:spPr>
          <a:xfrm>
            <a:off x="9091048" y="447627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5" name="Arrow: Up 114">
            <a:extLst>
              <a:ext uri="{FF2B5EF4-FFF2-40B4-BE49-F238E27FC236}">
                <a16:creationId xmlns:a16="http://schemas.microsoft.com/office/drawing/2014/main" xmlns="" id="{BD6411CF-E1AE-42E4-B798-DEE2E61C8653}"/>
              </a:ext>
            </a:extLst>
          </p:cNvPr>
          <p:cNvSpPr/>
          <p:nvPr/>
        </p:nvSpPr>
        <p:spPr>
          <a:xfrm>
            <a:off x="8483752" y="443509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6" name="Arrow: Up 115">
            <a:extLst>
              <a:ext uri="{FF2B5EF4-FFF2-40B4-BE49-F238E27FC236}">
                <a16:creationId xmlns:a16="http://schemas.microsoft.com/office/drawing/2014/main" xmlns="" id="{AE44546A-9CBC-427E-8155-E6FFC93BA7BC}"/>
              </a:ext>
            </a:extLst>
          </p:cNvPr>
          <p:cNvSpPr/>
          <p:nvPr/>
        </p:nvSpPr>
        <p:spPr>
          <a:xfrm>
            <a:off x="9675844" y="329238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7" name="Arrow: Up 116">
            <a:extLst>
              <a:ext uri="{FF2B5EF4-FFF2-40B4-BE49-F238E27FC236}">
                <a16:creationId xmlns:a16="http://schemas.microsoft.com/office/drawing/2014/main" xmlns="" id="{DC5CDFE4-37A8-4FB6-8AA4-4AF02F1F1B11}"/>
              </a:ext>
            </a:extLst>
          </p:cNvPr>
          <p:cNvSpPr/>
          <p:nvPr/>
        </p:nvSpPr>
        <p:spPr>
          <a:xfrm>
            <a:off x="9877566" y="383854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8" name="Arrow: Up 117">
            <a:extLst>
              <a:ext uri="{FF2B5EF4-FFF2-40B4-BE49-F238E27FC236}">
                <a16:creationId xmlns:a16="http://schemas.microsoft.com/office/drawing/2014/main" xmlns="" id="{D0F29C16-F0AB-4D1C-9668-63F2FFD5D13C}"/>
              </a:ext>
            </a:extLst>
          </p:cNvPr>
          <p:cNvSpPr/>
          <p:nvPr/>
        </p:nvSpPr>
        <p:spPr>
          <a:xfrm>
            <a:off x="9726280" y="444462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9" name="Arrow: Up 118">
            <a:extLst>
              <a:ext uri="{FF2B5EF4-FFF2-40B4-BE49-F238E27FC236}">
                <a16:creationId xmlns:a16="http://schemas.microsoft.com/office/drawing/2014/main" xmlns="" id="{202EE75C-8EF8-40E1-9B18-F0EC8E1445A0}"/>
              </a:ext>
            </a:extLst>
          </p:cNvPr>
          <p:cNvSpPr/>
          <p:nvPr/>
        </p:nvSpPr>
        <p:spPr>
          <a:xfrm>
            <a:off x="9305767" y="327464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0" name="Arrow: Up 119">
            <a:extLst>
              <a:ext uri="{FF2B5EF4-FFF2-40B4-BE49-F238E27FC236}">
                <a16:creationId xmlns:a16="http://schemas.microsoft.com/office/drawing/2014/main" xmlns="" id="{7B6A40F5-4D6A-44A7-B828-03E6AB8F1700}"/>
              </a:ext>
            </a:extLst>
          </p:cNvPr>
          <p:cNvSpPr/>
          <p:nvPr/>
        </p:nvSpPr>
        <p:spPr>
          <a:xfrm>
            <a:off x="9451773" y="483359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1" name="Arrow: Up 120">
            <a:extLst>
              <a:ext uri="{FF2B5EF4-FFF2-40B4-BE49-F238E27FC236}">
                <a16:creationId xmlns:a16="http://schemas.microsoft.com/office/drawing/2014/main" xmlns="" id="{8C96379A-A3BB-47AA-8DB3-B36FD6F312E9}"/>
              </a:ext>
            </a:extLst>
          </p:cNvPr>
          <p:cNvSpPr/>
          <p:nvPr/>
        </p:nvSpPr>
        <p:spPr>
          <a:xfrm>
            <a:off x="8776667" y="46840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2" name="Arrow: Up 121">
            <a:extLst>
              <a:ext uri="{FF2B5EF4-FFF2-40B4-BE49-F238E27FC236}">
                <a16:creationId xmlns:a16="http://schemas.microsoft.com/office/drawing/2014/main" xmlns="" id="{C284C0BB-CAF8-4ED9-9B43-2B688B65F331}"/>
              </a:ext>
            </a:extLst>
          </p:cNvPr>
          <p:cNvSpPr/>
          <p:nvPr/>
        </p:nvSpPr>
        <p:spPr>
          <a:xfrm>
            <a:off x="8492142" y="372759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3" name="Arrow: Up 122">
            <a:extLst>
              <a:ext uri="{FF2B5EF4-FFF2-40B4-BE49-F238E27FC236}">
                <a16:creationId xmlns:a16="http://schemas.microsoft.com/office/drawing/2014/main" xmlns="" id="{C8E8F6E2-1744-457F-9A0A-9610F3218DA2}"/>
              </a:ext>
            </a:extLst>
          </p:cNvPr>
          <p:cNvSpPr/>
          <p:nvPr/>
        </p:nvSpPr>
        <p:spPr>
          <a:xfrm rot="10800000">
            <a:off x="10055273" y="2927040"/>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4" name="Arrow: Up 123">
            <a:extLst>
              <a:ext uri="{FF2B5EF4-FFF2-40B4-BE49-F238E27FC236}">
                <a16:creationId xmlns:a16="http://schemas.microsoft.com/office/drawing/2014/main" xmlns="" id="{60C3ED97-FDBD-4354-A27A-4F75CCDF2421}"/>
              </a:ext>
            </a:extLst>
          </p:cNvPr>
          <p:cNvSpPr/>
          <p:nvPr/>
        </p:nvSpPr>
        <p:spPr>
          <a:xfrm rot="10800000">
            <a:off x="10315839" y="360941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5" name="Arrow: Up 124">
            <a:extLst>
              <a:ext uri="{FF2B5EF4-FFF2-40B4-BE49-F238E27FC236}">
                <a16:creationId xmlns:a16="http://schemas.microsoft.com/office/drawing/2014/main" xmlns="" id="{2A9B9A13-ADC0-4961-9C5C-06CCC5FC2F53}"/>
              </a:ext>
            </a:extLst>
          </p:cNvPr>
          <p:cNvSpPr/>
          <p:nvPr/>
        </p:nvSpPr>
        <p:spPr>
          <a:xfrm rot="10800000">
            <a:off x="10360995" y="2421632"/>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6" name="Arrow: Up 125">
            <a:extLst>
              <a:ext uri="{FF2B5EF4-FFF2-40B4-BE49-F238E27FC236}">
                <a16:creationId xmlns:a16="http://schemas.microsoft.com/office/drawing/2014/main" xmlns="" id="{94A621BC-5358-47E1-BADA-96951D68E391}"/>
              </a:ext>
            </a:extLst>
          </p:cNvPr>
          <p:cNvSpPr/>
          <p:nvPr/>
        </p:nvSpPr>
        <p:spPr>
          <a:xfrm rot="10800000">
            <a:off x="10674023" y="294692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7" name="Arrow: Up 126">
            <a:extLst>
              <a:ext uri="{FF2B5EF4-FFF2-40B4-BE49-F238E27FC236}">
                <a16:creationId xmlns:a16="http://schemas.microsoft.com/office/drawing/2014/main" xmlns="" id="{ABD504C6-D6C9-439A-A5F0-30FD600A4037}"/>
              </a:ext>
            </a:extLst>
          </p:cNvPr>
          <p:cNvSpPr/>
          <p:nvPr/>
        </p:nvSpPr>
        <p:spPr>
          <a:xfrm rot="10800000">
            <a:off x="10799445" y="228006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8" name="Arrow: Up 127">
            <a:extLst>
              <a:ext uri="{FF2B5EF4-FFF2-40B4-BE49-F238E27FC236}">
                <a16:creationId xmlns:a16="http://schemas.microsoft.com/office/drawing/2014/main" xmlns="" id="{B85E7EA0-1E82-42C9-B062-46371515AF92}"/>
              </a:ext>
            </a:extLst>
          </p:cNvPr>
          <p:cNvSpPr/>
          <p:nvPr/>
        </p:nvSpPr>
        <p:spPr>
          <a:xfrm rot="10800000">
            <a:off x="10738611" y="363807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9" name="Arrow: Up 128">
            <a:extLst>
              <a:ext uri="{FF2B5EF4-FFF2-40B4-BE49-F238E27FC236}">
                <a16:creationId xmlns:a16="http://schemas.microsoft.com/office/drawing/2014/main" xmlns="" id="{40C537BF-8B4B-490C-B87C-AB1CAA09E01A}"/>
              </a:ext>
            </a:extLst>
          </p:cNvPr>
          <p:cNvSpPr/>
          <p:nvPr/>
        </p:nvSpPr>
        <p:spPr>
          <a:xfrm rot="10800000">
            <a:off x="11208398" y="258315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0" name="Arrow: Up 129">
            <a:extLst>
              <a:ext uri="{FF2B5EF4-FFF2-40B4-BE49-F238E27FC236}">
                <a16:creationId xmlns:a16="http://schemas.microsoft.com/office/drawing/2014/main" xmlns="" id="{2A3CB386-DE06-42D4-9932-1395F9D3E036}"/>
              </a:ext>
            </a:extLst>
          </p:cNvPr>
          <p:cNvSpPr/>
          <p:nvPr/>
        </p:nvSpPr>
        <p:spPr>
          <a:xfrm rot="10800000">
            <a:off x="10889757" y="443509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1" name="Arrow: Up 130">
            <a:extLst>
              <a:ext uri="{FF2B5EF4-FFF2-40B4-BE49-F238E27FC236}">
                <a16:creationId xmlns:a16="http://schemas.microsoft.com/office/drawing/2014/main" xmlns="" id="{279DF280-BAF8-4AAA-B09C-FEE9B6AE1F8B}"/>
              </a:ext>
            </a:extLst>
          </p:cNvPr>
          <p:cNvSpPr/>
          <p:nvPr/>
        </p:nvSpPr>
        <p:spPr>
          <a:xfrm rot="10800000">
            <a:off x="10250431" y="445826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2" name="Arrow: Up 131">
            <a:extLst>
              <a:ext uri="{FF2B5EF4-FFF2-40B4-BE49-F238E27FC236}">
                <a16:creationId xmlns:a16="http://schemas.microsoft.com/office/drawing/2014/main" xmlns="" id="{27AF68F8-0320-4AFF-8919-64790764E012}"/>
              </a:ext>
            </a:extLst>
          </p:cNvPr>
          <p:cNvSpPr/>
          <p:nvPr/>
        </p:nvSpPr>
        <p:spPr>
          <a:xfrm rot="10800000">
            <a:off x="11179657" y="322246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3" name="Arrow: Up 132">
            <a:extLst>
              <a:ext uri="{FF2B5EF4-FFF2-40B4-BE49-F238E27FC236}">
                <a16:creationId xmlns:a16="http://schemas.microsoft.com/office/drawing/2014/main" xmlns="" id="{3FC58D31-6BA7-4FAB-A35F-343448BC334E}"/>
              </a:ext>
            </a:extLst>
          </p:cNvPr>
          <p:cNvSpPr/>
          <p:nvPr/>
        </p:nvSpPr>
        <p:spPr>
          <a:xfrm rot="10800000">
            <a:off x="11584945" y="3060972"/>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4" name="Arrow: Up 133">
            <a:extLst>
              <a:ext uri="{FF2B5EF4-FFF2-40B4-BE49-F238E27FC236}">
                <a16:creationId xmlns:a16="http://schemas.microsoft.com/office/drawing/2014/main" xmlns="" id="{523C96AD-B81D-4416-A3C6-75A3522A721B}"/>
              </a:ext>
            </a:extLst>
          </p:cNvPr>
          <p:cNvSpPr/>
          <p:nvPr/>
        </p:nvSpPr>
        <p:spPr>
          <a:xfrm rot="10800000">
            <a:off x="11442363" y="373459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5" name="Arrow: Up 134">
            <a:extLst>
              <a:ext uri="{FF2B5EF4-FFF2-40B4-BE49-F238E27FC236}">
                <a16:creationId xmlns:a16="http://schemas.microsoft.com/office/drawing/2014/main" xmlns="" id="{BF5A75CC-E408-4729-8BB1-D081ACDA2276}"/>
              </a:ext>
            </a:extLst>
          </p:cNvPr>
          <p:cNvSpPr/>
          <p:nvPr/>
        </p:nvSpPr>
        <p:spPr>
          <a:xfrm rot="10800000">
            <a:off x="11096361" y="401948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6" name="Arrow: Up 135">
            <a:extLst>
              <a:ext uri="{FF2B5EF4-FFF2-40B4-BE49-F238E27FC236}">
                <a16:creationId xmlns:a16="http://schemas.microsoft.com/office/drawing/2014/main" xmlns="" id="{25A6FB02-8DE6-4FC8-9868-B3BC6DD2F3F7}"/>
              </a:ext>
            </a:extLst>
          </p:cNvPr>
          <p:cNvSpPr/>
          <p:nvPr/>
        </p:nvSpPr>
        <p:spPr>
          <a:xfrm rot="10800000">
            <a:off x="10524938" y="428960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xmlns="" id="{D965DC8C-5D24-4856-9EE5-683EA53FA046}"/>
                  </a:ext>
                </a:extLst>
              </p:cNvPr>
              <p:cNvSpPr txBox="1"/>
              <p:nvPr/>
            </p:nvSpPr>
            <p:spPr>
              <a:xfrm>
                <a:off x="5285437" y="3526013"/>
                <a:ext cx="2140683" cy="1567737"/>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𝑏𝑢𝑙𝑘</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𝑠𝑢𝑟𝑓𝑎𝑐𝑒</m:t>
                          </m:r>
                        </m:sub>
                      </m:sSub>
                      <m:r>
                        <a:rPr lang="en-US" b="0" i="1" smtClean="0">
                          <a:latin typeface="Cambria Math" charset="0"/>
                          <a:ea typeface="Cambria Math" charset="0"/>
                          <a:cs typeface="Cambria Math" charset="0"/>
                        </a:rPr>
                        <m:t>⟹</m:t>
                      </m:r>
                      <m:r>
                        <a:rPr lang="en-US" b="0" i="1" smtClean="0">
                          <a:latin typeface="Cambria Math" charset="0"/>
                          <a:ea typeface="Cambria Math" panose="02040503050406030204" pitchFamily="18" charset="0"/>
                        </a:rPr>
                        <m:t> </m:t>
                      </m:r>
                      <m:sSup>
                        <m:sSupPr>
                          <m:ctrlPr>
                            <a:rPr lang="en-US" i="1" smtClean="0">
                              <a:latin typeface="Cambria Math"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f>
                            <m:fPr>
                              <m:ctrlPr>
                                <a:rPr lang="en-US" b="0" i="1" smtClean="0">
                                  <a:latin typeface="Cambria Math"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num>
                            <m:den>
                              <m:r>
                                <a:rPr lang="en-US" b="0" i="1" smtClean="0">
                                  <a:latin typeface="Cambria Math" panose="02040503050406030204" pitchFamily="18" charset="0"/>
                                  <a:ea typeface="Cambria Math" panose="02040503050406030204" pitchFamily="18" charset="0"/>
                                </a:rPr>
                                <m:t>2</m:t>
                              </m:r>
                            </m:den>
                          </m:f>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−1</m:t>
                          </m:r>
                        </m:sup>
                      </m:sSup>
                      <m:r>
                        <a:rPr lang="en-US" b="0" i="1" smtClean="0">
                          <a:latin typeface="Cambria Math" charset="0"/>
                          <a:ea typeface="Cambria Math" charset="0"/>
                          <a:cs typeface="Cambria Math" charset="0"/>
                        </a:rPr>
                        <m:t>⟹</m:t>
                      </m:r>
                      <m:r>
                        <a:rPr lang="en-US" b="0" i="1" smtClean="0">
                          <a:latin typeface="Cambria Math"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oMath>
                  </m:oMathPara>
                </a14:m>
                <a:r>
                  <a:rPr lang="en-US" dirty="0">
                    <a:ea typeface="Cambria Math" panose="02040503050406030204" pitchFamily="18" charset="0"/>
                  </a:rPr>
                  <a:t/>
                </a:r>
                <a:br>
                  <a:rPr lang="en-US" dirty="0">
                    <a:ea typeface="Cambria Math" panose="02040503050406030204" pitchFamily="18" charset="0"/>
                  </a:rPr>
                </a:br>
                <a:endParaRPr lang="x-none" dirty="0"/>
              </a:p>
            </p:txBody>
          </p:sp>
        </mc:Choice>
        <mc:Fallback xmlns="">
          <p:sp>
            <p:nvSpPr>
              <p:cNvPr id="64" name="TextBox 63">
                <a:extLst>
                  <a:ext uri="{FF2B5EF4-FFF2-40B4-BE49-F238E27FC236}">
                    <a16:creationId xmlns:a16="http://schemas.microsoft.com/office/drawing/2014/main" xmlns="" xmlns:a14="http://schemas.microsoft.com/office/drawing/2010/main" id="{D965DC8C-5D24-4856-9EE5-683EA53FA046}"/>
                  </a:ext>
                </a:extLst>
              </p:cNvPr>
              <p:cNvSpPr txBox="1">
                <a:spLocks noRot="1" noChangeAspect="1" noMove="1" noResize="1" noEditPoints="1" noAdjustHandles="1" noChangeArrowheads="1" noChangeShapeType="1" noTextEdit="1"/>
              </p:cNvSpPr>
              <p:nvPr/>
            </p:nvSpPr>
            <p:spPr>
              <a:xfrm>
                <a:off x="5285437" y="3526013"/>
                <a:ext cx="2140683" cy="1567737"/>
              </a:xfrm>
              <a:prstGeom prst="rect">
                <a:avLst/>
              </a:prstGeom>
              <a:blipFill rotWithShape="0">
                <a:blip r:embed="rId6"/>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xmlns="" id="{96A4D84A-1A13-485C-9AE3-D0C4103BA756}"/>
              </a:ext>
            </a:extLst>
          </p:cNvPr>
          <p:cNvSpPr txBox="1"/>
          <p:nvPr/>
        </p:nvSpPr>
        <p:spPr>
          <a:xfrm>
            <a:off x="9542085" y="5289765"/>
            <a:ext cx="1493678" cy="461665"/>
          </a:xfrm>
          <a:prstGeom prst="rect">
            <a:avLst/>
          </a:prstGeom>
          <a:noFill/>
        </p:spPr>
        <p:txBody>
          <a:bodyPr wrap="square" rtlCol="0">
            <a:spAutoFit/>
          </a:bodyPr>
          <a:lstStyle/>
          <a:p>
            <a:r>
              <a:rPr lang="en-US" sz="2400" dirty="0" err="1"/>
              <a:t>Favoured</a:t>
            </a:r>
            <a:r>
              <a:rPr lang="en-US" sz="2400" dirty="0"/>
              <a:t>!</a:t>
            </a:r>
            <a:endParaRPr lang="x-none" sz="2400" dirty="0"/>
          </a:p>
        </p:txBody>
      </p:sp>
      <p:sp>
        <p:nvSpPr>
          <p:cNvPr id="62" name="Rectangle 61">
            <a:extLst>
              <a:ext uri="{FF2B5EF4-FFF2-40B4-BE49-F238E27FC236}">
                <a16:creationId xmlns:a16="http://schemas.microsoft.com/office/drawing/2014/main" xmlns="" id="{C143E3E0-E5AF-4DCA-8D45-ABF1F63F708D}"/>
              </a:ext>
            </a:extLst>
          </p:cNvPr>
          <p:cNvSpPr/>
          <p:nvPr/>
        </p:nvSpPr>
        <p:spPr>
          <a:xfrm>
            <a:off x="5755217" y="5463554"/>
            <a:ext cx="793067" cy="361766"/>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3" name="TextBox 62"/>
          <p:cNvSpPr txBox="1"/>
          <p:nvPr/>
        </p:nvSpPr>
        <p:spPr>
          <a:xfrm>
            <a:off x="7419654" y="6105226"/>
            <a:ext cx="4793876" cy="523220"/>
          </a:xfrm>
          <a:prstGeom prst="rect">
            <a:avLst/>
          </a:prstGeom>
          <a:noFill/>
        </p:spPr>
        <p:txBody>
          <a:bodyPr wrap="none" rtlCol="0">
            <a:spAutoFit/>
          </a:bodyPr>
          <a:lstStyle/>
          <a:p>
            <a:r>
              <a:rPr lang="en-US" sz="1400" dirty="0">
                <a:solidFill>
                  <a:schemeClr val="accent2">
                    <a:lumMod val="50000"/>
                  </a:schemeClr>
                </a:solidFill>
              </a:rPr>
              <a:t>Y. </a:t>
            </a:r>
            <a:r>
              <a:rPr lang="en-US" sz="1400" dirty="0" err="1">
                <a:solidFill>
                  <a:schemeClr val="accent2">
                    <a:lumMod val="50000"/>
                  </a:schemeClr>
                </a:solidFill>
              </a:rPr>
              <a:t>Imry</a:t>
            </a:r>
            <a:r>
              <a:rPr lang="en-US" sz="1400" dirty="0">
                <a:solidFill>
                  <a:schemeClr val="accent2">
                    <a:lumMod val="50000"/>
                  </a:schemeClr>
                </a:solidFill>
              </a:rPr>
              <a:t> and S.-k. Ma, Phys. Rev. </a:t>
            </a:r>
            <a:r>
              <a:rPr lang="en-US" sz="1400" dirty="0" err="1">
                <a:solidFill>
                  <a:schemeClr val="accent2">
                    <a:lumMod val="50000"/>
                  </a:schemeClr>
                </a:solidFill>
              </a:rPr>
              <a:t>Lett</a:t>
            </a:r>
            <a:r>
              <a:rPr lang="en-US" sz="1400" dirty="0">
                <a:solidFill>
                  <a:schemeClr val="accent2">
                    <a:lumMod val="50000"/>
                  </a:schemeClr>
                </a:solidFill>
              </a:rPr>
              <a:t>. 35, 1399 (1975</a:t>
            </a:r>
            <a:r>
              <a:rPr lang="en-US" sz="1400" dirty="0" smtClean="0">
                <a:solidFill>
                  <a:schemeClr val="accent2">
                    <a:lumMod val="50000"/>
                  </a:schemeClr>
                </a:solidFill>
              </a:rPr>
              <a:t>)</a:t>
            </a:r>
          </a:p>
          <a:p>
            <a:r>
              <a:rPr lang="en-US" sz="1400" dirty="0" smtClean="0">
                <a:solidFill>
                  <a:schemeClr val="accent2">
                    <a:lumMod val="50000"/>
                  </a:schemeClr>
                </a:solidFill>
              </a:rPr>
              <a:t>G</a:t>
            </a:r>
            <a:r>
              <a:rPr lang="en-US" sz="1400" dirty="0">
                <a:solidFill>
                  <a:schemeClr val="accent2">
                    <a:lumMod val="50000"/>
                  </a:schemeClr>
                </a:solidFill>
              </a:rPr>
              <a:t>. Grinstein and Shang-</a:t>
            </a:r>
            <a:r>
              <a:rPr lang="en-US" sz="1400" dirty="0" err="1">
                <a:solidFill>
                  <a:schemeClr val="accent2">
                    <a:lumMod val="50000"/>
                  </a:schemeClr>
                </a:solidFill>
              </a:rPr>
              <a:t>keng</a:t>
            </a:r>
            <a:r>
              <a:rPr lang="en-US" sz="1400" dirty="0">
                <a:solidFill>
                  <a:schemeClr val="accent2">
                    <a:lumMod val="50000"/>
                  </a:schemeClr>
                </a:solidFill>
              </a:rPr>
              <a:t> </a:t>
            </a:r>
            <a:r>
              <a:rPr lang="en-US" sz="1400" dirty="0" smtClean="0">
                <a:solidFill>
                  <a:schemeClr val="accent2">
                    <a:lumMod val="50000"/>
                  </a:schemeClr>
                </a:solidFill>
              </a:rPr>
              <a:t>Ma, Phys</a:t>
            </a:r>
            <a:r>
              <a:rPr lang="en-US" sz="1400" dirty="0">
                <a:solidFill>
                  <a:schemeClr val="accent2">
                    <a:lumMod val="50000"/>
                  </a:schemeClr>
                </a:solidFill>
              </a:rPr>
              <a:t>. Rev. </a:t>
            </a:r>
            <a:r>
              <a:rPr lang="en-US" sz="1400" dirty="0" err="1">
                <a:solidFill>
                  <a:schemeClr val="accent2">
                    <a:lumMod val="50000"/>
                  </a:schemeClr>
                </a:solidFill>
              </a:rPr>
              <a:t>Lett</a:t>
            </a:r>
            <a:r>
              <a:rPr lang="en-US" sz="1400" dirty="0">
                <a:solidFill>
                  <a:schemeClr val="accent2">
                    <a:lumMod val="50000"/>
                  </a:schemeClr>
                </a:solidFill>
              </a:rPr>
              <a:t>. 49, </a:t>
            </a:r>
            <a:r>
              <a:rPr lang="en-US" sz="1400" dirty="0" smtClean="0">
                <a:solidFill>
                  <a:schemeClr val="accent2">
                    <a:lumMod val="50000"/>
                  </a:schemeClr>
                </a:solidFill>
              </a:rPr>
              <a:t>685 (1982)</a:t>
            </a:r>
            <a:endParaRPr lang="en-US" sz="1400" dirty="0">
              <a:solidFill>
                <a:schemeClr val="accent2">
                  <a:lumMod val="50000"/>
                </a:schemeClr>
              </a:solidFill>
            </a:endParaRPr>
          </a:p>
        </p:txBody>
      </p:sp>
      <p:sp>
        <p:nvSpPr>
          <p:cNvPr id="81"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and the </a:t>
            </a:r>
            <a:r>
              <a:rPr lang="en-US" sz="3600" dirty="0" err="1"/>
              <a:t>Imry</a:t>
            </a:r>
            <a:r>
              <a:rPr lang="en-US" sz="3600" dirty="0"/>
              <a:t>-Ma criterion</a:t>
            </a:r>
            <a:endParaRPr lang="x-none" sz="3600" dirty="0"/>
          </a:p>
        </p:txBody>
      </p:sp>
      <p:cxnSp>
        <p:nvCxnSpPr>
          <p:cNvPr id="82" name="Straight Connector 81">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A </a:t>
            </a:r>
            <a:r>
              <a:rPr lang="en-US" sz="3200" dirty="0">
                <a:solidFill>
                  <a:schemeClr val="tx1">
                    <a:lumMod val="65000"/>
                    <a:lumOff val="35000"/>
                  </a:schemeClr>
                </a:solidFill>
                <a:latin typeface="+mj-lt"/>
              </a:rPr>
              <a:t>simple picture with </a:t>
            </a:r>
            <a:r>
              <a:rPr lang="en-US" sz="3200" dirty="0" err="1">
                <a:solidFill>
                  <a:schemeClr val="tx1">
                    <a:lumMod val="65000"/>
                    <a:lumOff val="35000"/>
                  </a:schemeClr>
                </a:solidFill>
                <a:latin typeface="+mj-lt"/>
              </a:rPr>
              <a:t>Ising</a:t>
            </a:r>
            <a:r>
              <a:rPr lang="en-US" sz="3200" dirty="0">
                <a:solidFill>
                  <a:schemeClr val="tx1">
                    <a:lumMod val="65000"/>
                    <a:lumOff val="35000"/>
                  </a:schemeClr>
                </a:solidFill>
                <a:latin typeface="+mj-lt"/>
              </a:rPr>
              <a:t> spins:</a:t>
            </a:r>
          </a:p>
        </p:txBody>
      </p:sp>
    </p:spTree>
    <p:extLst>
      <p:ext uri="{BB962C8B-B14F-4D97-AF65-F5344CB8AC3E}">
        <p14:creationId xmlns:p14="http://schemas.microsoft.com/office/powerpoint/2010/main" val="10408245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xmlns:a14="http://schemas.microsoft.com/office/drawing/2010/main" xmlns:mc="http://schemas.openxmlformats.org/markup-compatibility/2006" id="{B02DC6DB-79AC-40CC-9EA0-71B012856EA7}"/>
              </a:ext>
            </a:extLst>
          </p:cNvPr>
          <p:cNvSpPr>
            <a:spLocks noGrp="1"/>
          </p:cNvSpPr>
          <p:nvPr>
            <p:ph idx="1"/>
          </p:nvPr>
        </p:nvSpPr>
        <p:spPr>
          <a:xfrm>
            <a:off x="838200" y="2036602"/>
            <a:ext cx="10515600" cy="4598373"/>
          </a:xfrm>
        </p:spPr>
        <p:txBody>
          <a:bodyPr>
            <a:normAutofit/>
          </a:bodyPr>
          <a:lstStyle/>
          <a:p>
            <a:pPr marL="1371600" lvl="3" indent="0">
              <a:buNone/>
            </a:pPr>
            <a:r>
              <a:rPr lang="en-US" dirty="0" smtClean="0">
                <a:solidFill>
                  <a:schemeClr val="tx1">
                    <a:lumMod val="65000"/>
                    <a:lumOff val="35000"/>
                  </a:schemeClr>
                </a:solidFill>
              </a:rPr>
              <a:t>			</a:t>
            </a:r>
            <a:endParaRPr lang="en-US" sz="2000" dirty="0">
              <a:solidFill>
                <a:schemeClr val="tx1">
                  <a:lumMod val="65000"/>
                  <a:lumOff val="35000"/>
                </a:schemeClr>
              </a:solidFill>
            </a:endParaRPr>
          </a:p>
        </p:txBody>
      </p:sp>
      <mc:AlternateContent xmlns:mc="http://schemas.openxmlformats.org/markup-compatibility/2006" xmlns:p14="http://schemas.microsoft.com/office/powerpoint/2010/main">
        <mc:Choice Requires="p14">
          <p:contentPart p14:bwMode="auto" r:id="rId2">
            <p14:nvContentPartPr>
              <p14:cNvPr id="110" name="Ink 109">
                <a:extLst>
                  <a:ext uri="{FF2B5EF4-FFF2-40B4-BE49-F238E27FC236}">
                    <a16:creationId xmlns:a16="http://schemas.microsoft.com/office/drawing/2014/main" xmlns="" id="{1A69842A-636F-4219-99B9-10133EDDD055}"/>
                  </a:ext>
                </a:extLst>
              </p14:cNvPr>
              <p14:cNvContentPartPr/>
              <p14:nvPr/>
            </p14:nvContentPartPr>
            <p14:xfrm>
              <a:off x="837990" y="2380874"/>
              <a:ext cx="3687840" cy="3082680"/>
            </p14:xfrm>
          </p:contentPart>
        </mc:Choice>
        <mc:Fallback xmlns="">
          <p:pic>
            <p:nvPicPr>
              <p:cNvPr id="110" name="Ink 109">
                <a:extLst>
                  <a:ext uri="{FF2B5EF4-FFF2-40B4-BE49-F238E27FC236}">
                    <a16:creationId xmlns:a16="http://schemas.microsoft.com/office/drawing/2014/main" xmlns="" xmlns:p14="http://schemas.microsoft.com/office/powerpoint/2010/main" id="{1A69842A-636F-4219-99B9-10133EDDD055}"/>
                  </a:ext>
                </a:extLst>
              </p:cNvPr>
              <p:cNvPicPr/>
              <p:nvPr/>
            </p:nvPicPr>
            <p:blipFill>
              <a:blip r:embed="rId3"/>
              <a:stretch>
                <a:fillRect/>
              </a:stretch>
            </p:blipFill>
            <p:spPr>
              <a:xfrm>
                <a:off x="828990" y="2371874"/>
                <a:ext cx="3705480" cy="3100320"/>
              </a:xfrm>
              <a:prstGeom prst="rect">
                <a:avLst/>
              </a:prstGeom>
            </p:spPr>
          </p:pic>
        </mc:Fallback>
      </mc:AlternateContent>
      <p:sp>
        <p:nvSpPr>
          <p:cNvPr id="111" name="Arrow: Up 110">
            <a:extLst>
              <a:ext uri="{FF2B5EF4-FFF2-40B4-BE49-F238E27FC236}">
                <a16:creationId xmlns:a16="http://schemas.microsoft.com/office/drawing/2014/main" xmlns="" id="{738492BE-6664-4115-AF95-9CAF0B0BD45D}"/>
              </a:ext>
            </a:extLst>
          </p:cNvPr>
          <p:cNvSpPr/>
          <p:nvPr/>
        </p:nvSpPr>
        <p:spPr>
          <a:xfrm>
            <a:off x="1445880" y="413002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2" name="Arrow: Up 111">
            <a:extLst>
              <a:ext uri="{FF2B5EF4-FFF2-40B4-BE49-F238E27FC236}">
                <a16:creationId xmlns:a16="http://schemas.microsoft.com/office/drawing/2014/main" xmlns="" id="{D0C69F45-DE95-48B8-A5BC-92FBA339B664}"/>
              </a:ext>
            </a:extLst>
          </p:cNvPr>
          <p:cNvSpPr/>
          <p:nvPr/>
        </p:nvSpPr>
        <p:spPr>
          <a:xfrm>
            <a:off x="1738201" y="388198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3" name="Arrow: Up 112">
            <a:extLst>
              <a:ext uri="{FF2B5EF4-FFF2-40B4-BE49-F238E27FC236}">
                <a16:creationId xmlns:a16="http://schemas.microsoft.com/office/drawing/2014/main" xmlns="" id="{FC28C6C9-7844-428A-9F0A-F0C8C1B6B679}"/>
              </a:ext>
            </a:extLst>
          </p:cNvPr>
          <p:cNvSpPr/>
          <p:nvPr/>
        </p:nvSpPr>
        <p:spPr>
          <a:xfrm>
            <a:off x="2053770" y="4220332"/>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4" name="Arrow: Up 113">
            <a:extLst>
              <a:ext uri="{FF2B5EF4-FFF2-40B4-BE49-F238E27FC236}">
                <a16:creationId xmlns:a16="http://schemas.microsoft.com/office/drawing/2014/main" xmlns="" id="{F48582DC-98FF-4BBB-A1BB-99BD1106CDDB}"/>
              </a:ext>
            </a:extLst>
          </p:cNvPr>
          <p:cNvSpPr/>
          <p:nvPr/>
        </p:nvSpPr>
        <p:spPr>
          <a:xfrm>
            <a:off x="1738201" y="46502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5" name="Arrow: Up 114">
            <a:extLst>
              <a:ext uri="{FF2B5EF4-FFF2-40B4-BE49-F238E27FC236}">
                <a16:creationId xmlns:a16="http://schemas.microsoft.com/office/drawing/2014/main" xmlns="" id="{BD6411CF-E1AE-42E4-B798-DEE2E61C8653}"/>
              </a:ext>
            </a:extLst>
          </p:cNvPr>
          <p:cNvSpPr/>
          <p:nvPr/>
        </p:nvSpPr>
        <p:spPr>
          <a:xfrm>
            <a:off x="1130905" y="460908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6" name="Arrow: Up 115">
            <a:extLst>
              <a:ext uri="{FF2B5EF4-FFF2-40B4-BE49-F238E27FC236}">
                <a16:creationId xmlns:a16="http://schemas.microsoft.com/office/drawing/2014/main" xmlns="" id="{AE44546A-9CBC-427E-8155-E6FFC93BA7BC}"/>
              </a:ext>
            </a:extLst>
          </p:cNvPr>
          <p:cNvSpPr/>
          <p:nvPr/>
        </p:nvSpPr>
        <p:spPr>
          <a:xfrm>
            <a:off x="2679001" y="310003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7" name="Arrow: Up 116">
            <a:extLst>
              <a:ext uri="{FF2B5EF4-FFF2-40B4-BE49-F238E27FC236}">
                <a16:creationId xmlns:a16="http://schemas.microsoft.com/office/drawing/2014/main" xmlns="" id="{DC5CDFE4-37A8-4FB6-8AA4-4AF02F1F1B11}"/>
              </a:ext>
            </a:extLst>
          </p:cNvPr>
          <p:cNvSpPr/>
          <p:nvPr/>
        </p:nvSpPr>
        <p:spPr>
          <a:xfrm>
            <a:off x="2524719" y="401252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8" name="Arrow: Up 117">
            <a:extLst>
              <a:ext uri="{FF2B5EF4-FFF2-40B4-BE49-F238E27FC236}">
                <a16:creationId xmlns:a16="http://schemas.microsoft.com/office/drawing/2014/main" xmlns="" id="{D0F29C16-F0AB-4D1C-9668-63F2FFD5D13C}"/>
              </a:ext>
            </a:extLst>
          </p:cNvPr>
          <p:cNvSpPr/>
          <p:nvPr/>
        </p:nvSpPr>
        <p:spPr>
          <a:xfrm>
            <a:off x="2841223" y="459195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19" name="Arrow: Up 118">
            <a:extLst>
              <a:ext uri="{FF2B5EF4-FFF2-40B4-BE49-F238E27FC236}">
                <a16:creationId xmlns:a16="http://schemas.microsoft.com/office/drawing/2014/main" xmlns="" id="{202EE75C-8EF8-40E1-9B18-F0EC8E1445A0}"/>
              </a:ext>
            </a:extLst>
          </p:cNvPr>
          <p:cNvSpPr/>
          <p:nvPr/>
        </p:nvSpPr>
        <p:spPr>
          <a:xfrm>
            <a:off x="1952920" y="344862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0" name="Arrow: Up 119">
            <a:extLst>
              <a:ext uri="{FF2B5EF4-FFF2-40B4-BE49-F238E27FC236}">
                <a16:creationId xmlns:a16="http://schemas.microsoft.com/office/drawing/2014/main" xmlns="" id="{7B6A40F5-4D6A-44A7-B828-03E6AB8F1700}"/>
              </a:ext>
            </a:extLst>
          </p:cNvPr>
          <p:cNvSpPr/>
          <p:nvPr/>
        </p:nvSpPr>
        <p:spPr>
          <a:xfrm>
            <a:off x="2098926" y="500757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1" name="Arrow: Up 120">
            <a:extLst>
              <a:ext uri="{FF2B5EF4-FFF2-40B4-BE49-F238E27FC236}">
                <a16:creationId xmlns:a16="http://schemas.microsoft.com/office/drawing/2014/main" xmlns="" id="{8C96379A-A3BB-47AA-8DB3-B36FD6F312E9}"/>
              </a:ext>
            </a:extLst>
          </p:cNvPr>
          <p:cNvSpPr/>
          <p:nvPr/>
        </p:nvSpPr>
        <p:spPr>
          <a:xfrm>
            <a:off x="1423820" y="485806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2" name="Arrow: Up 121">
            <a:extLst>
              <a:ext uri="{FF2B5EF4-FFF2-40B4-BE49-F238E27FC236}">
                <a16:creationId xmlns:a16="http://schemas.microsoft.com/office/drawing/2014/main" xmlns="" id="{C284C0BB-CAF8-4ED9-9B43-2B688B65F331}"/>
              </a:ext>
            </a:extLst>
          </p:cNvPr>
          <p:cNvSpPr/>
          <p:nvPr/>
        </p:nvSpPr>
        <p:spPr>
          <a:xfrm>
            <a:off x="1139295" y="390157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23" name="Arrow: Up 122">
            <a:extLst>
              <a:ext uri="{FF2B5EF4-FFF2-40B4-BE49-F238E27FC236}">
                <a16:creationId xmlns:a16="http://schemas.microsoft.com/office/drawing/2014/main" xmlns="" id="{C8E8F6E2-1744-457F-9A0A-9610F3218DA2}"/>
              </a:ext>
            </a:extLst>
          </p:cNvPr>
          <p:cNvSpPr/>
          <p:nvPr/>
        </p:nvSpPr>
        <p:spPr>
          <a:xfrm rot="10800000">
            <a:off x="2309127" y="344275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4" name="Arrow: Up 123">
            <a:extLst>
              <a:ext uri="{FF2B5EF4-FFF2-40B4-BE49-F238E27FC236}">
                <a16:creationId xmlns:a16="http://schemas.microsoft.com/office/drawing/2014/main" xmlns="" id="{60C3ED97-FDBD-4354-A27A-4F75CCDF2421}"/>
              </a:ext>
            </a:extLst>
          </p:cNvPr>
          <p:cNvSpPr/>
          <p:nvPr/>
        </p:nvSpPr>
        <p:spPr>
          <a:xfrm rot="10800000">
            <a:off x="2962992" y="378339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5" name="Arrow: Up 124">
            <a:extLst>
              <a:ext uri="{FF2B5EF4-FFF2-40B4-BE49-F238E27FC236}">
                <a16:creationId xmlns:a16="http://schemas.microsoft.com/office/drawing/2014/main" xmlns="" id="{2A9B9A13-ADC0-4961-9C5C-06CCC5FC2F53}"/>
              </a:ext>
            </a:extLst>
          </p:cNvPr>
          <p:cNvSpPr/>
          <p:nvPr/>
        </p:nvSpPr>
        <p:spPr>
          <a:xfrm rot="10800000">
            <a:off x="3008148" y="259561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6" name="Arrow: Up 125">
            <a:extLst>
              <a:ext uri="{FF2B5EF4-FFF2-40B4-BE49-F238E27FC236}">
                <a16:creationId xmlns:a16="http://schemas.microsoft.com/office/drawing/2014/main" xmlns="" id="{94A621BC-5358-47E1-BADA-96951D68E391}"/>
              </a:ext>
            </a:extLst>
          </p:cNvPr>
          <p:cNvSpPr/>
          <p:nvPr/>
        </p:nvSpPr>
        <p:spPr>
          <a:xfrm rot="10800000">
            <a:off x="3321176" y="312090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7" name="Arrow: Up 126">
            <a:extLst>
              <a:ext uri="{FF2B5EF4-FFF2-40B4-BE49-F238E27FC236}">
                <a16:creationId xmlns:a16="http://schemas.microsoft.com/office/drawing/2014/main" xmlns="" id="{ABD504C6-D6C9-439A-A5F0-30FD600A4037}"/>
              </a:ext>
            </a:extLst>
          </p:cNvPr>
          <p:cNvSpPr/>
          <p:nvPr/>
        </p:nvSpPr>
        <p:spPr>
          <a:xfrm rot="10800000">
            <a:off x="3446598" y="245404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8" name="Arrow: Up 127">
            <a:extLst>
              <a:ext uri="{FF2B5EF4-FFF2-40B4-BE49-F238E27FC236}">
                <a16:creationId xmlns:a16="http://schemas.microsoft.com/office/drawing/2014/main" xmlns="" id="{B85E7EA0-1E82-42C9-B062-46371515AF92}"/>
              </a:ext>
            </a:extLst>
          </p:cNvPr>
          <p:cNvSpPr/>
          <p:nvPr/>
        </p:nvSpPr>
        <p:spPr>
          <a:xfrm rot="10800000">
            <a:off x="3385764" y="381205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29" name="Arrow: Up 128">
            <a:extLst>
              <a:ext uri="{FF2B5EF4-FFF2-40B4-BE49-F238E27FC236}">
                <a16:creationId xmlns:a16="http://schemas.microsoft.com/office/drawing/2014/main" xmlns="" id="{40C537BF-8B4B-490C-B87C-AB1CAA09E01A}"/>
              </a:ext>
            </a:extLst>
          </p:cNvPr>
          <p:cNvSpPr/>
          <p:nvPr/>
        </p:nvSpPr>
        <p:spPr>
          <a:xfrm rot="10800000">
            <a:off x="3855551" y="2757139"/>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0" name="Arrow: Up 129">
            <a:extLst>
              <a:ext uri="{FF2B5EF4-FFF2-40B4-BE49-F238E27FC236}">
                <a16:creationId xmlns:a16="http://schemas.microsoft.com/office/drawing/2014/main" xmlns="" id="{2A3CB386-DE06-42D4-9932-1395F9D3E036}"/>
              </a:ext>
            </a:extLst>
          </p:cNvPr>
          <p:cNvSpPr/>
          <p:nvPr/>
        </p:nvSpPr>
        <p:spPr>
          <a:xfrm rot="10800000">
            <a:off x="3536910" y="4609080"/>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1" name="Arrow: Up 130">
            <a:extLst>
              <a:ext uri="{FF2B5EF4-FFF2-40B4-BE49-F238E27FC236}">
                <a16:creationId xmlns:a16="http://schemas.microsoft.com/office/drawing/2014/main" xmlns="" id="{279DF280-BAF8-4AAA-B09C-FEE9B6AE1F8B}"/>
              </a:ext>
            </a:extLst>
          </p:cNvPr>
          <p:cNvSpPr/>
          <p:nvPr/>
        </p:nvSpPr>
        <p:spPr>
          <a:xfrm rot="10800000">
            <a:off x="2472619" y="463594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2" name="Arrow: Up 131">
            <a:extLst>
              <a:ext uri="{FF2B5EF4-FFF2-40B4-BE49-F238E27FC236}">
                <a16:creationId xmlns:a16="http://schemas.microsoft.com/office/drawing/2014/main" xmlns="" id="{27AF68F8-0320-4AFF-8919-64790764E012}"/>
              </a:ext>
            </a:extLst>
          </p:cNvPr>
          <p:cNvSpPr/>
          <p:nvPr/>
        </p:nvSpPr>
        <p:spPr>
          <a:xfrm rot="10800000">
            <a:off x="3826810" y="339644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3" name="Arrow: Up 132">
            <a:extLst>
              <a:ext uri="{FF2B5EF4-FFF2-40B4-BE49-F238E27FC236}">
                <a16:creationId xmlns:a16="http://schemas.microsoft.com/office/drawing/2014/main" xmlns="" id="{3FC58D31-6BA7-4FAB-A35F-343448BC334E}"/>
              </a:ext>
            </a:extLst>
          </p:cNvPr>
          <p:cNvSpPr/>
          <p:nvPr/>
        </p:nvSpPr>
        <p:spPr>
          <a:xfrm rot="10800000">
            <a:off x="4232098" y="323495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4" name="Arrow: Up 133">
            <a:extLst>
              <a:ext uri="{FF2B5EF4-FFF2-40B4-BE49-F238E27FC236}">
                <a16:creationId xmlns:a16="http://schemas.microsoft.com/office/drawing/2014/main" xmlns="" id="{523C96AD-B81D-4416-A3C6-75A3522A721B}"/>
              </a:ext>
            </a:extLst>
          </p:cNvPr>
          <p:cNvSpPr/>
          <p:nvPr/>
        </p:nvSpPr>
        <p:spPr>
          <a:xfrm rot="10800000">
            <a:off x="4089516" y="390857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5" name="Arrow: Up 134">
            <a:extLst>
              <a:ext uri="{FF2B5EF4-FFF2-40B4-BE49-F238E27FC236}">
                <a16:creationId xmlns:a16="http://schemas.microsoft.com/office/drawing/2014/main" xmlns="" id="{BF5A75CC-E408-4729-8BB1-D081ACDA2276}"/>
              </a:ext>
            </a:extLst>
          </p:cNvPr>
          <p:cNvSpPr/>
          <p:nvPr/>
        </p:nvSpPr>
        <p:spPr>
          <a:xfrm rot="10800000">
            <a:off x="3743514" y="419346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36" name="Arrow: Up 135">
            <a:extLst>
              <a:ext uri="{FF2B5EF4-FFF2-40B4-BE49-F238E27FC236}">
                <a16:creationId xmlns:a16="http://schemas.microsoft.com/office/drawing/2014/main" xmlns="" id="{25A6FB02-8DE6-4FC8-9868-B3BC6DD2F3F7}"/>
              </a:ext>
            </a:extLst>
          </p:cNvPr>
          <p:cNvSpPr/>
          <p:nvPr/>
        </p:nvSpPr>
        <p:spPr>
          <a:xfrm rot="10800000">
            <a:off x="3172091" y="446358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63" name="TextBox 62"/>
          <p:cNvSpPr txBox="1"/>
          <p:nvPr/>
        </p:nvSpPr>
        <p:spPr>
          <a:xfrm>
            <a:off x="867654" y="5948301"/>
            <a:ext cx="5176032" cy="738664"/>
          </a:xfrm>
          <a:prstGeom prst="rect">
            <a:avLst/>
          </a:prstGeom>
          <a:noFill/>
        </p:spPr>
        <p:txBody>
          <a:bodyPr wrap="none" rtlCol="0">
            <a:spAutoFit/>
          </a:bodyPr>
          <a:lstStyle/>
          <a:p>
            <a:r>
              <a:rPr lang="en-US" sz="1400" dirty="0" smtClean="0">
                <a:solidFill>
                  <a:schemeClr val="accent2">
                    <a:lumMod val="50000"/>
                  </a:schemeClr>
                </a:solidFill>
              </a:rPr>
              <a:t>[1] E</a:t>
            </a:r>
            <a:r>
              <a:rPr lang="en-US" sz="1400" dirty="0">
                <a:solidFill>
                  <a:schemeClr val="accent2">
                    <a:lumMod val="50000"/>
                  </a:schemeClr>
                </a:solidFill>
              </a:rPr>
              <a:t>. </a:t>
            </a:r>
            <a:r>
              <a:rPr lang="en-US" sz="1400" dirty="0" err="1">
                <a:solidFill>
                  <a:schemeClr val="accent2">
                    <a:lumMod val="50000"/>
                  </a:schemeClr>
                </a:solidFill>
              </a:rPr>
              <a:t>Pytte</a:t>
            </a:r>
            <a:r>
              <a:rPr lang="en-US" sz="1400" dirty="0">
                <a:solidFill>
                  <a:schemeClr val="accent2">
                    <a:lumMod val="50000"/>
                  </a:schemeClr>
                </a:solidFill>
              </a:rPr>
              <a:t>, Y. </a:t>
            </a:r>
            <a:r>
              <a:rPr lang="en-US" sz="1400" dirty="0" err="1">
                <a:solidFill>
                  <a:schemeClr val="accent2">
                    <a:lumMod val="50000"/>
                  </a:schemeClr>
                </a:solidFill>
              </a:rPr>
              <a:t>Imry</a:t>
            </a:r>
            <a:r>
              <a:rPr lang="en-US" sz="1400" dirty="0">
                <a:solidFill>
                  <a:schemeClr val="accent2">
                    <a:lumMod val="50000"/>
                  </a:schemeClr>
                </a:solidFill>
              </a:rPr>
              <a:t>, and D. </a:t>
            </a:r>
            <a:r>
              <a:rPr lang="en-US" sz="1400" dirty="0" err="1" smtClean="0">
                <a:solidFill>
                  <a:schemeClr val="accent2">
                    <a:lumMod val="50000"/>
                  </a:schemeClr>
                </a:solidFill>
              </a:rPr>
              <a:t>Mukamel</a:t>
            </a:r>
            <a:r>
              <a:rPr lang="en-US" sz="1400" dirty="0" err="1">
                <a:solidFill>
                  <a:schemeClr val="accent2">
                    <a:lumMod val="50000"/>
                  </a:schemeClr>
                </a:solidFill>
              </a:rPr>
              <a:t>,</a:t>
            </a:r>
            <a:r>
              <a:rPr lang="en-US" sz="1400" dirty="0" err="1" smtClean="0">
                <a:solidFill>
                  <a:schemeClr val="accent2">
                    <a:lumMod val="50000"/>
                  </a:schemeClr>
                </a:solidFill>
              </a:rPr>
              <a:t>Phys</a:t>
            </a:r>
            <a:r>
              <a:rPr lang="en-US" sz="1400" dirty="0">
                <a:solidFill>
                  <a:schemeClr val="accent2">
                    <a:lumMod val="50000"/>
                  </a:schemeClr>
                </a:solidFill>
              </a:rPr>
              <a:t>. Rev. </a:t>
            </a:r>
            <a:r>
              <a:rPr lang="en-US" sz="1400" dirty="0" err="1">
                <a:solidFill>
                  <a:schemeClr val="accent2">
                    <a:lumMod val="50000"/>
                  </a:schemeClr>
                </a:solidFill>
              </a:rPr>
              <a:t>Lett</a:t>
            </a:r>
            <a:r>
              <a:rPr lang="en-US" sz="1400" dirty="0">
                <a:solidFill>
                  <a:schemeClr val="accent2">
                    <a:lumMod val="50000"/>
                  </a:schemeClr>
                </a:solidFill>
              </a:rPr>
              <a:t>. 46, 1173  </a:t>
            </a:r>
            <a:r>
              <a:rPr lang="en-US" sz="1400" dirty="0" smtClean="0">
                <a:solidFill>
                  <a:schemeClr val="accent2">
                    <a:lumMod val="50000"/>
                  </a:schemeClr>
                </a:solidFill>
              </a:rPr>
              <a:t>(1981)</a:t>
            </a:r>
          </a:p>
          <a:p>
            <a:r>
              <a:rPr lang="en-US" sz="1400" dirty="0" smtClean="0">
                <a:solidFill>
                  <a:schemeClr val="accent2">
                    <a:lumMod val="50000"/>
                  </a:schemeClr>
                </a:solidFill>
              </a:rPr>
              <a:t>[2] K. Binder, Y. </a:t>
            </a:r>
            <a:r>
              <a:rPr lang="en-US" sz="1400" dirty="0" err="1" smtClean="0">
                <a:solidFill>
                  <a:schemeClr val="accent2">
                    <a:lumMod val="50000"/>
                  </a:schemeClr>
                </a:solidFill>
              </a:rPr>
              <a:t>Imry</a:t>
            </a:r>
            <a:r>
              <a:rPr lang="en-US" sz="1400" dirty="0" smtClean="0">
                <a:solidFill>
                  <a:schemeClr val="accent2">
                    <a:lumMod val="50000"/>
                  </a:schemeClr>
                </a:solidFill>
              </a:rPr>
              <a:t>, and E. </a:t>
            </a:r>
            <a:r>
              <a:rPr lang="en-US" sz="1400" dirty="0" err="1" smtClean="0">
                <a:solidFill>
                  <a:schemeClr val="accent2">
                    <a:lumMod val="50000"/>
                  </a:schemeClr>
                </a:solidFill>
              </a:rPr>
              <a:t>Pytte</a:t>
            </a:r>
            <a:r>
              <a:rPr lang="en-US" sz="1400" dirty="0" smtClean="0">
                <a:solidFill>
                  <a:schemeClr val="accent2">
                    <a:lumMod val="50000"/>
                  </a:schemeClr>
                </a:solidFill>
              </a:rPr>
              <a:t>, </a:t>
            </a:r>
            <a:r>
              <a:rPr lang="en-US" sz="1400" dirty="0">
                <a:solidFill>
                  <a:schemeClr val="accent2">
                    <a:lumMod val="50000"/>
                  </a:schemeClr>
                </a:solidFill>
              </a:rPr>
              <a:t>Phys. Rev. B 24, </a:t>
            </a:r>
            <a:r>
              <a:rPr lang="en-US" sz="1400" dirty="0" smtClean="0">
                <a:solidFill>
                  <a:schemeClr val="accent2">
                    <a:lumMod val="50000"/>
                  </a:schemeClr>
                </a:solidFill>
              </a:rPr>
              <a:t>6736(R) (1981)</a:t>
            </a:r>
            <a:endParaRPr lang="en-US" sz="1400" dirty="0">
              <a:solidFill>
                <a:schemeClr val="accent2">
                  <a:lumMod val="50000"/>
                </a:schemeClr>
              </a:solidFill>
            </a:endParaRPr>
          </a:p>
          <a:p>
            <a:r>
              <a:rPr lang="en-US" sz="1400" dirty="0" smtClean="0">
                <a:solidFill>
                  <a:schemeClr val="accent2">
                    <a:lumMod val="50000"/>
                  </a:schemeClr>
                </a:solidFill>
              </a:rPr>
              <a:t>[3] G. Grinstein and Shang-</a:t>
            </a:r>
            <a:r>
              <a:rPr lang="en-US" sz="1400" dirty="0" err="1" smtClean="0">
                <a:solidFill>
                  <a:schemeClr val="accent2">
                    <a:lumMod val="50000"/>
                  </a:schemeClr>
                </a:solidFill>
              </a:rPr>
              <a:t>keng</a:t>
            </a:r>
            <a:r>
              <a:rPr lang="en-US" sz="1400" dirty="0" smtClean="0">
                <a:solidFill>
                  <a:schemeClr val="accent2">
                    <a:lumMod val="50000"/>
                  </a:schemeClr>
                </a:solidFill>
              </a:rPr>
              <a:t> Ma, Phys. Rev. </a:t>
            </a:r>
            <a:r>
              <a:rPr lang="en-US" sz="1400" dirty="0" err="1" smtClean="0">
                <a:solidFill>
                  <a:schemeClr val="accent2">
                    <a:lumMod val="50000"/>
                  </a:schemeClr>
                </a:solidFill>
              </a:rPr>
              <a:t>Lett</a:t>
            </a:r>
            <a:r>
              <a:rPr lang="en-US" sz="1400" dirty="0" smtClean="0">
                <a:solidFill>
                  <a:schemeClr val="accent2">
                    <a:lumMod val="50000"/>
                  </a:schemeClr>
                </a:solidFill>
              </a:rPr>
              <a:t>. 49, 685 (1982)</a:t>
            </a:r>
            <a:endParaRPr lang="en-US" sz="1400" dirty="0">
              <a:solidFill>
                <a:schemeClr val="accent2">
                  <a:lumMod val="50000"/>
                </a:schemeClr>
              </a:solidFill>
            </a:endParaRPr>
          </a:p>
        </p:txBody>
      </p:sp>
      <p:sp>
        <p:nvSpPr>
          <p:cNvPr id="75"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and the </a:t>
            </a:r>
            <a:r>
              <a:rPr lang="en-US" sz="3600" dirty="0" err="1"/>
              <a:t>Imry</a:t>
            </a:r>
            <a:r>
              <a:rPr lang="en-US" sz="3600" dirty="0"/>
              <a:t>-Ma criterion</a:t>
            </a:r>
            <a:endParaRPr lang="x-none" sz="3600" dirty="0"/>
          </a:p>
        </p:txBody>
      </p:sp>
      <p:cxnSp>
        <p:nvCxnSpPr>
          <p:cNvPr id="76" name="Straight Connector 75">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Rough domain walls:</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2" name="TextBox 1"/>
              <p:cNvSpPr txBox="1"/>
              <p:nvPr/>
            </p:nvSpPr>
            <p:spPr>
              <a:xfrm>
                <a:off x="5876788" y="1316842"/>
                <a:ext cx="6247744" cy="5653727"/>
              </a:xfrm>
              <a:prstGeom prst="rect">
                <a:avLst/>
              </a:prstGeom>
              <a:noFill/>
            </p:spPr>
            <p:txBody>
              <a:bodyPr wrap="square" rtlCol="0">
                <a:spAutoFit/>
              </a:bodyPr>
              <a:lstStyle/>
              <a:p>
                <a:pPr marL="285750" indent="-285750">
                  <a:buFont typeface="Wingdings" charset="2"/>
                  <a:buChar char="§"/>
                </a:pPr>
                <a:r>
                  <a:rPr lang="en-US" sz="2000" dirty="0" smtClean="0">
                    <a:solidFill>
                      <a:schemeClr val="tx1">
                        <a:lumMod val="85000"/>
                        <a:lumOff val="15000"/>
                      </a:schemeClr>
                    </a:solidFill>
                  </a:rPr>
                  <a:t>Domain walls can be rough and ill defined</a:t>
                </a:r>
              </a:p>
              <a:p>
                <a:pPr marL="285750" indent="-285750">
                  <a:buFont typeface="Wingdings" charset="2"/>
                  <a:buChar char="§"/>
                </a:pPr>
                <a:endParaRPr lang="en-US" sz="2000" dirty="0">
                  <a:solidFill>
                    <a:schemeClr val="tx1">
                      <a:lumMod val="85000"/>
                      <a:lumOff val="15000"/>
                    </a:schemeClr>
                  </a:solidFill>
                </a:endParaRPr>
              </a:p>
              <a:p>
                <a:pPr marL="285750" indent="-285750">
                  <a:buFont typeface="Wingdings" charset="2"/>
                  <a:buChar char="§"/>
                </a:pPr>
                <a:r>
                  <a:rPr lang="en-US" sz="2000" dirty="0" smtClean="0">
                    <a:solidFill>
                      <a:schemeClr val="tx1">
                        <a:lumMod val="85000"/>
                        <a:lumOff val="15000"/>
                      </a:schemeClr>
                    </a:solidFill>
                  </a:rPr>
                  <a:t>Domain wall thickness scales as,  </a:t>
                </a:r>
              </a:p>
              <a:p>
                <a:r>
                  <a:rPr lang="en-US" sz="2000" b="0" dirty="0">
                    <a:solidFill>
                      <a:schemeClr val="tx1">
                        <a:lumMod val="85000"/>
                        <a:lumOff val="15000"/>
                      </a:schemeClr>
                    </a:solidFill>
                  </a:rPr>
                  <a:t>	</a:t>
                </a:r>
                <a:r>
                  <a:rPr lang="en-US" sz="2000" b="0" dirty="0" smtClean="0">
                    <a:solidFill>
                      <a:schemeClr val="tx1">
                        <a:lumMod val="85000"/>
                        <a:lumOff val="15000"/>
                      </a:schemeClr>
                    </a:solidFill>
                  </a:rPr>
                  <a:t>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𝑤</m:t>
                        </m:r>
                      </m:e>
                      <m:sub>
                        <m:r>
                          <a:rPr lang="en-US" sz="2000" b="0" i="1" smtClean="0">
                            <a:solidFill>
                              <a:schemeClr val="tx1">
                                <a:lumMod val="85000"/>
                                <a:lumOff val="15000"/>
                              </a:schemeClr>
                            </a:solidFill>
                            <a:latin typeface="Cambria Math" charset="0"/>
                          </a:rPr>
                          <m:t>𝑑</m:t>
                        </m:r>
                      </m:sub>
                    </m:sSub>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𝐿</m:t>
                        </m:r>
                      </m:e>
                    </m:d>
                    <m:r>
                      <a:rPr lang="en-US" sz="2000" i="1">
                        <a:solidFill>
                          <a:schemeClr val="tx1">
                            <a:lumMod val="85000"/>
                            <a:lumOff val="15000"/>
                          </a:schemeClr>
                        </a:solidFill>
                        <a:latin typeface="Cambria Math" charset="0"/>
                        <a:ea typeface="Cambria Math" charset="0"/>
                        <a:cs typeface="Cambria Math" charset="0"/>
                      </a:rPr>
                      <m:t>∝</m:t>
                    </m:r>
                    <m:sSup>
                      <m:sSupPr>
                        <m:ctrlPr>
                          <a:rPr lang="en-US" sz="2000" b="0" i="1" smtClean="0">
                            <a:solidFill>
                              <a:schemeClr val="tx1">
                                <a:lumMod val="85000"/>
                                <a:lumOff val="15000"/>
                              </a:schemeClr>
                            </a:solidFill>
                            <a:latin typeface="Cambria Math" charset="0"/>
                            <a:ea typeface="Cambria Math" charset="0"/>
                            <a:cs typeface="Cambria Math" charset="0"/>
                          </a:rPr>
                        </m:ctrlPr>
                      </m:sSupPr>
                      <m:e>
                        <m:r>
                          <a:rPr lang="en-US" sz="2000" b="0" i="1" smtClean="0">
                            <a:solidFill>
                              <a:schemeClr val="tx1">
                                <a:lumMod val="85000"/>
                                <a:lumOff val="15000"/>
                              </a:schemeClr>
                            </a:solidFill>
                            <a:latin typeface="Cambria Math" charset="0"/>
                            <a:ea typeface="Cambria Math" charset="0"/>
                            <a:cs typeface="Cambria Math" charset="0"/>
                          </a:rPr>
                          <m:t>𝐿</m:t>
                        </m:r>
                      </m:e>
                      <m:sup>
                        <m:f>
                          <m:fPr>
                            <m:ctrlPr>
                              <a:rPr lang="en-US" sz="2000" b="0" i="1" smtClean="0">
                                <a:solidFill>
                                  <a:schemeClr val="tx1">
                                    <a:lumMod val="85000"/>
                                    <a:lumOff val="15000"/>
                                  </a:schemeClr>
                                </a:solidFill>
                                <a:latin typeface="Cambria Math" charset="0"/>
                                <a:ea typeface="Cambria Math" charset="0"/>
                                <a:cs typeface="Cambria Math" charset="0"/>
                              </a:rPr>
                            </m:ctrlPr>
                          </m:fPr>
                          <m:num>
                            <m:r>
                              <a:rPr lang="en-US" sz="2000" b="0" i="1" smtClean="0">
                                <a:solidFill>
                                  <a:schemeClr val="tx1">
                                    <a:lumMod val="85000"/>
                                    <a:lumOff val="15000"/>
                                  </a:schemeClr>
                                </a:solidFill>
                                <a:latin typeface="Cambria Math" charset="0"/>
                                <a:ea typeface="Cambria Math" charset="0"/>
                                <a:cs typeface="Cambria Math" charset="0"/>
                              </a:rPr>
                              <m:t>5−</m:t>
                            </m:r>
                            <m:r>
                              <a:rPr lang="en-US" sz="2000" b="0" i="1" smtClean="0">
                                <a:solidFill>
                                  <a:schemeClr val="tx1">
                                    <a:lumMod val="85000"/>
                                    <a:lumOff val="15000"/>
                                  </a:schemeClr>
                                </a:solidFill>
                                <a:latin typeface="Cambria Math" charset="0"/>
                                <a:ea typeface="Cambria Math" charset="0"/>
                                <a:cs typeface="Cambria Math" charset="0"/>
                              </a:rPr>
                              <m:t>𝑑</m:t>
                            </m:r>
                          </m:num>
                          <m:den>
                            <m:r>
                              <a:rPr lang="en-US" sz="2000" b="0" i="1" smtClean="0">
                                <a:solidFill>
                                  <a:schemeClr val="tx1">
                                    <a:lumMod val="85000"/>
                                    <a:lumOff val="15000"/>
                                  </a:schemeClr>
                                </a:solidFill>
                                <a:latin typeface="Cambria Math" charset="0"/>
                                <a:ea typeface="Cambria Math" charset="0"/>
                                <a:cs typeface="Cambria Math" charset="0"/>
                              </a:rPr>
                              <m:t>2</m:t>
                            </m:r>
                          </m:den>
                        </m:f>
                      </m:sup>
                    </m:sSup>
                  </m:oMath>
                </a14:m>
                <a:r>
                  <a:rPr lang="en-US" sz="2000" dirty="0" smtClean="0">
                    <a:solidFill>
                      <a:schemeClr val="tx1">
                        <a:lumMod val="85000"/>
                        <a:lumOff val="15000"/>
                      </a:schemeClr>
                    </a:solidFill>
                  </a:rPr>
                  <a:t>  </a:t>
                </a:r>
              </a:p>
              <a:p>
                <a:endParaRPr lang="en-US" sz="2000" dirty="0">
                  <a:solidFill>
                    <a:schemeClr val="tx1">
                      <a:lumMod val="85000"/>
                      <a:lumOff val="15000"/>
                    </a:schemeClr>
                  </a:solidFill>
                </a:endParaRPr>
              </a:p>
              <a:p>
                <a:r>
                  <a:rPr lang="en-US" sz="2000" dirty="0" smtClean="0">
                    <a:solidFill>
                      <a:schemeClr val="tx1">
                        <a:lumMod val="85000"/>
                        <a:lumOff val="15000"/>
                      </a:schemeClr>
                    </a:solidFill>
                  </a:rPr>
                  <a:t>implying that for </a:t>
                </a:r>
                <a14:m>
                  <m:oMath xmlns:m="http://schemas.openxmlformats.org/officeDocument/2006/math">
                    <m:r>
                      <a:rPr lang="en-US" sz="2000" b="0" i="1" smtClean="0">
                        <a:solidFill>
                          <a:schemeClr val="tx1">
                            <a:lumMod val="85000"/>
                            <a:lumOff val="15000"/>
                          </a:schemeClr>
                        </a:solidFill>
                        <a:latin typeface="Cambria Math" charset="0"/>
                      </a:rPr>
                      <m:t>𝐿</m:t>
                    </m:r>
                    <m:r>
                      <a:rPr lang="en-US" sz="2000" b="0" i="1" smtClean="0">
                        <a:solidFill>
                          <a:schemeClr val="tx1">
                            <a:lumMod val="85000"/>
                            <a:lumOff val="15000"/>
                          </a:schemeClr>
                        </a:solidFill>
                        <a:latin typeface="Cambria Math" charset="0"/>
                      </a:rPr>
                      <m:t>≤3</m:t>
                    </m:r>
                  </m:oMath>
                </a14:m>
                <a:r>
                  <a:rPr lang="en-US" sz="2000" dirty="0" smtClean="0">
                    <a:solidFill>
                      <a:schemeClr val="tx1">
                        <a:lumMod val="85000"/>
                        <a:lumOff val="15000"/>
                      </a:schemeClr>
                    </a:solidFill>
                  </a:rPr>
                  <a:t> domain walls thickness,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𝑤</m:t>
                        </m:r>
                      </m:e>
                      <m:sub>
                        <m:r>
                          <a:rPr lang="en-US" sz="2000" b="0" i="1" smtClean="0">
                            <a:solidFill>
                              <a:schemeClr val="tx1">
                                <a:lumMod val="85000"/>
                                <a:lumOff val="15000"/>
                              </a:schemeClr>
                            </a:solidFill>
                            <a:latin typeface="Cambria Math" charset="0"/>
                          </a:rPr>
                          <m:t>𝑑</m:t>
                        </m:r>
                      </m:sub>
                    </m:sSub>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𝐿</m:t>
                        </m:r>
                      </m:e>
                    </m:d>
                    <m:r>
                      <a:rPr lang="en-US" sz="2000" b="0" i="1" smtClean="0">
                        <a:solidFill>
                          <a:schemeClr val="tx1">
                            <a:lumMod val="85000"/>
                            <a:lumOff val="15000"/>
                          </a:schemeClr>
                        </a:solidFill>
                        <a:latin typeface="Cambria Math" charset="0"/>
                      </a:rPr>
                      <m:t>≫</m:t>
                    </m:r>
                    <m:r>
                      <a:rPr lang="en-US" sz="2000" b="0" i="1" smtClean="0">
                        <a:solidFill>
                          <a:schemeClr val="tx1">
                            <a:lumMod val="85000"/>
                            <a:lumOff val="15000"/>
                          </a:schemeClr>
                        </a:solidFill>
                        <a:latin typeface="Cambria Math" charset="0"/>
                      </a:rPr>
                      <m:t>𝐿</m:t>
                    </m:r>
                  </m:oMath>
                </a14:m>
                <a:r>
                  <a:rPr lang="en-US" sz="2000" dirty="0" smtClean="0">
                    <a:solidFill>
                      <a:schemeClr val="tx1">
                        <a:lumMod val="85000"/>
                        <a:lumOff val="15000"/>
                      </a:schemeClr>
                    </a:solidFill>
                  </a:rPr>
                  <a:t>, which, once included in the energy estimate gives a critical dimension,</a:t>
                </a:r>
              </a:p>
              <a:p>
                <a:r>
                  <a:rPr lang="en-US" sz="2000" dirty="0">
                    <a:solidFill>
                      <a:schemeClr val="tx1">
                        <a:lumMod val="85000"/>
                        <a:lumOff val="15000"/>
                      </a:schemeClr>
                    </a:solidFill>
                  </a:rPr>
                  <a:t>	</a:t>
                </a:r>
                <a:r>
                  <a:rPr lang="en-US" sz="2000" dirty="0" smtClean="0">
                    <a:solidFill>
                      <a:schemeClr val="tx1">
                        <a:lumMod val="85000"/>
                        <a:lumOff val="15000"/>
                      </a:schemeClr>
                    </a:solidFill>
                  </a:rPr>
                  <a:t>	</a:t>
                </a:r>
              </a:p>
              <a:p>
                <a:r>
                  <a:rPr lang="en-US" sz="2000" dirty="0" smtClean="0">
                    <a:solidFill>
                      <a:schemeClr val="tx1">
                        <a:lumMod val="85000"/>
                        <a:lumOff val="15000"/>
                      </a:schemeClr>
                    </a:solidFill>
                  </a:rPr>
                  <a:t>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𝑑</m:t>
                        </m:r>
                      </m:e>
                      <m:sub>
                        <m:r>
                          <a:rPr lang="en-US" sz="2000" b="0" i="1" smtClean="0">
                            <a:solidFill>
                              <a:schemeClr val="tx1">
                                <a:lumMod val="85000"/>
                                <a:lumOff val="15000"/>
                              </a:schemeClr>
                            </a:solidFill>
                            <a:latin typeface="Cambria Math" charset="0"/>
                          </a:rPr>
                          <m:t>𝑐</m:t>
                        </m:r>
                      </m:sub>
                    </m:sSub>
                    <m:r>
                      <a:rPr lang="en-US" sz="2000" b="0" i="1" smtClean="0">
                        <a:solidFill>
                          <a:schemeClr val="tx1">
                            <a:lumMod val="85000"/>
                            <a:lumOff val="15000"/>
                          </a:schemeClr>
                        </a:solidFill>
                        <a:latin typeface="Cambria Math" charset="0"/>
                      </a:rPr>
                      <m:t>=3</m:t>
                    </m:r>
                  </m:oMath>
                </a14:m>
                <a:r>
                  <a:rPr lang="en-US" sz="2000" dirty="0" smtClean="0">
                    <a:solidFill>
                      <a:schemeClr val="tx1">
                        <a:lumMod val="85000"/>
                        <a:lumOff val="15000"/>
                      </a:schemeClr>
                    </a:solidFill>
                  </a:rPr>
                  <a:t>    [1,2]</a:t>
                </a:r>
              </a:p>
              <a:p>
                <a:pPr marL="285750" indent="-285750">
                  <a:buFont typeface="Wingdings" charset="2"/>
                  <a:buChar char="§"/>
                </a:pPr>
                <a:endParaRPr lang="en-US" sz="2000" dirty="0">
                  <a:solidFill>
                    <a:schemeClr val="tx1">
                      <a:lumMod val="85000"/>
                      <a:lumOff val="15000"/>
                    </a:schemeClr>
                  </a:solidFill>
                </a:endParaRPr>
              </a:p>
              <a:p>
                <a:pPr marL="285750" indent="-285750">
                  <a:buFont typeface="Wingdings" charset="2"/>
                  <a:buChar char="§"/>
                </a:pPr>
                <a:r>
                  <a:rPr lang="en-US" sz="2000" dirty="0" smtClean="0">
                    <a:solidFill>
                      <a:schemeClr val="tx1">
                        <a:lumMod val="85000"/>
                        <a:lumOff val="15000"/>
                      </a:schemeClr>
                    </a:solidFill>
                  </a:rPr>
                  <a:t>But an even more careful analysis shows that the scaling is in fact,</a:t>
                </a:r>
              </a:p>
              <a:p>
                <a:r>
                  <a:rPr lang="en-US" sz="2000" dirty="0" smtClean="0">
                    <a:solidFill>
                      <a:schemeClr val="tx1">
                        <a:lumMod val="85000"/>
                        <a:lumOff val="15000"/>
                      </a:schemeClr>
                    </a:solidFill>
                  </a:rPr>
                  <a:t>		</a:t>
                </a:r>
                <a14:m>
                  <m:oMath xmlns:m="http://schemas.openxmlformats.org/officeDocument/2006/math">
                    <m:sSub>
                      <m:sSubPr>
                        <m:ctrlPr>
                          <a:rPr lang="en-US" sz="2000" i="1">
                            <a:solidFill>
                              <a:schemeClr val="tx1">
                                <a:lumMod val="85000"/>
                                <a:lumOff val="15000"/>
                              </a:schemeClr>
                            </a:solidFill>
                            <a:latin typeface="Cambria Math" charset="0"/>
                          </a:rPr>
                        </m:ctrlPr>
                      </m:sSubPr>
                      <m:e>
                        <m:r>
                          <a:rPr lang="en-US" sz="2000" i="1">
                            <a:solidFill>
                              <a:schemeClr val="tx1">
                                <a:lumMod val="85000"/>
                                <a:lumOff val="15000"/>
                              </a:schemeClr>
                            </a:solidFill>
                            <a:latin typeface="Cambria Math" charset="0"/>
                          </a:rPr>
                          <m:t>𝑤</m:t>
                        </m:r>
                      </m:e>
                      <m:sub>
                        <m:r>
                          <a:rPr lang="en-US" sz="2000" i="1">
                            <a:solidFill>
                              <a:schemeClr val="tx1">
                                <a:lumMod val="85000"/>
                                <a:lumOff val="15000"/>
                              </a:schemeClr>
                            </a:solidFill>
                            <a:latin typeface="Cambria Math" charset="0"/>
                          </a:rPr>
                          <m:t>𝑑</m:t>
                        </m:r>
                      </m:sub>
                    </m:sSub>
                    <m:d>
                      <m:dPr>
                        <m:ctrlPr>
                          <a:rPr lang="en-US" sz="2000" i="1">
                            <a:solidFill>
                              <a:schemeClr val="tx1">
                                <a:lumMod val="85000"/>
                                <a:lumOff val="15000"/>
                              </a:schemeClr>
                            </a:solidFill>
                            <a:latin typeface="Cambria Math" charset="0"/>
                          </a:rPr>
                        </m:ctrlPr>
                      </m:dPr>
                      <m:e>
                        <m:r>
                          <a:rPr lang="en-US" sz="2000" i="1">
                            <a:solidFill>
                              <a:schemeClr val="tx1">
                                <a:lumMod val="85000"/>
                                <a:lumOff val="15000"/>
                              </a:schemeClr>
                            </a:solidFill>
                            <a:latin typeface="Cambria Math" charset="0"/>
                          </a:rPr>
                          <m:t>𝐿</m:t>
                        </m:r>
                      </m:e>
                    </m:d>
                    <m:r>
                      <a:rPr lang="en-US" sz="2000" i="1">
                        <a:solidFill>
                          <a:schemeClr val="tx1">
                            <a:lumMod val="85000"/>
                            <a:lumOff val="15000"/>
                          </a:schemeClr>
                        </a:solidFill>
                        <a:latin typeface="Cambria Math" charset="0"/>
                        <a:ea typeface="Cambria Math" charset="0"/>
                        <a:cs typeface="Cambria Math" charset="0"/>
                      </a:rPr>
                      <m:t>∝</m:t>
                    </m:r>
                    <m:sSup>
                      <m:sSupPr>
                        <m:ctrlPr>
                          <a:rPr lang="en-US" sz="2000" i="1">
                            <a:solidFill>
                              <a:schemeClr val="tx1">
                                <a:lumMod val="85000"/>
                                <a:lumOff val="15000"/>
                              </a:schemeClr>
                            </a:solidFill>
                            <a:latin typeface="Cambria Math" charset="0"/>
                            <a:ea typeface="Cambria Math" charset="0"/>
                            <a:cs typeface="Cambria Math" charset="0"/>
                          </a:rPr>
                        </m:ctrlPr>
                      </m:sSupPr>
                      <m:e>
                        <m:r>
                          <a:rPr lang="en-US" sz="2000" i="1">
                            <a:solidFill>
                              <a:schemeClr val="tx1">
                                <a:lumMod val="85000"/>
                                <a:lumOff val="15000"/>
                              </a:schemeClr>
                            </a:solidFill>
                            <a:latin typeface="Cambria Math" charset="0"/>
                            <a:ea typeface="Cambria Math" charset="0"/>
                            <a:cs typeface="Cambria Math" charset="0"/>
                          </a:rPr>
                          <m:t>𝐿</m:t>
                        </m:r>
                      </m:e>
                      <m:sup>
                        <m:f>
                          <m:fPr>
                            <m:ctrlPr>
                              <a:rPr lang="en-US" sz="2000" i="1">
                                <a:solidFill>
                                  <a:schemeClr val="tx1">
                                    <a:lumMod val="85000"/>
                                    <a:lumOff val="15000"/>
                                  </a:schemeClr>
                                </a:solidFill>
                                <a:latin typeface="Cambria Math" charset="0"/>
                                <a:ea typeface="Cambria Math" charset="0"/>
                                <a:cs typeface="Cambria Math" charset="0"/>
                              </a:rPr>
                            </m:ctrlPr>
                          </m:fPr>
                          <m:num>
                            <m:r>
                              <a:rPr lang="en-US" sz="2000" i="1">
                                <a:solidFill>
                                  <a:schemeClr val="tx1">
                                    <a:lumMod val="85000"/>
                                    <a:lumOff val="15000"/>
                                  </a:schemeClr>
                                </a:solidFill>
                                <a:latin typeface="Cambria Math" charset="0"/>
                                <a:ea typeface="Cambria Math" charset="0"/>
                                <a:cs typeface="Cambria Math" charset="0"/>
                              </a:rPr>
                              <m:t>5−</m:t>
                            </m:r>
                            <m:r>
                              <a:rPr lang="en-US" sz="2000" i="1">
                                <a:solidFill>
                                  <a:schemeClr val="tx1">
                                    <a:lumMod val="85000"/>
                                    <a:lumOff val="15000"/>
                                  </a:schemeClr>
                                </a:solidFill>
                                <a:latin typeface="Cambria Math" charset="0"/>
                                <a:ea typeface="Cambria Math" charset="0"/>
                                <a:cs typeface="Cambria Math" charset="0"/>
                              </a:rPr>
                              <m:t>𝑑</m:t>
                            </m:r>
                          </m:num>
                          <m:den>
                            <m:r>
                              <a:rPr lang="en-US" sz="2000" b="0" i="1" smtClean="0">
                                <a:solidFill>
                                  <a:schemeClr val="tx1">
                                    <a:lumMod val="85000"/>
                                    <a:lumOff val="15000"/>
                                  </a:schemeClr>
                                </a:solidFill>
                                <a:latin typeface="Cambria Math" charset="0"/>
                                <a:ea typeface="Cambria Math" charset="0"/>
                                <a:cs typeface="Cambria Math" charset="0"/>
                              </a:rPr>
                              <m:t>3</m:t>
                            </m:r>
                          </m:den>
                        </m:f>
                      </m:sup>
                    </m:sSup>
                  </m:oMath>
                </a14:m>
                <a:r>
                  <a:rPr lang="en-US" sz="2000" dirty="0">
                    <a:solidFill>
                      <a:schemeClr val="tx1">
                        <a:lumMod val="85000"/>
                        <a:lumOff val="15000"/>
                      </a:schemeClr>
                    </a:solidFill>
                  </a:rPr>
                  <a:t>  </a:t>
                </a:r>
                <a:endParaRPr lang="en-US" sz="2000" dirty="0" smtClean="0">
                  <a:solidFill>
                    <a:schemeClr val="tx1">
                      <a:lumMod val="85000"/>
                      <a:lumOff val="15000"/>
                    </a:schemeClr>
                  </a:solidFill>
                </a:endParaRPr>
              </a:p>
              <a:p>
                <a:endParaRPr lang="en-US" sz="2000" dirty="0">
                  <a:solidFill>
                    <a:schemeClr val="tx1">
                      <a:lumMod val="85000"/>
                      <a:lumOff val="15000"/>
                    </a:schemeClr>
                  </a:solidFill>
                </a:endParaRPr>
              </a:p>
              <a:p>
                <a:pPr marL="285750" indent="-285750">
                  <a:buFont typeface="Wingdings" charset="2"/>
                  <a:buChar char="§"/>
                </a:pPr>
                <a:r>
                  <a:rPr lang="en-US" sz="2000" dirty="0" smtClean="0">
                    <a:solidFill>
                      <a:schemeClr val="tx1">
                        <a:lumMod val="85000"/>
                        <a:lumOff val="15000"/>
                      </a:schemeClr>
                    </a:solidFill>
                  </a:rPr>
                  <a:t> for </a:t>
                </a:r>
                <a14:m>
                  <m:oMath xmlns:m="http://schemas.openxmlformats.org/officeDocument/2006/math">
                    <m:r>
                      <a:rPr lang="en-US" sz="2000" b="0" i="1" smtClean="0">
                        <a:solidFill>
                          <a:schemeClr val="tx1">
                            <a:lumMod val="85000"/>
                            <a:lumOff val="15000"/>
                          </a:schemeClr>
                        </a:solidFill>
                        <a:latin typeface="Cambria Math" charset="0"/>
                      </a:rPr>
                      <m:t>𝑑</m:t>
                    </m:r>
                    <m:r>
                      <a:rPr lang="en-US" sz="2000" b="0" i="1" smtClean="0">
                        <a:solidFill>
                          <a:schemeClr val="tx1">
                            <a:lumMod val="85000"/>
                            <a:lumOff val="15000"/>
                          </a:schemeClr>
                        </a:solidFill>
                        <a:latin typeface="Cambria Math" charset="0"/>
                      </a:rPr>
                      <m:t>&gt;2</m:t>
                    </m:r>
                  </m:oMath>
                </a14:m>
                <a:r>
                  <a:rPr lang="en-US" sz="2000" dirty="0" smtClean="0">
                    <a:solidFill>
                      <a:schemeClr val="tx1">
                        <a:lumMod val="85000"/>
                        <a:lumOff val="15000"/>
                      </a:schemeClr>
                    </a:solidFill>
                  </a:rPr>
                  <a:t>, the ratio  </a:t>
                </a:r>
                <a14:m>
                  <m:oMath xmlns:m="http://schemas.openxmlformats.org/officeDocument/2006/math">
                    <m:f>
                      <m:fPr>
                        <m:ctrlPr>
                          <a:rPr lang="en-US" sz="2000" b="0" i="1" smtClean="0">
                            <a:solidFill>
                              <a:schemeClr val="tx1">
                                <a:lumMod val="85000"/>
                                <a:lumOff val="15000"/>
                              </a:schemeClr>
                            </a:solidFill>
                            <a:latin typeface="Cambria Math" charset="0"/>
                          </a:rPr>
                        </m:ctrlPr>
                      </m:fPr>
                      <m:num>
                        <m:r>
                          <a:rPr lang="en-US" sz="2000" b="0" i="1" smtClean="0">
                            <a:solidFill>
                              <a:schemeClr val="tx1">
                                <a:lumMod val="85000"/>
                                <a:lumOff val="15000"/>
                              </a:schemeClr>
                            </a:solidFill>
                            <a:latin typeface="Cambria Math" charset="0"/>
                          </a:rPr>
                          <m:t>𝑤</m:t>
                        </m:r>
                      </m:num>
                      <m:den>
                        <m:r>
                          <a:rPr lang="en-US" sz="2000" b="0" i="1" smtClean="0">
                            <a:solidFill>
                              <a:schemeClr val="tx1">
                                <a:lumMod val="85000"/>
                                <a:lumOff val="15000"/>
                              </a:schemeClr>
                            </a:solidFill>
                            <a:latin typeface="Cambria Math" charset="0"/>
                          </a:rPr>
                          <m:t>𝐿</m:t>
                        </m:r>
                      </m:den>
                    </m:f>
                    <m:r>
                      <a:rPr lang="en-US" sz="2000" b="0" i="1" smtClean="0">
                        <a:solidFill>
                          <a:schemeClr val="tx1">
                            <a:lumMod val="85000"/>
                            <a:lumOff val="15000"/>
                          </a:schemeClr>
                        </a:solidFill>
                        <a:latin typeface="Cambria Math" charset="0"/>
                      </a:rPr>
                      <m:t>→0</m:t>
                    </m:r>
                  </m:oMath>
                </a14:m>
                <a:r>
                  <a:rPr lang="en-US" sz="2000" dirty="0" smtClean="0">
                    <a:solidFill>
                      <a:schemeClr val="tx1">
                        <a:lumMod val="85000"/>
                        <a:lumOff val="15000"/>
                      </a:schemeClr>
                    </a:solidFill>
                  </a:rPr>
                  <a:t> , implying,  </a:t>
                </a:r>
                <a14:m>
                  <m:oMath xmlns:m="http://schemas.openxmlformats.org/officeDocument/2006/math">
                    <m:sSub>
                      <m:sSubPr>
                        <m:ctrlPr>
                          <a:rPr lang="en-US" sz="2000" b="0" i="1" smtClean="0">
                            <a:solidFill>
                              <a:schemeClr val="accent2">
                                <a:lumMod val="50000"/>
                              </a:schemeClr>
                            </a:solidFill>
                            <a:latin typeface="Cambria Math" charset="0"/>
                          </a:rPr>
                        </m:ctrlPr>
                      </m:sSubPr>
                      <m:e>
                        <m:r>
                          <a:rPr lang="en-US" sz="2000" b="0" i="1" smtClean="0">
                            <a:solidFill>
                              <a:schemeClr val="accent2">
                                <a:lumMod val="50000"/>
                              </a:schemeClr>
                            </a:solidFill>
                            <a:latin typeface="Cambria Math" charset="0"/>
                          </a:rPr>
                          <m:t>𝑑</m:t>
                        </m:r>
                      </m:e>
                      <m:sub>
                        <m:r>
                          <a:rPr lang="en-US" sz="2000" b="0" i="1" smtClean="0">
                            <a:solidFill>
                              <a:schemeClr val="accent2">
                                <a:lumMod val="50000"/>
                              </a:schemeClr>
                            </a:solidFill>
                            <a:latin typeface="Cambria Math" charset="0"/>
                          </a:rPr>
                          <m:t>𝑐</m:t>
                        </m:r>
                      </m:sub>
                    </m:sSub>
                    <m:r>
                      <a:rPr lang="en-US" sz="2000" b="0" i="1" smtClean="0">
                        <a:solidFill>
                          <a:schemeClr val="accent2">
                            <a:lumMod val="50000"/>
                          </a:schemeClr>
                        </a:solidFill>
                        <a:latin typeface="Cambria Math" charset="0"/>
                      </a:rPr>
                      <m:t>=2</m:t>
                    </m:r>
                  </m:oMath>
                </a14:m>
                <a:r>
                  <a:rPr lang="en-US" sz="2000" dirty="0" smtClean="0">
                    <a:solidFill>
                      <a:schemeClr val="accent2">
                        <a:lumMod val="50000"/>
                      </a:schemeClr>
                    </a:solidFill>
                  </a:rPr>
                  <a:t>   </a:t>
                </a:r>
                <a:r>
                  <a:rPr lang="en-US" sz="2000" dirty="0" smtClean="0">
                    <a:solidFill>
                      <a:schemeClr val="tx1">
                        <a:lumMod val="85000"/>
                        <a:lumOff val="15000"/>
                      </a:schemeClr>
                    </a:solidFill>
                  </a:rPr>
                  <a:t>[3]</a:t>
                </a:r>
                <a:endParaRPr lang="en-US" sz="2000" dirty="0">
                  <a:solidFill>
                    <a:schemeClr val="tx1">
                      <a:lumMod val="85000"/>
                      <a:lumOff val="15000"/>
                    </a:schemeClr>
                  </a:solidFill>
                </a:endParaRPr>
              </a:p>
              <a:p>
                <a:pPr marL="285750" indent="-285750">
                  <a:buFont typeface="Wingdings" charset="2"/>
                  <a:buChar char="§"/>
                </a:pPr>
                <a:endParaRPr lang="en-US" dirty="0" smtClean="0">
                  <a:solidFill>
                    <a:schemeClr val="tx1">
                      <a:lumMod val="85000"/>
                      <a:lumOff val="1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5876788" y="1316842"/>
                <a:ext cx="6247744" cy="5653727"/>
              </a:xfrm>
              <a:prstGeom prst="rect">
                <a:avLst/>
              </a:prstGeom>
              <a:blipFill rotWithShape="0">
                <a:blip r:embed="rId4"/>
                <a:stretch>
                  <a:fillRect l="-976" t="-539"/>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xmlns="" id="{C143E3E0-E5AF-4DCA-8D45-ABF1F63F708D}"/>
              </a:ext>
            </a:extLst>
          </p:cNvPr>
          <p:cNvSpPr/>
          <p:nvPr/>
        </p:nvSpPr>
        <p:spPr>
          <a:xfrm>
            <a:off x="10220632" y="6192665"/>
            <a:ext cx="861642" cy="367920"/>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Tree>
    <p:extLst>
      <p:ext uri="{BB962C8B-B14F-4D97-AF65-F5344CB8AC3E}">
        <p14:creationId xmlns:p14="http://schemas.microsoft.com/office/powerpoint/2010/main" val="3289258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normAutofit/>
              </a:bodyPr>
              <a:lstStyle/>
              <a:p>
                <a:pPr marL="1371600" lvl="3" indent="0">
                  <a:buNone/>
                </a:pPr>
                <a:r>
                  <a:rPr lang="en-US" dirty="0" smtClean="0">
                    <a:solidFill>
                      <a:schemeClr val="tx1">
                        <a:lumMod val="65000"/>
                        <a:lumOff val="35000"/>
                      </a:schemeClr>
                    </a:solidFill>
                  </a:rPr>
                  <a:t>			 </a:t>
                </a:r>
                <a:r>
                  <a:rPr lang="en-US" sz="2000" dirty="0">
                    <a:solidFill>
                      <a:schemeClr val="tx1">
                        <a:lumMod val="85000"/>
                        <a:lumOff val="15000"/>
                      </a:schemeClr>
                    </a:solidFill>
                  </a:rPr>
                  <a:t>A </a:t>
                </a:r>
                <a:r>
                  <a:rPr lang="en-US" sz="2000" dirty="0" smtClean="0">
                    <a:solidFill>
                      <a:srgbClr val="FF0000"/>
                    </a:solidFill>
                  </a:rPr>
                  <a:t>random field</a:t>
                </a:r>
                <a:r>
                  <a:rPr lang="en-US" sz="2000" dirty="0" smtClean="0">
                    <a:solidFill>
                      <a:schemeClr val="tx1">
                        <a:lumMod val="85000"/>
                        <a:lumOff val="15000"/>
                      </a:schemeClr>
                    </a:solidFill>
                  </a:rPr>
                  <a:t> Heisenberg </a:t>
                </a:r>
                <a:r>
                  <a:rPr lang="en-US" sz="2000" dirty="0">
                    <a:solidFill>
                      <a:schemeClr val="tx1">
                        <a:lumMod val="85000"/>
                        <a:lumOff val="15000"/>
                      </a:schemeClr>
                    </a:solidFill>
                  </a:rPr>
                  <a:t>model for illustration,</a:t>
                </a:r>
              </a:p>
              <a:p>
                <a:pPr marL="1371600" lvl="3" indent="0">
                  <a:buNone/>
                </a:pPr>
                <a:r>
                  <a:rPr lang="en-US" sz="2000" b="0" dirty="0">
                    <a:solidFill>
                      <a:schemeClr val="tx1">
                        <a:lumMod val="85000"/>
                        <a:lumOff val="15000"/>
                      </a:schemeClr>
                    </a:solidFill>
                  </a:rPr>
                  <a:t>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𝐻</m:t>
                    </m:r>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𝐽</m:t>
                    </m:r>
                    <m:nary>
                      <m:naryPr>
                        <m:chr m:val="∑"/>
                        <m:supHide m:val="on"/>
                        <m:ctrlPr>
                          <a:rPr lang="en-US" sz="2000" b="0" i="1" smtClean="0">
                            <a:solidFill>
                              <a:schemeClr val="tx1">
                                <a:lumMod val="85000"/>
                                <a:lumOff val="15000"/>
                              </a:schemeClr>
                            </a:solidFill>
                            <a:latin typeface="Cambria Math" charset="0"/>
                          </a:rPr>
                        </m:ctrlPr>
                      </m:naryPr>
                      <m:sub>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𝑖</m:t>
                        </m:r>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𝑗</m:t>
                        </m:r>
                        <m:r>
                          <a:rPr lang="en-US" sz="2000" b="0" i="1" smtClean="0">
                            <a:solidFill>
                              <a:schemeClr val="tx1">
                                <a:lumMod val="85000"/>
                                <a:lumOff val="15000"/>
                              </a:schemeClr>
                            </a:solidFill>
                            <a:latin typeface="Cambria Math" panose="02040503050406030204" pitchFamily="18" charset="0"/>
                          </a:rPr>
                          <m:t>⟩</m:t>
                        </m:r>
                      </m:sub>
                      <m:sup/>
                      <m:e>
                        <m:r>
                          <a:rPr lang="en-US" sz="2000" b="0" i="1" smtClean="0">
                            <a:solidFill>
                              <a:schemeClr val="tx1">
                                <a:lumMod val="85000"/>
                                <a:lumOff val="15000"/>
                              </a:schemeClr>
                            </a:solidFill>
                            <a:latin typeface="Cambria Math" panose="02040503050406030204" pitchFamily="18" charset="0"/>
                          </a:rPr>
                          <m:t> </m:t>
                        </m:r>
                        <m:sSub>
                          <m:sSubPr>
                            <m:ctrlPr>
                              <a:rPr lang="en-US" sz="2000" b="0" i="1" smtClean="0">
                                <a:solidFill>
                                  <a:schemeClr val="tx1">
                                    <a:lumMod val="85000"/>
                                    <a:lumOff val="15000"/>
                                  </a:schemeClr>
                                </a:solidFill>
                                <a:latin typeface="Cambria Math" charset="0"/>
                              </a:rPr>
                            </m:ctrlPr>
                          </m:sSubPr>
                          <m:e>
                            <m:acc>
                              <m:accPr>
                                <m:chr m:val="⃗"/>
                                <m:ctrlPr>
                                  <a:rPr lang="en-US" sz="2000" b="0" i="1" smtClean="0">
                                    <a:solidFill>
                                      <a:schemeClr val="tx1">
                                        <a:lumMod val="85000"/>
                                        <a:lumOff val="15000"/>
                                      </a:schemeClr>
                                    </a:solidFill>
                                    <a:latin typeface="Cambria Math" charset="0"/>
                                  </a:rPr>
                                </m:ctrlPr>
                              </m:accPr>
                              <m:e>
                                <m:r>
                                  <a:rPr lang="en-US" sz="2000" b="0" i="1" smtClean="0">
                                    <a:solidFill>
                                      <a:schemeClr val="tx1">
                                        <a:lumMod val="85000"/>
                                        <a:lumOff val="15000"/>
                                      </a:schemeClr>
                                    </a:solidFill>
                                    <a:latin typeface="Cambria Math" panose="02040503050406030204" pitchFamily="18" charset="0"/>
                                  </a:rPr>
                                  <m:t>𝑆</m:t>
                                </m:r>
                              </m:e>
                            </m:acc>
                          </m:e>
                          <m:sub>
                            <m:r>
                              <a:rPr lang="en-US" sz="2000" b="0" i="1" smtClean="0">
                                <a:solidFill>
                                  <a:schemeClr val="tx1">
                                    <a:lumMod val="85000"/>
                                    <a:lumOff val="15000"/>
                                  </a:schemeClr>
                                </a:solidFill>
                                <a:latin typeface="Cambria Math" panose="02040503050406030204" pitchFamily="18" charset="0"/>
                              </a:rPr>
                              <m:t>𝑖</m:t>
                            </m:r>
                          </m:sub>
                        </m:sSub>
                        <m:r>
                          <a:rPr lang="en-US" sz="2000" b="0" i="1" smtClean="0">
                            <a:solidFill>
                              <a:schemeClr val="tx1">
                                <a:lumMod val="85000"/>
                                <a:lumOff val="15000"/>
                              </a:schemeClr>
                            </a:solidFill>
                            <a:latin typeface="Cambria Math" panose="02040503050406030204" pitchFamily="18" charset="0"/>
                          </a:rPr>
                          <m:t>.</m:t>
                        </m:r>
                        <m:sSub>
                          <m:sSubPr>
                            <m:ctrlPr>
                              <a:rPr lang="en-US" sz="2000" b="0" i="1" smtClean="0">
                                <a:solidFill>
                                  <a:schemeClr val="tx1">
                                    <a:lumMod val="85000"/>
                                    <a:lumOff val="15000"/>
                                  </a:schemeClr>
                                </a:solidFill>
                                <a:latin typeface="Cambria Math" charset="0"/>
                              </a:rPr>
                            </m:ctrlPr>
                          </m:sSubPr>
                          <m:e>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𝑆</m:t>
                                </m:r>
                              </m:e>
                            </m:acc>
                          </m:e>
                          <m:sub>
                            <m:r>
                              <a:rPr lang="en-US" sz="2000" b="0" i="1" smtClean="0">
                                <a:solidFill>
                                  <a:schemeClr val="tx1">
                                    <a:lumMod val="85000"/>
                                    <a:lumOff val="15000"/>
                                  </a:schemeClr>
                                </a:solidFill>
                                <a:latin typeface="Cambria Math" panose="02040503050406030204" pitchFamily="18" charset="0"/>
                              </a:rPr>
                              <m:t>𝑗</m:t>
                            </m:r>
                          </m:sub>
                        </m:sSub>
                      </m:e>
                    </m:nary>
                    <m:r>
                      <a:rPr lang="en-US" sz="2000" b="0" i="1" smtClean="0">
                        <a:solidFill>
                          <a:schemeClr val="tx1">
                            <a:lumMod val="85000"/>
                            <a:lumOff val="15000"/>
                          </a:schemeClr>
                        </a:solidFill>
                        <a:latin typeface="Cambria Math" panose="02040503050406030204" pitchFamily="18" charset="0"/>
                      </a:rPr>
                      <m:t>+</m:t>
                    </m:r>
                    <m:nary>
                      <m:naryPr>
                        <m:chr m:val="∑"/>
                        <m:supHide m:val="on"/>
                        <m:ctrlPr>
                          <a:rPr lang="en-US" sz="2000" b="0" i="1" smtClean="0">
                            <a:solidFill>
                              <a:schemeClr val="tx1">
                                <a:lumMod val="85000"/>
                                <a:lumOff val="15000"/>
                              </a:schemeClr>
                            </a:solidFill>
                            <a:latin typeface="Cambria Math" charset="0"/>
                          </a:rPr>
                        </m:ctrlPr>
                      </m:naryPr>
                      <m:sub>
                        <m:r>
                          <m:rPr>
                            <m:brk m:alnAt="7"/>
                          </m:rPr>
                          <a:rPr lang="en-US" sz="2000" b="0" i="1" smtClean="0">
                            <a:solidFill>
                              <a:schemeClr val="tx1">
                                <a:lumMod val="85000"/>
                                <a:lumOff val="15000"/>
                              </a:schemeClr>
                            </a:solidFill>
                            <a:latin typeface="Cambria Math" panose="02040503050406030204" pitchFamily="18" charset="0"/>
                          </a:rPr>
                          <m:t>𝑖</m:t>
                        </m:r>
                      </m:sub>
                      <m:sup/>
                      <m:e>
                        <m:sSub>
                          <m:sSubPr>
                            <m:ctrlPr>
                              <a:rPr lang="en-US" sz="2000" b="0" i="1" smtClean="0">
                                <a:solidFill>
                                  <a:srgbClr val="FF0000"/>
                                </a:solidFill>
                                <a:latin typeface="Cambria Math" charset="0"/>
                              </a:rPr>
                            </m:ctrlPr>
                          </m:sSubPr>
                          <m:e>
                            <m:acc>
                              <m:accPr>
                                <m:chr m:val="⃗"/>
                                <m:ctrlPr>
                                  <a:rPr lang="en-US" sz="2000" b="0" i="1" smtClean="0">
                                    <a:solidFill>
                                      <a:srgbClr val="FF0000"/>
                                    </a:solidFill>
                                    <a:latin typeface="Cambria Math" charset="0"/>
                                  </a:rPr>
                                </m:ctrlPr>
                              </m:accPr>
                              <m:e>
                                <m:r>
                                  <a:rPr lang="en-US" sz="2000" b="0" i="1" smtClean="0">
                                    <a:solidFill>
                                      <a:srgbClr val="FF0000"/>
                                    </a:solidFill>
                                    <a:latin typeface="Cambria Math" panose="02040503050406030204" pitchFamily="18" charset="0"/>
                                  </a:rPr>
                                  <m:t>h</m:t>
                                </m:r>
                              </m:e>
                            </m:acc>
                          </m:e>
                          <m:sub>
                            <m:r>
                              <a:rPr lang="en-US" sz="2000" b="0" i="1" smtClean="0">
                                <a:solidFill>
                                  <a:srgbClr val="FF0000"/>
                                </a:solidFill>
                                <a:latin typeface="Cambria Math" panose="02040503050406030204" pitchFamily="18" charset="0"/>
                              </a:rPr>
                              <m:t>𝑖</m:t>
                            </m:r>
                          </m:sub>
                        </m:sSub>
                        <m:r>
                          <a:rPr lang="en-US" sz="2000" b="0" i="1" smtClean="0">
                            <a:solidFill>
                              <a:schemeClr val="tx1">
                                <a:lumMod val="85000"/>
                                <a:lumOff val="15000"/>
                              </a:schemeClr>
                            </a:solidFill>
                            <a:latin typeface="Cambria Math" panose="02040503050406030204" pitchFamily="18" charset="0"/>
                          </a:rPr>
                          <m:t>.</m:t>
                        </m:r>
                        <m:sSub>
                          <m:sSubPr>
                            <m:ctrlPr>
                              <a:rPr lang="en-US" sz="2000" b="0" i="1" smtClean="0">
                                <a:solidFill>
                                  <a:schemeClr val="tx1">
                                    <a:lumMod val="85000"/>
                                    <a:lumOff val="15000"/>
                                  </a:schemeClr>
                                </a:solidFill>
                                <a:latin typeface="Cambria Math" charset="0"/>
                              </a:rPr>
                            </m:ctrlPr>
                          </m:sSubPr>
                          <m:e>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𝑆</m:t>
                                </m:r>
                              </m:e>
                            </m:acc>
                          </m:e>
                          <m:sub>
                            <m:r>
                              <a:rPr lang="en-US" sz="2000" b="0" i="1" smtClean="0">
                                <a:solidFill>
                                  <a:schemeClr val="tx1">
                                    <a:lumMod val="85000"/>
                                    <a:lumOff val="15000"/>
                                  </a:schemeClr>
                                </a:solidFill>
                                <a:latin typeface="Cambria Math" panose="02040503050406030204" pitchFamily="18" charset="0"/>
                              </a:rPr>
                              <m:t>𝑖</m:t>
                            </m:r>
                          </m:sub>
                        </m:sSub>
                      </m:e>
                    </m:nary>
                  </m:oMath>
                </a14:m>
                <a:endParaRPr lang="en-US" sz="2000" dirty="0" smtClean="0">
                  <a:solidFill>
                    <a:schemeClr val="tx1">
                      <a:lumMod val="85000"/>
                      <a:lumOff val="15000"/>
                    </a:schemeClr>
                  </a:solidFill>
                </a:endParaRPr>
              </a:p>
              <a:p>
                <a:pPr marL="1371600" lvl="3" indent="0">
                  <a:buNone/>
                </a:pPr>
                <a:r>
                  <a:rPr lang="en-US" sz="2000" dirty="0"/>
                  <a:t>	</a:t>
                </a:r>
                <a:endParaRPr lang="en-US" sz="2000" dirty="0" smtClean="0"/>
              </a:p>
              <a:p>
                <a:pPr marL="1371600" lvl="3" indent="0">
                  <a:buNone/>
                </a:pPr>
                <a:r>
                  <a:rPr lang="en-US" sz="2000" dirty="0">
                    <a:solidFill>
                      <a:schemeClr val="tx1">
                        <a:lumMod val="85000"/>
                        <a:lumOff val="15000"/>
                      </a:schemeClr>
                    </a:solidFill>
                  </a:rPr>
                  <a:t>	</a:t>
                </a:r>
                <a:r>
                  <a:rPr lang="en-US" sz="2000" dirty="0" smtClean="0">
                    <a:solidFill>
                      <a:schemeClr val="tx1">
                        <a:lumMod val="85000"/>
                        <a:lumOff val="15000"/>
                      </a:schemeClr>
                    </a:solidFill>
                  </a:rPr>
                  <a:t>		Order parameter can smoothly vary</a:t>
                </a:r>
              </a:p>
              <a:p>
                <a:pPr marL="1371600" lvl="3" indent="0">
                  <a:buNone/>
                </a:pPr>
                <a:r>
                  <a:rPr lang="en-US" sz="2000" dirty="0"/>
                  <a:t>	</a:t>
                </a:r>
                <a:r>
                  <a:rPr lang="en-US" sz="2000" dirty="0" smtClean="0"/>
                  <a:t>		between domains, costing less </a:t>
                </a:r>
              </a:p>
              <a:p>
                <a:pPr marL="1371600" lvl="3" indent="0">
                  <a:buNone/>
                </a:pPr>
                <a:r>
                  <a:rPr lang="en-US" sz="2000" dirty="0"/>
                  <a:t>	</a:t>
                </a:r>
                <a:r>
                  <a:rPr lang="en-US" sz="2000" dirty="0" smtClean="0"/>
                  <a:t>		energy</a:t>
                </a: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p>
              <a:p>
                <a:pPr marL="1371600" lvl="3" indent="0">
                  <a:buNone/>
                </a:pPr>
                <a:r>
                  <a:rPr lang="en-US" sz="2000" dirty="0">
                    <a:solidFill>
                      <a:schemeClr val="tx1">
                        <a:lumMod val="85000"/>
                        <a:lumOff val="15000"/>
                      </a:schemeClr>
                    </a:solidFill>
                  </a:rPr>
                  <a:t>	</a:t>
                </a:r>
                <a:r>
                  <a:rPr lang="en-US" sz="2000" dirty="0" smtClean="0">
                    <a:solidFill>
                      <a:schemeClr val="tx1">
                        <a:lumMod val="85000"/>
                        <a:lumOff val="15000"/>
                      </a:schemeClr>
                    </a:solidFill>
                  </a:rPr>
                  <a:t>		So </a:t>
                </a:r>
                <a:r>
                  <a:rPr lang="en-US" sz="2000" dirty="0">
                    <a:solidFill>
                      <a:schemeClr val="tx1">
                        <a:lumMod val="85000"/>
                        <a:lumOff val="15000"/>
                      </a:schemeClr>
                    </a:solidFill>
                  </a:rPr>
                  <a:t>the </a:t>
                </a:r>
                <a:r>
                  <a:rPr lang="en-US" sz="2000" dirty="0" smtClean="0">
                    <a:solidFill>
                      <a:schemeClr val="tx1">
                        <a:lumMod val="85000"/>
                        <a:lumOff val="15000"/>
                      </a:schemeClr>
                    </a:solidFill>
                  </a:rPr>
                  <a:t>lower critical </a:t>
                </a:r>
                <a:r>
                  <a:rPr lang="en-US" sz="2000" dirty="0">
                    <a:solidFill>
                      <a:schemeClr val="tx1">
                        <a:lumMod val="85000"/>
                        <a:lumOff val="15000"/>
                      </a:schemeClr>
                    </a:solidFill>
                  </a:rPr>
                  <a:t>dimension </a:t>
                </a:r>
                <a:endParaRPr lang="en-US" sz="2000" dirty="0" smtClean="0">
                  <a:solidFill>
                    <a:schemeClr val="tx1">
                      <a:lumMod val="85000"/>
                      <a:lumOff val="15000"/>
                    </a:schemeClr>
                  </a:solidFill>
                </a:endParaRPr>
              </a:p>
              <a:p>
                <a:pPr marL="1371600" lvl="3" indent="0">
                  <a:buNone/>
                </a:pPr>
                <a:r>
                  <a:rPr lang="en-US" sz="2000" dirty="0"/>
                  <a:t>	</a:t>
                </a:r>
                <a:r>
                  <a:rPr lang="en-US" sz="2000" dirty="0" smtClean="0"/>
                  <a:t>		</a:t>
                </a:r>
                <a:r>
                  <a:rPr lang="en-US" sz="2000" dirty="0" smtClean="0">
                    <a:solidFill>
                      <a:schemeClr val="tx1">
                        <a:lumMod val="85000"/>
                        <a:lumOff val="15000"/>
                      </a:schemeClr>
                    </a:solidFill>
                  </a:rPr>
                  <a:t>for continuous </a:t>
                </a:r>
                <a:r>
                  <a:rPr lang="en-US" sz="2000" dirty="0">
                    <a:solidFill>
                      <a:schemeClr val="tx1">
                        <a:lumMod val="85000"/>
                        <a:lumOff val="15000"/>
                      </a:schemeClr>
                    </a:solidFill>
                  </a:rPr>
                  <a:t>symmetries </a:t>
                </a:r>
                <a:r>
                  <a:rPr lang="en-US" sz="2000" dirty="0" smtClean="0">
                    <a:solidFill>
                      <a:schemeClr val="tx1">
                        <a:lumMod val="85000"/>
                        <a:lumOff val="15000"/>
                      </a:schemeClr>
                    </a:solidFill>
                  </a:rPr>
                  <a:t>is</a:t>
                </a:r>
                <a:r>
                  <a:rPr lang="en-US" sz="2000" dirty="0" smtClean="0"/>
                  <a:t>,</a:t>
                </a: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a:p>
                <a:pPr marL="1371600" lvl="3" indent="0">
                  <a:buNone/>
                </a:pPr>
                <a:endParaRPr lang="en-US" sz="2000" dirty="0">
                  <a:solidFill>
                    <a:schemeClr val="tx1">
                      <a:lumMod val="85000"/>
                      <a:lumOff val="15000"/>
                    </a:schemeClr>
                  </a:solidFill>
                </a:endParaRPr>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140360"/>
              </a:xfrm>
              <a:blipFill rotWithShape="0">
                <a:blip r:embed="rId2"/>
                <a:stretch>
                  <a:fillRect t="-30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xmlns="" id="{D965DC8C-5D24-4856-9EE5-683EA53FA046}"/>
                  </a:ext>
                </a:extLst>
              </p:cNvPr>
              <p:cNvSpPr txBox="1"/>
              <p:nvPr/>
            </p:nvSpPr>
            <p:spPr>
              <a:xfrm>
                <a:off x="5022290" y="4013537"/>
                <a:ext cx="2140683" cy="1266180"/>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𝑏𝑢𝑙𝑘</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/2</m:t>
                          </m:r>
                        </m:sup>
                      </m:sSup>
                    </m:oMath>
                  </m:oMathPara>
                </a14:m>
                <a:endParaRPr lang="en-US" b="0" i="1" dirty="0" smtClean="0">
                  <a:latin typeface="Cambria Math"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𝑠𝑢𝑟𝑓𝑎𝑐𝑒</m:t>
                          </m:r>
                        </m:sub>
                      </m:sSub>
                      <m:r>
                        <a:rPr lang="en-US" i="1">
                          <a:latin typeface="Cambria Math" panose="02040503050406030204" pitchFamily="18" charset="0"/>
                          <a:ea typeface="Cambria Math" panose="02040503050406030204" pitchFamily="18" charset="0"/>
                        </a:rPr>
                        <m:t>~</m:t>
                      </m:r>
                      <m:sSup>
                        <m:sSupPr>
                          <m:ctrlPr>
                            <a:rPr lang="en-US" i="1">
                              <a:latin typeface="Cambria Math"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𝐿</m:t>
                          </m:r>
                        </m:e>
                        <m:sup>
                          <m:r>
                            <a:rPr lang="en-US" i="1">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−2</m:t>
                          </m:r>
                        </m:sup>
                      </m:sSup>
                    </m:oMath>
                  </m:oMathPara>
                </a14:m>
                <a:endParaRPr lang="en-US" i="1" dirty="0">
                  <a:latin typeface="Cambria Math" panose="02040503050406030204" pitchFamily="18" charset="0"/>
                  <a:ea typeface="Cambria Math" panose="02040503050406030204" pitchFamily="18" charset="0"/>
                </a:endParaRPr>
              </a:p>
              <a:p>
                <a:endParaRPr lang="en-US" i="1" dirty="0">
                  <a:latin typeface="Cambria Math" panose="02040503050406030204" pitchFamily="18" charset="0"/>
                  <a:ea typeface="Cambria Math" panose="02040503050406030204" pitchFamily="18" charset="0"/>
                </a:endParaRPr>
              </a:p>
            </p:txBody>
          </p:sp>
        </mc:Choice>
        <mc:Fallback xmlns="">
          <p:sp>
            <p:nvSpPr>
              <p:cNvPr id="64" name="TextBox 63">
                <a:extLst>
                  <a:ext uri="{FF2B5EF4-FFF2-40B4-BE49-F238E27FC236}">
                    <a16:creationId xmlns:a16="http://schemas.microsoft.com/office/drawing/2014/main" xmlns="" xmlns:a14="http://schemas.microsoft.com/office/drawing/2010/main" id="{D965DC8C-5D24-4856-9EE5-683EA53FA046}"/>
                  </a:ext>
                </a:extLst>
              </p:cNvPr>
              <p:cNvSpPr txBox="1">
                <a:spLocks noRot="1" noChangeAspect="1" noMove="1" noResize="1" noEditPoints="1" noAdjustHandles="1" noChangeArrowheads="1" noChangeShapeType="1" noTextEdit="1"/>
              </p:cNvSpPr>
              <p:nvPr/>
            </p:nvSpPr>
            <p:spPr>
              <a:xfrm>
                <a:off x="5022290" y="4013537"/>
                <a:ext cx="2140683" cy="126618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71" name="Ink 170">
                <a:extLst>
                  <a:ext uri="{FF2B5EF4-FFF2-40B4-BE49-F238E27FC236}">
                    <a16:creationId xmlns:a16="http://schemas.microsoft.com/office/drawing/2014/main" xmlns="" id="{36D6A4EF-FF31-4D85-9EA7-011A1C2AED8F}"/>
                  </a:ext>
                </a:extLst>
              </p14:cNvPr>
              <p14:cNvContentPartPr/>
              <p14:nvPr/>
            </p14:nvContentPartPr>
            <p14:xfrm>
              <a:off x="7797290" y="2582352"/>
              <a:ext cx="3687840" cy="3082680"/>
            </p14:xfrm>
          </p:contentPart>
        </mc:Choice>
        <mc:Fallback xmlns="">
          <p:pic>
            <p:nvPicPr>
              <p:cNvPr id="171" name="Ink 170">
                <a:extLst>
                  <a:ext uri="{FF2B5EF4-FFF2-40B4-BE49-F238E27FC236}">
                    <a16:creationId xmlns:a16="http://schemas.microsoft.com/office/drawing/2014/main" id="{36D6A4EF-FF31-4D85-9EA7-011A1C2AED8F}"/>
                  </a:ext>
                </a:extLst>
              </p:cNvPr>
              <p:cNvPicPr/>
              <p:nvPr/>
            </p:nvPicPr>
            <p:blipFill>
              <a:blip r:embed="rId5"/>
              <a:stretch>
                <a:fillRect/>
              </a:stretch>
            </p:blipFill>
            <p:spPr>
              <a:xfrm>
                <a:off x="7788290" y="2573352"/>
                <a:ext cx="3705480" cy="3100320"/>
              </a:xfrm>
              <a:prstGeom prst="rect">
                <a:avLst/>
              </a:prstGeom>
            </p:spPr>
          </p:pic>
        </mc:Fallback>
      </mc:AlternateContent>
      <p:sp>
        <p:nvSpPr>
          <p:cNvPr id="172" name="Arrow: Up 171">
            <a:extLst>
              <a:ext uri="{FF2B5EF4-FFF2-40B4-BE49-F238E27FC236}">
                <a16:creationId xmlns:a16="http://schemas.microsoft.com/office/drawing/2014/main" xmlns="" id="{7A00A1F6-B35F-490B-974A-FF114A009BD6}"/>
              </a:ext>
            </a:extLst>
          </p:cNvPr>
          <p:cNvSpPr/>
          <p:nvPr/>
        </p:nvSpPr>
        <p:spPr>
          <a:xfrm rot="20239931">
            <a:off x="8405180" y="433149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3" name="Arrow: Up 172">
            <a:extLst>
              <a:ext uri="{FF2B5EF4-FFF2-40B4-BE49-F238E27FC236}">
                <a16:creationId xmlns:a16="http://schemas.microsoft.com/office/drawing/2014/main" xmlns="" id="{0289087C-749D-4E87-92D5-400745279345}"/>
              </a:ext>
            </a:extLst>
          </p:cNvPr>
          <p:cNvSpPr/>
          <p:nvPr/>
        </p:nvSpPr>
        <p:spPr>
          <a:xfrm>
            <a:off x="8697501" y="408346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4" name="Arrow: Up 173">
            <a:extLst>
              <a:ext uri="{FF2B5EF4-FFF2-40B4-BE49-F238E27FC236}">
                <a16:creationId xmlns:a16="http://schemas.microsoft.com/office/drawing/2014/main" xmlns="" id="{259E5CF2-2A4F-4FA0-ABA0-1AAC41D4F7DC}"/>
              </a:ext>
            </a:extLst>
          </p:cNvPr>
          <p:cNvSpPr/>
          <p:nvPr/>
        </p:nvSpPr>
        <p:spPr>
          <a:xfrm rot="1652651">
            <a:off x="9013070" y="442181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5" name="Arrow: Up 174">
            <a:extLst>
              <a:ext uri="{FF2B5EF4-FFF2-40B4-BE49-F238E27FC236}">
                <a16:creationId xmlns:a16="http://schemas.microsoft.com/office/drawing/2014/main" xmlns="" id="{9D1E1B25-A72B-42AF-B258-9F0F547CD69D}"/>
              </a:ext>
            </a:extLst>
          </p:cNvPr>
          <p:cNvSpPr/>
          <p:nvPr/>
        </p:nvSpPr>
        <p:spPr>
          <a:xfrm>
            <a:off x="8697501" y="485173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6" name="Arrow: Up 175">
            <a:extLst>
              <a:ext uri="{FF2B5EF4-FFF2-40B4-BE49-F238E27FC236}">
                <a16:creationId xmlns:a16="http://schemas.microsoft.com/office/drawing/2014/main" xmlns="" id="{92F6E157-F5EB-4F99-B992-1147F818CA87}"/>
              </a:ext>
            </a:extLst>
          </p:cNvPr>
          <p:cNvSpPr/>
          <p:nvPr/>
        </p:nvSpPr>
        <p:spPr>
          <a:xfrm rot="18694737">
            <a:off x="8090205" y="481055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7" name="Arrow: Up 176">
            <a:extLst>
              <a:ext uri="{FF2B5EF4-FFF2-40B4-BE49-F238E27FC236}">
                <a16:creationId xmlns:a16="http://schemas.microsoft.com/office/drawing/2014/main" xmlns="" id="{911E6645-1E13-4124-9E3B-80E28040FF88}"/>
              </a:ext>
            </a:extLst>
          </p:cNvPr>
          <p:cNvSpPr/>
          <p:nvPr/>
        </p:nvSpPr>
        <p:spPr>
          <a:xfrm rot="2948130">
            <a:off x="9282297" y="366784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8" name="Arrow: Up 177">
            <a:extLst>
              <a:ext uri="{FF2B5EF4-FFF2-40B4-BE49-F238E27FC236}">
                <a16:creationId xmlns:a16="http://schemas.microsoft.com/office/drawing/2014/main" xmlns="" id="{A269CDDD-DC29-42D7-B184-43B8006FB27C}"/>
              </a:ext>
            </a:extLst>
          </p:cNvPr>
          <p:cNvSpPr/>
          <p:nvPr/>
        </p:nvSpPr>
        <p:spPr>
          <a:xfrm rot="4365331">
            <a:off x="9484019" y="421400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79" name="Arrow: Up 178">
            <a:extLst>
              <a:ext uri="{FF2B5EF4-FFF2-40B4-BE49-F238E27FC236}">
                <a16:creationId xmlns:a16="http://schemas.microsoft.com/office/drawing/2014/main" xmlns="" id="{5B2F95B1-D347-45E9-9912-7C63250EBFE7}"/>
              </a:ext>
            </a:extLst>
          </p:cNvPr>
          <p:cNvSpPr/>
          <p:nvPr/>
        </p:nvSpPr>
        <p:spPr>
          <a:xfrm rot="2948130">
            <a:off x="9332733" y="482008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80" name="Arrow: Up 179">
            <a:extLst>
              <a:ext uri="{FF2B5EF4-FFF2-40B4-BE49-F238E27FC236}">
                <a16:creationId xmlns:a16="http://schemas.microsoft.com/office/drawing/2014/main" xmlns="" id="{5F227862-E333-4ACE-8ED7-ADE19EDC4AC8}"/>
              </a:ext>
            </a:extLst>
          </p:cNvPr>
          <p:cNvSpPr/>
          <p:nvPr/>
        </p:nvSpPr>
        <p:spPr>
          <a:xfrm rot="1652651">
            <a:off x="8912220" y="365010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81" name="Arrow: Up 180">
            <a:extLst>
              <a:ext uri="{FF2B5EF4-FFF2-40B4-BE49-F238E27FC236}">
                <a16:creationId xmlns:a16="http://schemas.microsoft.com/office/drawing/2014/main" xmlns="" id="{DBF7DE61-57CE-4F74-A362-957FCB3EA43B}"/>
              </a:ext>
            </a:extLst>
          </p:cNvPr>
          <p:cNvSpPr/>
          <p:nvPr/>
        </p:nvSpPr>
        <p:spPr>
          <a:xfrm rot="1652651">
            <a:off x="9058226" y="520904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82" name="Arrow: Up 181">
            <a:extLst>
              <a:ext uri="{FF2B5EF4-FFF2-40B4-BE49-F238E27FC236}">
                <a16:creationId xmlns:a16="http://schemas.microsoft.com/office/drawing/2014/main" xmlns="" id="{EB1B1431-E8F7-46E3-9CF0-3290E5AC1232}"/>
              </a:ext>
            </a:extLst>
          </p:cNvPr>
          <p:cNvSpPr/>
          <p:nvPr/>
        </p:nvSpPr>
        <p:spPr>
          <a:xfrm rot="20239931">
            <a:off x="8383120" y="505953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83" name="Arrow: Up 182">
            <a:extLst>
              <a:ext uri="{FF2B5EF4-FFF2-40B4-BE49-F238E27FC236}">
                <a16:creationId xmlns:a16="http://schemas.microsoft.com/office/drawing/2014/main" xmlns="" id="{92AABBCD-C636-4E6D-9C37-1825097A83F3}"/>
              </a:ext>
            </a:extLst>
          </p:cNvPr>
          <p:cNvSpPr/>
          <p:nvPr/>
        </p:nvSpPr>
        <p:spPr>
          <a:xfrm rot="18694737">
            <a:off x="8098595" y="41030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184" name="Arrow: Up 183">
            <a:extLst>
              <a:ext uri="{FF2B5EF4-FFF2-40B4-BE49-F238E27FC236}">
                <a16:creationId xmlns:a16="http://schemas.microsoft.com/office/drawing/2014/main" xmlns="" id="{7A2C6282-5845-472C-9F5F-7D0DD61D346D}"/>
              </a:ext>
            </a:extLst>
          </p:cNvPr>
          <p:cNvSpPr/>
          <p:nvPr/>
        </p:nvSpPr>
        <p:spPr>
          <a:xfrm rot="6011006">
            <a:off x="9661235" y="326530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85" name="Arrow: Up 184">
            <a:extLst>
              <a:ext uri="{FF2B5EF4-FFF2-40B4-BE49-F238E27FC236}">
                <a16:creationId xmlns:a16="http://schemas.microsoft.com/office/drawing/2014/main" xmlns="" id="{6FA07B1D-1721-47BD-81D9-0FFEBE03BEF1}"/>
              </a:ext>
            </a:extLst>
          </p:cNvPr>
          <p:cNvSpPr/>
          <p:nvPr/>
        </p:nvSpPr>
        <p:spPr>
          <a:xfrm rot="7843539">
            <a:off x="9922426" y="397933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86" name="Arrow: Up 185">
            <a:extLst>
              <a:ext uri="{FF2B5EF4-FFF2-40B4-BE49-F238E27FC236}">
                <a16:creationId xmlns:a16="http://schemas.microsoft.com/office/drawing/2014/main" xmlns="" id="{77BD0DA4-03B1-495F-A296-7F7986879698}"/>
              </a:ext>
            </a:extLst>
          </p:cNvPr>
          <p:cNvSpPr/>
          <p:nvPr/>
        </p:nvSpPr>
        <p:spPr>
          <a:xfrm rot="9646719">
            <a:off x="9996375" y="2783454"/>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87" name="Arrow: Up 186">
            <a:extLst>
              <a:ext uri="{FF2B5EF4-FFF2-40B4-BE49-F238E27FC236}">
                <a16:creationId xmlns:a16="http://schemas.microsoft.com/office/drawing/2014/main" xmlns="" id="{DAFA45C3-3343-4B54-81AC-12260187CB24}"/>
              </a:ext>
            </a:extLst>
          </p:cNvPr>
          <p:cNvSpPr/>
          <p:nvPr/>
        </p:nvSpPr>
        <p:spPr>
          <a:xfrm rot="10553083">
            <a:off x="10280476" y="332238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88" name="Arrow: Up 187">
            <a:extLst>
              <a:ext uri="{FF2B5EF4-FFF2-40B4-BE49-F238E27FC236}">
                <a16:creationId xmlns:a16="http://schemas.microsoft.com/office/drawing/2014/main" xmlns="" id="{F7F94D42-128E-4AE7-B231-48227E63F211}"/>
              </a:ext>
            </a:extLst>
          </p:cNvPr>
          <p:cNvSpPr/>
          <p:nvPr/>
        </p:nvSpPr>
        <p:spPr>
          <a:xfrm rot="11394758">
            <a:off x="10405898" y="2655523"/>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89" name="Arrow: Up 188">
            <a:extLst>
              <a:ext uri="{FF2B5EF4-FFF2-40B4-BE49-F238E27FC236}">
                <a16:creationId xmlns:a16="http://schemas.microsoft.com/office/drawing/2014/main" xmlns="" id="{A2283F56-B981-404D-B543-7070EA478622}"/>
              </a:ext>
            </a:extLst>
          </p:cNvPr>
          <p:cNvSpPr/>
          <p:nvPr/>
        </p:nvSpPr>
        <p:spPr>
          <a:xfrm rot="10800000">
            <a:off x="10345064" y="401353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0" name="Arrow: Up 189">
            <a:extLst>
              <a:ext uri="{FF2B5EF4-FFF2-40B4-BE49-F238E27FC236}">
                <a16:creationId xmlns:a16="http://schemas.microsoft.com/office/drawing/2014/main" xmlns="" id="{6E856711-A68B-48DC-964C-F54C5BB5819B}"/>
              </a:ext>
            </a:extLst>
          </p:cNvPr>
          <p:cNvSpPr/>
          <p:nvPr/>
        </p:nvSpPr>
        <p:spPr>
          <a:xfrm rot="13764822">
            <a:off x="10814851" y="2958617"/>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1" name="Arrow: Up 190">
            <a:extLst>
              <a:ext uri="{FF2B5EF4-FFF2-40B4-BE49-F238E27FC236}">
                <a16:creationId xmlns:a16="http://schemas.microsoft.com/office/drawing/2014/main" xmlns="" id="{9A393E8D-667E-4EAC-AACB-2B7CE24DA815}"/>
              </a:ext>
            </a:extLst>
          </p:cNvPr>
          <p:cNvSpPr/>
          <p:nvPr/>
        </p:nvSpPr>
        <p:spPr>
          <a:xfrm rot="11394758">
            <a:off x="10496210" y="4810558"/>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2" name="Arrow: Up 191">
            <a:extLst>
              <a:ext uri="{FF2B5EF4-FFF2-40B4-BE49-F238E27FC236}">
                <a16:creationId xmlns:a16="http://schemas.microsoft.com/office/drawing/2014/main" xmlns="" id="{1531D620-67C2-4769-BD11-53BE298A1820}"/>
              </a:ext>
            </a:extLst>
          </p:cNvPr>
          <p:cNvSpPr/>
          <p:nvPr/>
        </p:nvSpPr>
        <p:spPr>
          <a:xfrm rot="6011006">
            <a:off x="9832637" y="4806451"/>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3" name="Arrow: Up 192">
            <a:extLst>
              <a:ext uri="{FF2B5EF4-FFF2-40B4-BE49-F238E27FC236}">
                <a16:creationId xmlns:a16="http://schemas.microsoft.com/office/drawing/2014/main" xmlns="" id="{F77AB458-D97B-41D3-8E41-B40D13576495}"/>
              </a:ext>
            </a:extLst>
          </p:cNvPr>
          <p:cNvSpPr/>
          <p:nvPr/>
        </p:nvSpPr>
        <p:spPr>
          <a:xfrm rot="12863447">
            <a:off x="10786110" y="359792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4" name="Arrow: Up 193">
            <a:extLst>
              <a:ext uri="{FF2B5EF4-FFF2-40B4-BE49-F238E27FC236}">
                <a16:creationId xmlns:a16="http://schemas.microsoft.com/office/drawing/2014/main" xmlns="" id="{4C6194F1-8CFA-4F87-A5F3-EA7A243E2770}"/>
              </a:ext>
            </a:extLst>
          </p:cNvPr>
          <p:cNvSpPr/>
          <p:nvPr/>
        </p:nvSpPr>
        <p:spPr>
          <a:xfrm rot="15129603">
            <a:off x="11191398" y="3436431"/>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5" name="Arrow: Up 194">
            <a:extLst>
              <a:ext uri="{FF2B5EF4-FFF2-40B4-BE49-F238E27FC236}">
                <a16:creationId xmlns:a16="http://schemas.microsoft.com/office/drawing/2014/main" xmlns="" id="{757981A6-A11C-4FF4-9B5C-2836AE1BC0FF}"/>
              </a:ext>
            </a:extLst>
          </p:cNvPr>
          <p:cNvSpPr/>
          <p:nvPr/>
        </p:nvSpPr>
        <p:spPr>
          <a:xfrm rot="14337860">
            <a:off x="11048816" y="4110055"/>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6" name="Arrow: Up 195">
            <a:extLst>
              <a:ext uri="{FF2B5EF4-FFF2-40B4-BE49-F238E27FC236}">
                <a16:creationId xmlns:a16="http://schemas.microsoft.com/office/drawing/2014/main" xmlns="" id="{F42E860F-F24F-466C-81B6-C04A97AF7C5D}"/>
              </a:ext>
            </a:extLst>
          </p:cNvPr>
          <p:cNvSpPr/>
          <p:nvPr/>
        </p:nvSpPr>
        <p:spPr>
          <a:xfrm rot="12136792">
            <a:off x="10702814" y="439494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p:sp>
        <p:nvSpPr>
          <p:cNvPr id="197" name="Arrow: Up 196">
            <a:extLst>
              <a:ext uri="{FF2B5EF4-FFF2-40B4-BE49-F238E27FC236}">
                <a16:creationId xmlns:a16="http://schemas.microsoft.com/office/drawing/2014/main" xmlns="" id="{D8889211-0877-4217-BE9C-EC08EF134009}"/>
              </a:ext>
            </a:extLst>
          </p:cNvPr>
          <p:cNvSpPr/>
          <p:nvPr/>
        </p:nvSpPr>
        <p:spPr>
          <a:xfrm rot="9646719">
            <a:off x="10131391" y="4665066"/>
            <a:ext cx="90312" cy="415612"/>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x-none"/>
          </a:p>
        </p:txBody>
      </p:sp>
      <mc:AlternateContent xmlns:mc="http://schemas.openxmlformats.org/markup-compatibility/2006" xmlns:p14="http://schemas.microsoft.com/office/powerpoint/2010/main">
        <mc:Choice Requires="p14">
          <p:contentPart p14:bwMode="auto" r:id="rId6">
            <p14:nvContentPartPr>
              <p14:cNvPr id="198" name="Ink 197">
                <a:extLst>
                  <a:ext uri="{FF2B5EF4-FFF2-40B4-BE49-F238E27FC236}">
                    <a16:creationId xmlns:a16="http://schemas.microsoft.com/office/drawing/2014/main" xmlns="" id="{3107E4B0-B4B5-4C1E-9282-A6AB7ABE25B5}"/>
                  </a:ext>
                </a:extLst>
              </p14:cNvPr>
              <p14:cNvContentPartPr/>
              <p14:nvPr/>
            </p14:nvContentPartPr>
            <p14:xfrm>
              <a:off x="792529" y="2582352"/>
              <a:ext cx="3687840" cy="3082680"/>
            </p14:xfrm>
          </p:contentPart>
        </mc:Choice>
        <mc:Fallback xmlns="">
          <p:pic>
            <p:nvPicPr>
              <p:cNvPr id="198" name="Ink 197">
                <a:extLst>
                  <a:ext uri="{FF2B5EF4-FFF2-40B4-BE49-F238E27FC236}">
                    <a16:creationId xmlns:a16="http://schemas.microsoft.com/office/drawing/2014/main" id="{3107E4B0-B4B5-4C1E-9282-A6AB7ABE25B5}"/>
                  </a:ext>
                </a:extLst>
              </p:cNvPr>
              <p:cNvPicPr/>
              <p:nvPr/>
            </p:nvPicPr>
            <p:blipFill>
              <a:blip r:embed="rId7"/>
              <a:stretch>
                <a:fillRect/>
              </a:stretch>
            </p:blipFill>
            <p:spPr>
              <a:xfrm>
                <a:off x="783529" y="2573352"/>
                <a:ext cx="3705480" cy="3100320"/>
              </a:xfrm>
              <a:prstGeom prst="rect">
                <a:avLst/>
              </a:prstGeom>
            </p:spPr>
          </p:pic>
        </mc:Fallback>
      </mc:AlternateContent>
      <p:sp>
        <p:nvSpPr>
          <p:cNvPr id="199" name="Arrow: Up 198">
            <a:extLst>
              <a:ext uri="{FF2B5EF4-FFF2-40B4-BE49-F238E27FC236}">
                <a16:creationId xmlns:a16="http://schemas.microsoft.com/office/drawing/2014/main" xmlns="" id="{19835440-CE7F-4A43-96E0-50C503A9911B}"/>
              </a:ext>
            </a:extLst>
          </p:cNvPr>
          <p:cNvSpPr/>
          <p:nvPr/>
        </p:nvSpPr>
        <p:spPr>
          <a:xfrm>
            <a:off x="1400419" y="433149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0" name="Arrow: Up 199">
            <a:extLst>
              <a:ext uri="{FF2B5EF4-FFF2-40B4-BE49-F238E27FC236}">
                <a16:creationId xmlns:a16="http://schemas.microsoft.com/office/drawing/2014/main" xmlns="" id="{E43BCAEB-A3A1-4833-BE53-3E8ABB160FBF}"/>
              </a:ext>
            </a:extLst>
          </p:cNvPr>
          <p:cNvSpPr/>
          <p:nvPr/>
        </p:nvSpPr>
        <p:spPr>
          <a:xfrm>
            <a:off x="1692740" y="408346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1" name="Arrow: Up 200">
            <a:extLst>
              <a:ext uri="{FF2B5EF4-FFF2-40B4-BE49-F238E27FC236}">
                <a16:creationId xmlns:a16="http://schemas.microsoft.com/office/drawing/2014/main" xmlns="" id="{4D0E0FFC-5269-49F3-BB2B-3D56C4435E16}"/>
              </a:ext>
            </a:extLst>
          </p:cNvPr>
          <p:cNvSpPr/>
          <p:nvPr/>
        </p:nvSpPr>
        <p:spPr>
          <a:xfrm>
            <a:off x="2008309" y="4421810"/>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2" name="Arrow: Up 201">
            <a:extLst>
              <a:ext uri="{FF2B5EF4-FFF2-40B4-BE49-F238E27FC236}">
                <a16:creationId xmlns:a16="http://schemas.microsoft.com/office/drawing/2014/main" xmlns="" id="{24B16612-2F22-460A-8FDB-B6624BD6B5C8}"/>
              </a:ext>
            </a:extLst>
          </p:cNvPr>
          <p:cNvSpPr/>
          <p:nvPr/>
        </p:nvSpPr>
        <p:spPr>
          <a:xfrm>
            <a:off x="1692740" y="485173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3" name="Arrow: Up 202">
            <a:extLst>
              <a:ext uri="{FF2B5EF4-FFF2-40B4-BE49-F238E27FC236}">
                <a16:creationId xmlns:a16="http://schemas.microsoft.com/office/drawing/2014/main" xmlns="" id="{0D150634-6EF1-4387-BD6E-A6B12C6F4882}"/>
              </a:ext>
            </a:extLst>
          </p:cNvPr>
          <p:cNvSpPr/>
          <p:nvPr/>
        </p:nvSpPr>
        <p:spPr>
          <a:xfrm>
            <a:off x="1085444" y="481055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4" name="Arrow: Up 203">
            <a:extLst>
              <a:ext uri="{FF2B5EF4-FFF2-40B4-BE49-F238E27FC236}">
                <a16:creationId xmlns:a16="http://schemas.microsoft.com/office/drawing/2014/main" xmlns="" id="{DD881C27-3161-4D08-8A2D-C0E807CAEF93}"/>
              </a:ext>
            </a:extLst>
          </p:cNvPr>
          <p:cNvSpPr/>
          <p:nvPr/>
        </p:nvSpPr>
        <p:spPr>
          <a:xfrm>
            <a:off x="2277536" y="366784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5" name="Arrow: Up 204">
            <a:extLst>
              <a:ext uri="{FF2B5EF4-FFF2-40B4-BE49-F238E27FC236}">
                <a16:creationId xmlns:a16="http://schemas.microsoft.com/office/drawing/2014/main" xmlns="" id="{70B64ED2-7F2C-4EB7-8C75-B3090B1E5919}"/>
              </a:ext>
            </a:extLst>
          </p:cNvPr>
          <p:cNvSpPr/>
          <p:nvPr/>
        </p:nvSpPr>
        <p:spPr>
          <a:xfrm>
            <a:off x="2479258" y="421400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6" name="Arrow: Up 205">
            <a:extLst>
              <a:ext uri="{FF2B5EF4-FFF2-40B4-BE49-F238E27FC236}">
                <a16:creationId xmlns:a16="http://schemas.microsoft.com/office/drawing/2014/main" xmlns="" id="{6C8D7482-313B-425A-B2BD-3F9793F0FF90}"/>
              </a:ext>
            </a:extLst>
          </p:cNvPr>
          <p:cNvSpPr/>
          <p:nvPr/>
        </p:nvSpPr>
        <p:spPr>
          <a:xfrm>
            <a:off x="2327972" y="482008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7" name="Arrow: Up 206">
            <a:extLst>
              <a:ext uri="{FF2B5EF4-FFF2-40B4-BE49-F238E27FC236}">
                <a16:creationId xmlns:a16="http://schemas.microsoft.com/office/drawing/2014/main" xmlns="" id="{4DF9A63B-F05F-4FB9-83CA-DA393222D4A7}"/>
              </a:ext>
            </a:extLst>
          </p:cNvPr>
          <p:cNvSpPr/>
          <p:nvPr/>
        </p:nvSpPr>
        <p:spPr>
          <a:xfrm>
            <a:off x="1907459" y="365010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8" name="Arrow: Up 207">
            <a:extLst>
              <a:ext uri="{FF2B5EF4-FFF2-40B4-BE49-F238E27FC236}">
                <a16:creationId xmlns:a16="http://schemas.microsoft.com/office/drawing/2014/main" xmlns="" id="{E15D1B4C-3D5F-47A1-ACB1-4E0ACCE7B480}"/>
              </a:ext>
            </a:extLst>
          </p:cNvPr>
          <p:cNvSpPr/>
          <p:nvPr/>
        </p:nvSpPr>
        <p:spPr>
          <a:xfrm>
            <a:off x="2053465" y="520904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09" name="Arrow: Up 208">
            <a:extLst>
              <a:ext uri="{FF2B5EF4-FFF2-40B4-BE49-F238E27FC236}">
                <a16:creationId xmlns:a16="http://schemas.microsoft.com/office/drawing/2014/main" xmlns="" id="{61C25AD1-9510-40EB-88E6-E5C87112BC93}"/>
              </a:ext>
            </a:extLst>
          </p:cNvPr>
          <p:cNvSpPr/>
          <p:nvPr/>
        </p:nvSpPr>
        <p:spPr>
          <a:xfrm>
            <a:off x="1378359" y="5059539"/>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0" name="Arrow: Up 209">
            <a:extLst>
              <a:ext uri="{FF2B5EF4-FFF2-40B4-BE49-F238E27FC236}">
                <a16:creationId xmlns:a16="http://schemas.microsoft.com/office/drawing/2014/main" xmlns="" id="{23E72D7E-838C-458F-815E-B60505B886B0}"/>
              </a:ext>
            </a:extLst>
          </p:cNvPr>
          <p:cNvSpPr/>
          <p:nvPr/>
        </p:nvSpPr>
        <p:spPr>
          <a:xfrm>
            <a:off x="1093834" y="41030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1" name="Arrow: Up 210">
            <a:extLst>
              <a:ext uri="{FF2B5EF4-FFF2-40B4-BE49-F238E27FC236}">
                <a16:creationId xmlns:a16="http://schemas.microsoft.com/office/drawing/2014/main" xmlns="" id="{493A5FDA-B1E5-4BE6-A1A3-95FE5C293407}"/>
              </a:ext>
            </a:extLst>
          </p:cNvPr>
          <p:cNvSpPr/>
          <p:nvPr/>
        </p:nvSpPr>
        <p:spPr>
          <a:xfrm>
            <a:off x="2656474" y="326530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2" name="Arrow: Up 211">
            <a:extLst>
              <a:ext uri="{FF2B5EF4-FFF2-40B4-BE49-F238E27FC236}">
                <a16:creationId xmlns:a16="http://schemas.microsoft.com/office/drawing/2014/main" xmlns="" id="{1D733A14-60A1-43AF-A297-3E4FC36FF3CC}"/>
              </a:ext>
            </a:extLst>
          </p:cNvPr>
          <p:cNvSpPr/>
          <p:nvPr/>
        </p:nvSpPr>
        <p:spPr>
          <a:xfrm>
            <a:off x="2917665" y="397933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3" name="Arrow: Up 212">
            <a:extLst>
              <a:ext uri="{FF2B5EF4-FFF2-40B4-BE49-F238E27FC236}">
                <a16:creationId xmlns:a16="http://schemas.microsoft.com/office/drawing/2014/main" xmlns="" id="{3FEA922B-A864-4E48-94A0-A5715F9C2B50}"/>
              </a:ext>
            </a:extLst>
          </p:cNvPr>
          <p:cNvSpPr/>
          <p:nvPr/>
        </p:nvSpPr>
        <p:spPr>
          <a:xfrm>
            <a:off x="2991614" y="2783454"/>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4" name="Arrow: Up 213">
            <a:extLst>
              <a:ext uri="{FF2B5EF4-FFF2-40B4-BE49-F238E27FC236}">
                <a16:creationId xmlns:a16="http://schemas.microsoft.com/office/drawing/2014/main" xmlns="" id="{4DA60DA5-D6C9-4621-80ED-5F0CB99AE5C5}"/>
              </a:ext>
            </a:extLst>
          </p:cNvPr>
          <p:cNvSpPr/>
          <p:nvPr/>
        </p:nvSpPr>
        <p:spPr>
          <a:xfrm>
            <a:off x="3275715" y="332238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5" name="Arrow: Up 214">
            <a:extLst>
              <a:ext uri="{FF2B5EF4-FFF2-40B4-BE49-F238E27FC236}">
                <a16:creationId xmlns:a16="http://schemas.microsoft.com/office/drawing/2014/main" xmlns="" id="{551F37B9-FD7B-4D13-B2B4-495FEBDFC3D4}"/>
              </a:ext>
            </a:extLst>
          </p:cNvPr>
          <p:cNvSpPr/>
          <p:nvPr/>
        </p:nvSpPr>
        <p:spPr>
          <a:xfrm>
            <a:off x="3401137" y="2655523"/>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6" name="Arrow: Up 215">
            <a:extLst>
              <a:ext uri="{FF2B5EF4-FFF2-40B4-BE49-F238E27FC236}">
                <a16:creationId xmlns:a16="http://schemas.microsoft.com/office/drawing/2014/main" xmlns="" id="{29DCDF69-031D-4E2E-A893-35B0DD306366}"/>
              </a:ext>
            </a:extLst>
          </p:cNvPr>
          <p:cNvSpPr/>
          <p:nvPr/>
        </p:nvSpPr>
        <p:spPr>
          <a:xfrm>
            <a:off x="3340303" y="401353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7" name="Arrow: Up 216">
            <a:extLst>
              <a:ext uri="{FF2B5EF4-FFF2-40B4-BE49-F238E27FC236}">
                <a16:creationId xmlns:a16="http://schemas.microsoft.com/office/drawing/2014/main" xmlns="" id="{398DDBA0-B5E7-4F78-A700-312C936BC3A0}"/>
              </a:ext>
            </a:extLst>
          </p:cNvPr>
          <p:cNvSpPr/>
          <p:nvPr/>
        </p:nvSpPr>
        <p:spPr>
          <a:xfrm>
            <a:off x="3810090" y="2958617"/>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8" name="Arrow: Up 217">
            <a:extLst>
              <a:ext uri="{FF2B5EF4-FFF2-40B4-BE49-F238E27FC236}">
                <a16:creationId xmlns:a16="http://schemas.microsoft.com/office/drawing/2014/main" xmlns="" id="{97D0202C-20F9-4288-A2BC-6C7A541E7E1B}"/>
              </a:ext>
            </a:extLst>
          </p:cNvPr>
          <p:cNvSpPr/>
          <p:nvPr/>
        </p:nvSpPr>
        <p:spPr>
          <a:xfrm>
            <a:off x="3491449" y="4810558"/>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19" name="Arrow: Up 218">
            <a:extLst>
              <a:ext uri="{FF2B5EF4-FFF2-40B4-BE49-F238E27FC236}">
                <a16:creationId xmlns:a16="http://schemas.microsoft.com/office/drawing/2014/main" xmlns="" id="{5D07C02D-D5DA-4AC4-97FC-80D6A35869E3}"/>
              </a:ext>
            </a:extLst>
          </p:cNvPr>
          <p:cNvSpPr/>
          <p:nvPr/>
        </p:nvSpPr>
        <p:spPr>
          <a:xfrm>
            <a:off x="2827876" y="480645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20" name="Arrow: Up 219">
            <a:extLst>
              <a:ext uri="{FF2B5EF4-FFF2-40B4-BE49-F238E27FC236}">
                <a16:creationId xmlns:a16="http://schemas.microsoft.com/office/drawing/2014/main" xmlns="" id="{204B3FDE-0C28-404D-9CC8-8B65FE8E3998}"/>
              </a:ext>
            </a:extLst>
          </p:cNvPr>
          <p:cNvSpPr/>
          <p:nvPr/>
        </p:nvSpPr>
        <p:spPr>
          <a:xfrm>
            <a:off x="3781349" y="359792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21" name="Arrow: Up 220">
            <a:extLst>
              <a:ext uri="{FF2B5EF4-FFF2-40B4-BE49-F238E27FC236}">
                <a16:creationId xmlns:a16="http://schemas.microsoft.com/office/drawing/2014/main" xmlns="" id="{984A964A-C1F3-4789-9E24-EAB591445624}"/>
              </a:ext>
            </a:extLst>
          </p:cNvPr>
          <p:cNvSpPr/>
          <p:nvPr/>
        </p:nvSpPr>
        <p:spPr>
          <a:xfrm>
            <a:off x="4186637" y="3436431"/>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22" name="Arrow: Up 221">
            <a:extLst>
              <a:ext uri="{FF2B5EF4-FFF2-40B4-BE49-F238E27FC236}">
                <a16:creationId xmlns:a16="http://schemas.microsoft.com/office/drawing/2014/main" xmlns="" id="{B17D7CEB-8BD6-42CA-B5D6-B0E33B362D70}"/>
              </a:ext>
            </a:extLst>
          </p:cNvPr>
          <p:cNvSpPr/>
          <p:nvPr/>
        </p:nvSpPr>
        <p:spPr>
          <a:xfrm>
            <a:off x="4044055" y="4110055"/>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23" name="Arrow: Up 222">
            <a:extLst>
              <a:ext uri="{FF2B5EF4-FFF2-40B4-BE49-F238E27FC236}">
                <a16:creationId xmlns:a16="http://schemas.microsoft.com/office/drawing/2014/main" xmlns="" id="{D0B3E02F-00B5-4551-89C6-AC904FE99C63}"/>
              </a:ext>
            </a:extLst>
          </p:cNvPr>
          <p:cNvSpPr/>
          <p:nvPr/>
        </p:nvSpPr>
        <p:spPr>
          <a:xfrm>
            <a:off x="3698053" y="439494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sp>
        <p:nvSpPr>
          <p:cNvPr id="224" name="Arrow: Up 223">
            <a:extLst>
              <a:ext uri="{FF2B5EF4-FFF2-40B4-BE49-F238E27FC236}">
                <a16:creationId xmlns:a16="http://schemas.microsoft.com/office/drawing/2014/main" xmlns="" id="{60959F67-A618-4FC4-853A-48B973C2029C}"/>
              </a:ext>
            </a:extLst>
          </p:cNvPr>
          <p:cNvSpPr/>
          <p:nvPr/>
        </p:nvSpPr>
        <p:spPr>
          <a:xfrm>
            <a:off x="3126630" y="4665066"/>
            <a:ext cx="90312" cy="415612"/>
          </a:xfrm>
          <a:prstGeom prs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x-none"/>
          </a:p>
        </p:txBody>
      </p:sp>
      <p:cxnSp>
        <p:nvCxnSpPr>
          <p:cNvPr id="13" name="Straight Arrow Connector 12">
            <a:extLst>
              <a:ext uri="{FF2B5EF4-FFF2-40B4-BE49-F238E27FC236}">
                <a16:creationId xmlns:a16="http://schemas.microsoft.com/office/drawing/2014/main" xmlns="" id="{D963B5C6-0A5C-470F-B72B-AB4E772820FD}"/>
              </a:ext>
            </a:extLst>
          </p:cNvPr>
          <p:cNvCxnSpPr/>
          <p:nvPr/>
        </p:nvCxnSpPr>
        <p:spPr>
          <a:xfrm>
            <a:off x="8787813" y="5874327"/>
            <a:ext cx="1743496" cy="0"/>
          </a:xfrm>
          <a:prstGeom prst="straightConnector1">
            <a:avLst/>
          </a:prstGeom>
          <a:ln w="381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8157488C-3C2D-48BC-AF17-F15F06042034}"/>
                  </a:ext>
                </a:extLst>
              </p:cNvPr>
              <p:cNvSpPr txBox="1"/>
              <p:nvPr/>
            </p:nvSpPr>
            <p:spPr>
              <a:xfrm>
                <a:off x="9191189" y="5912279"/>
                <a:ext cx="8284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oMath>
                  </m:oMathPara>
                </a14:m>
                <a:endParaRPr lang="x-none" dirty="0"/>
              </a:p>
            </p:txBody>
          </p:sp>
        </mc:Choice>
        <mc:Fallback xmlns="">
          <p:sp>
            <p:nvSpPr>
              <p:cNvPr id="14" name="TextBox 13">
                <a:extLst>
                  <a:ext uri="{FF2B5EF4-FFF2-40B4-BE49-F238E27FC236}">
                    <a16:creationId xmlns:a16="http://schemas.microsoft.com/office/drawing/2014/main" id="{8157488C-3C2D-48BC-AF17-F15F06042034}"/>
                  </a:ext>
                </a:extLst>
              </p:cNvPr>
              <p:cNvSpPr txBox="1">
                <a:spLocks noRot="1" noChangeAspect="1" noMove="1" noResize="1" noEditPoints="1" noAdjustHandles="1" noChangeArrowheads="1" noChangeShapeType="1" noTextEdit="1"/>
              </p:cNvSpPr>
              <p:nvPr/>
            </p:nvSpPr>
            <p:spPr>
              <a:xfrm>
                <a:off x="9191189" y="5912279"/>
                <a:ext cx="828418" cy="369332"/>
              </a:xfrm>
              <a:prstGeom prst="rect">
                <a:avLst/>
              </a:prstGeom>
              <a:blipFill>
                <a:blip r:embed="rId8"/>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xmlns="" id="{73352547-D96C-4C01-8859-3ED6B049CBE9}"/>
                  </a:ext>
                </a:extLst>
              </p:cNvPr>
              <p:cNvSpPr txBox="1"/>
              <p:nvPr/>
            </p:nvSpPr>
            <p:spPr>
              <a:xfrm>
                <a:off x="4413572" y="5843029"/>
                <a:ext cx="3488315" cy="507831"/>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 </m:t>
                      </m:r>
                      <m:sSub>
                        <m:sSubPr>
                          <m:ctrlPr>
                            <a:rPr lang="en-US" b="0" i="1" smtClean="0">
                              <a:solidFill>
                                <a:schemeClr val="accent2">
                                  <a:lumMod val="50000"/>
                                </a:schemeClr>
                              </a:solidFill>
                              <a:latin typeface="Cambria Math" charset="0"/>
                              <a:ea typeface="Cambria Math" panose="02040503050406030204" pitchFamily="18" charset="0"/>
                            </a:rPr>
                          </m:ctrlPr>
                        </m:sSubPr>
                        <m:e>
                          <m:r>
                            <a:rPr lang="en-US" b="0" i="1" smtClean="0">
                              <a:solidFill>
                                <a:schemeClr val="accent2">
                                  <a:lumMod val="50000"/>
                                </a:schemeClr>
                              </a:solidFill>
                              <a:latin typeface="Cambria Math" panose="02040503050406030204" pitchFamily="18" charset="0"/>
                              <a:ea typeface="Cambria Math" panose="02040503050406030204" pitchFamily="18" charset="0"/>
                            </a:rPr>
                            <m:t>𝑑</m:t>
                          </m:r>
                        </m:e>
                        <m:sub>
                          <m:r>
                            <a:rPr lang="en-US" b="0" i="1" smtClean="0">
                              <a:solidFill>
                                <a:schemeClr val="accent2">
                                  <a:lumMod val="50000"/>
                                </a:schemeClr>
                              </a:solidFill>
                              <a:latin typeface="Cambria Math" charset="0"/>
                              <a:ea typeface="Cambria Math" panose="02040503050406030204" pitchFamily="18" charset="0"/>
                            </a:rPr>
                            <m:t>𝑐</m:t>
                          </m:r>
                        </m:sub>
                      </m:sSub>
                      <m:r>
                        <a:rPr lang="en-US" b="0" i="1" smtClean="0">
                          <a:solidFill>
                            <a:schemeClr val="accent2">
                              <a:lumMod val="50000"/>
                            </a:schemeClr>
                          </a:solidFill>
                          <a:latin typeface="Cambria Math" charset="0"/>
                          <a:ea typeface="Cambria Math" panose="02040503050406030204" pitchFamily="18" charset="0"/>
                        </a:rPr>
                        <m:t>=4</m:t>
                      </m:r>
                    </m:oMath>
                  </m:oMathPara>
                </a14:m>
                <a:endParaRPr lang="en-US" i="1" dirty="0">
                  <a:latin typeface="Cambria Math" panose="02040503050406030204" pitchFamily="18" charset="0"/>
                  <a:ea typeface="Cambria Math" panose="02040503050406030204" pitchFamily="18" charset="0"/>
                </a:endParaRPr>
              </a:p>
            </p:txBody>
          </p:sp>
        </mc:Choice>
        <mc:Fallback xmlns="">
          <p:sp>
            <p:nvSpPr>
              <p:cNvPr id="225" name="TextBox 224">
                <a:extLst>
                  <a:ext uri="{FF2B5EF4-FFF2-40B4-BE49-F238E27FC236}">
                    <a16:creationId xmlns="" xmlns:a16="http://schemas.microsoft.com/office/drawing/2014/main" xmlns:a14="http://schemas.microsoft.com/office/drawing/2010/main" id="{73352547-D96C-4C01-8859-3ED6B049CBE9}"/>
                  </a:ext>
                </a:extLst>
              </p:cNvPr>
              <p:cNvSpPr txBox="1">
                <a:spLocks noRot="1" noChangeAspect="1" noMove="1" noResize="1" noEditPoints="1" noAdjustHandles="1" noChangeArrowheads="1" noChangeShapeType="1" noTextEdit="1"/>
              </p:cNvSpPr>
              <p:nvPr/>
            </p:nvSpPr>
            <p:spPr>
              <a:xfrm>
                <a:off x="4413572" y="5843029"/>
                <a:ext cx="3488315" cy="50783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6" name="TextBox 225">
                <a:extLst>
                  <a:ext uri="{FF2B5EF4-FFF2-40B4-BE49-F238E27FC236}">
                    <a16:creationId xmlns:a16="http://schemas.microsoft.com/office/drawing/2014/main" xmlns="" id="{5695D7A7-206C-404A-B47A-23CA351ED21D}"/>
                  </a:ext>
                </a:extLst>
              </p:cNvPr>
              <p:cNvSpPr txBox="1"/>
              <p:nvPr/>
            </p:nvSpPr>
            <p:spPr>
              <a:xfrm>
                <a:off x="7924725" y="6201640"/>
                <a:ext cx="3370586" cy="4084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sSub>
                        <m:sSubPr>
                          <m:ctrlPr>
                            <a:rPr lang="en-US" b="0" i="1" smtClean="0">
                              <a:latin typeface="Cambria Math"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𝑠𝑢𝑟𝑓𝑎𝑐𝑒</m:t>
                          </m:r>
                        </m:sub>
                      </m:sSub>
                      <m:r>
                        <a:rPr lang="en-US" b="0" i="1" smtClean="0">
                          <a:latin typeface="Cambria Math" panose="02040503050406030204" pitchFamily="18" charset="0"/>
                        </a:rPr>
                        <m:t>=∫</m:t>
                      </m:r>
                      <m:sSup>
                        <m:sSupPr>
                          <m:ctrlPr>
                            <a:rPr lang="en-US" b="0" i="1" smtClean="0">
                              <a:latin typeface="Cambria Math"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𝑑</m:t>
                          </m:r>
                        </m:sup>
                      </m:sSup>
                      <m:r>
                        <a:rPr lang="en-US" b="0" i="1" smtClean="0">
                          <a:latin typeface="Cambria Math" panose="02040503050406030204" pitchFamily="18" charset="0"/>
                        </a:rPr>
                        <m:t>𝑥</m:t>
                      </m:r>
                      <m:sSup>
                        <m:sSupPr>
                          <m:ctrlPr>
                            <a:rPr lang="en-US" b="0" i="1" smtClean="0">
                              <a:latin typeface="Cambria Math" charset="0"/>
                            </a:rPr>
                          </m:ctrlPr>
                        </m:sSupPr>
                        <m:e>
                          <m:r>
                            <a:rPr lang="en-US" b="0" i="0" smtClean="0">
                              <a:latin typeface="Cambria Math" panose="02040503050406030204" pitchFamily="18" charset="0"/>
                            </a:rPr>
                            <m:t>𝛻</m:t>
                          </m:r>
                          <m:r>
                            <a:rPr lang="en-US" b="0" i="1" smtClean="0">
                              <a:latin typeface="Cambria Math" panose="02040503050406030204" pitchFamily="18" charset="0"/>
                            </a:rPr>
                            <m:t>𝜃</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𝑑</m:t>
                          </m:r>
                          <m:r>
                            <a:rPr lang="en-US" b="0" i="1" smtClean="0">
                              <a:latin typeface="Cambria Math" panose="02040503050406030204" pitchFamily="18" charset="0"/>
                            </a:rPr>
                            <m:t>−2</m:t>
                          </m:r>
                        </m:sup>
                      </m:sSup>
                    </m:oMath>
                  </m:oMathPara>
                </a14:m>
                <a:endParaRPr lang="x-none" dirty="0"/>
              </a:p>
            </p:txBody>
          </p:sp>
        </mc:Choice>
        <mc:Fallback xmlns="">
          <p:sp>
            <p:nvSpPr>
              <p:cNvPr id="226" name="TextBox 225">
                <a:extLst>
                  <a:ext uri="{FF2B5EF4-FFF2-40B4-BE49-F238E27FC236}">
                    <a16:creationId xmlns:a16="http://schemas.microsoft.com/office/drawing/2014/main" id="{5695D7A7-206C-404A-B47A-23CA351ED21D}"/>
                  </a:ext>
                </a:extLst>
              </p:cNvPr>
              <p:cNvSpPr txBox="1">
                <a:spLocks noRot="1" noChangeAspect="1" noMove="1" noResize="1" noEditPoints="1" noAdjustHandles="1" noChangeArrowheads="1" noChangeShapeType="1" noTextEdit="1"/>
              </p:cNvSpPr>
              <p:nvPr/>
            </p:nvSpPr>
            <p:spPr>
              <a:xfrm>
                <a:off x="7924725" y="6201640"/>
                <a:ext cx="3370586" cy="408445"/>
              </a:xfrm>
              <a:prstGeom prst="rect">
                <a:avLst/>
              </a:prstGeom>
              <a:blipFill>
                <a:blip r:embed="rId10"/>
                <a:stretch>
                  <a:fillRect b="-11940"/>
                </a:stretch>
              </a:blipFill>
            </p:spPr>
            <p:txBody>
              <a:bodyPr/>
              <a:lstStyle/>
              <a:p>
                <a:r>
                  <a:rPr lang="LID4096">
                    <a:noFill/>
                  </a:rPr>
                  <a:t> </a:t>
                </a:r>
              </a:p>
            </p:txBody>
          </p:sp>
        </mc:Fallback>
      </mc:AlternateContent>
      <p:sp>
        <p:nvSpPr>
          <p:cNvPr id="65" name="Rectangle 64">
            <a:extLst>
              <a:ext uri="{FF2B5EF4-FFF2-40B4-BE49-F238E27FC236}">
                <a16:creationId xmlns:a16="http://schemas.microsoft.com/office/drawing/2014/main" xmlns="" id="{C143E3E0-E5AF-4DCA-8D45-ABF1F63F708D}"/>
              </a:ext>
            </a:extLst>
          </p:cNvPr>
          <p:cNvSpPr/>
          <p:nvPr/>
        </p:nvSpPr>
        <p:spPr>
          <a:xfrm>
            <a:off x="5776869" y="5950747"/>
            <a:ext cx="761719" cy="388119"/>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TextBox 5"/>
          <p:cNvSpPr txBox="1"/>
          <p:nvPr/>
        </p:nvSpPr>
        <p:spPr>
          <a:xfrm>
            <a:off x="838200" y="6194095"/>
            <a:ext cx="3960893" cy="307777"/>
          </a:xfrm>
          <a:prstGeom prst="rect">
            <a:avLst/>
          </a:prstGeom>
          <a:noFill/>
        </p:spPr>
        <p:txBody>
          <a:bodyPr wrap="none" rtlCol="0">
            <a:spAutoFit/>
          </a:bodyPr>
          <a:lstStyle/>
          <a:p>
            <a:r>
              <a:rPr lang="en-US" sz="1400" dirty="0">
                <a:solidFill>
                  <a:schemeClr val="accent2">
                    <a:lumMod val="50000"/>
                  </a:schemeClr>
                </a:solidFill>
              </a:rPr>
              <a:t>Y. </a:t>
            </a:r>
            <a:r>
              <a:rPr lang="en-US" sz="1400" dirty="0" err="1">
                <a:solidFill>
                  <a:schemeClr val="accent2">
                    <a:lumMod val="50000"/>
                  </a:schemeClr>
                </a:solidFill>
              </a:rPr>
              <a:t>Imry</a:t>
            </a:r>
            <a:r>
              <a:rPr lang="en-US" sz="1400" dirty="0">
                <a:solidFill>
                  <a:schemeClr val="accent2">
                    <a:lumMod val="50000"/>
                  </a:schemeClr>
                </a:solidFill>
              </a:rPr>
              <a:t> and S.-k. Ma, Phys. Rev. </a:t>
            </a:r>
            <a:r>
              <a:rPr lang="en-US" sz="1400" dirty="0" err="1">
                <a:solidFill>
                  <a:schemeClr val="accent2">
                    <a:lumMod val="50000"/>
                  </a:schemeClr>
                </a:solidFill>
              </a:rPr>
              <a:t>Lett</a:t>
            </a:r>
            <a:r>
              <a:rPr lang="en-US" sz="1400" dirty="0">
                <a:solidFill>
                  <a:schemeClr val="accent2">
                    <a:lumMod val="50000"/>
                  </a:schemeClr>
                </a:solidFill>
              </a:rPr>
              <a:t>. 35, 1399 (1975</a:t>
            </a:r>
            <a:r>
              <a:rPr lang="en-US" sz="1400" dirty="0" smtClean="0">
                <a:solidFill>
                  <a:schemeClr val="accent2">
                    <a:lumMod val="50000"/>
                  </a:schemeClr>
                </a:solidFill>
              </a:rPr>
              <a:t>)</a:t>
            </a:r>
          </a:p>
        </p:txBody>
      </p:sp>
      <p:sp>
        <p:nvSpPr>
          <p:cNvPr id="6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and the </a:t>
            </a:r>
            <a:r>
              <a:rPr lang="en-US" sz="3600" dirty="0" err="1"/>
              <a:t>Imry</a:t>
            </a:r>
            <a:r>
              <a:rPr lang="en-US" sz="3600" dirty="0"/>
              <a:t>-Ma criterion</a:t>
            </a:r>
            <a:endParaRPr lang="x-none" sz="3600" dirty="0"/>
          </a:p>
        </p:txBody>
      </p:sp>
      <p:cxnSp>
        <p:nvCxnSpPr>
          <p:cNvPr id="69" name="Straight Connector 6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For continuous symmetries:</a:t>
            </a:r>
            <a:endParaRPr lang="en-US" sz="3200" dirty="0">
              <a:solidFill>
                <a:schemeClr val="tx1">
                  <a:lumMod val="65000"/>
                  <a:lumOff val="35000"/>
                </a:schemeClr>
              </a:solidFill>
              <a:latin typeface="+mj-lt"/>
            </a:endParaRPr>
          </a:p>
        </p:txBody>
      </p:sp>
    </p:spTree>
    <p:extLst>
      <p:ext uri="{BB962C8B-B14F-4D97-AF65-F5344CB8AC3E}">
        <p14:creationId xmlns:p14="http://schemas.microsoft.com/office/powerpoint/2010/main" val="1011424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normAutofit/>
              </a:bodyPr>
              <a:lstStyle/>
              <a:p>
                <a:pPr>
                  <a:lnSpc>
                    <a:spcPct val="100000"/>
                  </a:lnSpc>
                  <a:buFont typeface="Wingdings" panose="05000000000000000000" pitchFamily="2" charset="2"/>
                  <a:buChar char="§"/>
                </a:pPr>
                <a:r>
                  <a:rPr lang="en-US" sz="2000" dirty="0" smtClean="0">
                    <a:solidFill>
                      <a:schemeClr val="tx1">
                        <a:lumMod val="85000"/>
                        <a:lumOff val="15000"/>
                      </a:schemeClr>
                    </a:solidFill>
                  </a:rPr>
                  <a:t>The order parameter field couples with the random fields, </a:t>
                </a:r>
                <a14:m>
                  <m:oMath xmlns:m="http://schemas.openxmlformats.org/officeDocument/2006/math">
                    <m:acc>
                      <m:accPr>
                        <m:chr m:val="̅"/>
                        <m:ctrlPr>
                          <a:rPr lang="en-US" sz="2000" b="0" i="1" smtClean="0">
                            <a:solidFill>
                              <a:schemeClr val="tx1">
                                <a:lumMod val="85000"/>
                                <a:lumOff val="15000"/>
                              </a:schemeClr>
                            </a:solidFill>
                            <a:latin typeface="Cambria Math" charset="0"/>
                          </a:rPr>
                        </m:ctrlPr>
                      </m:accPr>
                      <m:e>
                        <m:sSub>
                          <m:sSubPr>
                            <m:ctrlPr>
                              <a:rPr lang="en-US" sz="2000" i="1">
                                <a:solidFill>
                                  <a:schemeClr val="tx1">
                                    <a:lumMod val="85000"/>
                                    <a:lumOff val="15000"/>
                                  </a:schemeClr>
                                </a:solidFill>
                                <a:latin typeface="Cambria Math" charset="0"/>
                              </a:rPr>
                            </m:ctrlPr>
                          </m:sSubPr>
                          <m:e>
                            <m:r>
                              <a:rPr lang="en-US" sz="2000" i="1">
                                <a:solidFill>
                                  <a:schemeClr val="tx1">
                                    <a:lumMod val="85000"/>
                                    <a:lumOff val="15000"/>
                                  </a:schemeClr>
                                </a:solidFill>
                                <a:latin typeface="Cambria Math" charset="0"/>
                              </a:rPr>
                              <m:t>h</m:t>
                            </m:r>
                          </m:e>
                          <m:sub>
                            <m:r>
                              <a:rPr lang="en-US" sz="2000" i="1">
                                <a:solidFill>
                                  <a:schemeClr val="tx1">
                                    <a:lumMod val="85000"/>
                                    <a:lumOff val="15000"/>
                                  </a:schemeClr>
                                </a:solidFill>
                                <a:latin typeface="Cambria Math" charset="0"/>
                              </a:rPr>
                              <m:t>𝑟</m:t>
                            </m:r>
                          </m:sub>
                        </m:sSub>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h</m:t>
                            </m:r>
                          </m:e>
                          <m:sub>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𝑟</m:t>
                                </m:r>
                              </m:e>
                              <m:sup>
                                <m:r>
                                  <a:rPr lang="en-US" sz="2000" b="0" i="1" smtClean="0">
                                    <a:solidFill>
                                      <a:schemeClr val="tx1">
                                        <a:lumMod val="85000"/>
                                        <a:lumOff val="15000"/>
                                      </a:schemeClr>
                                    </a:solidFill>
                                    <a:latin typeface="Cambria Math" charset="0"/>
                                  </a:rPr>
                                  <m:t>′</m:t>
                                </m:r>
                              </m:sup>
                            </m:sSup>
                          </m:sub>
                        </m:sSub>
                      </m:e>
                    </m:acc>
                    <m:r>
                      <a:rPr lang="en-US" sz="2000" b="0" i="1" dirty="0" smtClean="0">
                        <a:solidFill>
                          <a:schemeClr val="tx1">
                            <a:lumMod val="85000"/>
                            <a:lumOff val="15000"/>
                          </a:schemeClr>
                        </a:solidFill>
                        <a:latin typeface="Cambria Math" charset="0"/>
                      </a:rPr>
                      <m:t>=</m:t>
                    </m:r>
                    <m:sSubSup>
                      <m:sSubSupPr>
                        <m:ctrlPr>
                          <a:rPr lang="en-US" sz="2000" b="0" i="1" dirty="0" smtClean="0">
                            <a:solidFill>
                              <a:schemeClr val="tx1">
                                <a:lumMod val="85000"/>
                                <a:lumOff val="15000"/>
                              </a:schemeClr>
                            </a:solidFill>
                            <a:latin typeface="Cambria Math" charset="0"/>
                          </a:rPr>
                        </m:ctrlPr>
                      </m:sSubSupPr>
                      <m:e>
                        <m:r>
                          <a:rPr lang="en-US" sz="2000" b="0" i="1" dirty="0" smtClean="0">
                            <a:solidFill>
                              <a:schemeClr val="tx1">
                                <a:lumMod val="85000"/>
                                <a:lumOff val="15000"/>
                              </a:schemeClr>
                            </a:solidFill>
                            <a:latin typeface="Cambria Math" charset="0"/>
                          </a:rPr>
                          <m:t>h</m:t>
                        </m:r>
                      </m:e>
                      <m:sub>
                        <m:r>
                          <a:rPr lang="en-US" sz="2000" b="0" i="1" dirty="0" smtClean="0">
                            <a:solidFill>
                              <a:schemeClr val="tx1">
                                <a:lumMod val="85000"/>
                                <a:lumOff val="15000"/>
                              </a:schemeClr>
                            </a:solidFill>
                            <a:latin typeface="Cambria Math" charset="0"/>
                          </a:rPr>
                          <m:t>0</m:t>
                        </m:r>
                      </m:sub>
                      <m:sup>
                        <m:r>
                          <a:rPr lang="en-US" sz="2000" b="0" i="1" dirty="0" smtClean="0">
                            <a:solidFill>
                              <a:schemeClr val="tx1">
                                <a:lumMod val="85000"/>
                                <a:lumOff val="15000"/>
                              </a:schemeClr>
                            </a:solidFill>
                            <a:latin typeface="Cambria Math" charset="0"/>
                          </a:rPr>
                          <m:t>2</m:t>
                        </m:r>
                      </m:sup>
                    </m:sSubSup>
                    <m:sSub>
                      <m:sSubPr>
                        <m:ctrlPr>
                          <a:rPr lang="en-US" sz="2000" b="0" i="1" dirty="0" smtClean="0">
                            <a:solidFill>
                              <a:schemeClr val="tx1">
                                <a:lumMod val="85000"/>
                                <a:lumOff val="15000"/>
                              </a:schemeClr>
                            </a:solidFill>
                            <a:latin typeface="Cambria Math" charset="0"/>
                          </a:rPr>
                        </m:ctrlPr>
                      </m:sSubPr>
                      <m:e>
                        <m:r>
                          <a:rPr lang="en-US" sz="2000" b="0" i="1" dirty="0" smtClean="0">
                            <a:solidFill>
                              <a:schemeClr val="tx1">
                                <a:lumMod val="85000"/>
                                <a:lumOff val="15000"/>
                              </a:schemeClr>
                            </a:solidFill>
                            <a:latin typeface="Cambria Math" charset="0"/>
                          </a:rPr>
                          <m:t>𝛿</m:t>
                        </m:r>
                      </m:e>
                      <m:sub>
                        <m:r>
                          <a:rPr lang="en-US" sz="2000" b="0" i="1" dirty="0" smtClean="0">
                            <a:solidFill>
                              <a:schemeClr val="tx1">
                                <a:lumMod val="85000"/>
                                <a:lumOff val="15000"/>
                              </a:schemeClr>
                            </a:solidFill>
                            <a:latin typeface="Cambria Math" charset="0"/>
                          </a:rPr>
                          <m:t>𝑟</m:t>
                        </m:r>
                        <m:sSup>
                          <m:sSupPr>
                            <m:ctrlPr>
                              <a:rPr lang="en-US" sz="2000" b="0" i="1" dirty="0" smtClean="0">
                                <a:solidFill>
                                  <a:schemeClr val="tx1">
                                    <a:lumMod val="85000"/>
                                    <a:lumOff val="15000"/>
                                  </a:schemeClr>
                                </a:solidFill>
                                <a:latin typeface="Cambria Math" charset="0"/>
                              </a:rPr>
                            </m:ctrlPr>
                          </m:sSupPr>
                          <m:e>
                            <m:r>
                              <a:rPr lang="en-US" sz="2000" b="0" i="1" dirty="0" smtClean="0">
                                <a:solidFill>
                                  <a:schemeClr val="tx1">
                                    <a:lumMod val="85000"/>
                                    <a:lumOff val="15000"/>
                                  </a:schemeClr>
                                </a:solidFill>
                                <a:latin typeface="Cambria Math" charset="0"/>
                              </a:rPr>
                              <m:t>𝑟</m:t>
                            </m:r>
                          </m:e>
                          <m:sup>
                            <m:r>
                              <a:rPr lang="en-US" sz="2000" b="0" i="1" dirty="0" smtClean="0">
                                <a:solidFill>
                                  <a:schemeClr val="tx1">
                                    <a:lumMod val="85000"/>
                                    <a:lumOff val="15000"/>
                                  </a:schemeClr>
                                </a:solidFill>
                                <a:latin typeface="Cambria Math" charset="0"/>
                              </a:rPr>
                              <m:t>′</m:t>
                            </m:r>
                          </m:sup>
                        </m:sSup>
                      </m:sub>
                    </m:sSub>
                  </m:oMath>
                </a14:m>
                <a:endParaRPr lang="en-US" sz="2000" dirty="0" smtClean="0">
                  <a:solidFill>
                    <a:schemeClr val="tx1">
                      <a:lumMod val="85000"/>
                      <a:lumOff val="15000"/>
                    </a:schemeClr>
                  </a:solidFill>
                </a:endParaRPr>
              </a:p>
              <a:p>
                <a:pPr marL="0" indent="0">
                  <a:lnSpc>
                    <a:spcPct val="100000"/>
                  </a:lnSpc>
                  <a:buNone/>
                </a:pPr>
                <a14:m>
                  <m:oMathPara xmlns:m="http://schemas.openxmlformats.org/officeDocument/2006/math">
                    <m:oMathParaPr>
                      <m:jc m:val="centerGroup"/>
                    </m:oMathParaPr>
                    <m:oMath xmlns:m="http://schemas.openxmlformats.org/officeDocument/2006/math">
                      <m:nary>
                        <m:naryPr>
                          <m:chr m:val="∑"/>
                          <m:supHide m:val="on"/>
                          <m:ctrlPr>
                            <a:rPr lang="en-US" sz="2000" b="0" i="1" smtClean="0">
                              <a:solidFill>
                                <a:schemeClr val="tx1">
                                  <a:lumMod val="85000"/>
                                  <a:lumOff val="15000"/>
                                </a:schemeClr>
                              </a:solidFill>
                              <a:latin typeface="Cambria Math" charset="0"/>
                            </a:rPr>
                          </m:ctrlPr>
                        </m:naryPr>
                        <m:sub>
                          <m:r>
                            <a:rPr lang="en-US" sz="2000" b="0" i="1" smtClean="0">
                              <a:solidFill>
                                <a:schemeClr val="tx1">
                                  <a:lumMod val="85000"/>
                                  <a:lumOff val="15000"/>
                                </a:schemeClr>
                              </a:solidFill>
                              <a:latin typeface="Cambria Math" charset="0"/>
                            </a:rPr>
                            <m:t>𝑟</m:t>
                          </m:r>
                        </m:sub>
                        <m:sup/>
                        <m:e>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h</m:t>
                              </m:r>
                            </m:e>
                            <m:sub>
                              <m:r>
                                <a:rPr lang="en-US" sz="2000" b="0" i="1" smtClean="0">
                                  <a:solidFill>
                                    <a:schemeClr val="tx1">
                                      <a:lumMod val="85000"/>
                                      <a:lumOff val="15000"/>
                                    </a:schemeClr>
                                  </a:solidFill>
                                  <a:latin typeface="Cambria Math" charset="0"/>
                                </a:rPr>
                                <m:t>𝑟</m:t>
                              </m:r>
                            </m:sub>
                          </m:sSub>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𝜙</m:t>
                              </m:r>
                            </m:e>
                            <m:sub>
                              <m:r>
                                <a:rPr lang="en-US" sz="2000" b="0" i="1" smtClean="0">
                                  <a:solidFill>
                                    <a:schemeClr val="tx1">
                                      <a:lumMod val="85000"/>
                                      <a:lumOff val="15000"/>
                                    </a:schemeClr>
                                  </a:solidFill>
                                  <a:latin typeface="Cambria Math" charset="0"/>
                                </a:rPr>
                                <m:t>𝑟</m:t>
                              </m:r>
                            </m:sub>
                          </m:sSub>
                          <m:r>
                            <a:rPr lang="en-US" sz="2000" b="0" i="1" smtClean="0">
                              <a:solidFill>
                                <a:schemeClr val="tx1">
                                  <a:lumMod val="85000"/>
                                  <a:lumOff val="15000"/>
                                </a:schemeClr>
                              </a:solidFill>
                              <a:latin typeface="Cambria Math" charset="0"/>
                            </a:rPr>
                            <m:t> </m:t>
                          </m:r>
                        </m:e>
                      </m:nary>
                    </m:oMath>
                  </m:oMathPara>
                </a14:m>
                <a:endParaRPr lang="en-US" sz="2000" b="0" dirty="0" smtClean="0">
                  <a:solidFill>
                    <a:schemeClr val="tx1">
                      <a:lumMod val="85000"/>
                      <a:lumOff val="15000"/>
                    </a:schemeClr>
                  </a:solidFill>
                </a:endParaRPr>
              </a:p>
              <a:p>
                <a:pPr>
                  <a:lnSpc>
                    <a:spcPct val="100000"/>
                  </a:lnSpc>
                  <a:buFont typeface="Wingdings" charset="2"/>
                  <a:buChar char="§"/>
                </a:pPr>
                <a:r>
                  <a:rPr lang="en-US" sz="2000" dirty="0" smtClean="0">
                    <a:solidFill>
                      <a:schemeClr val="tx1">
                        <a:lumMod val="85000"/>
                        <a:lumOff val="15000"/>
                      </a:schemeClr>
                    </a:solidFill>
                  </a:rPr>
                  <a:t>This leads order parameter fluctuation</a:t>
                </a:r>
              </a:p>
              <a:p>
                <a:pPr marL="0" indent="0">
                  <a:lnSpc>
                    <a:spcPct val="100000"/>
                  </a:lnSpc>
                  <a:buNone/>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lumMod val="85000"/>
                                  <a:lumOff val="15000"/>
                                </a:schemeClr>
                              </a:solidFill>
                              <a:latin typeface="Cambria Math" charset="0"/>
                            </a:rPr>
                          </m:ctrlPr>
                        </m:dPr>
                        <m:e>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𝜙</m:t>
                              </m:r>
                            </m:e>
                            <m:sub>
                              <m:r>
                                <a:rPr lang="en-US" sz="2000" b="0" i="1" smtClean="0">
                                  <a:solidFill>
                                    <a:schemeClr val="tx1">
                                      <a:lumMod val="85000"/>
                                      <a:lumOff val="15000"/>
                                    </a:schemeClr>
                                  </a:solidFill>
                                  <a:latin typeface="Cambria Math" charset="0"/>
                                </a:rPr>
                                <m:t>𝑟</m:t>
                              </m:r>
                            </m:sub>
                          </m:sSub>
                        </m:e>
                      </m:d>
                      <m:r>
                        <a:rPr lang="en-US" sz="2000" b="0" i="1" smtClean="0">
                          <a:solidFill>
                            <a:schemeClr val="tx1">
                              <a:lumMod val="85000"/>
                              <a:lumOff val="15000"/>
                            </a:schemeClr>
                          </a:solidFill>
                          <a:latin typeface="Cambria Math" charset="0"/>
                        </a:rPr>
                        <m:t>=</m:t>
                      </m:r>
                      <m:nary>
                        <m:naryPr>
                          <m:chr m:val="∑"/>
                          <m:supHide m:val="on"/>
                          <m:ctrlPr>
                            <a:rPr lang="en-US" sz="2000" b="0" i="1" smtClean="0">
                              <a:solidFill>
                                <a:schemeClr val="tx1">
                                  <a:lumMod val="85000"/>
                                  <a:lumOff val="15000"/>
                                </a:schemeClr>
                              </a:solidFill>
                              <a:latin typeface="Cambria Math" charset="0"/>
                            </a:rPr>
                          </m:ctrlPr>
                        </m:naryPr>
                        <m:sub>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𝑟</m:t>
                              </m:r>
                            </m:e>
                            <m:sup>
                              <m:r>
                                <a:rPr lang="en-US" sz="2000" b="0" i="1" smtClean="0">
                                  <a:solidFill>
                                    <a:schemeClr val="tx1">
                                      <a:lumMod val="85000"/>
                                      <a:lumOff val="15000"/>
                                    </a:schemeClr>
                                  </a:solidFill>
                                  <a:latin typeface="Cambria Math" charset="0"/>
                                </a:rPr>
                                <m:t>′</m:t>
                              </m:r>
                            </m:sup>
                          </m:sSup>
                        </m:sub>
                        <m:sup/>
                        <m:e>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h</m:t>
                              </m:r>
                            </m:e>
                            <m:sub>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𝑟</m:t>
                                  </m:r>
                                </m:e>
                                <m:sup>
                                  <m:r>
                                    <a:rPr lang="en-US" sz="2000" b="0" i="1" smtClean="0">
                                      <a:solidFill>
                                        <a:schemeClr val="tx1">
                                          <a:lumMod val="85000"/>
                                          <a:lumOff val="15000"/>
                                        </a:schemeClr>
                                      </a:solidFill>
                                      <a:latin typeface="Cambria Math" charset="0"/>
                                    </a:rPr>
                                    <m:t>′</m:t>
                                  </m:r>
                                </m:sup>
                              </m:sSup>
                            </m:sub>
                          </m:sSub>
                          <m:d>
                            <m:dPr>
                              <m:begChr m:val="〈"/>
                              <m:endChr m:val="〉"/>
                              <m:ctrlPr>
                                <a:rPr lang="en-US" sz="2000" b="0" i="1" smtClean="0">
                                  <a:solidFill>
                                    <a:schemeClr val="tx1">
                                      <a:lumMod val="85000"/>
                                      <a:lumOff val="15000"/>
                                    </a:schemeClr>
                                  </a:solidFill>
                                  <a:latin typeface="Cambria Math" charset="0"/>
                                </a:rPr>
                              </m:ctrlPr>
                            </m:dPr>
                            <m:e>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𝜙</m:t>
                                  </m:r>
                                </m:e>
                                <m:sub>
                                  <m:r>
                                    <a:rPr lang="en-US" sz="2000" b="0" i="1" smtClean="0">
                                      <a:solidFill>
                                        <a:schemeClr val="tx1">
                                          <a:lumMod val="85000"/>
                                          <a:lumOff val="15000"/>
                                        </a:schemeClr>
                                      </a:solidFill>
                                      <a:latin typeface="Cambria Math" charset="0"/>
                                    </a:rPr>
                                    <m:t>𝑟</m:t>
                                  </m:r>
                                </m:sub>
                              </m:sSub>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𝜙</m:t>
                                  </m:r>
                                </m:e>
                                <m:sub>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𝑟</m:t>
                                      </m:r>
                                    </m:e>
                                    <m:sup>
                                      <m:r>
                                        <a:rPr lang="en-US" sz="2000" b="0" i="1" smtClean="0">
                                          <a:solidFill>
                                            <a:schemeClr val="tx1">
                                              <a:lumMod val="85000"/>
                                              <a:lumOff val="15000"/>
                                            </a:schemeClr>
                                          </a:solidFill>
                                          <a:latin typeface="Cambria Math" charset="0"/>
                                        </a:rPr>
                                        <m:t>′</m:t>
                                      </m:r>
                                    </m:sup>
                                  </m:sSup>
                                </m:sub>
                              </m:sSub>
                            </m:e>
                          </m:d>
                          <m:r>
                            <a:rPr lang="en-US" sz="2000" b="0" i="1" smtClean="0">
                              <a:solidFill>
                                <a:schemeClr val="tx1">
                                  <a:lumMod val="85000"/>
                                  <a:lumOff val="15000"/>
                                </a:schemeClr>
                              </a:solidFill>
                              <a:latin typeface="Cambria Math" charset="0"/>
                            </a:rPr>
                            <m:t>=</m:t>
                          </m:r>
                          <m:nary>
                            <m:naryPr>
                              <m:chr m:val="∑"/>
                              <m:supHide m:val="on"/>
                              <m:ctrlPr>
                                <a:rPr lang="en-US" sz="2000" i="1">
                                  <a:solidFill>
                                    <a:schemeClr val="tx1">
                                      <a:lumMod val="85000"/>
                                      <a:lumOff val="15000"/>
                                    </a:schemeClr>
                                  </a:solidFill>
                                  <a:latin typeface="Cambria Math" charset="0"/>
                                </a:rPr>
                              </m:ctrlPr>
                            </m:naryPr>
                            <m:sub>
                              <m:sSup>
                                <m:sSupPr>
                                  <m:ctrlPr>
                                    <a:rPr lang="en-US" sz="2000" i="1">
                                      <a:solidFill>
                                        <a:schemeClr val="tx1">
                                          <a:lumMod val="85000"/>
                                          <a:lumOff val="15000"/>
                                        </a:schemeClr>
                                      </a:solidFill>
                                      <a:latin typeface="Cambria Math" charset="0"/>
                                    </a:rPr>
                                  </m:ctrlPr>
                                </m:sSupPr>
                                <m:e>
                                  <m:r>
                                    <a:rPr lang="en-US" sz="2000" i="1">
                                      <a:solidFill>
                                        <a:schemeClr val="tx1">
                                          <a:lumMod val="85000"/>
                                          <a:lumOff val="15000"/>
                                        </a:schemeClr>
                                      </a:solidFill>
                                      <a:latin typeface="Cambria Math" charset="0"/>
                                    </a:rPr>
                                    <m:t>𝑟</m:t>
                                  </m:r>
                                </m:e>
                                <m:sup>
                                  <m:r>
                                    <a:rPr lang="en-US" sz="2000" i="1">
                                      <a:solidFill>
                                        <a:schemeClr val="tx1">
                                          <a:lumMod val="85000"/>
                                          <a:lumOff val="15000"/>
                                        </a:schemeClr>
                                      </a:solidFill>
                                      <a:latin typeface="Cambria Math" charset="0"/>
                                    </a:rPr>
                                    <m:t>′</m:t>
                                  </m:r>
                                </m:sup>
                              </m:sSup>
                            </m:sub>
                            <m:sup/>
                            <m:e>
                              <m:sSub>
                                <m:sSubPr>
                                  <m:ctrlPr>
                                    <a:rPr lang="en-US" sz="2000" i="1">
                                      <a:solidFill>
                                        <a:schemeClr val="tx1">
                                          <a:lumMod val="85000"/>
                                          <a:lumOff val="15000"/>
                                        </a:schemeClr>
                                      </a:solidFill>
                                      <a:latin typeface="Cambria Math" charset="0"/>
                                    </a:rPr>
                                  </m:ctrlPr>
                                </m:sSubPr>
                                <m:e>
                                  <m:r>
                                    <a:rPr lang="en-US" sz="2000" i="1">
                                      <a:solidFill>
                                        <a:schemeClr val="tx1">
                                          <a:lumMod val="85000"/>
                                          <a:lumOff val="15000"/>
                                        </a:schemeClr>
                                      </a:solidFill>
                                      <a:latin typeface="Cambria Math" charset="0"/>
                                    </a:rPr>
                                    <m:t>h</m:t>
                                  </m:r>
                                </m:e>
                                <m:sub>
                                  <m:sSup>
                                    <m:sSupPr>
                                      <m:ctrlPr>
                                        <a:rPr lang="en-US" sz="2000" i="1">
                                          <a:solidFill>
                                            <a:schemeClr val="tx1">
                                              <a:lumMod val="85000"/>
                                              <a:lumOff val="15000"/>
                                            </a:schemeClr>
                                          </a:solidFill>
                                          <a:latin typeface="Cambria Math" charset="0"/>
                                        </a:rPr>
                                      </m:ctrlPr>
                                    </m:sSupPr>
                                    <m:e>
                                      <m:r>
                                        <a:rPr lang="en-US" sz="2000" i="1">
                                          <a:solidFill>
                                            <a:schemeClr val="tx1">
                                              <a:lumMod val="85000"/>
                                              <a:lumOff val="15000"/>
                                            </a:schemeClr>
                                          </a:solidFill>
                                          <a:latin typeface="Cambria Math" charset="0"/>
                                        </a:rPr>
                                        <m:t>𝑟</m:t>
                                      </m:r>
                                    </m:e>
                                    <m:sup>
                                      <m:r>
                                        <a:rPr lang="en-US" sz="2000" i="1">
                                          <a:solidFill>
                                            <a:schemeClr val="tx1">
                                              <a:lumMod val="85000"/>
                                              <a:lumOff val="15000"/>
                                            </a:schemeClr>
                                          </a:solidFill>
                                          <a:latin typeface="Cambria Math" charset="0"/>
                                        </a:rPr>
                                        <m:t>′</m:t>
                                      </m:r>
                                    </m:sup>
                                  </m:sSup>
                                </m:sub>
                              </m:sSub>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𝜒</m:t>
                                  </m:r>
                                </m:e>
                                <m:sub>
                                  <m:r>
                                    <a:rPr lang="en-US" sz="2000" b="0" i="1" smtClean="0">
                                      <a:solidFill>
                                        <a:schemeClr val="tx1">
                                          <a:lumMod val="85000"/>
                                          <a:lumOff val="15000"/>
                                        </a:schemeClr>
                                      </a:solidFill>
                                      <a:latin typeface="Cambria Math" charset="0"/>
                                    </a:rPr>
                                    <m:t>𝑟</m:t>
                                  </m:r>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𝑟</m:t>
                                      </m:r>
                                    </m:e>
                                    <m:sup>
                                      <m:r>
                                        <a:rPr lang="en-US" sz="2000" b="0" i="1" smtClean="0">
                                          <a:solidFill>
                                            <a:schemeClr val="tx1">
                                              <a:lumMod val="85000"/>
                                              <a:lumOff val="15000"/>
                                            </a:schemeClr>
                                          </a:solidFill>
                                          <a:latin typeface="Cambria Math" charset="0"/>
                                        </a:rPr>
                                        <m:t>′</m:t>
                                      </m:r>
                                    </m:sup>
                                  </m:sSup>
                                </m:sub>
                              </m:sSub>
                            </m:e>
                          </m:nary>
                        </m:e>
                      </m:nary>
                    </m:oMath>
                    <m:oMath xmlns:m="http://schemas.openxmlformats.org/officeDocument/2006/math">
                      <m:r>
                        <a:rPr lang="en-US" sz="2000" b="0" i="1" smtClean="0">
                          <a:solidFill>
                            <a:schemeClr val="tx1">
                              <a:lumMod val="85000"/>
                              <a:lumOff val="15000"/>
                            </a:schemeClr>
                          </a:solidFill>
                          <a:latin typeface="Cambria Math" charset="0"/>
                          <a:ea typeface="Cambria Math" charset="0"/>
                          <a:cs typeface="Cambria Math" charset="0"/>
                        </a:rPr>
                        <m:t>⇒</m:t>
                      </m:r>
                      <m:acc>
                        <m:accPr>
                          <m:chr m:val="̅"/>
                          <m:ctrlPr>
                            <a:rPr lang="en-US" sz="2000" b="0" i="1" smtClean="0">
                              <a:solidFill>
                                <a:schemeClr val="tx1">
                                  <a:lumMod val="85000"/>
                                  <a:lumOff val="15000"/>
                                </a:schemeClr>
                              </a:solidFill>
                              <a:latin typeface="Cambria Math" charset="0"/>
                            </a:rPr>
                          </m:ctrlPr>
                        </m:accPr>
                        <m:e>
                          <m:d>
                            <m:dPr>
                              <m:begChr m:val="〈"/>
                              <m:endChr m:val="〉"/>
                              <m:ctrlPr>
                                <a:rPr lang="en-US" sz="2000" i="1">
                                  <a:solidFill>
                                    <a:schemeClr val="tx1">
                                      <a:lumMod val="85000"/>
                                      <a:lumOff val="15000"/>
                                    </a:schemeClr>
                                  </a:solidFill>
                                  <a:latin typeface="Cambria Math" charset="0"/>
                                </a:rPr>
                              </m:ctrlPr>
                            </m:dPr>
                            <m:e>
                              <m:sSubSup>
                                <m:sSubSupPr>
                                  <m:ctrlPr>
                                    <a:rPr lang="en-US" sz="2000" b="0" i="1" smtClean="0">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charset="0"/>
                                    </a:rPr>
                                    <m:t>𝜙</m:t>
                                  </m:r>
                                </m:e>
                                <m:sub>
                                  <m:r>
                                    <a:rPr lang="en-US" sz="2000" i="1">
                                      <a:solidFill>
                                        <a:schemeClr val="tx1">
                                          <a:lumMod val="85000"/>
                                          <a:lumOff val="15000"/>
                                        </a:schemeClr>
                                      </a:solidFill>
                                      <a:latin typeface="Cambria Math" charset="0"/>
                                    </a:rPr>
                                    <m:t>𝑟</m:t>
                                  </m:r>
                                </m:sub>
                                <m:sup>
                                  <m:r>
                                    <a:rPr lang="en-US" sz="2000" b="0" i="1" smtClean="0">
                                      <a:solidFill>
                                        <a:schemeClr val="tx1">
                                          <a:lumMod val="85000"/>
                                          <a:lumOff val="15000"/>
                                        </a:schemeClr>
                                      </a:solidFill>
                                      <a:latin typeface="Cambria Math" charset="0"/>
                                    </a:rPr>
                                    <m:t>2</m:t>
                                  </m:r>
                                </m:sup>
                              </m:sSubSup>
                            </m:e>
                          </m:d>
                        </m:e>
                      </m:acc>
                      <m:r>
                        <a:rPr lang="en-US" sz="2000" i="1">
                          <a:solidFill>
                            <a:schemeClr val="tx1">
                              <a:lumMod val="85000"/>
                              <a:lumOff val="15000"/>
                            </a:schemeClr>
                          </a:solidFill>
                          <a:latin typeface="Cambria Math" charset="0"/>
                        </a:rPr>
                        <m:t>=</m:t>
                      </m:r>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charset="0"/>
                            </a:rPr>
                            <m:t>h</m:t>
                          </m:r>
                        </m:e>
                        <m:sub>
                          <m:r>
                            <a:rPr lang="en-US" sz="2000" b="0" i="1" smtClean="0">
                              <a:solidFill>
                                <a:schemeClr val="tx1">
                                  <a:lumMod val="85000"/>
                                  <a:lumOff val="15000"/>
                                </a:schemeClr>
                              </a:solidFill>
                              <a:latin typeface="Cambria Math" charset="0"/>
                            </a:rPr>
                            <m:t>0</m:t>
                          </m:r>
                        </m:sub>
                        <m:sup>
                          <m:r>
                            <a:rPr lang="en-US" sz="2000" b="0" i="1" smtClean="0">
                              <a:solidFill>
                                <a:schemeClr val="tx1">
                                  <a:lumMod val="85000"/>
                                  <a:lumOff val="15000"/>
                                </a:schemeClr>
                              </a:solidFill>
                              <a:latin typeface="Cambria Math" charset="0"/>
                            </a:rPr>
                            <m:t>2</m:t>
                          </m:r>
                        </m:sup>
                      </m:sSubSup>
                      <m:nary>
                        <m:naryPr>
                          <m:subHide m:val="on"/>
                          <m:supHide m:val="on"/>
                          <m:ctrlPr>
                            <a:rPr lang="en-US" sz="2000" b="0" i="1" smtClean="0">
                              <a:solidFill>
                                <a:schemeClr val="tx1">
                                  <a:lumMod val="85000"/>
                                  <a:lumOff val="15000"/>
                                </a:schemeClr>
                              </a:solidFill>
                              <a:latin typeface="Cambria Math" charset="0"/>
                            </a:rPr>
                          </m:ctrlPr>
                        </m:naryPr>
                        <m:sub/>
                        <m:sup/>
                        <m:e>
                          <m:f>
                            <m:fPr>
                              <m:ctrlPr>
                                <a:rPr lang="en-US" sz="2000" b="0" i="1" smtClean="0">
                                  <a:solidFill>
                                    <a:schemeClr val="tx1">
                                      <a:lumMod val="85000"/>
                                      <a:lumOff val="15000"/>
                                    </a:schemeClr>
                                  </a:solidFill>
                                  <a:latin typeface="Cambria Math" charset="0"/>
                                </a:rPr>
                              </m:ctrlPr>
                            </m:fPr>
                            <m:num>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𝑑</m:t>
                                  </m:r>
                                </m:e>
                                <m:sup>
                                  <m:r>
                                    <a:rPr lang="en-US" sz="2000" b="0" i="1" smtClean="0">
                                      <a:solidFill>
                                        <a:schemeClr val="tx1">
                                          <a:lumMod val="85000"/>
                                          <a:lumOff val="15000"/>
                                        </a:schemeClr>
                                      </a:solidFill>
                                      <a:latin typeface="Cambria Math" charset="0"/>
                                    </a:rPr>
                                    <m:t>𝑑</m:t>
                                  </m:r>
                                </m:sup>
                              </m:sSup>
                              <m:r>
                                <a:rPr lang="en-US" sz="2000" b="0" i="1" smtClean="0">
                                  <a:solidFill>
                                    <a:schemeClr val="tx1">
                                      <a:lumMod val="85000"/>
                                      <a:lumOff val="15000"/>
                                    </a:schemeClr>
                                  </a:solidFill>
                                  <a:latin typeface="Cambria Math" charset="0"/>
                                </a:rPr>
                                <m:t>𝑞</m:t>
                              </m:r>
                            </m:num>
                            <m:den>
                              <m:sSup>
                                <m:sSupPr>
                                  <m:ctrlPr>
                                    <a:rPr lang="en-US" sz="2000" b="0" i="1" smtClean="0">
                                      <a:solidFill>
                                        <a:schemeClr val="tx1">
                                          <a:lumMod val="85000"/>
                                          <a:lumOff val="15000"/>
                                        </a:schemeClr>
                                      </a:solidFill>
                                      <a:latin typeface="Cambria Math" charset="0"/>
                                    </a:rPr>
                                  </m:ctrlPr>
                                </m:sSupPr>
                                <m:e>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2</m:t>
                                      </m:r>
                                      <m:r>
                                        <a:rPr lang="en-US" sz="2000" b="0" i="1" smtClean="0">
                                          <a:solidFill>
                                            <a:schemeClr val="tx1">
                                              <a:lumMod val="85000"/>
                                              <a:lumOff val="15000"/>
                                            </a:schemeClr>
                                          </a:solidFill>
                                          <a:latin typeface="Cambria Math" charset="0"/>
                                        </a:rPr>
                                        <m:t>𝜋</m:t>
                                      </m:r>
                                    </m:e>
                                  </m:d>
                                </m:e>
                                <m:sup>
                                  <m:r>
                                    <a:rPr lang="en-US" sz="2000" b="0" i="1" smtClean="0">
                                      <a:solidFill>
                                        <a:schemeClr val="tx1">
                                          <a:lumMod val="85000"/>
                                          <a:lumOff val="15000"/>
                                        </a:schemeClr>
                                      </a:solidFill>
                                      <a:latin typeface="Cambria Math" charset="0"/>
                                    </a:rPr>
                                    <m:t>𝑑</m:t>
                                  </m:r>
                                </m:sup>
                              </m:sSup>
                            </m:den>
                          </m:f>
                          <m:r>
                            <a:rPr lang="en-US" sz="2000" b="0" i="1" smtClean="0">
                              <a:solidFill>
                                <a:schemeClr val="tx1">
                                  <a:lumMod val="85000"/>
                                  <a:lumOff val="15000"/>
                                </a:schemeClr>
                              </a:solidFill>
                              <a:latin typeface="Cambria Math" charset="0"/>
                            </a:rPr>
                            <m:t>𝜒</m:t>
                          </m:r>
                          <m:sSup>
                            <m:sSupPr>
                              <m:ctrlPr>
                                <a:rPr lang="en-US" sz="2000" b="0" i="1" smtClean="0">
                                  <a:solidFill>
                                    <a:schemeClr val="tx1">
                                      <a:lumMod val="85000"/>
                                      <a:lumOff val="15000"/>
                                    </a:schemeClr>
                                  </a:solidFill>
                                  <a:latin typeface="Cambria Math" charset="0"/>
                                </a:rPr>
                              </m:ctrlPr>
                            </m:sSupPr>
                            <m:e>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𝑞</m:t>
                                  </m:r>
                                </m:e>
                              </m:d>
                            </m:e>
                            <m:sup>
                              <m:r>
                                <a:rPr lang="en-US" sz="2000" b="0" i="1" smtClean="0">
                                  <a:solidFill>
                                    <a:schemeClr val="tx1">
                                      <a:lumMod val="85000"/>
                                      <a:lumOff val="15000"/>
                                    </a:schemeClr>
                                  </a:solidFill>
                                  <a:latin typeface="Cambria Math" charset="0"/>
                                </a:rPr>
                                <m:t>2</m:t>
                              </m:r>
                            </m:sup>
                          </m:sSup>
                        </m:e>
                      </m:nary>
                    </m:oMath>
                  </m:oMathPara>
                </a14:m>
                <a:endParaRPr lang="en-US" sz="2000" b="0" dirty="0" smtClean="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140360"/>
              </a:xfrm>
              <a:blipFill rotWithShape="0">
                <a:blip r:embed="rId2"/>
                <a:stretch>
                  <a:fillRect l="-522" t="-295"/>
                </a:stretch>
              </a:blipFill>
            </p:spPr>
            <p:txBody>
              <a:bodyPr/>
              <a:lstStyle/>
              <a:p>
                <a:r>
                  <a:rPr lang="en-US">
                    <a:noFill/>
                  </a:rPr>
                  <a:t> </a:t>
                </a:r>
              </a:p>
            </p:txBody>
          </p:sp>
        </mc:Fallback>
      </mc:AlternateContent>
      <p:cxnSp>
        <p:nvCxnSpPr>
          <p:cNvPr id="26" name="Connector: Curved 25">
            <a:extLst>
              <a:ext uri="{FF2B5EF4-FFF2-40B4-BE49-F238E27FC236}">
                <a16:creationId xmlns:a16="http://schemas.microsoft.com/office/drawing/2014/main" xmlns="" id="{867855E2-1CF7-424A-AABB-916E2E505E50}"/>
              </a:ext>
            </a:extLst>
          </p:cNvPr>
          <p:cNvCxnSpPr>
            <a:cxnSpLocks/>
            <a:endCxn id="242" idx="3"/>
          </p:cNvCxnSpPr>
          <p:nvPr/>
        </p:nvCxnSpPr>
        <p:spPr>
          <a:xfrm rot="10800000" flipV="1">
            <a:off x="4035783" y="5133355"/>
            <a:ext cx="2407872" cy="601529"/>
          </a:xfrm>
          <a:prstGeom prst="curved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xmlns="" id="{69B39AC0-7B6B-4797-ADFC-1E0691F0C8D5}"/>
                  </a:ext>
                </a:extLst>
              </p:cNvPr>
              <p:cNvSpPr txBox="1"/>
              <p:nvPr/>
            </p:nvSpPr>
            <p:spPr>
              <a:xfrm>
                <a:off x="1424005" y="5261005"/>
                <a:ext cx="2611778" cy="947760"/>
              </a:xfrm>
              <a:prstGeom prst="rect">
                <a:avLst/>
              </a:prstGeom>
              <a:noFill/>
            </p:spPr>
            <p:txBody>
              <a:bodyPr wrap="square" rtlCol="0">
                <a:spAutoFit/>
              </a:bodyPr>
              <a:lstStyle/>
              <a:p>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m:t>
                    </m:r>
                    <m:f>
                      <m:fPr>
                        <m:ctrlPr>
                          <a:rPr lang="en-US" sz="2000" b="0" i="1" smtClean="0">
                            <a:solidFill>
                              <a:schemeClr val="tx1">
                                <a:lumMod val="85000"/>
                                <a:lumOff val="15000"/>
                              </a:schemeClr>
                            </a:solidFill>
                            <a:latin typeface="Cambria Math" charset="0"/>
                          </a:rPr>
                        </m:ctrlPr>
                      </m:fPr>
                      <m:num>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panose="02040503050406030204" pitchFamily="18" charset="0"/>
                              </a:rPr>
                              <m:t>𝑑</m:t>
                            </m:r>
                          </m:e>
                          <m:sup>
                            <m:r>
                              <a:rPr lang="en-US" sz="2000" b="0" i="1" smtClean="0">
                                <a:solidFill>
                                  <a:schemeClr val="tx1">
                                    <a:lumMod val="85000"/>
                                    <a:lumOff val="15000"/>
                                  </a:schemeClr>
                                </a:solidFill>
                                <a:latin typeface="Cambria Math" panose="02040503050406030204" pitchFamily="18" charset="0"/>
                              </a:rPr>
                              <m:t>𝑑</m:t>
                            </m:r>
                          </m:sup>
                        </m:sSup>
                        <m:r>
                          <a:rPr lang="en-US" sz="2000" b="0" i="1" smtClean="0">
                            <a:solidFill>
                              <a:schemeClr val="tx1">
                                <a:lumMod val="85000"/>
                                <a:lumOff val="15000"/>
                              </a:schemeClr>
                            </a:solidFill>
                            <a:latin typeface="Cambria Math" charset="0"/>
                          </a:rPr>
                          <m:t>𝑞</m:t>
                        </m:r>
                      </m:num>
                      <m:den>
                        <m:r>
                          <a:rPr lang="en-US" sz="2000" b="0" i="1" smtClean="0">
                            <a:solidFill>
                              <a:schemeClr val="tx1">
                                <a:lumMod val="85000"/>
                                <a:lumOff val="15000"/>
                              </a:schemeClr>
                            </a:solidFill>
                            <a:latin typeface="Cambria Math" panose="02040503050406030204" pitchFamily="18" charset="0"/>
                          </a:rPr>
                          <m:t>2</m:t>
                        </m:r>
                        <m:r>
                          <a:rPr lang="en-US" sz="2000" b="0" i="1" smtClean="0">
                            <a:solidFill>
                              <a:schemeClr val="tx1">
                                <a:lumMod val="85000"/>
                                <a:lumOff val="15000"/>
                              </a:schemeClr>
                            </a:solidFill>
                            <a:latin typeface="Cambria Math" panose="02040503050406030204" pitchFamily="18" charset="0"/>
                          </a:rPr>
                          <m:t>𝜋</m:t>
                        </m:r>
                      </m:den>
                    </m:f>
                    <m:sSup>
                      <m:sSupPr>
                        <m:ctrlPr>
                          <a:rPr lang="en-US" sz="2000" b="0" i="1" smtClean="0">
                            <a:solidFill>
                              <a:schemeClr val="tx1">
                                <a:lumMod val="85000"/>
                                <a:lumOff val="15000"/>
                              </a:schemeClr>
                            </a:solidFill>
                            <a:latin typeface="Cambria Math" charset="0"/>
                          </a:rPr>
                        </m:ctrlPr>
                      </m:sSupPr>
                      <m:e>
                        <m:d>
                          <m:dPr>
                            <m:ctrlPr>
                              <a:rPr lang="en-US" sz="2000" b="0" i="1" smtClean="0">
                                <a:solidFill>
                                  <a:schemeClr val="tx1">
                                    <a:lumMod val="85000"/>
                                    <a:lumOff val="15000"/>
                                  </a:schemeClr>
                                </a:solidFill>
                                <a:latin typeface="Cambria Math" charset="0"/>
                              </a:rPr>
                            </m:ctrlPr>
                          </m:dPr>
                          <m:e>
                            <m:f>
                              <m:fPr>
                                <m:ctrlPr>
                                  <a:rPr lang="en-US" sz="2000" b="0" i="1" smtClean="0">
                                    <a:solidFill>
                                      <a:schemeClr val="tx1">
                                        <a:lumMod val="85000"/>
                                        <a:lumOff val="15000"/>
                                      </a:schemeClr>
                                    </a:solidFill>
                                    <a:latin typeface="Cambria Math" charset="0"/>
                                  </a:rPr>
                                </m:ctrlPr>
                              </m:fPr>
                              <m:num>
                                <m:r>
                                  <a:rPr lang="en-US" sz="2000" b="0" i="1" smtClean="0">
                                    <a:solidFill>
                                      <a:schemeClr val="tx1">
                                        <a:lumMod val="85000"/>
                                        <a:lumOff val="15000"/>
                                      </a:schemeClr>
                                    </a:solidFill>
                                    <a:latin typeface="Cambria Math" panose="02040503050406030204" pitchFamily="18" charset="0"/>
                                  </a:rPr>
                                  <m:t>1</m:t>
                                </m:r>
                              </m:num>
                              <m:den>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𝑞</m:t>
                                    </m:r>
                                  </m:e>
                                  <m:sup>
                                    <m:r>
                                      <a:rPr lang="en-US" sz="2000" b="0" i="1" smtClean="0">
                                        <a:solidFill>
                                          <a:schemeClr val="tx1">
                                            <a:lumMod val="85000"/>
                                            <a:lumOff val="15000"/>
                                          </a:schemeClr>
                                        </a:solidFill>
                                        <a:latin typeface="Cambria Math" panose="02040503050406030204" pitchFamily="18" charset="0"/>
                                      </a:rPr>
                                      <m:t>2</m:t>
                                    </m:r>
                                  </m:sup>
                                </m:sSup>
                              </m:den>
                            </m:f>
                          </m:e>
                        </m:d>
                      </m:e>
                      <m:sup>
                        <m:r>
                          <a:rPr lang="en-US" sz="2000" b="0" i="1" smtClean="0">
                            <a:solidFill>
                              <a:schemeClr val="tx1">
                                <a:lumMod val="85000"/>
                                <a:lumOff val="15000"/>
                              </a:schemeClr>
                            </a:solidFill>
                            <a:latin typeface="Cambria Math" panose="02040503050406030204" pitchFamily="18" charset="0"/>
                          </a:rPr>
                          <m:t>2</m:t>
                        </m:r>
                      </m:sup>
                    </m:sSup>
                    <m:r>
                      <a:rPr lang="en-US" sz="2000" b="0" i="1" smtClean="0">
                        <a:solidFill>
                          <a:schemeClr val="tx1">
                            <a:lumMod val="85000"/>
                            <a:lumOff val="15000"/>
                          </a:schemeClr>
                        </a:solidFill>
                        <a:latin typeface="Cambria Math" panose="02040503050406030204" pitchFamily="18" charset="0"/>
                      </a:rPr>
                      <m:t>~</m:t>
                    </m:r>
                  </m:oMath>
                </a14:m>
                <a:r>
                  <a:rPr lang="en-US" sz="2000" dirty="0">
                    <a:solidFill>
                      <a:schemeClr val="tx1">
                        <a:lumMod val="85000"/>
                        <a:lumOff val="15000"/>
                      </a:schemeClr>
                    </a:solidFill>
                  </a:rPr>
                  <a:t> infrared divergent  for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𝑑</m:t>
                    </m:r>
                    <m:r>
                      <a:rPr lang="en-US" sz="2000" b="0" i="1" smtClean="0">
                        <a:solidFill>
                          <a:schemeClr val="tx1">
                            <a:lumMod val="85000"/>
                            <a:lumOff val="15000"/>
                          </a:schemeClr>
                        </a:solidFill>
                        <a:latin typeface="Cambria Math" panose="02040503050406030204" pitchFamily="18" charset="0"/>
                      </a:rPr>
                      <m:t>≤4</m:t>
                    </m:r>
                  </m:oMath>
                </a14:m>
                <a:endParaRPr lang="en-US" sz="2000" dirty="0">
                  <a:solidFill>
                    <a:schemeClr val="tx1">
                      <a:lumMod val="85000"/>
                      <a:lumOff val="15000"/>
                    </a:schemeClr>
                  </a:solidFill>
                </a:endParaRPr>
              </a:p>
            </p:txBody>
          </p:sp>
        </mc:Choice>
        <mc:Fallback xmlns="">
          <p:sp>
            <p:nvSpPr>
              <p:cNvPr id="242" name="TextBox 241">
                <a:extLst>
                  <a:ext uri="{FF2B5EF4-FFF2-40B4-BE49-F238E27FC236}">
                    <a16:creationId xmlns="" xmlns:a16="http://schemas.microsoft.com/office/drawing/2014/main" xmlns:a14="http://schemas.microsoft.com/office/drawing/2010/main" id="{69B39AC0-7B6B-4797-ADFC-1E0691F0C8D5}"/>
                  </a:ext>
                </a:extLst>
              </p:cNvPr>
              <p:cNvSpPr txBox="1">
                <a:spLocks noRot="1" noChangeAspect="1" noMove="1" noResize="1" noEditPoints="1" noAdjustHandles="1" noChangeArrowheads="1" noChangeShapeType="1" noTextEdit="1"/>
              </p:cNvSpPr>
              <p:nvPr/>
            </p:nvSpPr>
            <p:spPr>
              <a:xfrm>
                <a:off x="1424005" y="5261005"/>
                <a:ext cx="2611778" cy="947760"/>
              </a:xfrm>
              <a:prstGeom prst="rect">
                <a:avLst/>
              </a:prstGeom>
              <a:blipFill rotWithShape="0">
                <a:blip r:embed="rId3"/>
                <a:stretch>
                  <a:fillRect l="-2570" r="-467" b="-109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xmlns="" id="{94233CE1-06D0-4A9B-9F02-2781C8450F7D}"/>
                  </a:ext>
                </a:extLst>
              </p:cNvPr>
              <p:cNvSpPr txBox="1"/>
              <p:nvPr/>
            </p:nvSpPr>
            <p:spPr>
              <a:xfrm>
                <a:off x="8305068" y="4847978"/>
                <a:ext cx="2904401" cy="1754326"/>
              </a:xfrm>
              <a:prstGeom prst="rect">
                <a:avLst/>
              </a:prstGeom>
              <a:noFill/>
            </p:spPr>
            <p:txBody>
              <a:bodyPr wrap="square" rtlCol="0">
                <a:spAutoFit/>
              </a:bodyPr>
              <a:lstStyle/>
              <a:p>
                <a:r>
                  <a:rPr lang="en-US" dirty="0" smtClean="0">
                    <a:solidFill>
                      <a:schemeClr val="tx1">
                        <a:lumMod val="85000"/>
                        <a:lumOff val="15000"/>
                      </a:schemeClr>
                    </a:solidFill>
                  </a:rPr>
                  <a:t>Hence, the lower critical dimension for random field systems with continuous symmetry is,</a:t>
                </a:r>
              </a:p>
              <a:p>
                <a:endParaRPr lang="en-US" b="0" i="1" dirty="0">
                  <a:solidFill>
                    <a:schemeClr val="tx1">
                      <a:lumMod val="85000"/>
                      <a:lumOff val="1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50000"/>
                                </a:schemeClr>
                              </a:solidFill>
                              <a:latin typeface="Cambria Math" charset="0"/>
                            </a:rPr>
                          </m:ctrlPr>
                        </m:sSubPr>
                        <m:e>
                          <m:r>
                            <a:rPr lang="en-US" b="0" i="1" smtClean="0">
                              <a:solidFill>
                                <a:schemeClr val="accent2">
                                  <a:lumMod val="50000"/>
                                </a:schemeClr>
                              </a:solidFill>
                              <a:latin typeface="Cambria Math" panose="02040503050406030204" pitchFamily="18" charset="0"/>
                            </a:rPr>
                            <m:t>𝑑</m:t>
                          </m:r>
                        </m:e>
                        <m:sub>
                          <m:r>
                            <a:rPr lang="en-US" b="0" i="1" smtClean="0">
                              <a:solidFill>
                                <a:schemeClr val="accent2">
                                  <a:lumMod val="50000"/>
                                </a:schemeClr>
                              </a:solidFill>
                              <a:latin typeface="Cambria Math" charset="0"/>
                            </a:rPr>
                            <m:t>𝑐</m:t>
                          </m:r>
                        </m:sub>
                      </m:sSub>
                      <m:r>
                        <a:rPr lang="en-US" b="0" i="1" smtClean="0">
                          <a:solidFill>
                            <a:schemeClr val="accent2">
                              <a:lumMod val="50000"/>
                            </a:schemeClr>
                          </a:solidFill>
                          <a:latin typeface="Cambria Math" charset="0"/>
                        </a:rPr>
                        <m:t>=</m:t>
                      </m:r>
                      <m:r>
                        <a:rPr lang="en-US" b="0" i="1" smtClean="0">
                          <a:solidFill>
                            <a:schemeClr val="accent2">
                              <a:lumMod val="50000"/>
                            </a:schemeClr>
                          </a:solidFill>
                          <a:latin typeface="Cambria Math" panose="02040503050406030204" pitchFamily="18" charset="0"/>
                        </a:rPr>
                        <m:t>4</m:t>
                      </m:r>
                    </m:oMath>
                  </m:oMathPara>
                </a14:m>
                <a:endParaRPr lang="en-US" dirty="0">
                  <a:solidFill>
                    <a:schemeClr val="accent2">
                      <a:lumMod val="50000"/>
                    </a:schemeClr>
                  </a:solidFill>
                </a:endParaRPr>
              </a:p>
            </p:txBody>
          </p:sp>
        </mc:Choice>
        <mc:Fallback xmlns="">
          <p:sp>
            <p:nvSpPr>
              <p:cNvPr id="244" name="TextBox 243">
                <a:extLst>
                  <a:ext uri="{FF2B5EF4-FFF2-40B4-BE49-F238E27FC236}">
                    <a16:creationId xmlns="" xmlns:a16="http://schemas.microsoft.com/office/drawing/2014/main" xmlns:a14="http://schemas.microsoft.com/office/drawing/2010/main" id="{94233CE1-06D0-4A9B-9F02-2781C8450F7D}"/>
                  </a:ext>
                </a:extLst>
              </p:cNvPr>
              <p:cNvSpPr txBox="1">
                <a:spLocks noRot="1" noChangeAspect="1" noMove="1" noResize="1" noEditPoints="1" noAdjustHandles="1" noChangeArrowheads="1" noChangeShapeType="1" noTextEdit="1"/>
              </p:cNvSpPr>
              <p:nvPr/>
            </p:nvSpPr>
            <p:spPr>
              <a:xfrm>
                <a:off x="8305068" y="4847978"/>
                <a:ext cx="2904401" cy="1754326"/>
              </a:xfrm>
              <a:prstGeom prst="rect">
                <a:avLst/>
              </a:prstGeom>
              <a:blipFill rotWithShape="0">
                <a:blip r:embed="rId4"/>
                <a:stretch>
                  <a:fillRect l="-1677" t="-1736"/>
                </a:stretch>
              </a:blipFill>
            </p:spPr>
            <p:txBody>
              <a:bodyPr/>
              <a:lstStyle/>
              <a:p>
                <a:r>
                  <a:rPr lang="en-US">
                    <a:noFill/>
                  </a:rPr>
                  <a:t> </a:t>
                </a:r>
              </a:p>
            </p:txBody>
          </p:sp>
        </mc:Fallback>
      </mc:AlternateContent>
      <p:sp>
        <p:nvSpPr>
          <p:cNvPr id="245" name="Rectangle 244">
            <a:extLst>
              <a:ext uri="{FF2B5EF4-FFF2-40B4-BE49-F238E27FC236}">
                <a16:creationId xmlns:a16="http://schemas.microsoft.com/office/drawing/2014/main" xmlns="" id="{C143E3E0-E5AF-4DCA-8D45-ABF1F63F708D}"/>
              </a:ext>
            </a:extLst>
          </p:cNvPr>
          <p:cNvSpPr/>
          <p:nvPr/>
        </p:nvSpPr>
        <p:spPr>
          <a:xfrm>
            <a:off x="9241879" y="6240568"/>
            <a:ext cx="1031206" cy="361751"/>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Random fields and the </a:t>
            </a:r>
            <a:r>
              <a:rPr lang="en-US" sz="3600" dirty="0" err="1"/>
              <a:t>Imry</a:t>
            </a:r>
            <a:r>
              <a:rPr lang="en-US" sz="3600" dirty="0"/>
              <a:t>-Ma criterion</a:t>
            </a:r>
            <a:endParaRPr lang="x-none" sz="3600" dirty="0"/>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979A644E-6B4B-499D-9FBC-BF6B6AFF17DB}"/>
              </a:ext>
            </a:extLst>
          </p:cNvPr>
          <p:cNvSpPr txBox="1"/>
          <p:nvPr/>
        </p:nvSpPr>
        <p:spPr>
          <a:xfrm>
            <a:off x="837990" y="1281596"/>
            <a:ext cx="7672645"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Goldstone modes and infrared divergence:</a:t>
            </a:r>
            <a:endParaRPr lang="en-US" sz="3200" dirty="0">
              <a:solidFill>
                <a:schemeClr val="tx1">
                  <a:lumMod val="65000"/>
                  <a:lumOff val="35000"/>
                </a:schemeClr>
              </a:solidFill>
              <a:latin typeface="+mj-lt"/>
            </a:endParaRPr>
          </a:p>
        </p:txBody>
      </p:sp>
      <p:sp>
        <p:nvSpPr>
          <p:cNvPr id="2" name="Oval 1"/>
          <p:cNvSpPr/>
          <p:nvPr/>
        </p:nvSpPr>
        <p:spPr>
          <a:xfrm>
            <a:off x="5492383" y="4254694"/>
            <a:ext cx="1902543" cy="878664"/>
          </a:xfrm>
          <a:prstGeom prst="ellipse">
            <a:avLst/>
          </a:prstGeom>
          <a:noFill/>
          <a:ln>
            <a:solidFill>
              <a:schemeClr val="accent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p:cNvSpPr txBox="1"/>
              <p:nvPr/>
            </p:nvSpPr>
            <p:spPr>
              <a:xfrm>
                <a:off x="4945925" y="5476353"/>
                <a:ext cx="2590196" cy="468333"/>
              </a:xfrm>
              <a:prstGeom prst="rect">
                <a:avLst/>
              </a:prstGeom>
              <a:noFill/>
            </p:spPr>
            <p:txBody>
              <a:bodyPr wrap="none" rtlCol="0">
                <a:spAutoFit/>
              </a:bodyPr>
              <a:lstStyle/>
              <a:p>
                <a:r>
                  <a:rPr lang="en-US" sz="1600" dirty="0" smtClean="0">
                    <a:solidFill>
                      <a:schemeClr val="tx1">
                        <a:lumMod val="85000"/>
                        <a:lumOff val="15000"/>
                      </a:schemeClr>
                    </a:solidFill>
                  </a:rPr>
                  <a:t>Goldstone modes, </a:t>
                </a:r>
                <a14:m>
                  <m:oMath xmlns:m="http://schemas.openxmlformats.org/officeDocument/2006/math">
                    <m:r>
                      <a:rPr lang="en-US" sz="1600" b="0" i="1" smtClean="0">
                        <a:solidFill>
                          <a:schemeClr val="tx1">
                            <a:lumMod val="85000"/>
                            <a:lumOff val="15000"/>
                          </a:schemeClr>
                        </a:solidFill>
                        <a:latin typeface="Cambria Math" charset="0"/>
                      </a:rPr>
                      <m:t>𝜒</m:t>
                    </m:r>
                    <m:d>
                      <m:dPr>
                        <m:ctrlPr>
                          <a:rPr lang="en-US" sz="1600" b="0" i="1" smtClean="0">
                            <a:solidFill>
                              <a:schemeClr val="tx1">
                                <a:lumMod val="85000"/>
                                <a:lumOff val="15000"/>
                              </a:schemeClr>
                            </a:solidFill>
                            <a:latin typeface="Cambria Math" charset="0"/>
                          </a:rPr>
                        </m:ctrlPr>
                      </m:dPr>
                      <m:e>
                        <m:r>
                          <a:rPr lang="en-US" sz="1600" b="0" i="1" smtClean="0">
                            <a:solidFill>
                              <a:schemeClr val="tx1">
                                <a:lumMod val="85000"/>
                                <a:lumOff val="15000"/>
                              </a:schemeClr>
                            </a:solidFill>
                            <a:latin typeface="Cambria Math" charset="0"/>
                          </a:rPr>
                          <m:t>𝑞</m:t>
                        </m:r>
                      </m:e>
                    </m:d>
                    <m:r>
                      <a:rPr lang="en-US" sz="1600" b="0" i="1" smtClean="0">
                        <a:solidFill>
                          <a:schemeClr val="tx1">
                            <a:lumMod val="85000"/>
                            <a:lumOff val="15000"/>
                          </a:schemeClr>
                        </a:solidFill>
                        <a:latin typeface="Cambria Math" charset="0"/>
                      </a:rPr>
                      <m:t>∼</m:t>
                    </m:r>
                    <m:f>
                      <m:fPr>
                        <m:ctrlPr>
                          <a:rPr lang="en-US" sz="1600" b="0" i="1" smtClean="0">
                            <a:solidFill>
                              <a:schemeClr val="tx1">
                                <a:lumMod val="85000"/>
                                <a:lumOff val="15000"/>
                              </a:schemeClr>
                            </a:solidFill>
                            <a:latin typeface="Cambria Math" charset="0"/>
                          </a:rPr>
                        </m:ctrlPr>
                      </m:fPr>
                      <m:num>
                        <m:r>
                          <a:rPr lang="en-US" sz="1600" b="0" i="1" smtClean="0">
                            <a:solidFill>
                              <a:schemeClr val="tx1">
                                <a:lumMod val="85000"/>
                                <a:lumOff val="15000"/>
                              </a:schemeClr>
                            </a:solidFill>
                            <a:latin typeface="Cambria Math" charset="0"/>
                          </a:rPr>
                          <m:t>1</m:t>
                        </m:r>
                      </m:num>
                      <m:den>
                        <m:sSup>
                          <m:sSupPr>
                            <m:ctrlPr>
                              <a:rPr lang="en-US" sz="1600" b="0" i="1" smtClean="0">
                                <a:solidFill>
                                  <a:schemeClr val="tx1">
                                    <a:lumMod val="85000"/>
                                    <a:lumOff val="15000"/>
                                  </a:schemeClr>
                                </a:solidFill>
                                <a:latin typeface="Cambria Math" charset="0"/>
                              </a:rPr>
                            </m:ctrlPr>
                          </m:sSupPr>
                          <m:e>
                            <m:r>
                              <a:rPr lang="en-US" sz="1600" b="0" i="1" smtClean="0">
                                <a:solidFill>
                                  <a:schemeClr val="tx1">
                                    <a:lumMod val="85000"/>
                                    <a:lumOff val="15000"/>
                                  </a:schemeClr>
                                </a:solidFill>
                                <a:latin typeface="Cambria Math" charset="0"/>
                              </a:rPr>
                              <m:t>𝑞</m:t>
                            </m:r>
                          </m:e>
                          <m:sup>
                            <m:r>
                              <a:rPr lang="en-US" sz="1600" b="0" i="1" smtClean="0">
                                <a:solidFill>
                                  <a:schemeClr val="tx1">
                                    <a:lumMod val="85000"/>
                                    <a:lumOff val="15000"/>
                                  </a:schemeClr>
                                </a:solidFill>
                                <a:latin typeface="Cambria Math" charset="0"/>
                              </a:rPr>
                              <m:t>2</m:t>
                            </m:r>
                          </m:sup>
                        </m:sSup>
                      </m:den>
                    </m:f>
                  </m:oMath>
                </a14:m>
                <a:endParaRPr lang="en-US" sz="1600" dirty="0">
                  <a:solidFill>
                    <a:schemeClr val="tx1">
                      <a:lumMod val="85000"/>
                      <a:lumOff val="15000"/>
                    </a:schemeClr>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945925" y="5476353"/>
                <a:ext cx="2590196" cy="468333"/>
              </a:xfrm>
              <a:prstGeom prst="rect">
                <a:avLst/>
              </a:prstGeom>
              <a:blipFill rotWithShape="0">
                <a:blip r:embed="rId5"/>
                <a:stretch>
                  <a:fillRect l="-1176" b="-2597"/>
                </a:stretch>
              </a:blipFill>
            </p:spPr>
            <p:txBody>
              <a:bodyPr/>
              <a:lstStyle/>
              <a:p>
                <a:r>
                  <a:rPr lang="en-US">
                    <a:noFill/>
                  </a:rPr>
                  <a:t> </a:t>
                </a:r>
              </a:p>
            </p:txBody>
          </p:sp>
        </mc:Fallback>
      </mc:AlternateContent>
      <p:sp>
        <p:nvSpPr>
          <p:cNvPr id="16" name="TextBox 15"/>
          <p:cNvSpPr txBox="1"/>
          <p:nvPr/>
        </p:nvSpPr>
        <p:spPr>
          <a:xfrm>
            <a:off x="4163744" y="6176642"/>
            <a:ext cx="3960893" cy="523220"/>
          </a:xfrm>
          <a:prstGeom prst="rect">
            <a:avLst/>
          </a:prstGeom>
          <a:noFill/>
        </p:spPr>
        <p:txBody>
          <a:bodyPr wrap="none" rtlCol="0">
            <a:spAutoFit/>
          </a:bodyPr>
          <a:lstStyle/>
          <a:p>
            <a:r>
              <a:rPr lang="en-US" sz="1400" dirty="0">
                <a:solidFill>
                  <a:schemeClr val="accent2">
                    <a:lumMod val="50000"/>
                  </a:schemeClr>
                </a:solidFill>
              </a:rPr>
              <a:t>Y. </a:t>
            </a:r>
            <a:r>
              <a:rPr lang="en-US" sz="1400" dirty="0" err="1">
                <a:solidFill>
                  <a:schemeClr val="accent2">
                    <a:lumMod val="50000"/>
                  </a:schemeClr>
                </a:solidFill>
              </a:rPr>
              <a:t>Imry</a:t>
            </a:r>
            <a:r>
              <a:rPr lang="en-US" sz="1400" dirty="0">
                <a:solidFill>
                  <a:schemeClr val="accent2">
                    <a:lumMod val="50000"/>
                  </a:schemeClr>
                </a:solidFill>
              </a:rPr>
              <a:t> and S.-k. Ma, Phys. Rev. </a:t>
            </a:r>
            <a:r>
              <a:rPr lang="en-US" sz="1400" dirty="0" err="1">
                <a:solidFill>
                  <a:schemeClr val="accent2">
                    <a:lumMod val="50000"/>
                  </a:schemeClr>
                </a:solidFill>
              </a:rPr>
              <a:t>Lett</a:t>
            </a:r>
            <a:r>
              <a:rPr lang="en-US" sz="1400" dirty="0">
                <a:solidFill>
                  <a:schemeClr val="accent2">
                    <a:lumMod val="50000"/>
                  </a:schemeClr>
                </a:solidFill>
              </a:rPr>
              <a:t>. 35, 1399 (1975</a:t>
            </a:r>
            <a:r>
              <a:rPr lang="en-US" sz="1400" dirty="0" smtClean="0">
                <a:solidFill>
                  <a:schemeClr val="accent2">
                    <a:lumMod val="50000"/>
                  </a:schemeClr>
                </a:solidFill>
              </a:rPr>
              <a:t>)</a:t>
            </a:r>
          </a:p>
          <a:p>
            <a:r>
              <a:rPr lang="en-US" sz="1400" dirty="0">
                <a:solidFill>
                  <a:schemeClr val="accent2">
                    <a:lumMod val="50000"/>
                  </a:schemeClr>
                </a:solidFill>
              </a:rPr>
              <a:t>A. </a:t>
            </a:r>
            <a:r>
              <a:rPr lang="en-US" sz="1400" dirty="0" err="1" smtClean="0">
                <a:solidFill>
                  <a:schemeClr val="accent2">
                    <a:lumMod val="50000"/>
                  </a:schemeClr>
                </a:solidFill>
              </a:rPr>
              <a:t>Aharony</a:t>
            </a:r>
            <a:r>
              <a:rPr lang="en-US" sz="1400" dirty="0" smtClean="0">
                <a:solidFill>
                  <a:schemeClr val="accent2">
                    <a:lumMod val="50000"/>
                  </a:schemeClr>
                </a:solidFill>
              </a:rPr>
              <a:t>, Solid</a:t>
            </a:r>
            <a:r>
              <a:rPr lang="en-US" sz="1400" dirty="0">
                <a:solidFill>
                  <a:schemeClr val="accent2">
                    <a:lumMod val="50000"/>
                  </a:schemeClr>
                </a:solidFill>
              </a:rPr>
              <a:t> State </a:t>
            </a:r>
            <a:r>
              <a:rPr lang="en-US" sz="1400" dirty="0" smtClean="0">
                <a:solidFill>
                  <a:schemeClr val="accent2">
                    <a:lumMod val="50000"/>
                  </a:schemeClr>
                </a:solidFill>
              </a:rPr>
              <a:t>Comm.,</a:t>
            </a:r>
            <a:r>
              <a:rPr lang="en-US" sz="1400" dirty="0">
                <a:solidFill>
                  <a:schemeClr val="accent2">
                    <a:lumMod val="50000"/>
                  </a:schemeClr>
                </a:solidFill>
              </a:rPr>
              <a:t> </a:t>
            </a:r>
            <a:r>
              <a:rPr lang="en-US" sz="1400" dirty="0" smtClean="0">
                <a:solidFill>
                  <a:schemeClr val="accent2">
                    <a:lumMod val="50000"/>
                  </a:schemeClr>
                </a:solidFill>
              </a:rPr>
              <a:t>28</a:t>
            </a:r>
            <a:r>
              <a:rPr lang="en-US" sz="1400" dirty="0">
                <a:solidFill>
                  <a:schemeClr val="accent2">
                    <a:lumMod val="50000"/>
                  </a:schemeClr>
                </a:solidFill>
              </a:rPr>
              <a:t>, </a:t>
            </a:r>
            <a:r>
              <a:rPr lang="en-US" sz="1400" dirty="0" smtClean="0">
                <a:solidFill>
                  <a:schemeClr val="accent2">
                    <a:lumMod val="50000"/>
                  </a:schemeClr>
                </a:solidFill>
              </a:rPr>
              <a:t>8</a:t>
            </a:r>
            <a:r>
              <a:rPr lang="en-US" sz="1400" dirty="0">
                <a:solidFill>
                  <a:schemeClr val="accent2">
                    <a:lumMod val="50000"/>
                  </a:schemeClr>
                </a:solidFill>
              </a:rPr>
              <a:t>, </a:t>
            </a:r>
            <a:r>
              <a:rPr lang="en-US" sz="1400" dirty="0" smtClean="0">
                <a:solidFill>
                  <a:schemeClr val="accent2">
                    <a:lumMod val="50000"/>
                  </a:schemeClr>
                </a:solidFill>
              </a:rPr>
              <a:t>667 (</a:t>
            </a:r>
            <a:r>
              <a:rPr lang="en-US" sz="1400" dirty="0">
                <a:solidFill>
                  <a:schemeClr val="accent2">
                    <a:lumMod val="50000"/>
                  </a:schemeClr>
                </a:solidFill>
              </a:rPr>
              <a:t>1978</a:t>
            </a:r>
            <a:r>
              <a:rPr lang="en-US" sz="1400" dirty="0" smtClean="0">
                <a:solidFill>
                  <a:schemeClr val="accent2">
                    <a:lumMod val="50000"/>
                  </a:schemeClr>
                </a:solidFill>
              </a:rPr>
              <a:t>)</a:t>
            </a:r>
            <a:endParaRPr lang="en-US" sz="1400" dirty="0">
              <a:solidFill>
                <a:schemeClr val="accent2">
                  <a:lumMod val="50000"/>
                </a:schemeClr>
              </a:solidFill>
            </a:endParaRPr>
          </a:p>
        </p:txBody>
      </p:sp>
    </p:spTree>
    <p:extLst>
      <p:ext uri="{BB962C8B-B14F-4D97-AF65-F5344CB8AC3E}">
        <p14:creationId xmlns:p14="http://schemas.microsoft.com/office/powerpoint/2010/main" val="40355592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841598"/>
            <a:ext cx="9144000" cy="2268414"/>
          </a:xfrm>
        </p:spPr>
        <p:txBody>
          <a:bodyPr>
            <a:normAutofit/>
          </a:bodyPr>
          <a:lstStyle/>
          <a:p>
            <a:pPr algn="l"/>
            <a:r>
              <a:rPr lang="en-US" sz="4000" dirty="0">
                <a:solidFill>
                  <a:schemeClr val="accent2">
                    <a:lumMod val="50000"/>
                  </a:schemeClr>
                </a:solidFill>
              </a:rPr>
              <a:t>Quenched Disorder: Random Couplings</a:t>
            </a:r>
            <a:endParaRPr lang="x-none" sz="4000"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2" y="3813052"/>
            <a:ext cx="9400591" cy="859609"/>
          </a:xfrm>
        </p:spPr>
        <p:txBody>
          <a:bodyPr>
            <a:noAutofit/>
          </a:bodyPr>
          <a:lstStyle/>
          <a:p>
            <a:pPr algn="l">
              <a:lnSpc>
                <a:spcPct val="100000"/>
              </a:lnSpc>
            </a:pPr>
            <a:r>
              <a:rPr lang="en-US" dirty="0">
                <a:solidFill>
                  <a:schemeClr val="tx1">
                    <a:lumMod val="65000"/>
                    <a:lumOff val="35000"/>
                  </a:schemeClr>
                </a:solidFill>
              </a:rPr>
              <a:t>Lower critical dimension of </a:t>
            </a:r>
            <a:r>
              <a:rPr lang="en-US" dirty="0" smtClean="0">
                <a:solidFill>
                  <a:schemeClr val="tx1">
                    <a:lumMod val="65000"/>
                    <a:lumOff val="35000"/>
                  </a:schemeClr>
                </a:solidFill>
              </a:rPr>
              <a:t>disordered non-collinear </a:t>
            </a:r>
            <a:r>
              <a:rPr lang="en-US" dirty="0">
                <a:solidFill>
                  <a:schemeClr val="tx1">
                    <a:lumMod val="65000"/>
                    <a:lumOff val="35000"/>
                  </a:schemeClr>
                </a:solidFill>
              </a:rPr>
              <a:t>magnets: Infrared divergence</a:t>
            </a:r>
          </a:p>
        </p:txBody>
      </p:sp>
      <p:cxnSp>
        <p:nvCxnSpPr>
          <p:cNvPr id="6" name="Straight Connector 5">
            <a:extLst>
              <a:ext uri="{FF2B5EF4-FFF2-40B4-BE49-F238E27FC236}">
                <a16:creationId xmlns:a16="http://schemas.microsoft.com/office/drawing/2014/main" xmlns="" id="{6883E9BE-4C98-4DB5-A647-E8664E3DC93C}"/>
              </a:ext>
            </a:extLst>
          </p:cNvPr>
          <p:cNvCxnSpPr>
            <a:cxnSpLocks/>
          </p:cNvCxnSpPr>
          <p:nvPr/>
        </p:nvCxnSpPr>
        <p:spPr>
          <a:xfrm>
            <a:off x="1635368" y="3405431"/>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2619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p:cNvSpPr/>
          <p:nvPr/>
        </p:nvSpPr>
        <p:spPr>
          <a:xfrm>
            <a:off x="8221649" y="4110824"/>
            <a:ext cx="659958" cy="87465"/>
          </a:xfrm>
          <a:prstGeom prst="ellipse">
            <a:avLst/>
          </a:prstGeom>
          <a:ln w="19050"/>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42830"/>
            <a:ext cx="5383635" cy="4140360"/>
          </a:xfrm>
        </p:spPr>
        <p:txBody>
          <a:bodyPr>
            <a:normAutofit/>
          </a:bodyPr>
          <a:lstStyle/>
          <a:p>
            <a:pPr>
              <a:buFont typeface="Wingdings" panose="05000000000000000000" pitchFamily="2" charset="2"/>
              <a:buChar char="§"/>
            </a:pPr>
            <a:r>
              <a:rPr lang="en-US" sz="2000" dirty="0">
                <a:solidFill>
                  <a:schemeClr val="tx1">
                    <a:lumMod val="85000"/>
                    <a:lumOff val="15000"/>
                  </a:schemeClr>
                </a:solidFill>
              </a:rPr>
              <a:t>In a non-collinear </a:t>
            </a:r>
            <a:r>
              <a:rPr lang="en-US" sz="2000" dirty="0" smtClean="0">
                <a:solidFill>
                  <a:schemeClr val="tx1">
                    <a:lumMod val="85000"/>
                    <a:lumOff val="15000"/>
                  </a:schemeClr>
                </a:solidFill>
              </a:rPr>
              <a:t>Heisenberg </a:t>
            </a:r>
            <a:r>
              <a:rPr lang="en-US" sz="2000" dirty="0" err="1" smtClean="0">
                <a:solidFill>
                  <a:schemeClr val="tx1">
                    <a:lumMod val="85000"/>
                    <a:lumOff val="15000"/>
                  </a:schemeClr>
                </a:solidFill>
              </a:rPr>
              <a:t>antiferromagnet</a:t>
            </a:r>
            <a:endParaRPr lang="en-US" sz="2000" dirty="0">
              <a:solidFill>
                <a:schemeClr val="tx1">
                  <a:lumMod val="85000"/>
                  <a:lumOff val="15000"/>
                </a:schemeClr>
              </a:solidFill>
            </a:endParaRPr>
          </a:p>
        </p:txBody>
      </p:sp>
      <p:sp>
        <p:nvSpPr>
          <p:cNvPr id="63" name="Content Placeholder 2">
            <a:extLst>
              <a:ext uri="{FF2B5EF4-FFF2-40B4-BE49-F238E27FC236}">
                <a16:creationId xmlns:a16="http://schemas.microsoft.com/office/drawing/2014/main" xmlns="" id="{1D64F189-8CCC-4E65-85DE-7BB8C3AC3D09}"/>
              </a:ext>
            </a:extLst>
          </p:cNvPr>
          <p:cNvSpPr txBox="1">
            <a:spLocks/>
          </p:cNvSpPr>
          <p:nvPr/>
        </p:nvSpPr>
        <p:spPr>
          <a:xfrm>
            <a:off x="6221835" y="2036603"/>
            <a:ext cx="5257800" cy="4140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solidFill>
                  <a:schemeClr val="tx1">
                    <a:lumMod val="85000"/>
                    <a:lumOff val="15000"/>
                  </a:schemeClr>
                </a:solidFill>
              </a:rPr>
              <a:t>In a collinear </a:t>
            </a:r>
            <a:r>
              <a:rPr lang="en-US" sz="2000" dirty="0" smtClean="0">
                <a:solidFill>
                  <a:schemeClr val="tx1">
                    <a:lumMod val="85000"/>
                    <a:lumOff val="15000"/>
                  </a:schemeClr>
                </a:solidFill>
              </a:rPr>
              <a:t>Heisenberg </a:t>
            </a:r>
            <a:r>
              <a:rPr lang="en-US" sz="2000" dirty="0" err="1" smtClean="0">
                <a:solidFill>
                  <a:schemeClr val="tx1">
                    <a:lumMod val="85000"/>
                    <a:lumOff val="15000"/>
                  </a:schemeClr>
                </a:solidFill>
              </a:rPr>
              <a:t>antiferromagnet</a:t>
            </a:r>
            <a:endParaRPr lang="en-US" sz="2000" dirty="0">
              <a:solidFill>
                <a:schemeClr val="tx1">
                  <a:lumMod val="85000"/>
                  <a:lumOff val="15000"/>
                </a:schemeClr>
              </a:solidFill>
            </a:endParaRPr>
          </a:p>
          <a:p>
            <a:pPr marL="1371600" lvl="3" indent="0">
              <a:buFont typeface="Arial" panose="020B0604020202020204" pitchFamily="34" charset="0"/>
              <a:buNone/>
            </a:pPr>
            <a:endParaRPr lang="en-US" dirty="0">
              <a:solidFill>
                <a:schemeClr val="tx1">
                  <a:lumMod val="65000"/>
                  <a:lumOff val="35000"/>
                </a:schemeClr>
              </a:solidFill>
            </a:endParaRPr>
          </a:p>
        </p:txBody>
      </p:sp>
      <p:sp>
        <p:nvSpPr>
          <p:cNvPr id="39" name="Title 1">
            <a:extLst>
              <a:ext uri="{FF2B5EF4-FFF2-40B4-BE49-F238E27FC236}">
                <a16:creationId xmlns:a16="http://schemas.microsoft.com/office/drawing/2014/main" xmlns="" id="{5F125C44-7ECF-4972-8CDB-951A823B7D0D}"/>
              </a:ext>
            </a:extLst>
          </p:cNvPr>
          <p:cNvSpPr>
            <a:spLocks noGrp="1"/>
          </p:cNvSpPr>
          <p:nvPr>
            <p:ph type="title"/>
          </p:nvPr>
        </p:nvSpPr>
        <p:spPr>
          <a:xfrm>
            <a:off x="835103" y="196238"/>
            <a:ext cx="10515600" cy="1040400"/>
          </a:xfrm>
        </p:spPr>
        <p:txBody>
          <a:bodyPr>
            <a:normAutofit/>
          </a:bodyPr>
          <a:lstStyle/>
          <a:p>
            <a:r>
              <a:rPr lang="en-US" sz="3600" dirty="0" smtClean="0"/>
              <a:t>Single bond impurity</a:t>
            </a:r>
            <a:endParaRPr lang="x-none" sz="3600" dirty="0"/>
          </a:p>
        </p:txBody>
      </p:sp>
      <p:cxnSp>
        <p:nvCxnSpPr>
          <p:cNvPr id="40" name="Straight Connector 3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Local reorientation for non-collinear magnets</a:t>
            </a:r>
            <a:endParaRPr lang="en-US" sz="3200" dirty="0">
              <a:solidFill>
                <a:schemeClr val="tx1">
                  <a:lumMod val="65000"/>
                  <a:lumOff val="35000"/>
                </a:schemeClr>
              </a:solidFill>
              <a:latin typeface="+mj-lt"/>
            </a:endParaRPr>
          </a:p>
        </p:txBody>
      </p:sp>
      <p:pic>
        <p:nvPicPr>
          <p:cNvPr id="38" name="Picture 37">
            <a:extLst>
              <a:ext uri="{FF2B5EF4-FFF2-40B4-BE49-F238E27FC236}">
                <a16:creationId xmlns:a16="http://schemas.microsoft.com/office/drawing/2014/main" xmlns="" id="{C9C5C4B7-34A4-48C1-A1DC-06A11ED8C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267" y="2598629"/>
            <a:ext cx="3396222" cy="3396222"/>
          </a:xfrm>
          <a:prstGeom prst="rect">
            <a:avLst/>
          </a:prstGeom>
        </p:spPr>
      </p:pic>
      <p:cxnSp>
        <p:nvCxnSpPr>
          <p:cNvPr id="4" name="Straight Arrow Connector 3"/>
          <p:cNvCxnSpPr/>
          <p:nvPr/>
        </p:nvCxnSpPr>
        <p:spPr>
          <a:xfrm>
            <a:off x="7259411" y="3061252"/>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flipV="1">
            <a:off x="7744571" y="3061253"/>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8295662" y="3061251"/>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flipV="1">
            <a:off x="8780822" y="3061252"/>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9330587" y="3061250"/>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9815747" y="3061251"/>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7258085" y="3910908"/>
            <a:ext cx="1326" cy="46800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7744571" y="3910908"/>
            <a:ext cx="0" cy="468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8295661" y="3910908"/>
            <a:ext cx="1326" cy="46800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8782147" y="3910908"/>
            <a:ext cx="0" cy="468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V="1">
            <a:off x="9330587" y="3882808"/>
            <a:ext cx="1326" cy="46800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817073" y="3882808"/>
            <a:ext cx="0" cy="468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7258085" y="4785966"/>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flipV="1">
            <a:off x="7743245" y="4785967"/>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8294336" y="4785965"/>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flipV="1">
            <a:off x="8779496" y="4785966"/>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9329261" y="4785964"/>
            <a:ext cx="0" cy="4680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9814421" y="4785965"/>
            <a:ext cx="1326" cy="46912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530017" y="6059940"/>
            <a:ext cx="6297433" cy="646331"/>
          </a:xfrm>
          <a:prstGeom prst="rect">
            <a:avLst/>
          </a:prstGeom>
          <a:noFill/>
        </p:spPr>
        <p:txBody>
          <a:bodyPr wrap="square" rtlCol="0">
            <a:spAutoFit/>
          </a:bodyPr>
          <a:lstStyle/>
          <a:p>
            <a:r>
              <a:rPr lang="en-US" dirty="0" smtClean="0">
                <a:solidFill>
                  <a:schemeClr val="tx1">
                    <a:lumMod val="85000"/>
                    <a:lumOff val="15000"/>
                  </a:schemeClr>
                </a:solidFill>
              </a:rPr>
              <a:t>Bond disorder is weaker and it does not break time reversal invariance.</a:t>
            </a:r>
            <a:endParaRPr lang="en-US" dirty="0">
              <a:solidFill>
                <a:schemeClr val="tx1">
                  <a:lumMod val="85000"/>
                  <a:lumOff val="15000"/>
                </a:schemeClr>
              </a:solidFill>
            </a:endParaRPr>
          </a:p>
        </p:txBody>
      </p:sp>
    </p:spTree>
    <p:extLst>
      <p:ext uri="{BB962C8B-B14F-4D97-AF65-F5344CB8AC3E}">
        <p14:creationId xmlns:p14="http://schemas.microsoft.com/office/powerpoint/2010/main" val="16440291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42830"/>
            <a:ext cx="5383635" cy="4140360"/>
          </a:xfrm>
        </p:spPr>
        <p:txBody>
          <a:bodyPr>
            <a:normAutofit/>
          </a:bodyPr>
          <a:lstStyle/>
          <a:p>
            <a:pPr>
              <a:buFont typeface="Wingdings" panose="05000000000000000000" pitchFamily="2" charset="2"/>
              <a:buChar char="§"/>
            </a:pPr>
            <a:r>
              <a:rPr lang="en-US" sz="2000" dirty="0">
                <a:solidFill>
                  <a:schemeClr val="tx1">
                    <a:lumMod val="85000"/>
                    <a:lumOff val="15000"/>
                  </a:schemeClr>
                </a:solidFill>
              </a:rPr>
              <a:t>In a non-collinear magnet</a:t>
            </a:r>
          </a:p>
        </p:txBody>
      </p:sp>
      <p:sp>
        <p:nvSpPr>
          <p:cNvPr id="63" name="Content Placeholder 2">
            <a:extLst>
              <a:ext uri="{FF2B5EF4-FFF2-40B4-BE49-F238E27FC236}">
                <a16:creationId xmlns:a16="http://schemas.microsoft.com/office/drawing/2014/main" xmlns="" id="{1D64F189-8CCC-4E65-85DE-7BB8C3AC3D09}"/>
              </a:ext>
            </a:extLst>
          </p:cNvPr>
          <p:cNvSpPr txBox="1">
            <a:spLocks/>
          </p:cNvSpPr>
          <p:nvPr/>
        </p:nvSpPr>
        <p:spPr>
          <a:xfrm>
            <a:off x="6221835" y="2036603"/>
            <a:ext cx="97297200" cy="4140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solidFill>
                  <a:schemeClr val="tx1">
                    <a:lumMod val="85000"/>
                    <a:lumOff val="15000"/>
                  </a:schemeClr>
                </a:solidFill>
              </a:rPr>
              <a:t>In a collinear magnet</a:t>
            </a:r>
          </a:p>
          <a:p>
            <a:pPr marL="1371600" lvl="3" indent="0">
              <a:buFont typeface="Arial" panose="020B0604020202020204" pitchFamily="34" charset="0"/>
              <a:buNone/>
            </a:pPr>
            <a:endParaRPr lang="en-US" dirty="0">
              <a:solidFill>
                <a:schemeClr val="tx1">
                  <a:lumMod val="65000"/>
                  <a:lumOff val="35000"/>
                </a:schemeClr>
              </a:solidFill>
            </a:endParaRPr>
          </a:p>
        </p:txBody>
      </p:sp>
      <p:sp>
        <p:nvSpPr>
          <p:cNvPr id="6" name="Arrow: Up 5">
            <a:extLst>
              <a:ext uri="{FF2B5EF4-FFF2-40B4-BE49-F238E27FC236}">
                <a16:creationId xmlns:a16="http://schemas.microsoft.com/office/drawing/2014/main" xmlns="" id="{7DCE5688-BB50-471B-B2E4-1FAD8CEE25F0}"/>
              </a:ext>
            </a:extLst>
          </p:cNvPr>
          <p:cNvSpPr/>
          <p:nvPr/>
        </p:nvSpPr>
        <p:spPr>
          <a:xfrm rot="720000">
            <a:off x="2008793" y="2911425"/>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cxnSp>
        <p:nvCxnSpPr>
          <p:cNvPr id="10" name="Straight Connector 9">
            <a:extLst>
              <a:ext uri="{FF2B5EF4-FFF2-40B4-BE49-F238E27FC236}">
                <a16:creationId xmlns:a16="http://schemas.microsoft.com/office/drawing/2014/main" xmlns="" id="{07CF10CF-84A6-43A0-A082-1A7F5EF0FD16}"/>
              </a:ext>
            </a:extLst>
          </p:cNvPr>
          <p:cNvCxnSpPr>
            <a:cxnSpLocks/>
          </p:cNvCxnSpPr>
          <p:nvPr/>
        </p:nvCxnSpPr>
        <p:spPr>
          <a:xfrm>
            <a:off x="2038524" y="3703488"/>
            <a:ext cx="1644243"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76" name="Arrow: Up 75">
            <a:extLst>
              <a:ext uri="{FF2B5EF4-FFF2-40B4-BE49-F238E27FC236}">
                <a16:creationId xmlns:a16="http://schemas.microsoft.com/office/drawing/2014/main" xmlns="" id="{50178F35-58BA-4F2C-AA31-B49C1C3D0745}"/>
              </a:ext>
            </a:extLst>
          </p:cNvPr>
          <p:cNvSpPr/>
          <p:nvPr/>
        </p:nvSpPr>
        <p:spPr>
          <a:xfrm rot="2400000">
            <a:off x="2010506" y="2920278"/>
            <a:ext cx="72000" cy="1512000"/>
          </a:xfrm>
          <a:prstGeom prst="upArrow">
            <a:avLst/>
          </a:prstGeom>
          <a:noFill/>
          <a:ln w="63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CC843D4B-29EF-409B-94EF-80C3E6B2E2E6}"/>
                  </a:ext>
                </a:extLst>
              </p:cNvPr>
              <p:cNvSpPr txBox="1"/>
              <p:nvPr/>
            </p:nvSpPr>
            <p:spPr>
              <a:xfrm>
                <a:off x="2512110" y="3302175"/>
                <a:ext cx="6412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𝐽</m:t>
                      </m:r>
                    </m:oMath>
                  </m:oMathPara>
                </a14:m>
                <a:endParaRPr lang="x-none" dirty="0"/>
              </a:p>
            </p:txBody>
          </p:sp>
        </mc:Choice>
        <mc:Fallback xmlns="">
          <p:sp>
            <p:nvSpPr>
              <p:cNvPr id="12" name="TextBox 11">
                <a:extLst>
                  <a:ext uri="{FF2B5EF4-FFF2-40B4-BE49-F238E27FC236}">
                    <a16:creationId xmlns:a16="http://schemas.microsoft.com/office/drawing/2014/main" id="{CC843D4B-29EF-409B-94EF-80C3E6B2E2E6}"/>
                  </a:ext>
                </a:extLst>
              </p:cNvPr>
              <p:cNvSpPr txBox="1">
                <a:spLocks noRot="1" noChangeAspect="1" noMove="1" noResize="1" noEditPoints="1" noAdjustHandles="1" noChangeArrowheads="1" noChangeShapeType="1" noTextEdit="1"/>
              </p:cNvSpPr>
              <p:nvPr/>
            </p:nvSpPr>
            <p:spPr>
              <a:xfrm>
                <a:off x="2512110" y="3302175"/>
                <a:ext cx="641201" cy="369332"/>
              </a:xfrm>
              <a:prstGeom prst="rect">
                <a:avLst/>
              </a:prstGeom>
              <a:blipFill>
                <a:blip r:embed="rId2"/>
                <a:stretch>
                  <a:fillRect b="-10000"/>
                </a:stretch>
              </a:blipFill>
            </p:spPr>
            <p:txBody>
              <a:bodyPr/>
              <a:lstStyle/>
              <a:p>
                <a:r>
                  <a:rPr lang="LID4096">
                    <a:noFill/>
                  </a:rPr>
                  <a:t> </a:t>
                </a:r>
              </a:p>
            </p:txBody>
          </p:sp>
        </mc:Fallback>
      </mc:AlternateContent>
      <p:sp>
        <p:nvSpPr>
          <p:cNvPr id="15" name="Arrow: Curved Down 14">
            <a:extLst>
              <a:ext uri="{FF2B5EF4-FFF2-40B4-BE49-F238E27FC236}">
                <a16:creationId xmlns:a16="http://schemas.microsoft.com/office/drawing/2014/main" xmlns="" id="{A4D84B0B-B4D0-4720-B988-1D5DF8F8A31E}"/>
              </a:ext>
            </a:extLst>
          </p:cNvPr>
          <p:cNvSpPr/>
          <p:nvPr/>
        </p:nvSpPr>
        <p:spPr>
          <a:xfrm rot="1509317" flipH="1">
            <a:off x="2233071" y="2629475"/>
            <a:ext cx="558079" cy="213628"/>
          </a:xfrm>
          <a:prstGeom prst="curvedDownArrow">
            <a:avLst/>
          </a:prstGeom>
          <a:solidFill>
            <a:schemeClr val="bg2">
              <a:lumMod val="9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solidFill>
            </a:endParaRPr>
          </a:p>
        </p:txBody>
      </p:sp>
      <p:sp>
        <p:nvSpPr>
          <p:cNvPr id="80" name="Arrow: Curved Down 79">
            <a:extLst>
              <a:ext uri="{FF2B5EF4-FFF2-40B4-BE49-F238E27FC236}">
                <a16:creationId xmlns:a16="http://schemas.microsoft.com/office/drawing/2014/main" xmlns="" id="{819AA9E6-529C-4EE2-AB57-E3FF00D9C558}"/>
              </a:ext>
            </a:extLst>
          </p:cNvPr>
          <p:cNvSpPr/>
          <p:nvPr/>
        </p:nvSpPr>
        <p:spPr>
          <a:xfrm rot="20280577" flipH="1" flipV="1">
            <a:off x="3936826" y="4507671"/>
            <a:ext cx="519829" cy="214113"/>
          </a:xfrm>
          <a:prstGeom prst="curvedDownArrow">
            <a:avLst/>
          </a:prstGeom>
          <a:solidFill>
            <a:schemeClr val="bg2">
              <a:lumMod val="9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solidFill>
            </a:endParaRPr>
          </a:p>
        </p:txBody>
      </p:sp>
      <p:cxnSp>
        <p:nvCxnSpPr>
          <p:cNvPr id="17" name="Straight Arrow Connector 16">
            <a:extLst>
              <a:ext uri="{FF2B5EF4-FFF2-40B4-BE49-F238E27FC236}">
                <a16:creationId xmlns:a16="http://schemas.microsoft.com/office/drawing/2014/main" xmlns="" id="{E2C0B574-9EDD-4748-BC18-36830B0CBB23}"/>
              </a:ext>
            </a:extLst>
          </p:cNvPr>
          <p:cNvCxnSpPr>
            <a:cxnSpLocks/>
            <a:endCxn id="23" idx="2"/>
          </p:cNvCxnSpPr>
          <p:nvPr/>
        </p:nvCxnSpPr>
        <p:spPr>
          <a:xfrm flipV="1">
            <a:off x="1029297" y="3446411"/>
            <a:ext cx="380997" cy="4083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xmlns="" id="{B5BD5AEF-0262-41E1-8600-E78BC697BD4F}"/>
              </a:ext>
            </a:extLst>
          </p:cNvPr>
          <p:cNvCxnSpPr>
            <a:cxnSpLocks/>
          </p:cNvCxnSpPr>
          <p:nvPr/>
        </p:nvCxnSpPr>
        <p:spPr>
          <a:xfrm>
            <a:off x="1010622" y="3854742"/>
            <a:ext cx="377226" cy="3416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898DA535-066E-4BFB-B9FF-31EAAEEB0BCA}"/>
                  </a:ext>
                </a:extLst>
              </p:cNvPr>
              <p:cNvSpPr txBox="1"/>
              <p:nvPr/>
            </p:nvSpPr>
            <p:spPr>
              <a:xfrm>
                <a:off x="1341481" y="3230967"/>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23" name="TextBox 22">
                <a:extLst>
                  <a:ext uri="{FF2B5EF4-FFF2-40B4-BE49-F238E27FC236}">
                    <a16:creationId xmlns:a16="http://schemas.microsoft.com/office/drawing/2014/main" id="{898DA535-066E-4BFB-B9FF-31EAAEEB0BCA}"/>
                  </a:ext>
                </a:extLst>
              </p:cNvPr>
              <p:cNvSpPr txBox="1">
                <a:spLocks noRot="1" noChangeAspect="1" noMove="1" noResize="1" noEditPoints="1" noAdjustHandles="1" noChangeArrowheads="1" noChangeShapeType="1" noTextEdit="1"/>
              </p:cNvSpPr>
              <p:nvPr/>
            </p:nvSpPr>
            <p:spPr>
              <a:xfrm>
                <a:off x="1341481" y="3230967"/>
                <a:ext cx="137625" cy="215444"/>
              </a:xfrm>
              <a:prstGeom prst="rect">
                <a:avLst/>
              </a:prstGeom>
              <a:blipFill>
                <a:blip r:embed="rId3"/>
                <a:stretch>
                  <a:fillRect l="-13043" t="-8571" r="-108696"/>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xmlns="" id="{3475D768-1973-4E59-99F8-650D1E44EFAF}"/>
                  </a:ext>
                </a:extLst>
              </p:cNvPr>
              <p:cNvSpPr txBox="1"/>
              <p:nvPr/>
            </p:nvSpPr>
            <p:spPr>
              <a:xfrm>
                <a:off x="1403159" y="4114399"/>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89" name="TextBox 88">
                <a:extLst>
                  <a:ext uri="{FF2B5EF4-FFF2-40B4-BE49-F238E27FC236}">
                    <a16:creationId xmlns:a16="http://schemas.microsoft.com/office/drawing/2014/main" xmlns="" xmlns:a14="http://schemas.microsoft.com/office/drawing/2010/main" id="{3475D768-1973-4E59-99F8-650D1E44EFAF}"/>
                  </a:ext>
                </a:extLst>
              </p:cNvPr>
              <p:cNvSpPr txBox="1">
                <a:spLocks noRot="1" noChangeAspect="1" noMove="1" noResize="1" noEditPoints="1" noAdjustHandles="1" noChangeArrowheads="1" noChangeShapeType="1" noTextEdit="1"/>
              </p:cNvSpPr>
              <p:nvPr/>
            </p:nvSpPr>
            <p:spPr>
              <a:xfrm>
                <a:off x="1403159" y="4114399"/>
                <a:ext cx="137625" cy="215444"/>
              </a:xfrm>
              <a:prstGeom prst="rect">
                <a:avLst/>
              </a:prstGeom>
              <a:blipFill rotWithShape="0">
                <a:blip r:embed="rId4"/>
                <a:stretch>
                  <a:fillRect l="-17391" r="-56522"/>
                </a:stretch>
              </a:blipFill>
            </p:spPr>
            <p:txBody>
              <a:bodyPr/>
              <a:lstStyle/>
              <a:p>
                <a:r>
                  <a:rPr lang="en-US">
                    <a:noFill/>
                  </a:rPr>
                  <a:t> </a:t>
                </a:r>
              </a:p>
            </p:txBody>
          </p:sp>
        </mc:Fallback>
      </mc:AlternateContent>
      <p:cxnSp>
        <p:nvCxnSpPr>
          <p:cNvPr id="142" name="Straight Arrow Connector 141">
            <a:extLst>
              <a:ext uri="{FF2B5EF4-FFF2-40B4-BE49-F238E27FC236}">
                <a16:creationId xmlns:a16="http://schemas.microsoft.com/office/drawing/2014/main" xmlns="" id="{DCA466F4-4A3D-4190-B733-77517C6D038B}"/>
              </a:ext>
            </a:extLst>
          </p:cNvPr>
          <p:cNvCxnSpPr>
            <a:cxnSpLocks/>
          </p:cNvCxnSpPr>
          <p:nvPr/>
        </p:nvCxnSpPr>
        <p:spPr>
          <a:xfrm>
            <a:off x="4545195" y="3475318"/>
            <a:ext cx="364022" cy="390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xmlns="" id="{943DB12E-E915-495D-8A86-D0AC1FB5D5D3}"/>
              </a:ext>
            </a:extLst>
          </p:cNvPr>
          <p:cNvCxnSpPr>
            <a:cxnSpLocks/>
          </p:cNvCxnSpPr>
          <p:nvPr/>
        </p:nvCxnSpPr>
        <p:spPr>
          <a:xfrm flipH="1">
            <a:off x="4226335" y="3475675"/>
            <a:ext cx="317040" cy="312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xmlns="" id="{9B73B01C-12A3-4162-A4A0-C6096F67501B}"/>
                  </a:ext>
                </a:extLst>
              </p:cNvPr>
              <p:cNvSpPr txBox="1"/>
              <p:nvPr/>
            </p:nvSpPr>
            <p:spPr>
              <a:xfrm>
                <a:off x="4905924" y="3912834"/>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144" name="TextBox 143">
                <a:extLst>
                  <a:ext uri="{FF2B5EF4-FFF2-40B4-BE49-F238E27FC236}">
                    <a16:creationId xmlns:a16="http://schemas.microsoft.com/office/drawing/2014/main" xmlns="" xmlns:a14="http://schemas.microsoft.com/office/drawing/2010/main" id="{9B73B01C-12A3-4162-A4A0-C6096F67501B}"/>
                  </a:ext>
                </a:extLst>
              </p:cNvPr>
              <p:cNvSpPr txBox="1">
                <a:spLocks noRot="1" noChangeAspect="1" noMove="1" noResize="1" noEditPoints="1" noAdjustHandles="1" noChangeArrowheads="1" noChangeShapeType="1" noTextEdit="1"/>
              </p:cNvSpPr>
              <p:nvPr/>
            </p:nvSpPr>
            <p:spPr>
              <a:xfrm>
                <a:off x="4905924" y="3912834"/>
                <a:ext cx="137625" cy="215444"/>
              </a:xfrm>
              <a:prstGeom prst="rect">
                <a:avLst/>
              </a:prstGeom>
              <a:blipFill rotWithShape="0">
                <a:blip r:embed="rId5"/>
                <a:stretch>
                  <a:fillRect l="-18182" r="-10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xmlns="" id="{A5499DE1-B6BD-439B-8A55-41D944383B80}"/>
                  </a:ext>
                </a:extLst>
              </p:cNvPr>
              <p:cNvSpPr txBox="1"/>
              <p:nvPr/>
            </p:nvSpPr>
            <p:spPr>
              <a:xfrm>
                <a:off x="4064012" y="3779816"/>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145" name="TextBox 144">
                <a:extLst>
                  <a:ext uri="{FF2B5EF4-FFF2-40B4-BE49-F238E27FC236}">
                    <a16:creationId xmlns:a16="http://schemas.microsoft.com/office/drawing/2014/main" xmlns="" xmlns:a14="http://schemas.microsoft.com/office/drawing/2010/main" id="{A5499DE1-B6BD-439B-8A55-41D944383B80}"/>
                  </a:ext>
                </a:extLst>
              </p:cNvPr>
              <p:cNvSpPr txBox="1">
                <a:spLocks noRot="1" noChangeAspect="1" noMove="1" noResize="1" noEditPoints="1" noAdjustHandles="1" noChangeArrowheads="1" noChangeShapeType="1" noTextEdit="1"/>
              </p:cNvSpPr>
              <p:nvPr/>
            </p:nvSpPr>
            <p:spPr>
              <a:xfrm>
                <a:off x="4064012" y="3779816"/>
                <a:ext cx="137625" cy="215444"/>
              </a:xfrm>
              <a:prstGeom prst="rect">
                <a:avLst/>
              </a:prstGeom>
              <a:blipFill rotWithShape="0">
                <a:blip r:embed="rId6"/>
                <a:stretch>
                  <a:fillRect l="-22727" r="-59091"/>
                </a:stretch>
              </a:blipFill>
            </p:spPr>
            <p:txBody>
              <a:bodyPr/>
              <a:lstStyle/>
              <a:p>
                <a:r>
                  <a:rPr lang="en-US">
                    <a:noFill/>
                  </a:rPr>
                  <a:t> </a:t>
                </a:r>
              </a:p>
            </p:txBody>
          </p:sp>
        </mc:Fallback>
      </mc:AlternateContent>
      <p:cxnSp>
        <p:nvCxnSpPr>
          <p:cNvPr id="163" name="Straight Connector 162">
            <a:extLst>
              <a:ext uri="{FF2B5EF4-FFF2-40B4-BE49-F238E27FC236}">
                <a16:creationId xmlns:a16="http://schemas.microsoft.com/office/drawing/2014/main" xmlns="" id="{C82471D5-F032-4D1E-8C6E-2682F96BD665}"/>
              </a:ext>
            </a:extLst>
          </p:cNvPr>
          <p:cNvCxnSpPr>
            <a:cxnSpLocks/>
          </p:cNvCxnSpPr>
          <p:nvPr/>
        </p:nvCxnSpPr>
        <p:spPr>
          <a:xfrm>
            <a:off x="7389757" y="3649574"/>
            <a:ext cx="1644243" cy="0"/>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xmlns="" id="{F3EB135E-03AB-489E-9ED6-8685737D2BCF}"/>
                  </a:ext>
                </a:extLst>
              </p:cNvPr>
              <p:cNvSpPr txBox="1"/>
              <p:nvPr/>
            </p:nvSpPr>
            <p:spPr>
              <a:xfrm>
                <a:off x="7857267" y="3317993"/>
                <a:ext cx="6412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𝐽</m:t>
                      </m:r>
                    </m:oMath>
                  </m:oMathPara>
                </a14:m>
                <a:endParaRPr lang="x-none" dirty="0"/>
              </a:p>
            </p:txBody>
          </p:sp>
        </mc:Choice>
        <mc:Fallback xmlns="">
          <p:sp>
            <p:nvSpPr>
              <p:cNvPr id="165" name="TextBox 164">
                <a:extLst>
                  <a:ext uri="{FF2B5EF4-FFF2-40B4-BE49-F238E27FC236}">
                    <a16:creationId xmlns:a16="http://schemas.microsoft.com/office/drawing/2014/main" id="{F3EB135E-03AB-489E-9ED6-8685737D2BCF}"/>
                  </a:ext>
                </a:extLst>
              </p:cNvPr>
              <p:cNvSpPr txBox="1">
                <a:spLocks noRot="1" noChangeAspect="1" noMove="1" noResize="1" noEditPoints="1" noAdjustHandles="1" noChangeArrowheads="1" noChangeShapeType="1" noTextEdit="1"/>
              </p:cNvSpPr>
              <p:nvPr/>
            </p:nvSpPr>
            <p:spPr>
              <a:xfrm>
                <a:off x="7857267" y="3317993"/>
                <a:ext cx="641201" cy="369332"/>
              </a:xfrm>
              <a:prstGeom prst="rect">
                <a:avLst/>
              </a:prstGeom>
              <a:blipFill>
                <a:blip r:embed="rId7"/>
                <a:stretch>
                  <a:fillRect b="-9836"/>
                </a:stretch>
              </a:blipFill>
            </p:spPr>
            <p:txBody>
              <a:bodyPr/>
              <a:lstStyle/>
              <a:p>
                <a:r>
                  <a:rPr lang="LID4096">
                    <a:noFill/>
                  </a:rPr>
                  <a:t> </a:t>
                </a:r>
              </a:p>
            </p:txBody>
          </p:sp>
        </mc:Fallback>
      </mc:AlternateContent>
      <p:cxnSp>
        <p:nvCxnSpPr>
          <p:cNvPr id="170" name="Straight Arrow Connector 169">
            <a:extLst>
              <a:ext uri="{FF2B5EF4-FFF2-40B4-BE49-F238E27FC236}">
                <a16:creationId xmlns:a16="http://schemas.microsoft.com/office/drawing/2014/main" xmlns="" id="{78D9E330-A71A-47F0-92FB-AC58EB61BC73}"/>
              </a:ext>
            </a:extLst>
          </p:cNvPr>
          <p:cNvCxnSpPr>
            <a:cxnSpLocks/>
          </p:cNvCxnSpPr>
          <p:nvPr/>
        </p:nvCxnSpPr>
        <p:spPr>
          <a:xfrm flipV="1">
            <a:off x="6438084" y="3435870"/>
            <a:ext cx="0" cy="5187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a:extLst>
              <a:ext uri="{FF2B5EF4-FFF2-40B4-BE49-F238E27FC236}">
                <a16:creationId xmlns:a16="http://schemas.microsoft.com/office/drawing/2014/main" xmlns="" id="{5933B25E-F661-4B66-BAE3-C901A84CDF2A}"/>
              </a:ext>
            </a:extLst>
          </p:cNvPr>
          <p:cNvCxnSpPr>
            <a:cxnSpLocks/>
          </p:cNvCxnSpPr>
          <p:nvPr/>
        </p:nvCxnSpPr>
        <p:spPr>
          <a:xfrm>
            <a:off x="6438084" y="3961594"/>
            <a:ext cx="556055" cy="119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xmlns="" id="{1A2EC8A6-FEDD-4A70-9B23-6FE86D88528C}"/>
                  </a:ext>
                </a:extLst>
              </p:cNvPr>
              <p:cNvSpPr txBox="1"/>
              <p:nvPr/>
            </p:nvSpPr>
            <p:spPr>
              <a:xfrm>
                <a:off x="6380530" y="3196723"/>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172" name="TextBox 171">
                <a:extLst>
                  <a:ext uri="{FF2B5EF4-FFF2-40B4-BE49-F238E27FC236}">
                    <a16:creationId xmlns:a16="http://schemas.microsoft.com/office/drawing/2014/main" id="{1A2EC8A6-FEDD-4A70-9B23-6FE86D88528C}"/>
                  </a:ext>
                </a:extLst>
              </p:cNvPr>
              <p:cNvSpPr txBox="1">
                <a:spLocks noRot="1" noChangeAspect="1" noMove="1" noResize="1" noEditPoints="1" noAdjustHandles="1" noChangeArrowheads="1" noChangeShapeType="1" noTextEdit="1"/>
              </p:cNvSpPr>
              <p:nvPr/>
            </p:nvSpPr>
            <p:spPr>
              <a:xfrm>
                <a:off x="6380530" y="3196723"/>
                <a:ext cx="137625" cy="215444"/>
              </a:xfrm>
              <a:prstGeom prst="rect">
                <a:avLst/>
              </a:prstGeom>
              <a:blipFill>
                <a:blip r:embed="rId8"/>
                <a:stretch>
                  <a:fillRect l="-18182" t="-8333" r="-113636"/>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xmlns="" id="{1BDE252E-5809-4279-94CA-6E96B539D43F}"/>
                  </a:ext>
                </a:extLst>
              </p:cNvPr>
              <p:cNvSpPr txBox="1"/>
              <p:nvPr/>
            </p:nvSpPr>
            <p:spPr>
              <a:xfrm>
                <a:off x="7056924" y="3865852"/>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173" name="TextBox 172">
                <a:extLst>
                  <a:ext uri="{FF2B5EF4-FFF2-40B4-BE49-F238E27FC236}">
                    <a16:creationId xmlns:a16="http://schemas.microsoft.com/office/drawing/2014/main" id="{1BDE252E-5809-4279-94CA-6E96B539D43F}"/>
                  </a:ext>
                </a:extLst>
              </p:cNvPr>
              <p:cNvSpPr txBox="1">
                <a:spLocks noRot="1" noChangeAspect="1" noMove="1" noResize="1" noEditPoints="1" noAdjustHandles="1" noChangeArrowheads="1" noChangeShapeType="1" noTextEdit="1"/>
              </p:cNvSpPr>
              <p:nvPr/>
            </p:nvSpPr>
            <p:spPr>
              <a:xfrm>
                <a:off x="7056924" y="3865852"/>
                <a:ext cx="137625" cy="215444"/>
              </a:xfrm>
              <a:prstGeom prst="rect">
                <a:avLst/>
              </a:prstGeom>
              <a:blipFill>
                <a:blip r:embed="rId9"/>
                <a:stretch>
                  <a:fillRect l="-22727" t="-8333" r="-68182"/>
                </a:stretch>
              </a:blipFill>
            </p:spPr>
            <p:txBody>
              <a:bodyPr/>
              <a:lstStyle/>
              <a:p>
                <a:r>
                  <a:rPr lang="LID4096">
                    <a:noFill/>
                  </a:rPr>
                  <a:t> </a:t>
                </a:r>
              </a:p>
            </p:txBody>
          </p:sp>
        </mc:Fallback>
      </mc:AlternateContent>
      <p:cxnSp>
        <p:nvCxnSpPr>
          <p:cNvPr id="174" name="Straight Arrow Connector 173">
            <a:extLst>
              <a:ext uri="{FF2B5EF4-FFF2-40B4-BE49-F238E27FC236}">
                <a16:creationId xmlns:a16="http://schemas.microsoft.com/office/drawing/2014/main" xmlns="" id="{A93D577A-EBAE-4B08-9173-4C0F2C02F782}"/>
              </a:ext>
            </a:extLst>
          </p:cNvPr>
          <p:cNvCxnSpPr>
            <a:cxnSpLocks/>
          </p:cNvCxnSpPr>
          <p:nvPr/>
        </p:nvCxnSpPr>
        <p:spPr>
          <a:xfrm>
            <a:off x="9896428" y="3421404"/>
            <a:ext cx="15351" cy="6598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xmlns="" id="{51A5074D-DFB1-4DFA-9A9E-73B0F724E598}"/>
              </a:ext>
            </a:extLst>
          </p:cNvPr>
          <p:cNvCxnSpPr>
            <a:cxnSpLocks/>
          </p:cNvCxnSpPr>
          <p:nvPr/>
        </p:nvCxnSpPr>
        <p:spPr>
          <a:xfrm flipH="1" flipV="1">
            <a:off x="9295723" y="3421404"/>
            <a:ext cx="598885" cy="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xmlns="" id="{1A252A61-9B8A-451C-9DFE-EB51C7632401}"/>
                  </a:ext>
                </a:extLst>
              </p:cNvPr>
              <p:cNvSpPr txBox="1"/>
              <p:nvPr/>
            </p:nvSpPr>
            <p:spPr>
              <a:xfrm>
                <a:off x="9842966" y="4081296"/>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176" name="TextBox 175">
                <a:extLst>
                  <a:ext uri="{FF2B5EF4-FFF2-40B4-BE49-F238E27FC236}">
                    <a16:creationId xmlns:a16="http://schemas.microsoft.com/office/drawing/2014/main" id="{1A252A61-9B8A-451C-9DFE-EB51C7632401}"/>
                  </a:ext>
                </a:extLst>
              </p:cNvPr>
              <p:cNvSpPr txBox="1">
                <a:spLocks noRot="1" noChangeAspect="1" noMove="1" noResize="1" noEditPoints="1" noAdjustHandles="1" noChangeArrowheads="1" noChangeShapeType="1" noTextEdit="1"/>
              </p:cNvSpPr>
              <p:nvPr/>
            </p:nvSpPr>
            <p:spPr>
              <a:xfrm>
                <a:off x="9842966" y="4081296"/>
                <a:ext cx="137625" cy="215444"/>
              </a:xfrm>
              <a:prstGeom prst="rect">
                <a:avLst/>
              </a:prstGeom>
              <a:blipFill>
                <a:blip r:embed="rId10"/>
                <a:stretch>
                  <a:fillRect l="-18182" t="-11429" r="-113636"/>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xmlns="" id="{437282F6-6F23-4917-B0A1-1AB9F9DA3971}"/>
                  </a:ext>
                </a:extLst>
              </p:cNvPr>
              <p:cNvSpPr txBox="1"/>
              <p:nvPr/>
            </p:nvSpPr>
            <p:spPr>
              <a:xfrm>
                <a:off x="9156278" y="3304445"/>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177" name="TextBox 176">
                <a:extLst>
                  <a:ext uri="{FF2B5EF4-FFF2-40B4-BE49-F238E27FC236}">
                    <a16:creationId xmlns:a16="http://schemas.microsoft.com/office/drawing/2014/main" id="{437282F6-6F23-4917-B0A1-1AB9F9DA3971}"/>
                  </a:ext>
                </a:extLst>
              </p:cNvPr>
              <p:cNvSpPr txBox="1">
                <a:spLocks noRot="1" noChangeAspect="1" noMove="1" noResize="1" noEditPoints="1" noAdjustHandles="1" noChangeArrowheads="1" noChangeShapeType="1" noTextEdit="1"/>
              </p:cNvSpPr>
              <p:nvPr/>
            </p:nvSpPr>
            <p:spPr>
              <a:xfrm>
                <a:off x="9156278" y="3304445"/>
                <a:ext cx="137625" cy="215444"/>
              </a:xfrm>
              <a:prstGeom prst="rect">
                <a:avLst/>
              </a:prstGeom>
              <a:blipFill>
                <a:blip r:embed="rId11"/>
                <a:stretch>
                  <a:fillRect l="-17391" t="-8571" r="-65217"/>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xmlns="" id="{89DC91E5-2FA1-4299-A20E-792B66F161F0}"/>
                  </a:ext>
                </a:extLst>
              </p:cNvPr>
              <p:cNvSpPr txBox="1"/>
              <p:nvPr/>
            </p:nvSpPr>
            <p:spPr>
              <a:xfrm>
                <a:off x="6147288" y="5025272"/>
                <a:ext cx="5332347" cy="1492460"/>
              </a:xfrm>
              <a:prstGeom prst="rect">
                <a:avLst/>
              </a:prstGeom>
              <a:noFill/>
            </p:spPr>
            <p:txBody>
              <a:bodyPr wrap="square" rtlCol="0">
                <a:spAutoFit/>
              </a:bodyPr>
              <a:lstStyle/>
              <a:p>
                <a:r>
                  <a:rPr lang="en-US" dirty="0">
                    <a:solidFill>
                      <a:schemeClr val="tx1">
                        <a:lumMod val="85000"/>
                        <a:lumOff val="15000"/>
                      </a:schemeClr>
                    </a:solidFill>
                  </a:rPr>
                  <a:t>There is no change in the bulk order in response to the bond impurity, hence the </a:t>
                </a:r>
                <a:r>
                  <a:rPr lang="en-US" dirty="0" smtClean="0">
                    <a:solidFill>
                      <a:schemeClr val="tx1">
                        <a:lumMod val="85000"/>
                        <a:lumOff val="15000"/>
                      </a:schemeClr>
                    </a:solidFill>
                  </a:rPr>
                  <a:t>Hamiltonian </a:t>
                </a:r>
                <a:r>
                  <a:rPr lang="en-US" dirty="0">
                    <a:solidFill>
                      <a:schemeClr val="tx1">
                        <a:lumMod val="85000"/>
                        <a:lumOff val="15000"/>
                      </a:schemeClr>
                    </a:solidFill>
                  </a:rPr>
                  <a:t>is “virtually” unchanged</a:t>
                </a:r>
              </a:p>
              <a:p>
                <a:endParaRPr lang="en-US"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𝐻</m:t>
                      </m:r>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𝐻</m:t>
                          </m:r>
                        </m:e>
                        <m:sub>
                          <m:r>
                            <a:rPr lang="en-US" b="0" i="1" smtClean="0">
                              <a:solidFill>
                                <a:schemeClr val="tx1">
                                  <a:lumMod val="85000"/>
                                  <a:lumOff val="15000"/>
                                </a:schemeClr>
                              </a:solidFill>
                              <a:latin typeface="Cambria Math" panose="02040503050406030204" pitchFamily="18" charset="0"/>
                            </a:rPr>
                            <m:t>0</m:t>
                          </m:r>
                        </m:sub>
                      </m:sSub>
                    </m:oMath>
                  </m:oMathPara>
                </a14:m>
                <a:endParaRPr lang="en-US" dirty="0">
                  <a:solidFill>
                    <a:schemeClr val="tx1">
                      <a:lumMod val="85000"/>
                      <a:lumOff val="15000"/>
                    </a:schemeClr>
                  </a:solidFill>
                </a:endParaRPr>
              </a:p>
            </p:txBody>
          </p:sp>
        </mc:Choice>
        <mc:Fallback xmlns="">
          <p:sp>
            <p:nvSpPr>
              <p:cNvPr id="178" name="TextBox 177">
                <a:extLst>
                  <a:ext uri="{FF2B5EF4-FFF2-40B4-BE49-F238E27FC236}">
                    <a16:creationId xmlns:a16="http://schemas.microsoft.com/office/drawing/2014/main" xmlns="" xmlns:a14="http://schemas.microsoft.com/office/drawing/2010/main" id="{89DC91E5-2FA1-4299-A20E-792B66F161F0}"/>
                  </a:ext>
                </a:extLst>
              </p:cNvPr>
              <p:cNvSpPr txBox="1">
                <a:spLocks noRot="1" noChangeAspect="1" noMove="1" noResize="1" noEditPoints="1" noAdjustHandles="1" noChangeArrowheads="1" noChangeShapeType="1" noTextEdit="1"/>
              </p:cNvSpPr>
              <p:nvPr/>
            </p:nvSpPr>
            <p:spPr>
              <a:xfrm>
                <a:off x="6147288" y="5025272"/>
                <a:ext cx="5332347" cy="1492460"/>
              </a:xfrm>
              <a:prstGeom prst="rect">
                <a:avLst/>
              </a:prstGeom>
              <a:blipFill rotWithShape="0">
                <a:blip r:embed="rId12"/>
                <a:stretch>
                  <a:fillRect l="-914" t="-2041" r="-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xmlns="" id="{ABA180AA-6E53-4B48-AD66-D0E076EE3BE6}"/>
                  </a:ext>
                </a:extLst>
              </p:cNvPr>
              <p:cNvSpPr txBox="1"/>
              <p:nvPr/>
            </p:nvSpPr>
            <p:spPr>
              <a:xfrm>
                <a:off x="2515839" y="3752823"/>
                <a:ext cx="6996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charset="0"/>
                            </a:rPr>
                          </m:ctrlPr>
                        </m:sSubPr>
                        <m:e>
                          <m:r>
                            <a:rPr lang="en-US" b="0" i="1" smtClean="0">
                              <a:latin typeface="Cambria Math" panose="02040503050406030204" pitchFamily="18" charset="0"/>
                            </a:rPr>
                            <m:t>h</m:t>
                          </m:r>
                        </m:e>
                        <m:sub>
                          <m:acc>
                            <m:accPr>
                              <m:chr m:val="⃗"/>
                              <m:ctrlPr>
                                <a:rPr lang="en-US" b="0" i="1" smtClean="0">
                                  <a:latin typeface="Cambria Math" charset="0"/>
                                </a:rPr>
                              </m:ctrlPr>
                            </m:accPr>
                            <m:e>
                              <m:r>
                                <a:rPr lang="en-US" b="0" i="1" smtClean="0">
                                  <a:latin typeface="Cambria Math" panose="02040503050406030204" pitchFamily="18" charset="0"/>
                                </a:rPr>
                                <m:t>𝑟</m:t>
                              </m:r>
                            </m:e>
                          </m:acc>
                        </m:sub>
                      </m:sSub>
                    </m:oMath>
                  </m:oMathPara>
                </a14:m>
                <a:endParaRPr lang="x-none" dirty="0"/>
              </a:p>
            </p:txBody>
          </p:sp>
        </mc:Choice>
        <mc:Fallback xmlns="">
          <p:sp>
            <p:nvSpPr>
              <p:cNvPr id="179" name="TextBox 178">
                <a:extLst>
                  <a:ext uri="{FF2B5EF4-FFF2-40B4-BE49-F238E27FC236}">
                    <a16:creationId xmlns:a16="http://schemas.microsoft.com/office/drawing/2014/main" id="{ABA180AA-6E53-4B48-AD66-D0E076EE3BE6}"/>
                  </a:ext>
                </a:extLst>
              </p:cNvPr>
              <p:cNvSpPr txBox="1">
                <a:spLocks noRot="1" noChangeAspect="1" noMove="1" noResize="1" noEditPoints="1" noAdjustHandles="1" noChangeArrowheads="1" noChangeShapeType="1" noTextEdit="1"/>
              </p:cNvSpPr>
              <p:nvPr/>
            </p:nvSpPr>
            <p:spPr>
              <a:xfrm>
                <a:off x="2515839" y="3752823"/>
                <a:ext cx="699679" cy="369332"/>
              </a:xfrm>
              <a:prstGeom prst="rect">
                <a:avLst/>
              </a:prstGeom>
              <a:blipFill>
                <a:blip r:embed="rId13"/>
                <a:stretch>
                  <a:fillRect r="-23684"/>
                </a:stretch>
              </a:blipFill>
            </p:spPr>
            <p:txBody>
              <a:bodyPr/>
              <a:lstStyle/>
              <a:p>
                <a:r>
                  <a:rPr lang="LID4096">
                    <a:noFill/>
                  </a:rPr>
                  <a:t> </a:t>
                </a:r>
              </a:p>
            </p:txBody>
          </p:sp>
        </mc:Fallback>
      </mc:AlternateContent>
      <p:sp>
        <p:nvSpPr>
          <p:cNvPr id="3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Single bond impurity</a:t>
            </a:r>
            <a:endParaRPr lang="x-none" sz="3600" dirty="0"/>
          </a:p>
        </p:txBody>
      </p:sp>
      <p:cxnSp>
        <p:nvCxnSpPr>
          <p:cNvPr id="40" name="Straight Connector 3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a:solidFill>
                  <a:schemeClr val="tx1">
                    <a:lumMod val="65000"/>
                    <a:lumOff val="35000"/>
                  </a:schemeClr>
                </a:solidFill>
                <a:latin typeface="+mj-lt"/>
              </a:rPr>
              <a:t>Local reorientation for non-collinear magnets</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F3CA26D5-3704-4F66-A651-164F798F8060}"/>
                  </a:ext>
                </a:extLst>
              </p:cNvPr>
              <p:cNvSpPr txBox="1"/>
              <p:nvPr/>
            </p:nvSpPr>
            <p:spPr>
              <a:xfrm>
                <a:off x="937680" y="5025272"/>
                <a:ext cx="5085615" cy="1538947"/>
              </a:xfrm>
              <a:prstGeom prst="rect">
                <a:avLst/>
              </a:prstGeom>
              <a:noFill/>
            </p:spPr>
            <p:txBody>
              <a:bodyPr wrap="square" rtlCol="0">
                <a:spAutoFit/>
              </a:bodyPr>
              <a:lstStyle/>
              <a:p>
                <a:r>
                  <a:rPr lang="en-US" u="sng" dirty="0" smtClean="0">
                    <a:solidFill>
                      <a:schemeClr val="tx1">
                        <a:lumMod val="85000"/>
                        <a:lumOff val="15000"/>
                      </a:schemeClr>
                    </a:solidFill>
                  </a:rPr>
                  <a:t>Frustration</a:t>
                </a:r>
                <a:r>
                  <a:rPr lang="en-US" dirty="0">
                    <a:solidFill>
                      <a:schemeClr val="tx1">
                        <a:lumMod val="85000"/>
                        <a:lumOff val="15000"/>
                      </a:schemeClr>
                    </a:solidFill>
                  </a:rPr>
                  <a:t> is locally relieved. For infinitesimal </a:t>
                </a:r>
                <a:r>
                  <a:rPr lang="en-US" dirty="0" smtClean="0">
                    <a:solidFill>
                      <a:schemeClr val="tx1">
                        <a:lumMod val="85000"/>
                        <a:lumOff val="15000"/>
                      </a:schemeClr>
                    </a:solidFill>
                  </a:rPr>
                  <a:t>disorder, </a:t>
                </a:r>
                <a:r>
                  <a:rPr lang="en-US" dirty="0">
                    <a:solidFill>
                      <a:schemeClr val="tx1">
                        <a:lumMod val="85000"/>
                        <a:lumOff val="15000"/>
                      </a:schemeClr>
                    </a:solidFill>
                  </a:rPr>
                  <a:t>this is a perturbative correction to the </a:t>
                </a:r>
                <a:r>
                  <a:rPr lang="en-US" dirty="0" smtClean="0">
                    <a:solidFill>
                      <a:schemeClr val="tx1">
                        <a:lumMod val="85000"/>
                        <a:lumOff val="15000"/>
                      </a:schemeClr>
                    </a:solidFill>
                  </a:rPr>
                  <a:t>“effective” bulk </a:t>
                </a:r>
                <a:r>
                  <a:rPr lang="en-US" dirty="0">
                    <a:solidFill>
                      <a:schemeClr val="tx1">
                        <a:lumMod val="85000"/>
                        <a:lumOff val="15000"/>
                      </a:schemeClr>
                    </a:solidFill>
                  </a:rPr>
                  <a:t>Hamiltonian,</a:t>
                </a:r>
              </a:p>
              <a:p>
                <a:endParaRPr lang="en-US"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𝐻</m:t>
                      </m:r>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𝐻</m:t>
                          </m:r>
                        </m:e>
                        <m:sub>
                          <m:r>
                            <a:rPr lang="en-US" b="0" i="1" smtClean="0">
                              <a:solidFill>
                                <a:schemeClr val="tx1">
                                  <a:lumMod val="85000"/>
                                  <a:lumOff val="15000"/>
                                </a:schemeClr>
                              </a:solidFill>
                              <a:latin typeface="Cambria Math" panose="02040503050406030204" pitchFamily="18" charset="0"/>
                            </a:rPr>
                            <m:t>0</m:t>
                          </m:r>
                        </m:sub>
                      </m:sSub>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Sub>
                      <m:r>
                        <a:rPr lang="en-US" b="0" i="1" smtClean="0">
                          <a:solidFill>
                            <a:schemeClr val="tx1">
                              <a:lumMod val="85000"/>
                              <a:lumOff val="15000"/>
                            </a:schemeClr>
                          </a:solidFill>
                          <a:latin typeface="Cambria Math" panose="02040503050406030204" pitchFamily="18" charset="0"/>
                        </a:rPr>
                        <m:t>(</m:t>
                      </m:r>
                      <m:sSubSup>
                        <m:sSubSupPr>
                          <m:ctrlPr>
                            <a:rPr lang="en-US" b="0" i="1" smtClean="0">
                              <a:solidFill>
                                <a:schemeClr val="tx1">
                                  <a:lumMod val="85000"/>
                                  <a:lumOff val="15000"/>
                                </a:schemeClr>
                              </a:solidFill>
                              <a:latin typeface="Cambria Math" charset="0"/>
                            </a:rPr>
                          </m:ctrlPr>
                        </m:sSub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𝑥</m:t>
                          </m:r>
                        </m:sup>
                      </m:sSubSup>
                      <m:r>
                        <a:rPr lang="en-US" b="0" i="1" smtClean="0">
                          <a:solidFill>
                            <a:schemeClr val="tx1">
                              <a:lumMod val="85000"/>
                              <a:lumOff val="15000"/>
                            </a:schemeClr>
                          </a:solidFill>
                          <a:latin typeface="Cambria Math" panose="02040503050406030204" pitchFamily="18" charset="0"/>
                        </a:rPr>
                        <m:t>−</m:t>
                      </m:r>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r>
                            <a:rPr lang="en-US" b="0" i="1" smtClean="0">
                              <a:solidFill>
                                <a:schemeClr val="tx1">
                                  <a:lumMod val="85000"/>
                                  <a:lumOff val="15000"/>
                                </a:schemeClr>
                              </a:solidFill>
                              <a:latin typeface="Cambria Math" panose="02040503050406030204" pitchFamily="18" charset="0"/>
                            </a:rPr>
                            <m:t>+</m:t>
                          </m:r>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𝛿</m:t>
                              </m:r>
                            </m:e>
                          </m:acc>
                        </m:sub>
                        <m:sup>
                          <m:r>
                            <a:rPr lang="en-US" i="1">
                              <a:solidFill>
                                <a:schemeClr val="tx1">
                                  <a:lumMod val="85000"/>
                                  <a:lumOff val="15000"/>
                                </a:schemeClr>
                              </a:solidFill>
                              <a:latin typeface="Cambria Math" panose="02040503050406030204" pitchFamily="18" charset="0"/>
                            </a:rPr>
                            <m:t>𝑥</m:t>
                          </m:r>
                        </m:sup>
                      </m:sSubSup>
                      <m:r>
                        <a:rPr lang="en-US" b="0" i="1" smtClean="0">
                          <a:solidFill>
                            <a:schemeClr val="tx1">
                              <a:lumMod val="85000"/>
                              <a:lumOff val="15000"/>
                            </a:schemeClr>
                          </a:solidFill>
                          <a:latin typeface="Cambria Math" panose="02040503050406030204" pitchFamily="18" charset="0"/>
                        </a:rPr>
                        <m:t>)</m:t>
                      </m:r>
                    </m:oMath>
                  </m:oMathPara>
                </a14:m>
                <a:endParaRPr lang="en-US" dirty="0">
                  <a:solidFill>
                    <a:schemeClr val="tx1">
                      <a:lumMod val="85000"/>
                      <a:lumOff val="15000"/>
                    </a:schemeClr>
                  </a:solidFill>
                </a:endParaRPr>
              </a:p>
            </p:txBody>
          </p:sp>
        </mc:Choice>
        <mc:Fallback xmlns="">
          <p:sp>
            <p:nvSpPr>
              <p:cNvPr id="42" name="TextBox 41">
                <a:extLst>
                  <a:ext uri="{FF2B5EF4-FFF2-40B4-BE49-F238E27FC236}">
                    <a16:creationId xmlns="" xmlns:a16="http://schemas.microsoft.com/office/drawing/2014/main" xmlns:a14="http://schemas.microsoft.com/office/drawing/2010/main" id="{F3CA26D5-3704-4F66-A651-164F798F8060}"/>
                  </a:ext>
                </a:extLst>
              </p:cNvPr>
              <p:cNvSpPr txBox="1">
                <a:spLocks noRot="1" noChangeAspect="1" noMove="1" noResize="1" noEditPoints="1" noAdjustHandles="1" noChangeArrowheads="1" noChangeShapeType="1" noTextEdit="1"/>
              </p:cNvSpPr>
              <p:nvPr/>
            </p:nvSpPr>
            <p:spPr>
              <a:xfrm>
                <a:off x="937680" y="5025272"/>
                <a:ext cx="5085615" cy="1538947"/>
              </a:xfrm>
              <a:prstGeom prst="rect">
                <a:avLst/>
              </a:prstGeom>
              <a:blipFill rotWithShape="0">
                <a:blip r:embed="rId14"/>
                <a:stretch>
                  <a:fillRect l="-1079" t="-1976"/>
                </a:stretch>
              </a:blipFill>
            </p:spPr>
            <p:txBody>
              <a:bodyPr/>
              <a:lstStyle/>
              <a:p>
                <a:r>
                  <a:rPr lang="en-US">
                    <a:noFill/>
                  </a:rPr>
                  <a:t> </a:t>
                </a:r>
              </a:p>
            </p:txBody>
          </p:sp>
        </mc:Fallback>
      </mc:AlternateContent>
      <p:sp>
        <p:nvSpPr>
          <p:cNvPr id="38" name="Arrow: Up 5">
            <a:extLst>
              <a:ext uri="{FF2B5EF4-FFF2-40B4-BE49-F238E27FC236}">
                <a16:creationId xmlns:a16="http://schemas.microsoft.com/office/drawing/2014/main" xmlns="" id="{7DCE5688-BB50-471B-B2E4-1FAD8CEE25F0}"/>
              </a:ext>
            </a:extLst>
          </p:cNvPr>
          <p:cNvSpPr/>
          <p:nvPr/>
        </p:nvSpPr>
        <p:spPr>
          <a:xfrm rot="20880000" flipV="1">
            <a:off x="3689058" y="2908557"/>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4" name="Arrow: Up 75">
            <a:extLst>
              <a:ext uri="{FF2B5EF4-FFF2-40B4-BE49-F238E27FC236}">
                <a16:creationId xmlns:a16="http://schemas.microsoft.com/office/drawing/2014/main" xmlns="" id="{50178F35-58BA-4F2C-AA31-B49C1C3D0745}"/>
              </a:ext>
            </a:extLst>
          </p:cNvPr>
          <p:cNvSpPr/>
          <p:nvPr/>
        </p:nvSpPr>
        <p:spPr>
          <a:xfrm rot="19200000" flipV="1">
            <a:off x="3690723" y="2920278"/>
            <a:ext cx="72000" cy="1512000"/>
          </a:xfrm>
          <a:prstGeom prst="upArrow">
            <a:avLst/>
          </a:prstGeom>
          <a:noFill/>
          <a:ln w="63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5" name="Arrow: Up 5">
            <a:extLst>
              <a:ext uri="{FF2B5EF4-FFF2-40B4-BE49-F238E27FC236}">
                <a16:creationId xmlns:a16="http://schemas.microsoft.com/office/drawing/2014/main" xmlns="" id="{7DCE5688-BB50-471B-B2E4-1FAD8CEE25F0}"/>
              </a:ext>
            </a:extLst>
          </p:cNvPr>
          <p:cNvSpPr/>
          <p:nvPr/>
        </p:nvSpPr>
        <p:spPr>
          <a:xfrm>
            <a:off x="7350292" y="2908557"/>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6" name="Arrow: Up 5">
            <a:extLst>
              <a:ext uri="{FF2B5EF4-FFF2-40B4-BE49-F238E27FC236}">
                <a16:creationId xmlns:a16="http://schemas.microsoft.com/office/drawing/2014/main" xmlns="" id="{7DCE5688-BB50-471B-B2E4-1FAD8CEE25F0}"/>
              </a:ext>
            </a:extLst>
          </p:cNvPr>
          <p:cNvSpPr/>
          <p:nvPr/>
        </p:nvSpPr>
        <p:spPr>
          <a:xfrm flipV="1">
            <a:off x="8992196" y="2899993"/>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Tree>
    <p:extLst>
      <p:ext uri="{BB962C8B-B14F-4D97-AF65-F5344CB8AC3E}">
        <p14:creationId xmlns:p14="http://schemas.microsoft.com/office/powerpoint/2010/main" val="5356049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1" y="2042830"/>
            <a:ext cx="5185094" cy="4140360"/>
          </a:xfrm>
        </p:spPr>
        <p:txBody>
          <a:bodyPr>
            <a:normAutofit/>
          </a:bodyPr>
          <a:lstStyle/>
          <a:p>
            <a:pPr>
              <a:buFont typeface="Wingdings" panose="05000000000000000000" pitchFamily="2" charset="2"/>
              <a:buChar char="§"/>
            </a:pPr>
            <a:r>
              <a:rPr lang="en-US" sz="2000" dirty="0">
                <a:solidFill>
                  <a:schemeClr val="tx1">
                    <a:lumMod val="85000"/>
                    <a:lumOff val="15000"/>
                  </a:schemeClr>
                </a:solidFill>
              </a:rPr>
              <a:t>In a non-collinear magnet</a:t>
            </a:r>
          </a:p>
        </p:txBody>
      </p:sp>
      <p:sp>
        <p:nvSpPr>
          <p:cNvPr id="63" name="Content Placeholder 2">
            <a:extLst>
              <a:ext uri="{FF2B5EF4-FFF2-40B4-BE49-F238E27FC236}">
                <a16:creationId xmlns:a16="http://schemas.microsoft.com/office/drawing/2014/main" xmlns="" id="{1D64F189-8CCC-4E65-85DE-7BB8C3AC3D09}"/>
              </a:ext>
            </a:extLst>
          </p:cNvPr>
          <p:cNvSpPr txBox="1">
            <a:spLocks/>
          </p:cNvSpPr>
          <p:nvPr/>
        </p:nvSpPr>
        <p:spPr>
          <a:xfrm>
            <a:off x="6221835" y="2036603"/>
            <a:ext cx="5257800" cy="4140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solidFill>
                <a:schemeClr val="tx1">
                  <a:lumMod val="65000"/>
                  <a:lumOff val="35000"/>
                </a:schemeClr>
              </a:solidFill>
            </a:endParaRPr>
          </a:p>
          <a:p>
            <a:pPr marL="0" indent="0">
              <a:buNone/>
            </a:pPr>
            <a:endParaRPr lang="en-US" dirty="0">
              <a:solidFill>
                <a:schemeClr val="tx1">
                  <a:lumMod val="65000"/>
                  <a:lumOff val="35000"/>
                </a:schemeClr>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xmlns="" id="{F3CA26D5-3704-4F66-A651-164F798F8060}"/>
                  </a:ext>
                </a:extLst>
              </p:cNvPr>
              <p:cNvSpPr txBox="1"/>
              <p:nvPr/>
            </p:nvSpPr>
            <p:spPr>
              <a:xfrm>
                <a:off x="937680" y="5025272"/>
                <a:ext cx="5085615" cy="1538947"/>
              </a:xfrm>
              <a:prstGeom prst="rect">
                <a:avLst/>
              </a:prstGeom>
              <a:noFill/>
            </p:spPr>
            <p:txBody>
              <a:bodyPr wrap="square" rtlCol="0">
                <a:spAutoFit/>
              </a:bodyPr>
              <a:lstStyle/>
              <a:p>
                <a:r>
                  <a:rPr lang="en-US" u="sng" dirty="0" smtClean="0">
                    <a:solidFill>
                      <a:schemeClr val="tx1">
                        <a:lumMod val="85000"/>
                        <a:lumOff val="15000"/>
                      </a:schemeClr>
                    </a:solidFill>
                  </a:rPr>
                  <a:t>Frustration</a:t>
                </a:r>
                <a:r>
                  <a:rPr lang="en-US" dirty="0">
                    <a:solidFill>
                      <a:schemeClr val="tx1">
                        <a:lumMod val="85000"/>
                        <a:lumOff val="15000"/>
                      </a:schemeClr>
                    </a:solidFill>
                  </a:rPr>
                  <a:t> is locally relieved. For infinitesimal </a:t>
                </a:r>
                <a:r>
                  <a:rPr lang="en-US" dirty="0" smtClean="0">
                    <a:solidFill>
                      <a:schemeClr val="tx1">
                        <a:lumMod val="85000"/>
                        <a:lumOff val="15000"/>
                      </a:schemeClr>
                    </a:solidFill>
                  </a:rPr>
                  <a:t>disorder, </a:t>
                </a:r>
                <a:r>
                  <a:rPr lang="en-US" dirty="0">
                    <a:solidFill>
                      <a:schemeClr val="tx1">
                        <a:lumMod val="85000"/>
                        <a:lumOff val="15000"/>
                      </a:schemeClr>
                    </a:solidFill>
                  </a:rPr>
                  <a:t>this is a perturbative correction to the </a:t>
                </a:r>
                <a:r>
                  <a:rPr lang="en-US" dirty="0" smtClean="0">
                    <a:solidFill>
                      <a:schemeClr val="tx1">
                        <a:lumMod val="85000"/>
                        <a:lumOff val="15000"/>
                      </a:schemeClr>
                    </a:solidFill>
                  </a:rPr>
                  <a:t>“effective” bulk </a:t>
                </a:r>
                <a:r>
                  <a:rPr lang="en-US" dirty="0">
                    <a:solidFill>
                      <a:schemeClr val="tx1">
                        <a:lumMod val="85000"/>
                        <a:lumOff val="15000"/>
                      </a:schemeClr>
                    </a:solidFill>
                  </a:rPr>
                  <a:t>Hamiltonian,</a:t>
                </a:r>
              </a:p>
              <a:p>
                <a:endParaRPr lang="en-US"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𝐻</m:t>
                      </m:r>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𝐻</m:t>
                          </m:r>
                        </m:e>
                        <m:sub>
                          <m:r>
                            <a:rPr lang="en-US" b="0" i="1" smtClean="0">
                              <a:solidFill>
                                <a:schemeClr val="tx1">
                                  <a:lumMod val="85000"/>
                                  <a:lumOff val="15000"/>
                                </a:schemeClr>
                              </a:solidFill>
                              <a:latin typeface="Cambria Math" panose="02040503050406030204" pitchFamily="18" charset="0"/>
                            </a:rPr>
                            <m:t>0</m:t>
                          </m:r>
                        </m:sub>
                      </m:sSub>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Sub>
                      <m:r>
                        <a:rPr lang="en-US" b="0" i="1" smtClean="0">
                          <a:solidFill>
                            <a:schemeClr val="tx1">
                              <a:lumMod val="85000"/>
                              <a:lumOff val="15000"/>
                            </a:schemeClr>
                          </a:solidFill>
                          <a:latin typeface="Cambria Math" panose="02040503050406030204" pitchFamily="18" charset="0"/>
                        </a:rPr>
                        <m:t>(</m:t>
                      </m:r>
                      <m:sSubSup>
                        <m:sSubSupPr>
                          <m:ctrlPr>
                            <a:rPr lang="en-US" b="0" i="1" smtClean="0">
                              <a:solidFill>
                                <a:schemeClr val="tx1">
                                  <a:lumMod val="85000"/>
                                  <a:lumOff val="15000"/>
                                </a:schemeClr>
                              </a:solidFill>
                              <a:latin typeface="Cambria Math" charset="0"/>
                            </a:rPr>
                          </m:ctrlPr>
                        </m:sSub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𝑥</m:t>
                          </m:r>
                        </m:sup>
                      </m:sSubSup>
                      <m:r>
                        <a:rPr lang="en-US" b="0" i="1" smtClean="0">
                          <a:solidFill>
                            <a:schemeClr val="tx1">
                              <a:lumMod val="85000"/>
                              <a:lumOff val="15000"/>
                            </a:schemeClr>
                          </a:solidFill>
                          <a:latin typeface="Cambria Math" panose="02040503050406030204" pitchFamily="18" charset="0"/>
                        </a:rPr>
                        <m:t>−</m:t>
                      </m:r>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r>
                            <a:rPr lang="en-US" b="0" i="1" smtClean="0">
                              <a:solidFill>
                                <a:schemeClr val="tx1">
                                  <a:lumMod val="85000"/>
                                  <a:lumOff val="15000"/>
                                </a:schemeClr>
                              </a:solidFill>
                              <a:latin typeface="Cambria Math" panose="02040503050406030204" pitchFamily="18" charset="0"/>
                            </a:rPr>
                            <m:t>+</m:t>
                          </m:r>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𝛿</m:t>
                              </m:r>
                            </m:e>
                          </m:acc>
                        </m:sub>
                        <m:sup>
                          <m:r>
                            <a:rPr lang="en-US" i="1">
                              <a:solidFill>
                                <a:schemeClr val="tx1">
                                  <a:lumMod val="85000"/>
                                  <a:lumOff val="15000"/>
                                </a:schemeClr>
                              </a:solidFill>
                              <a:latin typeface="Cambria Math" panose="02040503050406030204" pitchFamily="18" charset="0"/>
                            </a:rPr>
                            <m:t>𝑥</m:t>
                          </m:r>
                        </m:sup>
                      </m:sSubSup>
                      <m:r>
                        <a:rPr lang="en-US" b="0" i="1" smtClean="0">
                          <a:solidFill>
                            <a:schemeClr val="tx1">
                              <a:lumMod val="85000"/>
                              <a:lumOff val="15000"/>
                            </a:schemeClr>
                          </a:solidFill>
                          <a:latin typeface="Cambria Math" panose="02040503050406030204" pitchFamily="18" charset="0"/>
                        </a:rPr>
                        <m:t>)</m:t>
                      </m:r>
                    </m:oMath>
                  </m:oMathPara>
                </a14:m>
                <a:endParaRPr lang="en-US" dirty="0">
                  <a:solidFill>
                    <a:schemeClr val="tx1">
                      <a:lumMod val="85000"/>
                      <a:lumOff val="15000"/>
                    </a:schemeClr>
                  </a:solidFill>
                </a:endParaRPr>
              </a:p>
            </p:txBody>
          </p:sp>
        </mc:Choice>
        <mc:Fallback xmlns="">
          <p:sp>
            <p:nvSpPr>
              <p:cNvPr id="49" name="TextBox 48">
                <a:extLst>
                  <a:ext uri="{FF2B5EF4-FFF2-40B4-BE49-F238E27FC236}">
                    <a16:creationId xmlns="" xmlns:a16="http://schemas.microsoft.com/office/drawing/2014/main" xmlns:a14="http://schemas.microsoft.com/office/drawing/2010/main" id="{F3CA26D5-3704-4F66-A651-164F798F8060}"/>
                  </a:ext>
                </a:extLst>
              </p:cNvPr>
              <p:cNvSpPr txBox="1">
                <a:spLocks noRot="1" noChangeAspect="1" noMove="1" noResize="1" noEditPoints="1" noAdjustHandles="1" noChangeArrowheads="1" noChangeShapeType="1" noTextEdit="1"/>
              </p:cNvSpPr>
              <p:nvPr/>
            </p:nvSpPr>
            <p:spPr>
              <a:xfrm>
                <a:off x="937680" y="5025272"/>
                <a:ext cx="5085615" cy="1538947"/>
              </a:xfrm>
              <a:prstGeom prst="rect">
                <a:avLst/>
              </a:prstGeom>
              <a:blipFill rotWithShape="0">
                <a:blip r:embed="rId2"/>
                <a:stretch>
                  <a:fillRect l="-1079" t="-19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xmlns="" id="{E9CC5D54-0080-4C21-9CB5-D40E074EEF75}"/>
                  </a:ext>
                </a:extLst>
              </p:cNvPr>
              <p:cNvSpPr txBox="1">
                <a:spLocks/>
              </p:cNvSpPr>
              <p:nvPr/>
            </p:nvSpPr>
            <p:spPr>
              <a:xfrm>
                <a:off x="6289143" y="2036603"/>
                <a:ext cx="5138822" cy="45136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2"/>
                  <a:buChar char="§"/>
                </a:pPr>
                <a:r>
                  <a:rPr lang="en-US" sz="1800" dirty="0" smtClean="0">
                    <a:solidFill>
                      <a:schemeClr val="tx1">
                        <a:lumMod val="85000"/>
                        <a:lumOff val="15000"/>
                      </a:schemeClr>
                    </a:solidFill>
                  </a:rPr>
                  <a:t>In a linear response approximation this leads to finite expectation value of transverse spin fluctuation.</a:t>
                </a:r>
              </a:p>
              <a:p>
                <a:pPr>
                  <a:buFont typeface="Courier New" panose="02070309020205020404" pitchFamily="49" charset="0"/>
                  <a:buChar char="o"/>
                </a:pPr>
                <a:endParaRPr lang="en-US" sz="1800" b="0" dirty="0">
                  <a:solidFill>
                    <a:schemeClr val="tx1">
                      <a:lumMod val="85000"/>
                      <a:lumOff val="15000"/>
                    </a:schemeClr>
                  </a:solidFill>
                </a:endParaRPr>
              </a:p>
              <a:p>
                <a:pPr>
                  <a:buFont typeface="Courier New" panose="02070309020205020404" pitchFamily="49" charset="0"/>
                  <a:buChar char="o"/>
                </a:pPr>
                <a:endParaRPr lang="en-US" sz="1800" dirty="0">
                  <a:solidFill>
                    <a:schemeClr val="tx1">
                      <a:lumMod val="85000"/>
                      <a:lumOff val="15000"/>
                    </a:schemeClr>
                  </a:solidFill>
                </a:endParaRPr>
              </a:p>
              <a:p>
                <a:pPr marL="0" indent="0">
                  <a:buNone/>
                </a:pPr>
                <a:endParaRPr lang="en-US" sz="1800" dirty="0">
                  <a:solidFill>
                    <a:schemeClr val="tx1">
                      <a:lumMod val="85000"/>
                      <a:lumOff val="15000"/>
                    </a:schemeClr>
                  </a:solidFill>
                </a:endParaRPr>
              </a:p>
              <a:p>
                <a:pPr marL="0" indent="0">
                  <a:buNone/>
                </a:pPr>
                <a:endParaRPr lang="en-US" sz="1800" dirty="0">
                  <a:solidFill>
                    <a:schemeClr val="tx1">
                      <a:lumMod val="85000"/>
                      <a:lumOff val="15000"/>
                    </a:schemeClr>
                  </a:solidFill>
                </a:endParaRPr>
              </a:p>
              <a:p>
                <a:pPr>
                  <a:buFont typeface="Wingdings" charset="2"/>
                  <a:buChar char="§"/>
                </a:pPr>
                <a:r>
                  <a:rPr lang="en-US" sz="1800" b="0" dirty="0">
                    <a:solidFill>
                      <a:schemeClr val="tx1">
                        <a:lumMod val="85000"/>
                        <a:lumOff val="15000"/>
                      </a:schemeClr>
                    </a:solidFill>
                  </a:rPr>
                  <a:t>If we consider the Goldstone modes, </a:t>
                </a:r>
                <a14:m>
                  <m:oMath xmlns:m="http://schemas.openxmlformats.org/officeDocument/2006/math">
                    <m:d>
                      <m:dPr>
                        <m:begChr m:val="⟨"/>
                        <m:endChr m:val="⟩"/>
                        <m:ctrlPr>
                          <a:rPr lang="en-US" sz="1800" i="1">
                            <a:solidFill>
                              <a:schemeClr val="tx1">
                                <a:lumMod val="85000"/>
                                <a:lumOff val="15000"/>
                              </a:schemeClr>
                            </a:solidFill>
                            <a:latin typeface="Cambria Math" charset="0"/>
                          </a:rPr>
                        </m:ctrlPr>
                      </m:dPr>
                      <m:e>
                        <m:sSubSup>
                          <m:sSubSupPr>
                            <m:ctrlPr>
                              <a:rPr lang="en-US" sz="1800" i="1">
                                <a:solidFill>
                                  <a:schemeClr val="tx1">
                                    <a:lumMod val="85000"/>
                                    <a:lumOff val="15000"/>
                                  </a:schemeClr>
                                </a:solidFill>
                                <a:latin typeface="Cambria Math" charset="0"/>
                              </a:rPr>
                            </m:ctrlPr>
                          </m:sSubSupPr>
                          <m:e>
                            <m:acc>
                              <m:accPr>
                                <m:chr m:val="̃"/>
                                <m:ctrlPr>
                                  <a:rPr lang="en-US" sz="1800" i="1">
                                    <a:solidFill>
                                      <a:schemeClr val="tx1">
                                        <a:lumMod val="85000"/>
                                        <a:lumOff val="15000"/>
                                      </a:schemeClr>
                                    </a:solidFill>
                                    <a:latin typeface="Cambria Math" charset="0"/>
                                  </a:rPr>
                                </m:ctrlPr>
                              </m:accPr>
                              <m:e>
                                <m:r>
                                  <a:rPr lang="en-US" sz="1800" i="1">
                                    <a:solidFill>
                                      <a:schemeClr val="tx1">
                                        <a:lumMod val="85000"/>
                                        <a:lumOff val="15000"/>
                                      </a:schemeClr>
                                    </a:solidFill>
                                    <a:latin typeface="Cambria Math" panose="02040503050406030204" pitchFamily="18" charset="0"/>
                                  </a:rPr>
                                  <m:t>𝑆</m:t>
                                </m:r>
                              </m:e>
                            </m:acc>
                          </m:e>
                          <m:sub>
                            <m:acc>
                              <m:accPr>
                                <m:chr m:val="⃗"/>
                                <m:ctrlPr>
                                  <a:rPr lang="en-US" sz="1800" i="1">
                                    <a:solidFill>
                                      <a:schemeClr val="tx1">
                                        <a:lumMod val="85000"/>
                                        <a:lumOff val="15000"/>
                                      </a:schemeClr>
                                    </a:solidFill>
                                    <a:latin typeface="Cambria Math" charset="0"/>
                                  </a:rPr>
                                </m:ctrlPr>
                              </m:accPr>
                              <m:e>
                                <m:r>
                                  <a:rPr lang="en-US" sz="1800" i="1">
                                    <a:solidFill>
                                      <a:schemeClr val="tx1">
                                        <a:lumMod val="85000"/>
                                        <a:lumOff val="15000"/>
                                      </a:schemeClr>
                                    </a:solidFill>
                                    <a:latin typeface="Cambria Math" panose="02040503050406030204" pitchFamily="18" charset="0"/>
                                  </a:rPr>
                                  <m:t>𝑞</m:t>
                                </m:r>
                              </m:e>
                            </m:acc>
                          </m:sub>
                          <m:sup>
                            <m:r>
                              <a:rPr lang="en-US" sz="1800" i="1">
                                <a:solidFill>
                                  <a:schemeClr val="tx1">
                                    <a:lumMod val="85000"/>
                                    <a:lumOff val="15000"/>
                                  </a:schemeClr>
                                </a:solidFill>
                                <a:latin typeface="Cambria Math" panose="02040503050406030204" pitchFamily="18" charset="0"/>
                              </a:rPr>
                              <m:t>𝑥</m:t>
                            </m:r>
                          </m:sup>
                        </m:sSubSup>
                        <m:sSubSup>
                          <m:sSubSupPr>
                            <m:ctrlPr>
                              <a:rPr lang="en-US" sz="1800" i="1">
                                <a:solidFill>
                                  <a:schemeClr val="tx1">
                                    <a:lumMod val="85000"/>
                                    <a:lumOff val="15000"/>
                                  </a:schemeClr>
                                </a:solidFill>
                                <a:latin typeface="Cambria Math" charset="0"/>
                              </a:rPr>
                            </m:ctrlPr>
                          </m:sSubSupPr>
                          <m:e>
                            <m:acc>
                              <m:accPr>
                                <m:chr m:val="̃"/>
                                <m:ctrlPr>
                                  <a:rPr lang="en-US" sz="1800" i="1">
                                    <a:solidFill>
                                      <a:schemeClr val="tx1">
                                        <a:lumMod val="85000"/>
                                        <a:lumOff val="15000"/>
                                      </a:schemeClr>
                                    </a:solidFill>
                                    <a:latin typeface="Cambria Math" charset="0"/>
                                  </a:rPr>
                                </m:ctrlPr>
                              </m:accPr>
                              <m:e>
                                <m:r>
                                  <a:rPr lang="en-US" sz="1800" i="1">
                                    <a:solidFill>
                                      <a:schemeClr val="tx1">
                                        <a:lumMod val="85000"/>
                                        <a:lumOff val="15000"/>
                                      </a:schemeClr>
                                    </a:solidFill>
                                    <a:latin typeface="Cambria Math" panose="02040503050406030204" pitchFamily="18" charset="0"/>
                                  </a:rPr>
                                  <m:t>𝑆</m:t>
                                </m:r>
                              </m:e>
                            </m:acc>
                          </m:e>
                          <m:sub>
                            <m:r>
                              <a:rPr lang="en-US" sz="1800" i="1">
                                <a:solidFill>
                                  <a:schemeClr val="tx1">
                                    <a:lumMod val="85000"/>
                                    <a:lumOff val="15000"/>
                                  </a:schemeClr>
                                </a:solidFill>
                                <a:latin typeface="Cambria Math" panose="02040503050406030204" pitchFamily="18" charset="0"/>
                              </a:rPr>
                              <m:t>−</m:t>
                            </m:r>
                            <m:acc>
                              <m:accPr>
                                <m:chr m:val="⃗"/>
                                <m:ctrlPr>
                                  <a:rPr lang="en-US" sz="1800" i="1">
                                    <a:solidFill>
                                      <a:schemeClr val="tx1">
                                        <a:lumMod val="85000"/>
                                        <a:lumOff val="15000"/>
                                      </a:schemeClr>
                                    </a:solidFill>
                                    <a:latin typeface="Cambria Math" charset="0"/>
                                  </a:rPr>
                                </m:ctrlPr>
                              </m:accPr>
                              <m:e>
                                <m:r>
                                  <a:rPr lang="en-US" sz="1800" i="1">
                                    <a:solidFill>
                                      <a:schemeClr val="tx1">
                                        <a:lumMod val="85000"/>
                                        <a:lumOff val="15000"/>
                                      </a:schemeClr>
                                    </a:solidFill>
                                    <a:latin typeface="Cambria Math" panose="02040503050406030204" pitchFamily="18" charset="0"/>
                                  </a:rPr>
                                  <m:t>𝑞</m:t>
                                </m:r>
                              </m:e>
                            </m:acc>
                          </m:sub>
                          <m:sup>
                            <m:r>
                              <a:rPr lang="en-US" sz="1800" i="1">
                                <a:solidFill>
                                  <a:schemeClr val="tx1">
                                    <a:lumMod val="85000"/>
                                    <a:lumOff val="15000"/>
                                  </a:schemeClr>
                                </a:solidFill>
                                <a:latin typeface="Cambria Math" panose="02040503050406030204" pitchFamily="18" charset="0"/>
                              </a:rPr>
                              <m:t>𝑥</m:t>
                            </m:r>
                          </m:sup>
                        </m:sSubSup>
                      </m:e>
                    </m:d>
                    <m:r>
                      <a:rPr lang="en-US" sz="1800" b="0" i="1" smtClean="0">
                        <a:solidFill>
                          <a:schemeClr val="tx1">
                            <a:lumMod val="85000"/>
                            <a:lumOff val="15000"/>
                          </a:schemeClr>
                        </a:solidFill>
                        <a:latin typeface="Cambria Math" panose="02040503050406030204" pitchFamily="18" charset="0"/>
                      </a:rPr>
                      <m:t>=</m:t>
                    </m:r>
                    <m:r>
                      <a:rPr lang="en-US" sz="1800" b="0" i="1" smtClean="0">
                        <a:solidFill>
                          <a:schemeClr val="tx1">
                            <a:lumMod val="85000"/>
                            <a:lumOff val="15000"/>
                          </a:schemeClr>
                        </a:solidFill>
                        <a:latin typeface="Cambria Math" charset="0"/>
                      </a:rPr>
                      <m:t>𝜒</m:t>
                    </m:r>
                    <m:d>
                      <m:dPr>
                        <m:ctrlPr>
                          <a:rPr lang="en-US" sz="1800" b="0" i="1" smtClean="0">
                            <a:solidFill>
                              <a:schemeClr val="tx1">
                                <a:lumMod val="85000"/>
                                <a:lumOff val="15000"/>
                              </a:schemeClr>
                            </a:solidFill>
                            <a:latin typeface="Cambria Math" charset="0"/>
                          </a:rPr>
                        </m:ctrlPr>
                      </m:d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panose="02040503050406030204" pitchFamily="18" charset="0"/>
                              </a:rPr>
                              <m:t>𝑞</m:t>
                            </m:r>
                          </m:e>
                        </m:acc>
                      </m:e>
                    </m:d>
                    <m:r>
                      <a:rPr lang="en-US" sz="1800" b="0" i="1" smtClean="0">
                        <a:solidFill>
                          <a:schemeClr val="tx1">
                            <a:lumMod val="85000"/>
                            <a:lumOff val="15000"/>
                          </a:schemeClr>
                        </a:solidFill>
                        <a:latin typeface="Cambria Math" charset="0"/>
                      </a:rPr>
                      <m:t>∼</m:t>
                    </m:r>
                    <m:f>
                      <m:fPr>
                        <m:ctrlPr>
                          <a:rPr lang="en-US" sz="1800" b="0" i="1" smtClean="0">
                            <a:solidFill>
                              <a:schemeClr val="tx1">
                                <a:lumMod val="85000"/>
                                <a:lumOff val="15000"/>
                              </a:schemeClr>
                            </a:solidFill>
                            <a:latin typeface="Cambria Math" charset="0"/>
                          </a:rPr>
                        </m:ctrlPr>
                      </m:fPr>
                      <m:num>
                        <m:r>
                          <a:rPr lang="en-US" sz="1800" b="0" i="1" smtClean="0">
                            <a:solidFill>
                              <a:schemeClr val="tx1">
                                <a:lumMod val="85000"/>
                                <a:lumOff val="15000"/>
                              </a:schemeClr>
                            </a:solidFill>
                            <a:latin typeface="Cambria Math" panose="02040503050406030204" pitchFamily="18" charset="0"/>
                          </a:rPr>
                          <m:t>1</m:t>
                        </m:r>
                      </m:num>
                      <m:den>
                        <m:sSup>
                          <m:sSupPr>
                            <m:ctrlPr>
                              <a:rPr lang="en-US" sz="1800" b="0" i="1" smtClean="0">
                                <a:solidFill>
                                  <a:schemeClr val="tx1">
                                    <a:lumMod val="85000"/>
                                    <a:lumOff val="15000"/>
                                  </a:schemeClr>
                                </a:solidFill>
                                <a:latin typeface="Cambria Math" charset="0"/>
                              </a:rPr>
                            </m:ctrlPr>
                          </m:sSupPr>
                          <m:e>
                            <m:r>
                              <a:rPr lang="en-US" sz="1800" b="0" i="1" smtClean="0">
                                <a:solidFill>
                                  <a:schemeClr val="tx1">
                                    <a:lumMod val="85000"/>
                                    <a:lumOff val="15000"/>
                                  </a:schemeClr>
                                </a:solidFill>
                                <a:latin typeface="Cambria Math" panose="02040503050406030204" pitchFamily="18" charset="0"/>
                              </a:rPr>
                              <m:t>𝑞</m:t>
                            </m:r>
                          </m:e>
                          <m:sup>
                            <m:r>
                              <a:rPr lang="en-US" sz="1800" b="0" i="1" smtClean="0">
                                <a:solidFill>
                                  <a:schemeClr val="tx1">
                                    <a:lumMod val="85000"/>
                                    <a:lumOff val="15000"/>
                                  </a:schemeClr>
                                </a:solidFill>
                                <a:latin typeface="Cambria Math" panose="02040503050406030204" pitchFamily="18" charset="0"/>
                              </a:rPr>
                              <m:t>2</m:t>
                            </m:r>
                          </m:sup>
                        </m:sSup>
                      </m:den>
                    </m:f>
                  </m:oMath>
                </a14:m>
                <a:r>
                  <a:rPr lang="en-US" sz="1800" b="0" dirty="0">
                    <a:solidFill>
                      <a:schemeClr val="tx1">
                        <a:lumMod val="85000"/>
                        <a:lumOff val="15000"/>
                      </a:schemeClr>
                    </a:solidFill>
                  </a:rPr>
                  <a:t> , the response is dipolar</a:t>
                </a:r>
                <a:r>
                  <a:rPr lang="en-US" sz="1800" b="0" dirty="0" smtClean="0">
                    <a:solidFill>
                      <a:schemeClr val="tx1">
                        <a:lumMod val="85000"/>
                        <a:lumOff val="15000"/>
                      </a:schemeClr>
                    </a:solidFill>
                  </a:rPr>
                  <a:t>,</a:t>
                </a:r>
              </a:p>
              <a:p>
                <a:pPr>
                  <a:buFont typeface="Wingdings" charset="2"/>
                  <a:buChar char="§"/>
                </a:pPr>
                <a:endParaRPr lang="en-US" sz="1800" b="0" dirty="0">
                  <a:solidFill>
                    <a:schemeClr val="tx1">
                      <a:lumMod val="85000"/>
                      <a:lumOff val="15000"/>
                    </a:schemeClr>
                  </a:solidFill>
                </a:endParaRPr>
              </a:p>
              <a:p>
                <a:pPr>
                  <a:buFont typeface="Courier New" panose="02070309020205020404" pitchFamily="49" charset="0"/>
                  <a:buChar char="o"/>
                </a:pPr>
                <a:endParaRPr lang="en-US" sz="1800" dirty="0">
                  <a:solidFill>
                    <a:schemeClr val="tx1">
                      <a:lumMod val="85000"/>
                      <a:lumOff val="15000"/>
                    </a:schemeClr>
                  </a:solidFill>
                </a:endParaRPr>
              </a:p>
              <a:p>
                <a:pPr>
                  <a:buFont typeface="Wingdings" charset="2"/>
                  <a:buChar char="§"/>
                </a:pPr>
                <a:r>
                  <a:rPr lang="en-US" sz="1800" b="0" u="sng" dirty="0">
                    <a:solidFill>
                      <a:schemeClr val="tx1">
                        <a:lumMod val="85000"/>
                        <a:lumOff val="15000"/>
                      </a:schemeClr>
                    </a:solidFill>
                  </a:rPr>
                  <a:t>In 2D</a:t>
                </a:r>
                <a:r>
                  <a:rPr lang="en-US" sz="1800" b="0" dirty="0">
                    <a:solidFill>
                      <a:schemeClr val="tx1">
                        <a:lumMod val="85000"/>
                        <a:lumOff val="15000"/>
                      </a:schemeClr>
                    </a:solidFill>
                  </a:rPr>
                  <a:t>, the real space response is also dipolar</a:t>
                </a:r>
              </a:p>
            </p:txBody>
          </p:sp>
        </mc:Choice>
        <mc:Fallback xmlns="">
          <p:sp>
            <p:nvSpPr>
              <p:cNvPr id="37" name="Content Placeholder 2">
                <a:extLst>
                  <a:ext uri="{FF2B5EF4-FFF2-40B4-BE49-F238E27FC236}">
                    <a16:creationId xmlns="" xmlns:a16="http://schemas.microsoft.com/office/drawing/2014/main" xmlns:a14="http://schemas.microsoft.com/office/drawing/2010/main" id="{E9CC5D54-0080-4C21-9CB5-D40E074EEF75}"/>
                  </a:ext>
                </a:extLst>
              </p:cNvPr>
              <p:cNvSpPr txBox="1">
                <a:spLocks noRot="1" noChangeAspect="1" noMove="1" noResize="1" noEditPoints="1" noAdjustHandles="1" noChangeArrowheads="1" noChangeShapeType="1" noTextEdit="1"/>
              </p:cNvSpPr>
              <p:nvPr/>
            </p:nvSpPr>
            <p:spPr>
              <a:xfrm>
                <a:off x="6289143" y="2036603"/>
                <a:ext cx="5138822" cy="4513639"/>
              </a:xfrm>
              <a:prstGeom prst="rect">
                <a:avLst/>
              </a:prstGeom>
              <a:blipFill rotWithShape="0">
                <a:blip r:embed="rId3"/>
                <a:stretch>
                  <a:fillRect l="-830" t="-12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4A5DDA08-7A1C-4299-8317-113F9D651360}"/>
                  </a:ext>
                </a:extLst>
              </p:cNvPr>
              <p:cNvSpPr txBox="1"/>
              <p:nvPr/>
            </p:nvSpPr>
            <p:spPr>
              <a:xfrm>
                <a:off x="6859387" y="2840258"/>
                <a:ext cx="3741950" cy="5821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lumMod val="85000"/>
                                  <a:lumOff val="15000"/>
                                </a:schemeClr>
                              </a:solidFill>
                              <a:latin typeface="Cambria Math" charset="0"/>
                            </a:rPr>
                          </m:ctrlPr>
                        </m:dPr>
                        <m:e>
                          <m:sSubSup>
                            <m:sSubSupPr>
                              <m:ctrlPr>
                                <a:rPr lang="en-US" b="0" i="1" smtClean="0">
                                  <a:solidFill>
                                    <a:schemeClr val="tx1">
                                      <a:lumMod val="85000"/>
                                      <a:lumOff val="15000"/>
                                    </a:schemeClr>
                                  </a:solidFill>
                                  <a:latin typeface="Cambria Math" charset="0"/>
                                </a:rPr>
                              </m:ctrlPr>
                            </m:sSub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𝑥</m:t>
                              </m:r>
                            </m:sup>
                          </m:sSubSup>
                        </m:e>
                      </m:d>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sSup>
                            <m:sSupPr>
                              <m:ctrlPr>
                                <a:rPr lang="en-US" b="0" i="1" smtClean="0">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b="0" i="1" smtClean="0">
                                  <a:solidFill>
                                    <a:schemeClr val="tx1">
                                      <a:lumMod val="85000"/>
                                      <a:lumOff val="15000"/>
                                    </a:schemeClr>
                                  </a:solidFill>
                                  <a:latin typeface="Cambria Math" panose="02040503050406030204" pitchFamily="18" charset="0"/>
                                </a:rPr>
                                <m:t>′</m:t>
                              </m:r>
                            </m:sup>
                          </m:sSup>
                        </m:sub>
                      </m:sSub>
                      <m:d>
                        <m:dPr>
                          <m:ctrlPr>
                            <a:rPr lang="en-US" b="0" i="1" smtClean="0">
                              <a:solidFill>
                                <a:schemeClr val="tx1">
                                  <a:lumMod val="85000"/>
                                  <a:lumOff val="15000"/>
                                </a:schemeClr>
                              </a:solidFill>
                              <a:latin typeface="Cambria Math" charset="0"/>
                            </a:rPr>
                          </m:ctrlPr>
                        </m:dPr>
                        <m:e>
                          <m:d>
                            <m:dPr>
                              <m:begChr m:val="⟨"/>
                              <m:endChr m:val="⟩"/>
                              <m:ctrlPr>
                                <a:rPr lang="en-US" b="0" i="1" smtClean="0">
                                  <a:solidFill>
                                    <a:schemeClr val="tx1">
                                      <a:lumMod val="85000"/>
                                      <a:lumOff val="15000"/>
                                    </a:schemeClr>
                                  </a:solidFill>
                                  <a:latin typeface="Cambria Math" charset="0"/>
                                </a:rPr>
                              </m:ctrlPr>
                            </m:dPr>
                            <m:e>
                              <m:sSubSup>
                                <m:sSubSupPr>
                                  <m:ctrlPr>
                                    <a:rPr lang="en-US" b="0" i="1" smtClean="0">
                                      <a:solidFill>
                                        <a:schemeClr val="tx1">
                                          <a:lumMod val="85000"/>
                                          <a:lumOff val="15000"/>
                                        </a:schemeClr>
                                      </a:solidFill>
                                      <a:latin typeface="Cambria Math" charset="0"/>
                                    </a:rPr>
                                  </m:ctrlPr>
                                </m:sSub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𝑥</m:t>
                                  </m:r>
                                </m:sup>
                              </m:sSubSup>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sSup>
                                    <m:sSupPr>
                                      <m:ctrlPr>
                                        <a:rPr lang="en-US" b="0" i="1" smtClean="0">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b="0" i="1" smtClean="0">
                                          <a:solidFill>
                                            <a:schemeClr val="tx1">
                                              <a:lumMod val="85000"/>
                                              <a:lumOff val="15000"/>
                                            </a:schemeClr>
                                          </a:solidFill>
                                          <a:latin typeface="Cambria Math" panose="02040503050406030204" pitchFamily="18" charset="0"/>
                                        </a:rPr>
                                        <m:t>′</m:t>
                                      </m:r>
                                    </m:sup>
                                  </m:sSup>
                                </m:sub>
                                <m:sup>
                                  <m:r>
                                    <a:rPr lang="en-US" i="1">
                                      <a:solidFill>
                                        <a:schemeClr val="tx1">
                                          <a:lumMod val="85000"/>
                                          <a:lumOff val="15000"/>
                                        </a:schemeClr>
                                      </a:solidFill>
                                      <a:latin typeface="Cambria Math" panose="02040503050406030204" pitchFamily="18" charset="0"/>
                                    </a:rPr>
                                    <m:t>𝑥</m:t>
                                  </m:r>
                                </m:sup>
                              </m:sSubSup>
                            </m:e>
                          </m:d>
                          <m:r>
                            <a:rPr lang="en-US" b="0" i="1" smtClean="0">
                              <a:solidFill>
                                <a:schemeClr val="tx1">
                                  <a:lumMod val="85000"/>
                                  <a:lumOff val="15000"/>
                                </a:schemeClr>
                              </a:solidFill>
                              <a:latin typeface="Cambria Math" panose="02040503050406030204" pitchFamily="18" charset="0"/>
                            </a:rPr>
                            <m:t>−</m:t>
                          </m:r>
                          <m:d>
                            <m:dPr>
                              <m:begChr m:val="⟨"/>
                              <m:endChr m:val="⟩"/>
                              <m:ctrlPr>
                                <a:rPr lang="en-US" i="1">
                                  <a:solidFill>
                                    <a:schemeClr val="tx1">
                                      <a:lumMod val="85000"/>
                                      <a:lumOff val="15000"/>
                                    </a:schemeClr>
                                  </a:solidFill>
                                  <a:latin typeface="Cambria Math" charset="0"/>
                                </a:rPr>
                              </m:ctrlPr>
                            </m:dPr>
                            <m:e>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up>
                                  <m:r>
                                    <a:rPr lang="en-US" i="1">
                                      <a:solidFill>
                                        <a:schemeClr val="tx1">
                                          <a:lumMod val="85000"/>
                                          <a:lumOff val="15000"/>
                                        </a:schemeClr>
                                      </a:solidFill>
                                      <a:latin typeface="Cambria Math" panose="02040503050406030204" pitchFamily="18" charset="0"/>
                                    </a:rPr>
                                    <m:t>𝑥</m:t>
                                  </m:r>
                                </m:sup>
                              </m:sSubSup>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sSup>
                                    <m:sSupPr>
                                      <m:ctrlPr>
                                        <a:rPr lang="en-US" i="1">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i="1">
                                          <a:solidFill>
                                            <a:schemeClr val="tx1">
                                              <a:lumMod val="85000"/>
                                              <a:lumOff val="15000"/>
                                            </a:schemeClr>
                                          </a:solidFill>
                                          <a:latin typeface="Cambria Math" panose="02040503050406030204" pitchFamily="18" charset="0"/>
                                        </a:rPr>
                                        <m:t>′</m:t>
                                      </m:r>
                                    </m:sup>
                                  </m:sSup>
                                  <m:r>
                                    <a:rPr lang="en-US" b="0" i="1" smtClean="0">
                                      <a:solidFill>
                                        <a:schemeClr val="tx1">
                                          <a:lumMod val="85000"/>
                                          <a:lumOff val="15000"/>
                                        </a:schemeClr>
                                      </a:solidFill>
                                      <a:latin typeface="Cambria Math" panose="02040503050406030204" pitchFamily="18" charset="0"/>
                                    </a:rPr>
                                    <m:t>+</m:t>
                                  </m:r>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𝛿</m:t>
                                      </m:r>
                                    </m:e>
                                  </m:acc>
                                </m:sub>
                                <m:sup>
                                  <m:r>
                                    <a:rPr lang="en-US" i="1">
                                      <a:solidFill>
                                        <a:schemeClr val="tx1">
                                          <a:lumMod val="85000"/>
                                          <a:lumOff val="15000"/>
                                        </a:schemeClr>
                                      </a:solidFill>
                                      <a:latin typeface="Cambria Math" panose="02040503050406030204" pitchFamily="18" charset="0"/>
                                    </a:rPr>
                                    <m:t>𝑥</m:t>
                                  </m:r>
                                </m:sup>
                              </m:sSubSup>
                            </m:e>
                          </m:d>
                        </m:e>
                      </m:d>
                      <m:r>
                        <a:rPr lang="en-US" b="0" i="1" smtClean="0">
                          <a:solidFill>
                            <a:schemeClr val="tx1">
                              <a:lumMod val="85000"/>
                              <a:lumOff val="15000"/>
                            </a:schemeClr>
                          </a:solidFill>
                          <a:latin typeface="Cambria Math" panose="02040503050406030204" pitchFamily="18" charset="0"/>
                        </a:rPr>
                        <m:t> </m:t>
                      </m:r>
                    </m:oMath>
                  </m:oMathPara>
                </a14:m>
                <a:endParaRPr lang="x-none" dirty="0">
                  <a:solidFill>
                    <a:schemeClr val="tx1">
                      <a:lumMod val="85000"/>
                      <a:lumOff val="15000"/>
                    </a:schemeClr>
                  </a:solidFill>
                </a:endParaRPr>
              </a:p>
            </p:txBody>
          </p:sp>
        </mc:Choice>
        <mc:Fallback xmlns="">
          <p:sp>
            <p:nvSpPr>
              <p:cNvPr id="8" name="TextBox 7">
                <a:extLst>
                  <a:ext uri="{FF2B5EF4-FFF2-40B4-BE49-F238E27FC236}">
                    <a16:creationId xmlns="" xmlns:a16="http://schemas.microsoft.com/office/drawing/2014/main" xmlns:a14="http://schemas.microsoft.com/office/drawing/2010/main" id="{4A5DDA08-7A1C-4299-8317-113F9D651360}"/>
                  </a:ext>
                </a:extLst>
              </p:cNvPr>
              <p:cNvSpPr txBox="1">
                <a:spLocks noRot="1" noChangeAspect="1" noMove="1" noResize="1" noEditPoints="1" noAdjustHandles="1" noChangeArrowheads="1" noChangeShapeType="1" noTextEdit="1"/>
              </p:cNvSpPr>
              <p:nvPr/>
            </p:nvSpPr>
            <p:spPr>
              <a:xfrm>
                <a:off x="6859387" y="2840258"/>
                <a:ext cx="3741950" cy="58214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544851C4-C121-479C-8993-D23E0B5BFEEA}"/>
                  </a:ext>
                </a:extLst>
              </p:cNvPr>
              <p:cNvSpPr txBox="1"/>
              <p:nvPr/>
            </p:nvSpPr>
            <p:spPr>
              <a:xfrm>
                <a:off x="6204626" y="3377149"/>
                <a:ext cx="3741950" cy="371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sSup>
                            <m:sSupPr>
                              <m:ctrlPr>
                                <a:rPr lang="en-US" b="0" i="1" smtClean="0">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b="0" i="1" smtClean="0">
                                  <a:solidFill>
                                    <a:schemeClr val="tx1">
                                      <a:lumMod val="85000"/>
                                      <a:lumOff val="15000"/>
                                    </a:schemeClr>
                                  </a:solidFill>
                                  <a:latin typeface="Cambria Math" panose="02040503050406030204" pitchFamily="18" charset="0"/>
                                </a:rPr>
                                <m:t>′</m:t>
                              </m:r>
                            </m:sup>
                          </m:sSup>
                        </m:sub>
                      </m:sSub>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𝜒</m:t>
                          </m:r>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Sup>
                            <m:sSupPr>
                              <m:ctrlPr>
                                <a:rPr lang="en-US" b="0" i="1" smtClean="0">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b="0" i="1" smtClean="0">
                                  <a:solidFill>
                                    <a:schemeClr val="tx1">
                                      <a:lumMod val="85000"/>
                                      <a:lumOff val="15000"/>
                                    </a:schemeClr>
                                  </a:solidFill>
                                  <a:latin typeface="Cambria Math" panose="02040503050406030204" pitchFamily="18" charset="0"/>
                                </a:rPr>
                                <m:t>′</m:t>
                              </m:r>
                            </m:sup>
                          </m:sSup>
                        </m:sub>
                      </m:sSub>
                    </m:oMath>
                  </m:oMathPara>
                </a14:m>
                <a:endParaRPr lang="x-none" dirty="0">
                  <a:solidFill>
                    <a:schemeClr val="tx1">
                      <a:lumMod val="85000"/>
                      <a:lumOff val="15000"/>
                    </a:schemeClr>
                  </a:solidFill>
                </a:endParaRPr>
              </a:p>
            </p:txBody>
          </p:sp>
        </mc:Choice>
        <mc:Fallback xmlns="">
          <p:sp>
            <p:nvSpPr>
              <p:cNvPr id="40" name="TextBox 39">
                <a:extLst>
                  <a:ext uri="{FF2B5EF4-FFF2-40B4-BE49-F238E27FC236}">
                    <a16:creationId xmlns="" xmlns:a16="http://schemas.microsoft.com/office/drawing/2014/main" xmlns:a14="http://schemas.microsoft.com/office/drawing/2010/main" id="{544851C4-C121-479C-8993-D23E0B5BFEEA}"/>
                  </a:ext>
                </a:extLst>
              </p:cNvPr>
              <p:cNvSpPr txBox="1">
                <a:spLocks noRot="1" noChangeAspect="1" noMove="1" noResize="1" noEditPoints="1" noAdjustHandles="1" noChangeArrowheads="1" noChangeShapeType="1" noTextEdit="1"/>
              </p:cNvSpPr>
              <p:nvPr/>
            </p:nvSpPr>
            <p:spPr>
              <a:xfrm>
                <a:off x="6204626" y="3377149"/>
                <a:ext cx="3741950" cy="371064"/>
              </a:xfrm>
              <a:prstGeom prst="rect">
                <a:avLst/>
              </a:prstGeom>
              <a:blipFill rotWithShape="0">
                <a:blip r:embed="rId5"/>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3AC2280B-96A5-4F4F-9647-BC8469FA8AA8}"/>
                  </a:ext>
                </a:extLst>
              </p:cNvPr>
              <p:cNvSpPr txBox="1"/>
              <p:nvPr/>
            </p:nvSpPr>
            <p:spPr>
              <a:xfrm>
                <a:off x="6523543" y="3821562"/>
                <a:ext cx="5355612" cy="5082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lumMod val="85000"/>
                                  <a:lumOff val="15000"/>
                                </a:schemeClr>
                              </a:solidFill>
                              <a:latin typeface="Cambria Math" charset="0"/>
                            </a:rPr>
                          </m:ctrlPr>
                        </m:dPr>
                        <m:e>
                          <m:sSubSup>
                            <m:sSubSupPr>
                              <m:ctrlPr>
                                <a:rPr lang="en-US" b="0" i="1" smtClean="0">
                                  <a:solidFill>
                                    <a:schemeClr val="tx1">
                                      <a:lumMod val="85000"/>
                                      <a:lumOff val="15000"/>
                                    </a:schemeClr>
                                  </a:solidFill>
                                  <a:latin typeface="Cambria Math" charset="0"/>
                                </a:rPr>
                              </m:ctrlPr>
                            </m:sSub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𝑆</m:t>
                                  </m:r>
                                </m:e>
                              </m:acc>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𝑞</m:t>
                                  </m:r>
                                </m:e>
                              </m:acc>
                            </m:sub>
                            <m:sup>
                              <m:r>
                                <a:rPr lang="en-US" b="0" i="1" smtClean="0">
                                  <a:solidFill>
                                    <a:schemeClr val="tx1">
                                      <a:lumMod val="85000"/>
                                      <a:lumOff val="15000"/>
                                    </a:schemeClr>
                                  </a:solidFill>
                                  <a:latin typeface="Cambria Math" panose="02040503050406030204" pitchFamily="18" charset="0"/>
                                </a:rPr>
                                <m:t>𝑥</m:t>
                              </m:r>
                            </m:sup>
                          </m:sSubSup>
                        </m:e>
                      </m:d>
                      <m:r>
                        <a:rPr lang="en-US" b="0" i="1" smtClean="0">
                          <a:solidFill>
                            <a:schemeClr val="tx1">
                              <a:lumMod val="85000"/>
                              <a:lumOff val="15000"/>
                            </a:schemeClr>
                          </a:solidFill>
                          <a:latin typeface="Cambria Math" panose="02040503050406030204" pitchFamily="18"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r>
                            <a:rPr lang="en-US" b="0" i="1" smtClean="0">
                              <a:solidFill>
                                <a:schemeClr val="tx1">
                                  <a:lumMod val="85000"/>
                                  <a:lumOff val="15000"/>
                                </a:schemeClr>
                              </a:solidFill>
                              <a:latin typeface="Cambria Math" panose="02040503050406030204" pitchFamily="18" charset="0"/>
                            </a:rPr>
                            <m:t>−</m:t>
                          </m:r>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sub>
                      </m:sSub>
                      <m:d>
                        <m:dPr>
                          <m:ctrlPr>
                            <a:rPr lang="en-US" b="0" i="1" smtClean="0">
                              <a:solidFill>
                                <a:schemeClr val="tx1">
                                  <a:lumMod val="85000"/>
                                  <a:lumOff val="15000"/>
                                </a:schemeClr>
                              </a:solidFill>
                              <a:latin typeface="Cambria Math" charset="0"/>
                            </a:rPr>
                          </m:ctrlPr>
                        </m:dPr>
                        <m:e>
                          <m:r>
                            <a:rPr lang="en-US" b="0" i="1" smtClean="0">
                              <a:solidFill>
                                <a:schemeClr val="tx1">
                                  <a:lumMod val="85000"/>
                                  <a:lumOff val="15000"/>
                                </a:schemeClr>
                              </a:solidFill>
                              <a:latin typeface="Cambria Math" panose="02040503050406030204" pitchFamily="18" charset="0"/>
                            </a:rPr>
                            <m:t>1−</m:t>
                          </m:r>
                          <m:sSup>
                            <m:sSupPr>
                              <m:ctrlPr>
                                <a:rPr lang="en-US" b="0" i="1" smtClean="0">
                                  <a:solidFill>
                                    <a:schemeClr val="tx1">
                                      <a:lumMod val="85000"/>
                                      <a:lumOff val="15000"/>
                                    </a:schemeClr>
                                  </a:solidFill>
                                  <a:latin typeface="Cambria Math" charset="0"/>
                                </a:rPr>
                              </m:ctrlPr>
                            </m:sSupPr>
                            <m:e>
                              <m:r>
                                <a:rPr lang="en-US" b="0" i="1" smtClean="0">
                                  <a:solidFill>
                                    <a:schemeClr val="tx1">
                                      <a:lumMod val="85000"/>
                                      <a:lumOff val="15000"/>
                                    </a:schemeClr>
                                  </a:solidFill>
                                  <a:latin typeface="Cambria Math" panose="02040503050406030204" pitchFamily="18" charset="0"/>
                                </a:rPr>
                                <m:t>𝑒</m:t>
                              </m:r>
                            </m:e>
                            <m:sup>
                              <m:r>
                                <a:rPr lang="en-US" b="0" i="1" smtClean="0">
                                  <a:solidFill>
                                    <a:schemeClr val="tx1">
                                      <a:lumMod val="85000"/>
                                      <a:lumOff val="15000"/>
                                    </a:schemeClr>
                                  </a:solidFill>
                                  <a:latin typeface="Cambria Math" panose="02040503050406030204" pitchFamily="18" charset="0"/>
                                </a:rPr>
                                <m:t>−</m:t>
                              </m:r>
                              <m:r>
                                <a:rPr lang="en-US" b="0" i="1" smtClean="0">
                                  <a:solidFill>
                                    <a:schemeClr val="tx1">
                                      <a:lumMod val="85000"/>
                                      <a:lumOff val="15000"/>
                                    </a:schemeClr>
                                  </a:solidFill>
                                  <a:latin typeface="Cambria Math" panose="02040503050406030204" pitchFamily="18" charset="0"/>
                                </a:rPr>
                                <m:t>𝑖</m:t>
                              </m:r>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r>
                                <a:rPr lang="en-US" b="0" i="1" smtClean="0">
                                  <a:solidFill>
                                    <a:schemeClr val="tx1">
                                      <a:lumMod val="85000"/>
                                      <a:lumOff val="15000"/>
                                    </a:schemeClr>
                                  </a:solidFill>
                                  <a:latin typeface="Cambria Math" panose="02040503050406030204" pitchFamily="18" charset="0"/>
                                </a:rPr>
                                <m:t>. </m:t>
                              </m:r>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𝛿</m:t>
                                  </m:r>
                                </m:e>
                              </m:acc>
                              <m:r>
                                <a:rPr lang="en-US" b="0" i="1" smtClean="0">
                                  <a:solidFill>
                                    <a:schemeClr val="tx1">
                                      <a:lumMod val="85000"/>
                                      <a:lumOff val="15000"/>
                                    </a:schemeClr>
                                  </a:solidFill>
                                  <a:latin typeface="Cambria Math" panose="02040503050406030204" pitchFamily="18" charset="0"/>
                                </a:rPr>
                                <m:t> </m:t>
                              </m:r>
                            </m:sup>
                          </m:sSup>
                        </m:e>
                      </m:d>
                      <m:d>
                        <m:dPr>
                          <m:begChr m:val="⟨"/>
                          <m:endChr m:val="⟩"/>
                          <m:ctrlPr>
                            <a:rPr lang="en-US" b="0" i="1" smtClean="0">
                              <a:solidFill>
                                <a:schemeClr val="tx1">
                                  <a:lumMod val="85000"/>
                                  <a:lumOff val="15000"/>
                                </a:schemeClr>
                              </a:solidFill>
                              <a:latin typeface="Cambria Math" charset="0"/>
                            </a:rPr>
                          </m:ctrlPr>
                        </m:dPr>
                        <m:e>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sub>
                            <m:sup>
                              <m:r>
                                <a:rPr lang="en-US" i="1">
                                  <a:solidFill>
                                    <a:schemeClr val="tx1">
                                      <a:lumMod val="85000"/>
                                      <a:lumOff val="15000"/>
                                    </a:schemeClr>
                                  </a:solidFill>
                                  <a:latin typeface="Cambria Math" panose="02040503050406030204" pitchFamily="18" charset="0"/>
                                </a:rPr>
                                <m:t>𝑥</m:t>
                              </m:r>
                            </m:sup>
                          </m:sSubSup>
                          <m:sSubSup>
                            <m:sSubSupPr>
                              <m:ctrlPr>
                                <a:rPr lang="en-US" i="1">
                                  <a:solidFill>
                                    <a:schemeClr val="tx1">
                                      <a:lumMod val="85000"/>
                                      <a:lumOff val="15000"/>
                                    </a:schemeClr>
                                  </a:solidFill>
                                  <a:latin typeface="Cambria Math" charset="0"/>
                                </a:rPr>
                              </m:ctrlPr>
                            </m:sSub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𝑆</m:t>
                                  </m:r>
                                </m:e>
                              </m:acc>
                            </m:e>
                            <m:sub>
                              <m:r>
                                <a:rPr lang="en-US" b="0" i="1" smtClean="0">
                                  <a:solidFill>
                                    <a:schemeClr val="tx1">
                                      <a:lumMod val="85000"/>
                                      <a:lumOff val="15000"/>
                                    </a:schemeClr>
                                  </a:solidFill>
                                  <a:latin typeface="Cambria Math" panose="02040503050406030204" pitchFamily="18" charset="0"/>
                                </a:rPr>
                                <m:t>−</m:t>
                              </m:r>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sub>
                            <m:sup>
                              <m:r>
                                <a:rPr lang="en-US" i="1">
                                  <a:solidFill>
                                    <a:schemeClr val="tx1">
                                      <a:lumMod val="85000"/>
                                      <a:lumOff val="15000"/>
                                    </a:schemeClr>
                                  </a:solidFill>
                                  <a:latin typeface="Cambria Math" panose="02040503050406030204" pitchFamily="18" charset="0"/>
                                </a:rPr>
                                <m:t>𝑥</m:t>
                              </m:r>
                            </m:sup>
                          </m:sSubSup>
                        </m:e>
                      </m:d>
                      <m:r>
                        <a:rPr lang="en-US" b="0" i="1" smtClean="0">
                          <a:solidFill>
                            <a:schemeClr val="tx1">
                              <a:lumMod val="85000"/>
                              <a:lumOff val="15000"/>
                            </a:schemeClr>
                          </a:solidFill>
                          <a:latin typeface="Cambria Math" panose="02040503050406030204" pitchFamily="18" charset="0"/>
                        </a:rPr>
                        <m:t>∼</m:t>
                      </m:r>
                      <m:sSub>
                        <m:sSubPr>
                          <m:ctrlPr>
                            <a:rPr lang="en-US" i="1">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r>
                            <a:rPr lang="en-US" i="1">
                              <a:solidFill>
                                <a:schemeClr val="tx1">
                                  <a:lumMod val="85000"/>
                                  <a:lumOff val="15000"/>
                                </a:schemeClr>
                              </a:solidFill>
                              <a:latin typeface="Cambria Math" panose="02040503050406030204" pitchFamily="18" charset="0"/>
                            </a:rPr>
                            <m:t>−</m:t>
                          </m:r>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sub>
                      </m:sSub>
                      <m:sSubSup>
                        <m:sSubSupPr>
                          <m:ctrlPr>
                            <a:rPr lang="en-US" b="0" i="1" smtClean="0">
                              <a:solidFill>
                                <a:schemeClr val="tx1">
                                  <a:lumMod val="85000"/>
                                  <a:lumOff val="15000"/>
                                </a:schemeClr>
                              </a:solidFill>
                              <a:latin typeface="Cambria Math" charset="0"/>
                            </a:rPr>
                          </m:ctrlPr>
                        </m:sSubSupPr>
                        <m:e>
                          <m:r>
                            <a:rPr lang="en-US" b="0" i="1" smtClean="0">
                              <a:solidFill>
                                <a:schemeClr val="tx1">
                                  <a:lumMod val="85000"/>
                                  <a:lumOff val="15000"/>
                                </a:schemeClr>
                              </a:solidFill>
                              <a:latin typeface="Cambria Math" panose="02040503050406030204" pitchFamily="18" charset="0"/>
                            </a:rPr>
                            <m:t>𝜒</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𝑞</m:t>
                              </m:r>
                            </m:e>
                          </m:acc>
                        </m:sub>
                        <m:sup>
                          <m:r>
                            <a:rPr lang="en-US" b="0" i="1" smtClean="0">
                              <a:solidFill>
                                <a:schemeClr val="tx1">
                                  <a:lumMod val="85000"/>
                                  <a:lumOff val="15000"/>
                                </a:schemeClr>
                              </a:solidFill>
                              <a:latin typeface="Cambria Math" charset="0"/>
                            </a:rPr>
                            <m:t>𝑑</m:t>
                          </m:r>
                        </m:sup>
                      </m:sSubSup>
                    </m:oMath>
                  </m:oMathPara>
                </a14:m>
                <a:endParaRPr lang="x-none" dirty="0">
                  <a:solidFill>
                    <a:schemeClr val="tx1">
                      <a:lumMod val="85000"/>
                      <a:lumOff val="15000"/>
                    </a:schemeClr>
                  </a:solidFill>
                </a:endParaRPr>
              </a:p>
            </p:txBody>
          </p:sp>
        </mc:Choice>
        <mc:Fallback xmlns="">
          <p:sp>
            <p:nvSpPr>
              <p:cNvPr id="41" name="TextBox 40">
                <a:extLst>
                  <a:ext uri="{FF2B5EF4-FFF2-40B4-BE49-F238E27FC236}">
                    <a16:creationId xmlns="" xmlns:a16="http://schemas.microsoft.com/office/drawing/2014/main" xmlns:a14="http://schemas.microsoft.com/office/drawing/2010/main" id="{3AC2280B-96A5-4F4F-9647-BC8469FA8AA8}"/>
                  </a:ext>
                </a:extLst>
              </p:cNvPr>
              <p:cNvSpPr txBox="1">
                <a:spLocks noRot="1" noChangeAspect="1" noMove="1" noResize="1" noEditPoints="1" noAdjustHandles="1" noChangeArrowheads="1" noChangeShapeType="1" noTextEdit="1"/>
              </p:cNvSpPr>
              <p:nvPr/>
            </p:nvSpPr>
            <p:spPr>
              <a:xfrm>
                <a:off x="6523543" y="3821562"/>
                <a:ext cx="5355612" cy="508281"/>
              </a:xfrm>
              <a:prstGeom prst="rect">
                <a:avLst/>
              </a:prstGeom>
              <a:blipFill rotWithShape="0">
                <a:blip r:embed="rId6"/>
                <a:stretch>
                  <a:fillRect t="-40964" b="-301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1C91CD0E-8444-49E0-BF05-DFF3E5674584}"/>
                  </a:ext>
                </a:extLst>
              </p:cNvPr>
              <p:cNvSpPr txBox="1"/>
              <p:nvPr/>
            </p:nvSpPr>
            <p:spPr>
              <a:xfrm>
                <a:off x="7154081" y="5057125"/>
                <a:ext cx="2921096" cy="6725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lumMod val="85000"/>
                                  <a:lumOff val="15000"/>
                                </a:schemeClr>
                              </a:solidFill>
                              <a:latin typeface="Cambria Math" charset="0"/>
                            </a:rPr>
                          </m:ctrlPr>
                        </m:sSubSupPr>
                        <m:e>
                          <m:r>
                            <a:rPr lang="en-US" i="1">
                              <a:solidFill>
                                <a:schemeClr val="tx1">
                                  <a:lumMod val="85000"/>
                                  <a:lumOff val="15000"/>
                                </a:schemeClr>
                              </a:solidFill>
                              <a:latin typeface="Cambria Math" panose="02040503050406030204" pitchFamily="18" charset="0"/>
                            </a:rPr>
                            <m:t>𝜒</m:t>
                          </m:r>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sub>
                        <m:sup>
                          <m:r>
                            <a:rPr lang="en-US" b="0" i="1" smtClean="0">
                              <a:solidFill>
                                <a:schemeClr val="tx1">
                                  <a:lumMod val="85000"/>
                                  <a:lumOff val="15000"/>
                                </a:schemeClr>
                              </a:solidFill>
                              <a:latin typeface="Cambria Math" charset="0"/>
                            </a:rPr>
                            <m:t>𝑑</m:t>
                          </m:r>
                        </m:sup>
                      </m:sSubSup>
                      <m:r>
                        <a:rPr lang="en-US" b="0" i="1" smtClean="0">
                          <a:solidFill>
                            <a:schemeClr val="tx1">
                              <a:lumMod val="85000"/>
                              <a:lumOff val="15000"/>
                            </a:schemeClr>
                          </a:solidFill>
                          <a:latin typeface="Cambria Math" panose="02040503050406030204" pitchFamily="18" charset="0"/>
                        </a:rPr>
                        <m:t>∼ </m:t>
                      </m:r>
                      <m:d>
                        <m:dPr>
                          <m:ctrlPr>
                            <a:rPr lang="en-US" b="0" i="1" smtClean="0">
                              <a:solidFill>
                                <a:schemeClr val="tx1">
                                  <a:lumMod val="85000"/>
                                  <a:lumOff val="15000"/>
                                </a:schemeClr>
                              </a:solidFill>
                              <a:latin typeface="Cambria Math" charset="0"/>
                            </a:rPr>
                          </m:ctrlPr>
                        </m:d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𝑞</m:t>
                              </m:r>
                            </m:e>
                          </m:acc>
                          <m:r>
                            <a:rPr lang="en-US" i="1">
                              <a:solidFill>
                                <a:schemeClr val="tx1">
                                  <a:lumMod val="85000"/>
                                  <a:lumOff val="15000"/>
                                </a:schemeClr>
                              </a:solidFill>
                              <a:latin typeface="Cambria Math" panose="02040503050406030204" pitchFamily="18" charset="0"/>
                            </a:rPr>
                            <m:t>. </m:t>
                          </m:r>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𝛿</m:t>
                              </m:r>
                            </m:e>
                          </m:acc>
                          <m:r>
                            <a:rPr lang="en-US" b="0" i="1" smtClean="0">
                              <a:solidFill>
                                <a:schemeClr val="tx1">
                                  <a:lumMod val="85000"/>
                                  <a:lumOff val="15000"/>
                                </a:schemeClr>
                              </a:solidFill>
                              <a:latin typeface="Cambria Math" panose="02040503050406030204" pitchFamily="18" charset="0"/>
                            </a:rPr>
                            <m:t> </m:t>
                          </m:r>
                        </m:e>
                      </m:d>
                      <m:r>
                        <a:rPr lang="en-US" b="0" i="1" smtClean="0">
                          <a:solidFill>
                            <a:schemeClr val="tx1">
                              <a:lumMod val="85000"/>
                              <a:lumOff val="15000"/>
                            </a:schemeClr>
                          </a:solidFill>
                          <a:latin typeface="Cambria Math" charset="0"/>
                        </a:rPr>
                        <m:t>𝜒</m:t>
                      </m:r>
                      <m:d>
                        <m:dPr>
                          <m:ctrlPr>
                            <a:rPr lang="en-US" b="0" i="1" smtClean="0">
                              <a:solidFill>
                                <a:schemeClr val="tx1">
                                  <a:lumMod val="85000"/>
                                  <a:lumOff val="15000"/>
                                </a:schemeClr>
                              </a:solidFill>
                              <a:latin typeface="Cambria Math" charset="0"/>
                            </a:rPr>
                          </m:ctrlPr>
                        </m:d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𝑞</m:t>
                              </m:r>
                            </m:e>
                          </m:acc>
                        </m:e>
                      </m:d>
                      <m:r>
                        <a:rPr lang="en-US" b="0" i="1" smtClean="0">
                          <a:solidFill>
                            <a:schemeClr val="tx1">
                              <a:lumMod val="85000"/>
                              <a:lumOff val="15000"/>
                            </a:schemeClr>
                          </a:solidFill>
                          <a:latin typeface="Cambria Math" panose="02040503050406030204" pitchFamily="18" charset="0"/>
                        </a:rPr>
                        <m:t>∼</m:t>
                      </m:r>
                      <m:f>
                        <m:fPr>
                          <m:ctrlPr>
                            <a:rPr lang="en-US" b="0" i="1" smtClean="0">
                              <a:solidFill>
                                <a:schemeClr val="tx1">
                                  <a:lumMod val="85000"/>
                                  <a:lumOff val="15000"/>
                                </a:schemeClr>
                              </a:solidFill>
                              <a:latin typeface="Cambria Math" charset="0"/>
                            </a:rPr>
                          </m:ctrlPr>
                        </m:fPr>
                        <m:num>
                          <m:func>
                            <m:funcPr>
                              <m:ctrlPr>
                                <a:rPr lang="en-US" b="0" i="1" smtClean="0">
                                  <a:solidFill>
                                    <a:schemeClr val="tx1">
                                      <a:lumMod val="85000"/>
                                      <a:lumOff val="15000"/>
                                    </a:schemeClr>
                                  </a:solidFill>
                                  <a:latin typeface="Cambria Math" charset="0"/>
                                </a:rPr>
                              </m:ctrlPr>
                            </m:funcPr>
                            <m:fName>
                              <m:r>
                                <m:rPr>
                                  <m:sty m:val="p"/>
                                </m:rPr>
                                <a:rPr lang="en-US" b="0" i="0" smtClean="0">
                                  <a:solidFill>
                                    <a:schemeClr val="tx1">
                                      <a:lumMod val="85000"/>
                                      <a:lumOff val="15000"/>
                                    </a:schemeClr>
                                  </a:solidFill>
                                  <a:latin typeface="Cambria Math" panose="02040503050406030204" pitchFamily="18" charset="0"/>
                                </a:rPr>
                                <m:t>cos</m:t>
                              </m:r>
                            </m:fName>
                            <m:e>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𝜙</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𝑞</m:t>
                                      </m:r>
                                    </m:e>
                                  </m:acc>
                                </m:sub>
                              </m:sSub>
                            </m:e>
                          </m:func>
                        </m:num>
                        <m:den>
                          <m:r>
                            <a:rPr lang="en-US" b="0" i="1" smtClean="0">
                              <a:solidFill>
                                <a:schemeClr val="tx1">
                                  <a:lumMod val="85000"/>
                                  <a:lumOff val="15000"/>
                                </a:schemeClr>
                              </a:solidFill>
                              <a:latin typeface="Cambria Math" panose="02040503050406030204" pitchFamily="18" charset="0"/>
                            </a:rPr>
                            <m:t>𝑞</m:t>
                          </m:r>
                        </m:den>
                      </m:f>
                    </m:oMath>
                  </m:oMathPara>
                </a14:m>
                <a:endParaRPr lang="x-none" dirty="0">
                  <a:solidFill>
                    <a:schemeClr val="tx1">
                      <a:lumMod val="85000"/>
                      <a:lumOff val="15000"/>
                    </a:schemeClr>
                  </a:solidFill>
                </a:endParaRPr>
              </a:p>
            </p:txBody>
          </p:sp>
        </mc:Choice>
        <mc:Fallback xmlns="">
          <p:sp>
            <p:nvSpPr>
              <p:cNvPr id="42" name="TextBox 41">
                <a:extLst>
                  <a:ext uri="{FF2B5EF4-FFF2-40B4-BE49-F238E27FC236}">
                    <a16:creationId xmlns="" xmlns:a16="http://schemas.microsoft.com/office/drawing/2014/main" xmlns:a14="http://schemas.microsoft.com/office/drawing/2010/main" id="{1C91CD0E-8444-49E0-BF05-DFF3E5674584}"/>
                  </a:ext>
                </a:extLst>
              </p:cNvPr>
              <p:cNvSpPr txBox="1">
                <a:spLocks noRot="1" noChangeAspect="1" noMove="1" noResize="1" noEditPoints="1" noAdjustHandles="1" noChangeArrowheads="1" noChangeShapeType="1" noTextEdit="1"/>
              </p:cNvSpPr>
              <p:nvPr/>
            </p:nvSpPr>
            <p:spPr>
              <a:xfrm>
                <a:off x="7154081" y="5057125"/>
                <a:ext cx="2921096" cy="672556"/>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1B1B23B8-B407-498C-923E-F20AF5881157}"/>
                  </a:ext>
                </a:extLst>
              </p:cNvPr>
              <p:cNvSpPr txBox="1"/>
              <p:nvPr/>
            </p:nvSpPr>
            <p:spPr>
              <a:xfrm>
                <a:off x="7140603" y="6180728"/>
                <a:ext cx="2921096" cy="6132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lumMod val="85000"/>
                                  <a:lumOff val="15000"/>
                                </a:schemeClr>
                              </a:solidFill>
                              <a:latin typeface="Cambria Math" charset="0"/>
                            </a:rPr>
                          </m:ctrlPr>
                        </m:sSubSupPr>
                        <m:e>
                          <m:r>
                            <a:rPr lang="en-US" i="1">
                              <a:solidFill>
                                <a:schemeClr val="tx1">
                                  <a:lumMod val="85000"/>
                                  <a:lumOff val="15000"/>
                                </a:schemeClr>
                              </a:solidFill>
                              <a:latin typeface="Cambria Math" panose="02040503050406030204" pitchFamily="18" charset="0"/>
                            </a:rPr>
                            <m:t>𝜒</m:t>
                          </m:r>
                        </m:e>
                        <m:sub>
                          <m:acc>
                            <m:accPr>
                              <m:chr m:val="⃗"/>
                              <m:ctrlPr>
                                <a:rPr lang="en-US" i="1">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charset="0"/>
                            </a:rPr>
                            <m:t>𝑑</m:t>
                          </m:r>
                        </m:sup>
                      </m:sSubSup>
                      <m:r>
                        <a:rPr lang="en-US" b="0" i="1" smtClean="0">
                          <a:solidFill>
                            <a:schemeClr val="tx1">
                              <a:lumMod val="85000"/>
                              <a:lumOff val="15000"/>
                            </a:schemeClr>
                          </a:solidFill>
                          <a:latin typeface="Cambria Math" panose="02040503050406030204" pitchFamily="18" charset="0"/>
                        </a:rPr>
                        <m:t>∼</m:t>
                      </m:r>
                      <m:f>
                        <m:fPr>
                          <m:ctrlPr>
                            <a:rPr lang="en-US" b="0" i="1" smtClean="0">
                              <a:solidFill>
                                <a:schemeClr val="tx1">
                                  <a:lumMod val="85000"/>
                                  <a:lumOff val="15000"/>
                                </a:schemeClr>
                              </a:solidFill>
                              <a:latin typeface="Cambria Math" charset="0"/>
                            </a:rPr>
                          </m:ctrlPr>
                        </m:fPr>
                        <m:num>
                          <m:func>
                            <m:funcPr>
                              <m:ctrlPr>
                                <a:rPr lang="en-US" b="0" i="1" smtClean="0">
                                  <a:solidFill>
                                    <a:schemeClr val="tx1">
                                      <a:lumMod val="85000"/>
                                      <a:lumOff val="15000"/>
                                    </a:schemeClr>
                                  </a:solidFill>
                                  <a:latin typeface="Cambria Math" charset="0"/>
                                </a:rPr>
                              </m:ctrlPr>
                            </m:funcPr>
                            <m:fName>
                              <m:r>
                                <m:rPr>
                                  <m:sty m:val="p"/>
                                </m:rPr>
                                <a:rPr lang="en-US" b="0" i="0" smtClean="0">
                                  <a:solidFill>
                                    <a:schemeClr val="tx1">
                                      <a:lumMod val="85000"/>
                                      <a:lumOff val="15000"/>
                                    </a:schemeClr>
                                  </a:solidFill>
                                  <a:latin typeface="Cambria Math" panose="02040503050406030204" pitchFamily="18" charset="0"/>
                                </a:rPr>
                                <m:t>cos</m:t>
                              </m:r>
                            </m:fName>
                            <m:e>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𝜃</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Sub>
                            </m:e>
                          </m:func>
                        </m:num>
                        <m:den>
                          <m:r>
                            <a:rPr lang="en-US" b="0" i="1" smtClean="0">
                              <a:solidFill>
                                <a:schemeClr val="tx1">
                                  <a:lumMod val="85000"/>
                                  <a:lumOff val="15000"/>
                                </a:schemeClr>
                              </a:solidFill>
                              <a:latin typeface="Cambria Math" panose="02040503050406030204" pitchFamily="18" charset="0"/>
                            </a:rPr>
                            <m:t>𝑟</m:t>
                          </m:r>
                        </m:den>
                      </m:f>
                    </m:oMath>
                  </m:oMathPara>
                </a14:m>
                <a:endParaRPr lang="x-none" dirty="0">
                  <a:solidFill>
                    <a:schemeClr val="tx1">
                      <a:lumMod val="85000"/>
                      <a:lumOff val="15000"/>
                    </a:schemeClr>
                  </a:solidFill>
                </a:endParaRPr>
              </a:p>
            </p:txBody>
          </p:sp>
        </mc:Choice>
        <mc:Fallback xmlns="">
          <p:sp>
            <p:nvSpPr>
              <p:cNvPr id="43" name="TextBox 42">
                <a:extLst>
                  <a:ext uri="{FF2B5EF4-FFF2-40B4-BE49-F238E27FC236}">
                    <a16:creationId xmlns="" xmlns:a16="http://schemas.microsoft.com/office/drawing/2014/main" xmlns:a14="http://schemas.microsoft.com/office/drawing/2010/main" id="{1B1B23B8-B407-498C-923E-F20AF5881157}"/>
                  </a:ext>
                </a:extLst>
              </p:cNvPr>
              <p:cNvSpPr txBox="1">
                <a:spLocks noRot="1" noChangeAspect="1" noMove="1" noResize="1" noEditPoints="1" noAdjustHandles="1" noChangeArrowheads="1" noChangeShapeType="1" noTextEdit="1"/>
              </p:cNvSpPr>
              <p:nvPr/>
            </p:nvSpPr>
            <p:spPr>
              <a:xfrm>
                <a:off x="7140603" y="6180728"/>
                <a:ext cx="2921096" cy="613245"/>
              </a:xfrm>
              <a:prstGeom prst="rect">
                <a:avLst/>
              </a:prstGeom>
              <a:blipFill rotWithShape="0">
                <a:blip r:embed="rId8"/>
                <a:stretch>
                  <a:fillRect/>
                </a:stretch>
              </a:blipFill>
            </p:spPr>
            <p:txBody>
              <a:bodyPr/>
              <a:lstStyle/>
              <a:p>
                <a:r>
                  <a:rPr lang="en-US">
                    <a:noFill/>
                  </a:rPr>
                  <a:t> </a:t>
                </a:r>
              </a:p>
            </p:txBody>
          </p:sp>
        </mc:Fallback>
      </mc:AlternateContent>
      <p:sp>
        <p:nvSpPr>
          <p:cNvPr id="34"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Single bond impurity</a:t>
            </a:r>
            <a:endParaRPr lang="x-none" sz="3600" dirty="0"/>
          </a:p>
        </p:txBody>
      </p:sp>
      <p:cxnSp>
        <p:nvCxnSpPr>
          <p:cNvPr id="35" name="Straight Connector 3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Dipolar response for </a:t>
            </a:r>
            <a:r>
              <a:rPr lang="en-US" sz="3200" smtClean="0">
                <a:solidFill>
                  <a:schemeClr val="tx1">
                    <a:lumMod val="65000"/>
                    <a:lumOff val="35000"/>
                  </a:schemeClr>
                </a:solidFill>
                <a:latin typeface="+mj-lt"/>
              </a:rPr>
              <a:t>the Goldstone modes</a:t>
            </a:r>
            <a:endParaRPr lang="en-US" sz="3200" dirty="0">
              <a:solidFill>
                <a:schemeClr val="tx1">
                  <a:lumMod val="65000"/>
                  <a:lumOff val="35000"/>
                </a:schemeClr>
              </a:solidFill>
              <a:latin typeface="+mj-lt"/>
            </a:endParaRPr>
          </a:p>
        </p:txBody>
      </p:sp>
      <p:sp>
        <p:nvSpPr>
          <p:cNvPr id="31" name="Arrow: Up 5">
            <a:extLst>
              <a:ext uri="{FF2B5EF4-FFF2-40B4-BE49-F238E27FC236}">
                <a16:creationId xmlns:a16="http://schemas.microsoft.com/office/drawing/2014/main" xmlns="" id="{7DCE5688-BB50-471B-B2E4-1FAD8CEE25F0}"/>
              </a:ext>
            </a:extLst>
          </p:cNvPr>
          <p:cNvSpPr/>
          <p:nvPr/>
        </p:nvSpPr>
        <p:spPr>
          <a:xfrm rot="720000">
            <a:off x="2008793" y="2911425"/>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cxnSp>
        <p:nvCxnSpPr>
          <p:cNvPr id="32" name="Straight Connector 31">
            <a:extLst>
              <a:ext uri="{FF2B5EF4-FFF2-40B4-BE49-F238E27FC236}">
                <a16:creationId xmlns:a16="http://schemas.microsoft.com/office/drawing/2014/main" xmlns="" id="{07CF10CF-84A6-43A0-A082-1A7F5EF0FD16}"/>
              </a:ext>
            </a:extLst>
          </p:cNvPr>
          <p:cNvCxnSpPr>
            <a:cxnSpLocks/>
          </p:cNvCxnSpPr>
          <p:nvPr/>
        </p:nvCxnSpPr>
        <p:spPr>
          <a:xfrm>
            <a:off x="2038524" y="3703488"/>
            <a:ext cx="1644243"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3" name="Arrow: Up 75">
            <a:extLst>
              <a:ext uri="{FF2B5EF4-FFF2-40B4-BE49-F238E27FC236}">
                <a16:creationId xmlns:a16="http://schemas.microsoft.com/office/drawing/2014/main" xmlns="" id="{50178F35-58BA-4F2C-AA31-B49C1C3D0745}"/>
              </a:ext>
            </a:extLst>
          </p:cNvPr>
          <p:cNvSpPr/>
          <p:nvPr/>
        </p:nvSpPr>
        <p:spPr>
          <a:xfrm rot="2400000">
            <a:off x="2010506" y="2920278"/>
            <a:ext cx="72000" cy="1512000"/>
          </a:xfrm>
          <a:prstGeom prst="upArrow">
            <a:avLst/>
          </a:prstGeom>
          <a:noFill/>
          <a:ln w="63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CC843D4B-29EF-409B-94EF-80C3E6B2E2E6}"/>
                  </a:ext>
                </a:extLst>
              </p:cNvPr>
              <p:cNvSpPr txBox="1"/>
              <p:nvPr/>
            </p:nvSpPr>
            <p:spPr>
              <a:xfrm>
                <a:off x="2512110" y="3302175"/>
                <a:ext cx="6412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𝐽</m:t>
                      </m:r>
                    </m:oMath>
                  </m:oMathPara>
                </a14:m>
                <a:endParaRPr lang="x-none" dirty="0"/>
              </a:p>
            </p:txBody>
          </p:sp>
        </mc:Choice>
        <mc:Fallback xmlns="">
          <p:sp>
            <p:nvSpPr>
              <p:cNvPr id="38" name="TextBox 37">
                <a:extLst>
                  <a:ext uri="{FF2B5EF4-FFF2-40B4-BE49-F238E27FC236}">
                    <a16:creationId xmlns:a16="http://schemas.microsoft.com/office/drawing/2014/main" xmlns="" xmlns:a14="http://schemas.microsoft.com/office/drawing/2010/main" id="{CC843D4B-29EF-409B-94EF-80C3E6B2E2E6}"/>
                  </a:ext>
                </a:extLst>
              </p:cNvPr>
              <p:cNvSpPr txBox="1">
                <a:spLocks noRot="1" noChangeAspect="1" noMove="1" noResize="1" noEditPoints="1" noAdjustHandles="1" noChangeArrowheads="1" noChangeShapeType="1" noTextEdit="1"/>
              </p:cNvSpPr>
              <p:nvPr/>
            </p:nvSpPr>
            <p:spPr>
              <a:xfrm>
                <a:off x="2512110" y="3302175"/>
                <a:ext cx="641201" cy="369332"/>
              </a:xfrm>
              <a:prstGeom prst="rect">
                <a:avLst/>
              </a:prstGeom>
              <a:blipFill rotWithShape="0">
                <a:blip r:embed="rId12"/>
                <a:stretch>
                  <a:fillRect b="-11667"/>
                </a:stretch>
              </a:blipFill>
            </p:spPr>
            <p:txBody>
              <a:bodyPr/>
              <a:lstStyle/>
              <a:p>
                <a:r>
                  <a:rPr lang="en-US">
                    <a:noFill/>
                  </a:rPr>
                  <a:t> </a:t>
                </a:r>
              </a:p>
            </p:txBody>
          </p:sp>
        </mc:Fallback>
      </mc:AlternateContent>
      <p:sp>
        <p:nvSpPr>
          <p:cNvPr id="39" name="Arrow: Curved Down 14">
            <a:extLst>
              <a:ext uri="{FF2B5EF4-FFF2-40B4-BE49-F238E27FC236}">
                <a16:creationId xmlns:a16="http://schemas.microsoft.com/office/drawing/2014/main" xmlns="" id="{A4D84B0B-B4D0-4720-B988-1D5DF8F8A31E}"/>
              </a:ext>
            </a:extLst>
          </p:cNvPr>
          <p:cNvSpPr/>
          <p:nvPr/>
        </p:nvSpPr>
        <p:spPr>
          <a:xfrm rot="1509317" flipH="1">
            <a:off x="2233071" y="2629475"/>
            <a:ext cx="558079" cy="213628"/>
          </a:xfrm>
          <a:prstGeom prst="curvedDownArrow">
            <a:avLst/>
          </a:prstGeom>
          <a:solidFill>
            <a:schemeClr val="bg2">
              <a:lumMod val="9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solidFill>
            </a:endParaRPr>
          </a:p>
        </p:txBody>
      </p:sp>
      <p:sp>
        <p:nvSpPr>
          <p:cNvPr id="46" name="Arrow: Curved Down 79">
            <a:extLst>
              <a:ext uri="{FF2B5EF4-FFF2-40B4-BE49-F238E27FC236}">
                <a16:creationId xmlns:a16="http://schemas.microsoft.com/office/drawing/2014/main" xmlns="" id="{819AA9E6-529C-4EE2-AB57-E3FF00D9C558}"/>
              </a:ext>
            </a:extLst>
          </p:cNvPr>
          <p:cNvSpPr/>
          <p:nvPr/>
        </p:nvSpPr>
        <p:spPr>
          <a:xfrm rot="20280577" flipH="1" flipV="1">
            <a:off x="3936826" y="4507671"/>
            <a:ext cx="519829" cy="214113"/>
          </a:xfrm>
          <a:prstGeom prst="curvedDownArrow">
            <a:avLst/>
          </a:prstGeom>
          <a:solidFill>
            <a:schemeClr val="bg2">
              <a:lumMod val="9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solidFill>
            </a:endParaRPr>
          </a:p>
        </p:txBody>
      </p:sp>
      <p:cxnSp>
        <p:nvCxnSpPr>
          <p:cNvPr id="47" name="Straight Arrow Connector 46">
            <a:extLst>
              <a:ext uri="{FF2B5EF4-FFF2-40B4-BE49-F238E27FC236}">
                <a16:creationId xmlns:a16="http://schemas.microsoft.com/office/drawing/2014/main" xmlns="" id="{E2C0B574-9EDD-4748-BC18-36830B0CBB23}"/>
              </a:ext>
            </a:extLst>
          </p:cNvPr>
          <p:cNvCxnSpPr>
            <a:cxnSpLocks/>
          </p:cNvCxnSpPr>
          <p:nvPr/>
        </p:nvCxnSpPr>
        <p:spPr>
          <a:xfrm flipV="1">
            <a:off x="1029297" y="3446411"/>
            <a:ext cx="380997" cy="4083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xmlns="" id="{B5BD5AEF-0262-41E1-8600-E78BC697BD4F}"/>
              </a:ext>
            </a:extLst>
          </p:cNvPr>
          <p:cNvCxnSpPr>
            <a:cxnSpLocks/>
          </p:cNvCxnSpPr>
          <p:nvPr/>
        </p:nvCxnSpPr>
        <p:spPr>
          <a:xfrm>
            <a:off x="1010622" y="3854742"/>
            <a:ext cx="377226" cy="3416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xmlns="" id="{898DA535-066E-4BFB-B9FF-31EAAEEB0BCA}"/>
                  </a:ext>
                </a:extLst>
              </p:cNvPr>
              <p:cNvSpPr txBox="1"/>
              <p:nvPr/>
            </p:nvSpPr>
            <p:spPr>
              <a:xfrm>
                <a:off x="1341481" y="3230967"/>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50" name="TextBox 49">
                <a:extLst>
                  <a:ext uri="{FF2B5EF4-FFF2-40B4-BE49-F238E27FC236}">
                    <a16:creationId xmlns:a16="http://schemas.microsoft.com/office/drawing/2014/main" xmlns="" xmlns:a14="http://schemas.microsoft.com/office/drawing/2010/main" id="{898DA535-066E-4BFB-B9FF-31EAAEEB0BCA}"/>
                  </a:ext>
                </a:extLst>
              </p:cNvPr>
              <p:cNvSpPr txBox="1">
                <a:spLocks noRot="1" noChangeAspect="1" noMove="1" noResize="1" noEditPoints="1" noAdjustHandles="1" noChangeArrowheads="1" noChangeShapeType="1" noTextEdit="1"/>
              </p:cNvSpPr>
              <p:nvPr/>
            </p:nvSpPr>
            <p:spPr>
              <a:xfrm>
                <a:off x="1341481" y="3230967"/>
                <a:ext cx="137625" cy="215444"/>
              </a:xfrm>
              <a:prstGeom prst="rect">
                <a:avLst/>
              </a:prstGeom>
              <a:blipFill rotWithShape="0">
                <a:blip r:embed="rId13"/>
                <a:stretch>
                  <a:fillRect l="-13043" r="-1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3475D768-1973-4E59-99F8-650D1E44EFAF}"/>
                  </a:ext>
                </a:extLst>
              </p:cNvPr>
              <p:cNvSpPr txBox="1"/>
              <p:nvPr/>
            </p:nvSpPr>
            <p:spPr>
              <a:xfrm>
                <a:off x="1403159" y="4114399"/>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51" name="TextBox 50">
                <a:extLst>
                  <a:ext uri="{FF2B5EF4-FFF2-40B4-BE49-F238E27FC236}">
                    <a16:creationId xmlns:a16="http://schemas.microsoft.com/office/drawing/2014/main" xmlns="" xmlns:a14="http://schemas.microsoft.com/office/drawing/2010/main" id="{3475D768-1973-4E59-99F8-650D1E44EFAF}"/>
                  </a:ext>
                </a:extLst>
              </p:cNvPr>
              <p:cNvSpPr txBox="1">
                <a:spLocks noRot="1" noChangeAspect="1" noMove="1" noResize="1" noEditPoints="1" noAdjustHandles="1" noChangeArrowheads="1" noChangeShapeType="1" noTextEdit="1"/>
              </p:cNvSpPr>
              <p:nvPr/>
            </p:nvSpPr>
            <p:spPr>
              <a:xfrm>
                <a:off x="1403159" y="4114399"/>
                <a:ext cx="137625" cy="215444"/>
              </a:xfrm>
              <a:prstGeom prst="rect">
                <a:avLst/>
              </a:prstGeom>
              <a:blipFill rotWithShape="0">
                <a:blip r:embed="rId14"/>
                <a:stretch>
                  <a:fillRect l="-17391" r="-56522"/>
                </a:stretch>
              </a:blipFill>
            </p:spPr>
            <p:txBody>
              <a:bodyPr/>
              <a:lstStyle/>
              <a:p>
                <a:r>
                  <a:rPr lang="en-US">
                    <a:noFill/>
                  </a:rPr>
                  <a:t> </a:t>
                </a:r>
              </a:p>
            </p:txBody>
          </p:sp>
        </mc:Fallback>
      </mc:AlternateContent>
      <p:cxnSp>
        <p:nvCxnSpPr>
          <p:cNvPr id="52" name="Straight Arrow Connector 51">
            <a:extLst>
              <a:ext uri="{FF2B5EF4-FFF2-40B4-BE49-F238E27FC236}">
                <a16:creationId xmlns:a16="http://schemas.microsoft.com/office/drawing/2014/main" xmlns="" id="{DCA466F4-4A3D-4190-B733-77517C6D038B}"/>
              </a:ext>
            </a:extLst>
          </p:cNvPr>
          <p:cNvCxnSpPr>
            <a:cxnSpLocks/>
          </p:cNvCxnSpPr>
          <p:nvPr/>
        </p:nvCxnSpPr>
        <p:spPr>
          <a:xfrm>
            <a:off x="4545195" y="3475318"/>
            <a:ext cx="364022" cy="390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xmlns="" id="{943DB12E-E915-495D-8A86-D0AC1FB5D5D3}"/>
              </a:ext>
            </a:extLst>
          </p:cNvPr>
          <p:cNvCxnSpPr>
            <a:cxnSpLocks/>
          </p:cNvCxnSpPr>
          <p:nvPr/>
        </p:nvCxnSpPr>
        <p:spPr>
          <a:xfrm flipH="1">
            <a:off x="4226335" y="3475675"/>
            <a:ext cx="317040" cy="312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xmlns="" id="{9B73B01C-12A3-4162-A4A0-C6096F67501B}"/>
                  </a:ext>
                </a:extLst>
              </p:cNvPr>
              <p:cNvSpPr txBox="1"/>
              <p:nvPr/>
            </p:nvSpPr>
            <p:spPr>
              <a:xfrm>
                <a:off x="4905924" y="3912834"/>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𝑧</m:t>
                          </m:r>
                        </m:e>
                      </m:acc>
                    </m:oMath>
                  </m:oMathPara>
                </a14:m>
                <a:endParaRPr lang="x-none" sz="1400" dirty="0"/>
              </a:p>
            </p:txBody>
          </p:sp>
        </mc:Choice>
        <mc:Fallback xmlns="">
          <p:sp>
            <p:nvSpPr>
              <p:cNvPr id="54" name="TextBox 53">
                <a:extLst>
                  <a:ext uri="{FF2B5EF4-FFF2-40B4-BE49-F238E27FC236}">
                    <a16:creationId xmlns:a16="http://schemas.microsoft.com/office/drawing/2014/main" xmlns="" xmlns:a14="http://schemas.microsoft.com/office/drawing/2010/main" id="{9B73B01C-12A3-4162-A4A0-C6096F67501B}"/>
                  </a:ext>
                </a:extLst>
              </p:cNvPr>
              <p:cNvSpPr txBox="1">
                <a:spLocks noRot="1" noChangeAspect="1" noMove="1" noResize="1" noEditPoints="1" noAdjustHandles="1" noChangeArrowheads="1" noChangeShapeType="1" noTextEdit="1"/>
              </p:cNvSpPr>
              <p:nvPr/>
            </p:nvSpPr>
            <p:spPr>
              <a:xfrm>
                <a:off x="4905924" y="3912834"/>
                <a:ext cx="137625" cy="215444"/>
              </a:xfrm>
              <a:prstGeom prst="rect">
                <a:avLst/>
              </a:prstGeom>
              <a:blipFill rotWithShape="0">
                <a:blip r:embed="rId15"/>
                <a:stretch>
                  <a:fillRect l="-18182" r="-10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xmlns="" id="{A5499DE1-B6BD-439B-8A55-41D944383B80}"/>
                  </a:ext>
                </a:extLst>
              </p:cNvPr>
              <p:cNvSpPr txBox="1"/>
              <p:nvPr/>
            </p:nvSpPr>
            <p:spPr>
              <a:xfrm>
                <a:off x="4064012" y="3779816"/>
                <a:ext cx="137625"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latin typeface="Cambria Math" charset="0"/>
                            </a:rPr>
                          </m:ctrlPr>
                        </m:accPr>
                        <m:e>
                          <m:r>
                            <a:rPr lang="en-US" sz="1400" b="0" i="1" smtClean="0">
                              <a:latin typeface="Cambria Math" panose="02040503050406030204" pitchFamily="18" charset="0"/>
                            </a:rPr>
                            <m:t>𝑥</m:t>
                          </m:r>
                        </m:e>
                      </m:acc>
                    </m:oMath>
                  </m:oMathPara>
                </a14:m>
                <a:endParaRPr lang="x-none" sz="1400" dirty="0"/>
              </a:p>
            </p:txBody>
          </p:sp>
        </mc:Choice>
        <mc:Fallback xmlns="">
          <p:sp>
            <p:nvSpPr>
              <p:cNvPr id="55" name="TextBox 54">
                <a:extLst>
                  <a:ext uri="{FF2B5EF4-FFF2-40B4-BE49-F238E27FC236}">
                    <a16:creationId xmlns:a16="http://schemas.microsoft.com/office/drawing/2014/main" xmlns="" xmlns:a14="http://schemas.microsoft.com/office/drawing/2010/main" id="{A5499DE1-B6BD-439B-8A55-41D944383B80}"/>
                  </a:ext>
                </a:extLst>
              </p:cNvPr>
              <p:cNvSpPr txBox="1">
                <a:spLocks noRot="1" noChangeAspect="1" noMove="1" noResize="1" noEditPoints="1" noAdjustHandles="1" noChangeArrowheads="1" noChangeShapeType="1" noTextEdit="1"/>
              </p:cNvSpPr>
              <p:nvPr/>
            </p:nvSpPr>
            <p:spPr>
              <a:xfrm>
                <a:off x="4064012" y="3779816"/>
                <a:ext cx="137625" cy="215444"/>
              </a:xfrm>
              <a:prstGeom prst="rect">
                <a:avLst/>
              </a:prstGeom>
              <a:blipFill rotWithShape="0">
                <a:blip r:embed="rId16"/>
                <a:stretch>
                  <a:fillRect l="-22727" r="-5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xmlns="" id="{ABA180AA-6E53-4B48-AD66-D0E076EE3BE6}"/>
                  </a:ext>
                </a:extLst>
              </p:cNvPr>
              <p:cNvSpPr txBox="1"/>
              <p:nvPr/>
            </p:nvSpPr>
            <p:spPr>
              <a:xfrm>
                <a:off x="2515839" y="3752823"/>
                <a:ext cx="6996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charset="0"/>
                            </a:rPr>
                          </m:ctrlPr>
                        </m:sSubPr>
                        <m:e>
                          <m:r>
                            <a:rPr lang="en-US" b="0" i="1" smtClean="0">
                              <a:latin typeface="Cambria Math" panose="02040503050406030204" pitchFamily="18" charset="0"/>
                            </a:rPr>
                            <m:t>h</m:t>
                          </m:r>
                        </m:e>
                        <m:sub>
                          <m:acc>
                            <m:accPr>
                              <m:chr m:val="⃗"/>
                              <m:ctrlPr>
                                <a:rPr lang="en-US" b="0" i="1" smtClean="0">
                                  <a:latin typeface="Cambria Math" charset="0"/>
                                </a:rPr>
                              </m:ctrlPr>
                            </m:accPr>
                            <m:e>
                              <m:r>
                                <a:rPr lang="en-US" b="0" i="1" smtClean="0">
                                  <a:latin typeface="Cambria Math" panose="02040503050406030204" pitchFamily="18" charset="0"/>
                                </a:rPr>
                                <m:t>𝑟</m:t>
                              </m:r>
                            </m:e>
                          </m:acc>
                        </m:sub>
                      </m:sSub>
                    </m:oMath>
                  </m:oMathPara>
                </a14:m>
                <a:endParaRPr lang="x-none" dirty="0"/>
              </a:p>
            </p:txBody>
          </p:sp>
        </mc:Choice>
        <mc:Fallback xmlns="">
          <p:sp>
            <p:nvSpPr>
              <p:cNvPr id="56" name="TextBox 55">
                <a:extLst>
                  <a:ext uri="{FF2B5EF4-FFF2-40B4-BE49-F238E27FC236}">
                    <a16:creationId xmlns:a16="http://schemas.microsoft.com/office/drawing/2014/main" xmlns="" xmlns:a14="http://schemas.microsoft.com/office/drawing/2010/main" id="{ABA180AA-6E53-4B48-AD66-D0E076EE3BE6}"/>
                  </a:ext>
                </a:extLst>
              </p:cNvPr>
              <p:cNvSpPr txBox="1">
                <a:spLocks noRot="1" noChangeAspect="1" noMove="1" noResize="1" noEditPoints="1" noAdjustHandles="1" noChangeArrowheads="1" noChangeShapeType="1" noTextEdit="1"/>
              </p:cNvSpPr>
              <p:nvPr/>
            </p:nvSpPr>
            <p:spPr>
              <a:xfrm>
                <a:off x="2515839" y="3752823"/>
                <a:ext cx="699679" cy="369332"/>
              </a:xfrm>
              <a:prstGeom prst="rect">
                <a:avLst/>
              </a:prstGeom>
              <a:blipFill rotWithShape="0">
                <a:blip r:embed="rId17"/>
                <a:stretch>
                  <a:fillRect r="-20175"/>
                </a:stretch>
              </a:blipFill>
            </p:spPr>
            <p:txBody>
              <a:bodyPr/>
              <a:lstStyle/>
              <a:p>
                <a:r>
                  <a:rPr lang="en-US">
                    <a:noFill/>
                  </a:rPr>
                  <a:t> </a:t>
                </a:r>
              </a:p>
            </p:txBody>
          </p:sp>
        </mc:Fallback>
      </mc:AlternateContent>
      <p:sp>
        <p:nvSpPr>
          <p:cNvPr id="57" name="Arrow: Up 5">
            <a:extLst>
              <a:ext uri="{FF2B5EF4-FFF2-40B4-BE49-F238E27FC236}">
                <a16:creationId xmlns:a16="http://schemas.microsoft.com/office/drawing/2014/main" xmlns="" id="{7DCE5688-BB50-471B-B2E4-1FAD8CEE25F0}"/>
              </a:ext>
            </a:extLst>
          </p:cNvPr>
          <p:cNvSpPr/>
          <p:nvPr/>
        </p:nvSpPr>
        <p:spPr>
          <a:xfrm rot="20880000" flipV="1">
            <a:off x="3689058" y="2908557"/>
            <a:ext cx="72000" cy="1512000"/>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58" name="Arrow: Up 75">
            <a:extLst>
              <a:ext uri="{FF2B5EF4-FFF2-40B4-BE49-F238E27FC236}">
                <a16:creationId xmlns:a16="http://schemas.microsoft.com/office/drawing/2014/main" xmlns="" id="{50178F35-58BA-4F2C-AA31-B49C1C3D0745}"/>
              </a:ext>
            </a:extLst>
          </p:cNvPr>
          <p:cNvSpPr/>
          <p:nvPr/>
        </p:nvSpPr>
        <p:spPr>
          <a:xfrm rot="19200000" flipV="1">
            <a:off x="3690723" y="2920278"/>
            <a:ext cx="72000" cy="1512000"/>
          </a:xfrm>
          <a:prstGeom prst="upArrow">
            <a:avLst/>
          </a:prstGeom>
          <a:noFill/>
          <a:ln w="63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4" name="Rectangle 43">
            <a:extLst>
              <a:ext uri="{FF2B5EF4-FFF2-40B4-BE49-F238E27FC236}">
                <a16:creationId xmlns:a16="http://schemas.microsoft.com/office/drawing/2014/main" xmlns="" id="{C143E3E0-E5AF-4DCA-8D45-ABF1F63F708D}"/>
              </a:ext>
            </a:extLst>
          </p:cNvPr>
          <p:cNvSpPr/>
          <p:nvPr/>
        </p:nvSpPr>
        <p:spPr>
          <a:xfrm>
            <a:off x="7154081" y="5137058"/>
            <a:ext cx="2983831" cy="552443"/>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Tree>
    <p:extLst>
      <p:ext uri="{BB962C8B-B14F-4D97-AF65-F5344CB8AC3E}">
        <p14:creationId xmlns:p14="http://schemas.microsoft.com/office/powerpoint/2010/main" val="791453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5850" y="2036603"/>
                <a:ext cx="5383635" cy="4140360"/>
              </a:xfrm>
            </p:spPr>
            <p:txBody>
              <a:bodyPr>
                <a:normAutofit lnSpcReduction="10000"/>
              </a:bodyPr>
              <a:lstStyle/>
              <a:p>
                <a:pPr>
                  <a:buFont typeface="Wingdings" panose="05000000000000000000" pitchFamily="2" charset="2"/>
                  <a:buChar char="§"/>
                </a:pPr>
                <a:r>
                  <a:rPr lang="en-US" sz="2000" dirty="0">
                    <a:solidFill>
                      <a:schemeClr val="tx1">
                        <a:lumMod val="85000"/>
                        <a:lumOff val="15000"/>
                      </a:schemeClr>
                    </a:solidFill>
                  </a:rPr>
                  <a:t>Bond impurity: Dipolar response</a:t>
                </a:r>
              </a:p>
              <a:p>
                <a:pPr>
                  <a:buFont typeface="Wingdings" panose="05000000000000000000" pitchFamily="2" charset="2"/>
                  <a:buChar char="§"/>
                </a:pPr>
                <a:endParaRPr lang="en-US" dirty="0"/>
              </a:p>
              <a:p>
                <a:pPr>
                  <a:buFont typeface="Wingdings" panose="05000000000000000000" pitchFamily="2" charset="2"/>
                  <a:buChar char="§"/>
                </a:pPr>
                <a:endParaRPr lang="en-US" dirty="0">
                  <a:solidFill>
                    <a:schemeClr val="tx1">
                      <a:lumMod val="65000"/>
                      <a:lumOff val="35000"/>
                    </a:schemeClr>
                  </a:solidFill>
                </a:endParaRPr>
              </a:p>
              <a:p>
                <a:pPr>
                  <a:buFont typeface="Wingdings" panose="05000000000000000000" pitchFamily="2" charset="2"/>
                  <a:buChar char="§"/>
                </a:pPr>
                <a:endParaRPr lang="en-US" dirty="0"/>
              </a:p>
              <a:p>
                <a:pPr>
                  <a:buFont typeface="Wingdings" panose="05000000000000000000" pitchFamily="2" charset="2"/>
                  <a:buChar char="§"/>
                </a:pPr>
                <a:endParaRPr lang="en-US" dirty="0">
                  <a:solidFill>
                    <a:schemeClr val="tx1">
                      <a:lumMod val="65000"/>
                      <a:lumOff val="35000"/>
                    </a:schemeClr>
                  </a:solidFill>
                </a:endParaRPr>
              </a:p>
              <a:p>
                <a:pPr>
                  <a:buFont typeface="Wingdings" panose="05000000000000000000" pitchFamily="2" charset="2"/>
                  <a:buChar char="§"/>
                </a:pPr>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𝛿</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𝜃</m:t>
                          </m:r>
                        </m:e>
                        <m:sub>
                          <m:r>
                            <a:rPr lang="en-US" b="0" i="1" smtClean="0">
                              <a:solidFill>
                                <a:schemeClr val="tx1">
                                  <a:lumMod val="85000"/>
                                  <a:lumOff val="15000"/>
                                </a:schemeClr>
                              </a:solidFill>
                              <a:latin typeface="Cambria Math" panose="02040503050406030204" pitchFamily="18" charset="0"/>
                            </a:rPr>
                            <m:t>𝑟</m:t>
                          </m:r>
                        </m:sub>
                      </m:sSub>
                      <m:r>
                        <a:rPr lang="en-US" b="0" i="1" smtClean="0">
                          <a:solidFill>
                            <a:schemeClr val="tx1">
                              <a:lumMod val="85000"/>
                              <a:lumOff val="15000"/>
                            </a:schemeClr>
                          </a:solidFill>
                          <a:latin typeface="Cambria Math" panose="02040503050406030204" pitchFamily="18" charset="0"/>
                        </a:rPr>
                        <m:t>∼</m:t>
                      </m:r>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panose="02040503050406030204" pitchFamily="18" charset="0"/>
                            </a:rPr>
                            <m:t>1</m:t>
                          </m:r>
                        </m:num>
                        <m:den>
                          <m:r>
                            <a:rPr lang="en-US" b="0" i="1" smtClean="0">
                              <a:solidFill>
                                <a:schemeClr val="tx1">
                                  <a:lumMod val="85000"/>
                                  <a:lumOff val="15000"/>
                                </a:schemeClr>
                              </a:solidFill>
                              <a:latin typeface="Cambria Math" panose="02040503050406030204" pitchFamily="18" charset="0"/>
                            </a:rPr>
                            <m:t>𝑟</m:t>
                          </m:r>
                        </m:den>
                      </m:f>
                    </m:oMath>
                  </m:oMathPara>
                </a14:m>
                <a:endParaRPr lang="en-US"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5850" y="2036603"/>
                <a:ext cx="5383635" cy="4140360"/>
              </a:xfrm>
              <a:blipFill rotWithShape="0">
                <a:blip r:embed="rId2"/>
                <a:stretch>
                  <a:fillRect l="-1019" t="-20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Content Placeholder 2">
                <a:extLst>
                  <a:ext uri="{FF2B5EF4-FFF2-40B4-BE49-F238E27FC236}">
                    <a16:creationId xmlns:a16="http://schemas.microsoft.com/office/drawing/2014/main" xmlns="" id="{1D64F189-8CCC-4E65-85DE-7BB8C3AC3D09}"/>
                  </a:ext>
                </a:extLst>
              </p:cNvPr>
              <p:cNvSpPr txBox="1">
                <a:spLocks/>
              </p:cNvSpPr>
              <p:nvPr/>
            </p:nvSpPr>
            <p:spPr>
              <a:xfrm>
                <a:off x="6221835" y="2036602"/>
                <a:ext cx="5257800" cy="46578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solidFill>
                      <a:schemeClr val="tx1">
                        <a:lumMod val="85000"/>
                        <a:lumOff val="15000"/>
                      </a:schemeClr>
                    </a:solidFill>
                  </a:rPr>
                  <a:t>Vacancy: Octupolar response</a:t>
                </a:r>
              </a:p>
              <a:p>
                <a:pPr>
                  <a:buFont typeface="Wingdings" panose="05000000000000000000" pitchFamily="2" charset="2"/>
                  <a:buChar char="§"/>
                </a:pPr>
                <a:endParaRPr lang="en-US" dirty="0">
                  <a:solidFill>
                    <a:schemeClr val="tx1">
                      <a:lumMod val="65000"/>
                      <a:lumOff val="35000"/>
                    </a:schemeClr>
                  </a:solidFill>
                </a:endParaRPr>
              </a:p>
              <a:p>
                <a:pPr>
                  <a:buFont typeface="Wingdings" panose="05000000000000000000" pitchFamily="2" charset="2"/>
                  <a:buChar char="§"/>
                </a:pPr>
                <a:endParaRPr lang="en-US" dirty="0">
                  <a:solidFill>
                    <a:schemeClr val="tx1">
                      <a:lumMod val="65000"/>
                      <a:lumOff val="35000"/>
                    </a:schemeClr>
                  </a:solidFill>
                </a:endParaRPr>
              </a:p>
              <a:p>
                <a:pPr>
                  <a:buFont typeface="Wingdings" panose="05000000000000000000" pitchFamily="2" charset="2"/>
                  <a:buChar char="§"/>
                </a:pPr>
                <a:endParaRPr lang="en-US" dirty="0">
                  <a:solidFill>
                    <a:schemeClr val="tx1">
                      <a:lumMod val="65000"/>
                      <a:lumOff val="35000"/>
                    </a:schemeClr>
                  </a:solidFill>
                </a:endParaRPr>
              </a:p>
              <a:p>
                <a:pPr>
                  <a:buFont typeface="Wingdings" panose="05000000000000000000" pitchFamily="2" charset="2"/>
                  <a:buChar char="§"/>
                </a:pPr>
                <a:endParaRPr lang="en-US" dirty="0">
                  <a:solidFill>
                    <a:schemeClr val="tx1">
                      <a:lumMod val="65000"/>
                      <a:lumOff val="35000"/>
                    </a:schemeClr>
                  </a:solidFill>
                </a:endParaRPr>
              </a:p>
              <a:p>
                <a:pPr marL="0" indent="0">
                  <a:buNone/>
                </a:pPr>
                <a:endParaRPr lang="en-US" dirty="0">
                  <a:solidFill>
                    <a:schemeClr val="tx1">
                      <a:lumMod val="65000"/>
                      <a:lumOff val="35000"/>
                    </a:schemeClr>
                  </a:solidFill>
                </a:endParaRPr>
              </a:p>
              <a:p>
                <a:pPr marL="0" indent="0">
                  <a:buNone/>
                </a:pPr>
                <a:endParaRPr lang="en-US" dirty="0">
                  <a:solidFill>
                    <a:schemeClr val="tx1">
                      <a:lumMod val="65000"/>
                      <a:lumOff val="35000"/>
                    </a:schemeClr>
                  </a:solidFill>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tx1">
                              <a:lumMod val="85000"/>
                              <a:lumOff val="15000"/>
                            </a:schemeClr>
                          </a:solidFill>
                          <a:latin typeface="Cambria Math" panose="02040503050406030204" pitchFamily="18" charset="0"/>
                        </a:rPr>
                        <m:t>𝛿</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panose="02040503050406030204" pitchFamily="18" charset="0"/>
                            </a:rPr>
                            <m:t>𝜃</m:t>
                          </m:r>
                        </m:e>
                        <m:sub>
                          <m:r>
                            <a:rPr lang="en-US" b="0" i="1" smtClean="0">
                              <a:solidFill>
                                <a:schemeClr val="tx1">
                                  <a:lumMod val="85000"/>
                                  <a:lumOff val="15000"/>
                                </a:schemeClr>
                              </a:solidFill>
                              <a:latin typeface="Cambria Math" panose="02040503050406030204" pitchFamily="18" charset="0"/>
                            </a:rPr>
                            <m:t>𝑟</m:t>
                          </m:r>
                        </m:sub>
                      </m:sSub>
                      <m:r>
                        <a:rPr lang="en-US" b="0" i="1" smtClean="0">
                          <a:solidFill>
                            <a:schemeClr val="tx1">
                              <a:lumMod val="85000"/>
                              <a:lumOff val="15000"/>
                            </a:schemeClr>
                          </a:solidFill>
                          <a:latin typeface="Cambria Math" panose="02040503050406030204" pitchFamily="18" charset="0"/>
                        </a:rPr>
                        <m:t>∼</m:t>
                      </m:r>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panose="02040503050406030204" pitchFamily="18" charset="0"/>
                            </a:rPr>
                            <m:t>1</m:t>
                          </m:r>
                        </m:num>
                        <m:den>
                          <m:sSup>
                            <m:sSupPr>
                              <m:ctrlPr>
                                <a:rPr lang="en-US" b="0" i="1" smtClean="0">
                                  <a:solidFill>
                                    <a:schemeClr val="tx1">
                                      <a:lumMod val="85000"/>
                                      <a:lumOff val="15000"/>
                                    </a:schemeClr>
                                  </a:solidFill>
                                  <a:latin typeface="Cambria Math" charset="0"/>
                                </a:rPr>
                              </m:ctrlPr>
                            </m:sSupPr>
                            <m:e>
                              <m:r>
                                <a:rPr lang="en-US" b="0" i="1" smtClean="0">
                                  <a:solidFill>
                                    <a:schemeClr val="tx1">
                                      <a:lumMod val="85000"/>
                                      <a:lumOff val="15000"/>
                                    </a:schemeClr>
                                  </a:solidFill>
                                  <a:latin typeface="Cambria Math" panose="02040503050406030204" pitchFamily="18" charset="0"/>
                                </a:rPr>
                                <m:t>𝑟</m:t>
                              </m:r>
                            </m:e>
                            <m:sup>
                              <m:r>
                                <a:rPr lang="en-US" b="0" i="1" smtClean="0">
                                  <a:solidFill>
                                    <a:schemeClr val="tx1">
                                      <a:lumMod val="85000"/>
                                      <a:lumOff val="15000"/>
                                    </a:schemeClr>
                                  </a:solidFill>
                                  <a:latin typeface="Cambria Math" panose="02040503050406030204" pitchFamily="18" charset="0"/>
                                </a:rPr>
                                <m:t>3</m:t>
                              </m:r>
                            </m:sup>
                          </m:sSup>
                        </m:den>
                      </m:f>
                    </m:oMath>
                  </m:oMathPara>
                </a14:m>
                <a:endParaRPr lang="en-US" b="0" dirty="0" smtClean="0">
                  <a:solidFill>
                    <a:schemeClr val="tx1">
                      <a:lumMod val="85000"/>
                      <a:lumOff val="15000"/>
                    </a:schemeClr>
                  </a:solidFill>
                </a:endParaRPr>
              </a:p>
              <a:p>
                <a:pPr marL="0" indent="0">
                  <a:buNone/>
                </a:pPr>
                <a:r>
                  <a:rPr lang="en-US" dirty="0" smtClean="0">
                    <a:solidFill>
                      <a:schemeClr val="tx1">
                        <a:lumMod val="85000"/>
                        <a:lumOff val="15000"/>
                      </a:schemeClr>
                    </a:solidFill>
                  </a:rPr>
                  <a:t>	    </a:t>
                </a:r>
                <a:endParaRPr lang="en-US" sz="1800" dirty="0">
                  <a:solidFill>
                    <a:schemeClr val="tx1">
                      <a:lumMod val="85000"/>
                      <a:lumOff val="15000"/>
                    </a:schemeClr>
                  </a:solidFill>
                </a:endParaRPr>
              </a:p>
            </p:txBody>
          </p:sp>
        </mc:Choice>
        <mc:Fallback xmlns="">
          <p:sp>
            <p:nvSpPr>
              <p:cNvPr id="63" name="Content Placeholder 2">
                <a:extLst>
                  <a:ext uri="{FF2B5EF4-FFF2-40B4-BE49-F238E27FC236}">
                    <a16:creationId xmlns="" xmlns:a16="http://schemas.microsoft.com/office/drawing/2014/main" xmlns:a14="http://schemas.microsoft.com/office/drawing/2010/main" id="{1D64F189-8CCC-4E65-85DE-7BB8C3AC3D09}"/>
                  </a:ext>
                </a:extLst>
              </p:cNvPr>
              <p:cNvSpPr txBox="1">
                <a:spLocks noRot="1" noChangeAspect="1" noMove="1" noResize="1" noEditPoints="1" noAdjustHandles="1" noChangeArrowheads="1" noChangeShapeType="1" noTextEdit="1"/>
              </p:cNvSpPr>
              <p:nvPr/>
            </p:nvSpPr>
            <p:spPr>
              <a:xfrm>
                <a:off x="6221835" y="2036602"/>
                <a:ext cx="5257800" cy="4657809"/>
              </a:xfrm>
              <a:prstGeom prst="rect">
                <a:avLst/>
              </a:prstGeom>
              <a:blipFill rotWithShape="0">
                <a:blip r:embed="rId3"/>
                <a:stretch>
                  <a:fillRect l="-1044" t="-1832"/>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xmlns="" id="{27C707B6-51B3-4036-A46B-0D29A9A9A4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4783" y="2762962"/>
            <a:ext cx="2249095" cy="2378539"/>
          </a:xfrm>
          <a:prstGeom prst="rect">
            <a:avLst/>
          </a:prstGeom>
        </p:spPr>
      </p:pic>
      <p:pic>
        <p:nvPicPr>
          <p:cNvPr id="14" name="Picture 13">
            <a:extLst>
              <a:ext uri="{FF2B5EF4-FFF2-40B4-BE49-F238E27FC236}">
                <a16:creationId xmlns:a16="http://schemas.microsoft.com/office/drawing/2014/main" xmlns="" id="{C9C5C4B7-34A4-48C1-A1DC-06A11ED8C3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056" y="2762962"/>
            <a:ext cx="2378539" cy="2378539"/>
          </a:xfrm>
          <a:prstGeom prst="rect">
            <a:avLst/>
          </a:prstGeom>
        </p:spPr>
      </p:pic>
      <p:pic>
        <p:nvPicPr>
          <p:cNvPr id="18" name="Picture 17">
            <a:extLst>
              <a:ext uri="{FF2B5EF4-FFF2-40B4-BE49-F238E27FC236}">
                <a16:creationId xmlns:a16="http://schemas.microsoft.com/office/drawing/2014/main" xmlns="" id="{E60C39C8-1D7E-4E9C-8D78-A389E4BAD3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99026" y="2930141"/>
            <a:ext cx="2157781" cy="2157781"/>
          </a:xfrm>
          <a:prstGeom prst="rect">
            <a:avLst/>
          </a:prstGeom>
        </p:spPr>
      </p:pic>
      <p:pic>
        <p:nvPicPr>
          <p:cNvPr id="22" name="Picture 21">
            <a:extLst>
              <a:ext uri="{FF2B5EF4-FFF2-40B4-BE49-F238E27FC236}">
                <a16:creationId xmlns:a16="http://schemas.microsoft.com/office/drawing/2014/main" xmlns="" id="{283EC524-5C28-4BC8-A346-49D6A760C3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92622" y="2930141"/>
            <a:ext cx="2058011" cy="2058011"/>
          </a:xfrm>
          <a:prstGeom prst="rect">
            <a:avLst/>
          </a:prstGeom>
        </p:spPr>
      </p:pic>
      <p:sp>
        <p:nvSpPr>
          <p:cNvPr id="12"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Single bond impurity</a:t>
            </a:r>
            <a:endParaRPr lang="x-none" sz="3600" dirty="0"/>
          </a:p>
        </p:txBody>
      </p:sp>
      <p:cxnSp>
        <p:nvCxnSpPr>
          <p:cNvPr id="15" name="Straight Connector 1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Dipolar response in 2D</a:t>
            </a:r>
            <a:endParaRPr lang="en-US" sz="3200" dirty="0">
              <a:solidFill>
                <a:schemeClr val="tx1">
                  <a:lumMod val="65000"/>
                  <a:lumOff val="35000"/>
                </a:schemeClr>
              </a:solidFill>
              <a:latin typeface="+mj-lt"/>
            </a:endParaRPr>
          </a:p>
        </p:txBody>
      </p:sp>
      <p:sp>
        <p:nvSpPr>
          <p:cNvPr id="19" name="TextBox 18"/>
          <p:cNvSpPr txBox="1"/>
          <p:nvPr/>
        </p:nvSpPr>
        <p:spPr>
          <a:xfrm>
            <a:off x="6492504" y="6386634"/>
            <a:ext cx="5077608" cy="307777"/>
          </a:xfrm>
          <a:prstGeom prst="rect">
            <a:avLst/>
          </a:prstGeom>
          <a:noFill/>
        </p:spPr>
        <p:txBody>
          <a:bodyPr wrap="none" rtlCol="0">
            <a:spAutoFit/>
          </a:bodyPr>
          <a:lstStyle/>
          <a:p>
            <a:r>
              <a:rPr lang="en-US" sz="1400" smtClean="0">
                <a:solidFill>
                  <a:schemeClr val="accent2">
                    <a:lumMod val="50000"/>
                  </a:schemeClr>
                </a:solidFill>
              </a:rPr>
              <a:t>A</a:t>
            </a:r>
            <a:r>
              <a:rPr lang="en-US" sz="1400" dirty="0" smtClean="0">
                <a:solidFill>
                  <a:schemeClr val="accent2">
                    <a:lumMod val="50000"/>
                  </a:schemeClr>
                </a:solidFill>
              </a:rPr>
              <a:t>. </a:t>
            </a:r>
            <a:r>
              <a:rPr lang="en-US" sz="1400" dirty="0" err="1">
                <a:solidFill>
                  <a:schemeClr val="accent2">
                    <a:lumMod val="50000"/>
                  </a:schemeClr>
                </a:solidFill>
              </a:rPr>
              <a:t>Wollny</a:t>
            </a:r>
            <a:r>
              <a:rPr lang="en-US" sz="1400" dirty="0">
                <a:solidFill>
                  <a:schemeClr val="accent2">
                    <a:lumMod val="50000"/>
                  </a:schemeClr>
                </a:solidFill>
              </a:rPr>
              <a:t>, </a:t>
            </a:r>
            <a:r>
              <a:rPr lang="en-US" sz="1400" dirty="0" smtClean="0">
                <a:solidFill>
                  <a:schemeClr val="accent2">
                    <a:lumMod val="50000"/>
                  </a:schemeClr>
                </a:solidFill>
              </a:rPr>
              <a:t>L. </a:t>
            </a:r>
            <a:r>
              <a:rPr lang="en-US" sz="1400" dirty="0">
                <a:solidFill>
                  <a:schemeClr val="accent2">
                    <a:lumMod val="50000"/>
                  </a:schemeClr>
                </a:solidFill>
              </a:rPr>
              <a:t>Fritz, and </a:t>
            </a:r>
            <a:r>
              <a:rPr lang="en-US" sz="1400" dirty="0" smtClean="0">
                <a:solidFill>
                  <a:schemeClr val="accent2">
                    <a:lumMod val="50000"/>
                  </a:schemeClr>
                </a:solidFill>
              </a:rPr>
              <a:t>M. </a:t>
            </a:r>
            <a:r>
              <a:rPr lang="en-US" sz="1400" dirty="0" err="1" smtClean="0">
                <a:solidFill>
                  <a:schemeClr val="accent2">
                    <a:lumMod val="50000"/>
                  </a:schemeClr>
                </a:solidFill>
              </a:rPr>
              <a:t>Vojta</a:t>
            </a:r>
            <a:r>
              <a:rPr lang="en-US" sz="1400" dirty="0" smtClean="0">
                <a:solidFill>
                  <a:schemeClr val="accent2">
                    <a:lumMod val="50000"/>
                  </a:schemeClr>
                </a:solidFill>
              </a:rPr>
              <a:t>, Phys</a:t>
            </a:r>
            <a:r>
              <a:rPr lang="en-US" sz="1400" dirty="0">
                <a:solidFill>
                  <a:schemeClr val="accent2">
                    <a:lumMod val="50000"/>
                  </a:schemeClr>
                </a:solidFill>
              </a:rPr>
              <a:t>. Rev. </a:t>
            </a:r>
            <a:r>
              <a:rPr lang="en-US" sz="1400" dirty="0" err="1">
                <a:solidFill>
                  <a:schemeClr val="accent2">
                    <a:lumMod val="50000"/>
                  </a:schemeClr>
                </a:solidFill>
              </a:rPr>
              <a:t>Lett</a:t>
            </a:r>
            <a:r>
              <a:rPr lang="en-US" sz="1400" dirty="0">
                <a:solidFill>
                  <a:schemeClr val="accent2">
                    <a:lumMod val="50000"/>
                  </a:schemeClr>
                </a:solidFill>
              </a:rPr>
              <a:t>. 107, 137204 </a:t>
            </a:r>
            <a:r>
              <a:rPr lang="en-US" sz="1400" dirty="0" smtClean="0">
                <a:solidFill>
                  <a:schemeClr val="accent2">
                    <a:lumMod val="50000"/>
                  </a:schemeClr>
                </a:solidFill>
              </a:rPr>
              <a:t>(2011)</a:t>
            </a:r>
            <a:endParaRPr lang="en-US" sz="1400" dirty="0">
              <a:solidFill>
                <a:schemeClr val="accent2">
                  <a:lumMod val="50000"/>
                </a:schemeClr>
              </a:solidFill>
            </a:endParaRPr>
          </a:p>
        </p:txBody>
      </p:sp>
    </p:spTree>
    <p:extLst>
      <p:ext uri="{BB962C8B-B14F-4D97-AF65-F5344CB8AC3E}">
        <p14:creationId xmlns:p14="http://schemas.microsoft.com/office/powerpoint/2010/main" val="259194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140360"/>
              </a:xfrm>
            </p:spPr>
            <p:txBody>
              <a:bodyPr>
                <a:normAutofit/>
              </a:bodyPr>
              <a:lstStyle/>
              <a:p>
                <a:pPr>
                  <a:buFont typeface="Wingdings" panose="05000000000000000000" pitchFamily="2" charset="2"/>
                  <a:buChar char="§"/>
                </a:pPr>
                <a:r>
                  <a:rPr lang="en-US" sz="2000" dirty="0" smtClean="0">
                    <a:solidFill>
                      <a:schemeClr val="tx1">
                        <a:lumMod val="85000"/>
                        <a:lumOff val="15000"/>
                      </a:schemeClr>
                    </a:solidFill>
                  </a:rPr>
                  <a:t>Bond impurity: Dipolar response</a:t>
                </a:r>
              </a:p>
              <a:p>
                <a:pPr lvl="1">
                  <a:lnSpc>
                    <a:spcPct val="100000"/>
                  </a:lnSpc>
                  <a:buFont typeface="Courier New" panose="02070309020205020404" pitchFamily="49" charset="0"/>
                  <a:buChar char="o"/>
                </a:pPr>
                <a:r>
                  <a:rPr lang="en-US" sz="1800" dirty="0" smtClean="0">
                    <a:solidFill>
                      <a:schemeClr val="tx1">
                        <a:lumMod val="85000"/>
                        <a:lumOff val="15000"/>
                      </a:schemeClr>
                    </a:solidFill>
                  </a:rPr>
                  <a:t>For a distribution of random bond impurities,</a:t>
                </a:r>
                <a:endParaRPr lang="en-US" sz="1800" dirty="0">
                  <a:solidFill>
                    <a:schemeClr val="tx1">
                      <a:lumMod val="85000"/>
                      <a:lumOff val="15000"/>
                    </a:schemeClr>
                  </a:solidFill>
                </a:endParaRPr>
              </a:p>
              <a:p>
                <a:pPr lvl="1">
                  <a:lnSpc>
                    <a:spcPct val="100000"/>
                  </a:lnSpc>
                  <a:buFont typeface="Courier New" panose="02070309020205020404" pitchFamily="49" charset="0"/>
                  <a:buChar char="o"/>
                </a:pPr>
                <a:endParaRPr lang="en-US" sz="1800" dirty="0">
                  <a:solidFill>
                    <a:schemeClr val="tx1">
                      <a:lumMod val="85000"/>
                      <a:lumOff val="15000"/>
                    </a:schemeClr>
                  </a:solidFill>
                </a:endParaRPr>
              </a:p>
              <a:p>
                <a:pPr lvl="1">
                  <a:lnSpc>
                    <a:spcPct val="100000"/>
                  </a:lnSpc>
                  <a:buFont typeface="Courier New" panose="02070309020205020404" pitchFamily="49" charset="0"/>
                  <a:buChar char="o"/>
                </a:pPr>
                <a:endParaRPr lang="en-US" sz="1800" dirty="0">
                  <a:solidFill>
                    <a:schemeClr val="tx1">
                      <a:lumMod val="85000"/>
                      <a:lumOff val="15000"/>
                    </a:schemeClr>
                  </a:solidFill>
                </a:endParaRPr>
              </a:p>
              <a:p>
                <a:pPr lvl="1">
                  <a:lnSpc>
                    <a:spcPct val="100000"/>
                  </a:lnSpc>
                  <a:buFont typeface="Courier New" panose="02070309020205020404" pitchFamily="49" charset="0"/>
                  <a:buChar char="o"/>
                </a:pPr>
                <a:r>
                  <a:rPr lang="en-US" sz="1800" b="0" dirty="0">
                    <a:solidFill>
                      <a:schemeClr val="tx1">
                        <a:lumMod val="85000"/>
                        <a:lumOff val="15000"/>
                      </a:schemeClr>
                    </a:solidFill>
                  </a:rPr>
                  <a:t>For a disordered system, one expects the impurity magnitudes, </a:t>
                </a:r>
                <a14:m>
                  <m:oMath xmlns:m="http://schemas.openxmlformats.org/officeDocument/2006/math">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𝑑</m:t>
                        </m:r>
                      </m:e>
                      <m:sub>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𝑟</m:t>
                            </m:r>
                          </m:e>
                        </m:acc>
                      </m:sub>
                    </m:sSub>
                  </m:oMath>
                </a14:m>
                <a:r>
                  <a:rPr lang="en-US" sz="1800" b="0" dirty="0">
                    <a:solidFill>
                      <a:schemeClr val="tx1">
                        <a:lumMod val="85000"/>
                        <a:lumOff val="15000"/>
                      </a:schemeClr>
                    </a:solidFill>
                  </a:rPr>
                  <a:t> to be uncorrelated.</a:t>
                </a:r>
                <a:endParaRPr lang="en-US" sz="1800"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140360"/>
              </a:xfrm>
              <a:blipFill rotWithShape="0">
                <a:blip r:embed="rId2"/>
                <a:stretch>
                  <a:fillRect l="-522" t="-14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4" name="TextBox 243">
                <a:extLst>
                  <a:ext uri="{FF2B5EF4-FFF2-40B4-BE49-F238E27FC236}">
                    <a16:creationId xmlns:a16="http://schemas.microsoft.com/office/drawing/2014/main" xmlns="" id="{94233CE1-06D0-4A9B-9F02-2781C8450F7D}"/>
                  </a:ext>
                </a:extLst>
              </p:cNvPr>
              <p:cNvSpPr txBox="1"/>
              <p:nvPr/>
            </p:nvSpPr>
            <p:spPr>
              <a:xfrm>
                <a:off x="6182766" y="4626166"/>
                <a:ext cx="5100427" cy="1754326"/>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tx1">
                        <a:lumMod val="85000"/>
                        <a:lumOff val="15000"/>
                      </a:schemeClr>
                    </a:solidFill>
                  </a:rPr>
                  <a:t>The integral diverges for </a:t>
                </a:r>
                <a14:m>
                  <m:oMath xmlns:m="http://schemas.openxmlformats.org/officeDocument/2006/math">
                    <m:r>
                      <a:rPr lang="en-US" b="0" i="1" smtClean="0">
                        <a:solidFill>
                          <a:schemeClr val="tx1">
                            <a:lumMod val="85000"/>
                            <a:lumOff val="15000"/>
                          </a:schemeClr>
                        </a:solidFill>
                        <a:latin typeface="Cambria Math" panose="02040503050406030204" pitchFamily="18" charset="0"/>
                      </a:rPr>
                      <m:t>𝑑</m:t>
                    </m:r>
                    <m:r>
                      <a:rPr lang="en-US" b="0" i="1" smtClean="0">
                        <a:solidFill>
                          <a:schemeClr val="tx1">
                            <a:lumMod val="85000"/>
                            <a:lumOff val="15000"/>
                          </a:schemeClr>
                        </a:solidFill>
                        <a:latin typeface="Cambria Math" panose="02040503050406030204" pitchFamily="18" charset="0"/>
                      </a:rPr>
                      <m:t>≤2</m:t>
                    </m:r>
                  </m:oMath>
                </a14:m>
                <a:r>
                  <a:rPr lang="en-US" dirty="0">
                    <a:solidFill>
                      <a:schemeClr val="tx1">
                        <a:lumMod val="85000"/>
                        <a:lumOff val="15000"/>
                      </a:schemeClr>
                    </a:solidFill>
                  </a:rPr>
                  <a:t>.</a:t>
                </a:r>
              </a:p>
              <a:p>
                <a:pPr marL="342900" indent="-342900">
                  <a:buFont typeface="Arial" panose="020B0604020202020204" pitchFamily="34" charset="0"/>
                  <a:buChar char="•"/>
                </a:pPr>
                <a:endParaRPr lang="en-US" dirty="0">
                  <a:solidFill>
                    <a:schemeClr val="tx1">
                      <a:lumMod val="85000"/>
                      <a:lumOff val="15000"/>
                    </a:schemeClr>
                  </a:solidFill>
                </a:endParaRPr>
              </a:p>
              <a:p>
                <a:pPr marL="342900" indent="-342900">
                  <a:buFont typeface="Arial" panose="020B0604020202020204" pitchFamily="34" charset="0"/>
                  <a:buChar char="•"/>
                </a:pPr>
                <a:r>
                  <a:rPr lang="en-US" dirty="0">
                    <a:solidFill>
                      <a:schemeClr val="tx1">
                        <a:lumMod val="85000"/>
                        <a:lumOff val="15000"/>
                      </a:schemeClr>
                    </a:solidFill>
                  </a:rPr>
                  <a:t>Hence the lower critical dimension for bond disordered non-collinear magnets is,</a:t>
                </a:r>
              </a:p>
              <a:p>
                <a:pPr marL="342900" indent="-342900">
                  <a:buFont typeface="Arial" panose="020B0604020202020204" pitchFamily="34" charset="0"/>
                  <a:buChar char="•"/>
                </a:pPr>
                <a:endParaRPr lang="en-US" dirty="0">
                  <a:solidFill>
                    <a:schemeClr val="tx1">
                      <a:lumMod val="85000"/>
                      <a:lumOff val="15000"/>
                    </a:schemeClr>
                  </a:solidFill>
                </a:endParaRPr>
              </a:p>
              <a:p>
                <a:pPr/>
                <a14:m>
                  <m:oMathPara xmlns:m="http://schemas.openxmlformats.org/officeDocument/2006/math">
                    <m:oMathParaPr>
                      <m:jc m:val="centerGroup"/>
                    </m:oMathParaPr>
                    <m:oMath xmlns:m="http://schemas.openxmlformats.org/officeDocument/2006/math">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r>
                            <a:rPr lang="en-US" b="0" i="1" smtClean="0">
                              <a:solidFill>
                                <a:schemeClr val="tx1">
                                  <a:lumMod val="85000"/>
                                  <a:lumOff val="15000"/>
                                </a:schemeClr>
                              </a:solidFill>
                              <a:latin typeface="Cambria Math" charset="0"/>
                            </a:rPr>
                            <m:t>𝑐</m:t>
                          </m:r>
                        </m:sub>
                      </m:sSub>
                      <m:r>
                        <a:rPr lang="en-US" b="0" i="1" smtClean="0">
                          <a:solidFill>
                            <a:schemeClr val="tx1">
                              <a:lumMod val="85000"/>
                              <a:lumOff val="15000"/>
                            </a:schemeClr>
                          </a:solidFill>
                          <a:latin typeface="Cambria Math" charset="0"/>
                        </a:rPr>
                        <m:t>=</m:t>
                      </m:r>
                      <m:r>
                        <a:rPr lang="en-US" b="0" i="1" smtClean="0">
                          <a:solidFill>
                            <a:schemeClr val="tx1">
                              <a:lumMod val="85000"/>
                              <a:lumOff val="15000"/>
                            </a:schemeClr>
                          </a:solidFill>
                          <a:latin typeface="Cambria Math" panose="02040503050406030204" pitchFamily="18" charset="0"/>
                        </a:rPr>
                        <m:t>2</m:t>
                      </m:r>
                    </m:oMath>
                  </m:oMathPara>
                </a14:m>
                <a:endParaRPr lang="en-US" dirty="0">
                  <a:solidFill>
                    <a:schemeClr val="tx1">
                      <a:lumMod val="85000"/>
                      <a:lumOff val="15000"/>
                    </a:schemeClr>
                  </a:solidFill>
                </a:endParaRPr>
              </a:p>
            </p:txBody>
          </p:sp>
        </mc:Choice>
        <mc:Fallback>
          <p:sp>
            <p:nvSpPr>
              <p:cNvPr id="244" name="TextBox 243">
                <a:extLst>
                  <a:ext uri="{FF2B5EF4-FFF2-40B4-BE49-F238E27FC236}">
                    <a16:creationId xmlns:a16="http://schemas.microsoft.com/office/drawing/2014/main" xmlns="" xmlns:a14="http://schemas.microsoft.com/office/drawing/2010/main" id="{94233CE1-06D0-4A9B-9F02-2781C8450F7D}"/>
                  </a:ext>
                </a:extLst>
              </p:cNvPr>
              <p:cNvSpPr txBox="1">
                <a:spLocks noRot="1" noChangeAspect="1" noMove="1" noResize="1" noEditPoints="1" noAdjustHandles="1" noChangeArrowheads="1" noChangeShapeType="1" noTextEdit="1"/>
              </p:cNvSpPr>
              <p:nvPr/>
            </p:nvSpPr>
            <p:spPr>
              <a:xfrm>
                <a:off x="6182766" y="4626166"/>
                <a:ext cx="5100427" cy="1754326"/>
              </a:xfrm>
              <a:prstGeom prst="rect">
                <a:avLst/>
              </a:prstGeom>
              <a:blipFill rotWithShape="0">
                <a:blip r:embed="rId3"/>
                <a:stretch>
                  <a:fillRect l="-717" t="-2083"/>
                </a:stretch>
              </a:blipFill>
            </p:spPr>
            <p:txBody>
              <a:bodyPr/>
              <a:lstStyle/>
              <a:p>
                <a:r>
                  <a:rPr lang="en-US">
                    <a:noFill/>
                  </a:rPr>
                  <a:t> </a:t>
                </a:r>
              </a:p>
            </p:txBody>
          </p:sp>
        </mc:Fallback>
      </mc:AlternateContent>
      <p:sp>
        <p:nvSpPr>
          <p:cNvPr id="245" name="Rectangle 244">
            <a:extLst>
              <a:ext uri="{FF2B5EF4-FFF2-40B4-BE49-F238E27FC236}">
                <a16:creationId xmlns:a16="http://schemas.microsoft.com/office/drawing/2014/main" xmlns="" id="{C143E3E0-E5AF-4DCA-8D45-ABF1F63F708D}"/>
              </a:ext>
            </a:extLst>
          </p:cNvPr>
          <p:cNvSpPr/>
          <p:nvPr/>
        </p:nvSpPr>
        <p:spPr>
          <a:xfrm>
            <a:off x="8217590" y="6017771"/>
            <a:ext cx="1030778" cy="361766"/>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CE53D487-41DE-4E55-AC40-716497812C4B}"/>
                  </a:ext>
                </a:extLst>
              </p:cNvPr>
              <p:cNvSpPr txBox="1"/>
              <p:nvPr/>
            </p:nvSpPr>
            <p:spPr>
              <a:xfrm>
                <a:off x="4708636" y="2784231"/>
                <a:ext cx="2025312" cy="774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lumMod val="85000"/>
                                  <a:lumOff val="15000"/>
                                </a:schemeClr>
                              </a:solidFill>
                              <a:latin typeface="Cambria Math" charset="0"/>
                            </a:rPr>
                          </m:ctrlPr>
                        </m:sSubSupPr>
                        <m:e>
                          <m:r>
                            <a:rPr lang="en-US" b="0" i="1" smtClean="0">
                              <a:solidFill>
                                <a:schemeClr val="tx1">
                                  <a:lumMod val="85000"/>
                                  <a:lumOff val="15000"/>
                                </a:schemeClr>
                              </a:solidFill>
                              <a:latin typeface="Cambria Math" panose="02040503050406030204" pitchFamily="18" charset="0"/>
                            </a:rPr>
                            <m:t>𝑆</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m:t>
                          </m:r>
                        </m:sup>
                      </m:sSubSup>
                      <m:r>
                        <a:rPr lang="en-US" b="0" i="1" smtClean="0">
                          <a:solidFill>
                            <a:schemeClr val="tx1">
                              <a:lumMod val="85000"/>
                              <a:lumOff val="15000"/>
                            </a:schemeClr>
                          </a:solidFill>
                          <a:latin typeface="Cambria Math" panose="02040503050406030204" pitchFamily="18" charset="0"/>
                        </a:rPr>
                        <m:t>=</m:t>
                      </m:r>
                      <m:nary>
                        <m:naryPr>
                          <m:chr m:val="∑"/>
                          <m:supHide m:val="on"/>
                          <m:ctrlPr>
                            <a:rPr lang="en-US" b="0" i="1" smtClean="0">
                              <a:solidFill>
                                <a:schemeClr val="tx1">
                                  <a:lumMod val="85000"/>
                                  <a:lumOff val="15000"/>
                                </a:schemeClr>
                              </a:solidFill>
                              <a:latin typeface="Cambria Math" charset="0"/>
                            </a:rPr>
                          </m:ctrlPr>
                        </m:naryPr>
                        <m:sub>
                          <m:sSup>
                            <m:sSupPr>
                              <m:ctrlPr>
                                <a:rPr lang="en-US" b="0" i="1" smtClean="0">
                                  <a:solidFill>
                                    <a:schemeClr val="tx1">
                                      <a:lumMod val="85000"/>
                                      <a:lumOff val="15000"/>
                                    </a:schemeClr>
                                  </a:solidFill>
                                  <a:latin typeface="Cambria Math" charset="0"/>
                                </a:rPr>
                              </m:ctrlPr>
                            </m:sSupPr>
                            <m:e>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e>
                            <m:sup>
                              <m:r>
                                <a:rPr lang="en-US" b="0" i="1" smtClean="0">
                                  <a:solidFill>
                                    <a:schemeClr val="tx1">
                                      <a:lumMod val="85000"/>
                                      <a:lumOff val="15000"/>
                                    </a:schemeClr>
                                  </a:solidFill>
                                  <a:latin typeface="Cambria Math" panose="02040503050406030204" pitchFamily="18" charset="0"/>
                                </a:rPr>
                                <m:t>′</m:t>
                              </m:r>
                            </m:sup>
                          </m:sSup>
                        </m:sub>
                        <m:sup/>
                        <m:e>
                          <m:sSubSup>
                            <m:sSubSupPr>
                              <m:ctrlPr>
                                <a:rPr lang="en-US" b="0" i="1" smtClean="0">
                                  <a:solidFill>
                                    <a:schemeClr val="tx1">
                                      <a:lumMod val="85000"/>
                                      <a:lumOff val="15000"/>
                                    </a:schemeClr>
                                  </a:solidFill>
                                  <a:latin typeface="Cambria Math" charset="0"/>
                                </a:rPr>
                              </m:ctrlPr>
                            </m:sSubSupPr>
                            <m:e>
                              <m:r>
                                <a:rPr lang="en-US" i="1">
                                  <a:solidFill>
                                    <a:schemeClr val="tx1">
                                      <a:lumMod val="85000"/>
                                      <a:lumOff val="15000"/>
                                    </a:schemeClr>
                                  </a:solidFill>
                                  <a:latin typeface="Cambria Math" panose="02040503050406030204" pitchFamily="18" charset="0"/>
                                </a:rPr>
                                <m:t>𝜒</m:t>
                              </m:r>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Sup>
                                <m:sSupPr>
                                  <m:ctrlPr>
                                    <a:rPr lang="en-US" i="1">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i="1">
                                      <a:solidFill>
                                        <a:schemeClr val="tx1">
                                          <a:lumMod val="85000"/>
                                          <a:lumOff val="15000"/>
                                        </a:schemeClr>
                                      </a:solidFill>
                                      <a:latin typeface="Cambria Math" panose="02040503050406030204" pitchFamily="18" charset="0"/>
                                    </a:rPr>
                                    <m:t>′</m:t>
                                  </m:r>
                                </m:sup>
                              </m:sSup>
                            </m:sub>
                            <m:sup>
                              <m:r>
                                <a:rPr lang="en-US" b="0" i="1" smtClean="0">
                                  <a:solidFill>
                                    <a:schemeClr val="tx1">
                                      <a:lumMod val="85000"/>
                                      <a:lumOff val="15000"/>
                                    </a:schemeClr>
                                  </a:solidFill>
                                  <a:latin typeface="Cambria Math" charset="0"/>
                                </a:rPr>
                                <m:t>𝑑</m:t>
                              </m:r>
                            </m:sup>
                          </m:sSubSup>
                          <m:sSub>
                            <m:sSubPr>
                              <m:ctrlPr>
                                <a:rPr lang="en-US" i="1">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sSup>
                                <m:sSupPr>
                                  <m:ctrlPr>
                                    <a:rPr lang="en-US" i="1">
                                      <a:solidFill>
                                        <a:schemeClr val="tx1">
                                          <a:lumMod val="85000"/>
                                          <a:lumOff val="15000"/>
                                        </a:schemeClr>
                                      </a:solidFill>
                                      <a:latin typeface="Cambria Math" charset="0"/>
                                    </a:rPr>
                                  </m:ctrlPr>
                                </m:sSupPr>
                                <m:e>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e>
                                <m:sup>
                                  <m:r>
                                    <a:rPr lang="en-US" i="1">
                                      <a:solidFill>
                                        <a:schemeClr val="tx1">
                                          <a:lumMod val="85000"/>
                                          <a:lumOff val="15000"/>
                                        </a:schemeClr>
                                      </a:solidFill>
                                      <a:latin typeface="Cambria Math" panose="02040503050406030204" pitchFamily="18" charset="0"/>
                                    </a:rPr>
                                    <m:t>′</m:t>
                                  </m:r>
                                </m:sup>
                              </m:sSup>
                            </m:sub>
                          </m:sSub>
                        </m:e>
                      </m:nary>
                    </m:oMath>
                  </m:oMathPara>
                </a14:m>
                <a:endParaRPr lang="x-none" dirty="0">
                  <a:solidFill>
                    <a:schemeClr val="tx1">
                      <a:lumMod val="85000"/>
                      <a:lumOff val="15000"/>
                    </a:schemeClr>
                  </a:solidFill>
                </a:endParaRPr>
              </a:p>
            </p:txBody>
          </p:sp>
        </mc:Choice>
        <mc:Fallback xmlns="">
          <p:sp>
            <p:nvSpPr>
              <p:cNvPr id="7" name="TextBox 6">
                <a:extLst>
                  <a:ext uri="{FF2B5EF4-FFF2-40B4-BE49-F238E27FC236}">
                    <a16:creationId xmlns="" xmlns:a16="http://schemas.microsoft.com/office/drawing/2014/main" xmlns:a14="http://schemas.microsoft.com/office/drawing/2010/main" id="{CE53D487-41DE-4E55-AC40-716497812C4B}"/>
                  </a:ext>
                </a:extLst>
              </p:cNvPr>
              <p:cNvSpPr txBox="1">
                <a:spLocks noRot="1" noChangeAspect="1" noMove="1" noResize="1" noEditPoints="1" noAdjustHandles="1" noChangeArrowheads="1" noChangeShapeType="1" noTextEdit="1"/>
              </p:cNvSpPr>
              <p:nvPr/>
            </p:nvSpPr>
            <p:spPr>
              <a:xfrm>
                <a:off x="4708636" y="2784231"/>
                <a:ext cx="2025312" cy="77482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D5F5CF77-369F-46EF-8F28-41FBAA86F3FF}"/>
                  </a:ext>
                </a:extLst>
              </p:cNvPr>
              <p:cNvSpPr txBox="1"/>
              <p:nvPr/>
            </p:nvSpPr>
            <p:spPr>
              <a:xfrm>
                <a:off x="4362276" y="3991085"/>
                <a:ext cx="2718033" cy="377347"/>
              </a:xfrm>
              <a:prstGeom prst="rect">
                <a:avLst/>
              </a:prstGeom>
              <a:noFill/>
            </p:spPr>
            <p:txBody>
              <a:bodyPr wrap="square" rtlCol="0">
                <a:spAutoFit/>
              </a:bodyPr>
              <a:lstStyle/>
              <a:p>
                <a:r>
                  <a:rPr lang="en-US" dirty="0" smtClean="0">
                    <a:solidFill>
                      <a:schemeClr val="tx1">
                        <a:lumMod val="85000"/>
                        <a:lumOff val="15000"/>
                      </a:schemeClr>
                    </a:solidFill>
                  </a:rPr>
                  <a:t> </a:t>
                </a:r>
                <a14:m>
                  <m:oMath xmlns:m="http://schemas.openxmlformats.org/officeDocument/2006/math">
                    <m:acc>
                      <m:accPr>
                        <m:chr m:val="̅"/>
                        <m:ctrlPr>
                          <a:rPr lang="en-US" i="1">
                            <a:solidFill>
                              <a:schemeClr val="tx1">
                                <a:lumMod val="85000"/>
                                <a:lumOff val="15000"/>
                              </a:schemeClr>
                            </a:solidFill>
                            <a:latin typeface="Cambria Math" charset="0"/>
                          </a:rPr>
                        </m:ctrlPr>
                      </m:accPr>
                      <m:e>
                        <m:sSub>
                          <m:sSubPr>
                            <m:ctrlPr>
                              <a:rPr lang="en-US" i="1">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sub>
                        </m:sSub>
                        <m:sSub>
                          <m:sSubPr>
                            <m:ctrlPr>
                              <a:rPr lang="en-US" i="1">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𝑑</m:t>
                            </m:r>
                          </m:e>
                          <m:sub>
                            <m:acc>
                              <m:accPr>
                                <m:chr m:val="⃗"/>
                                <m:ctrlPr>
                                  <a:rPr lang="en-US" i="1">
                                    <a:solidFill>
                                      <a:schemeClr val="tx1">
                                        <a:lumMod val="85000"/>
                                        <a:lumOff val="15000"/>
                                      </a:schemeClr>
                                    </a:solidFill>
                                    <a:latin typeface="Cambria Math" charset="0"/>
                                  </a:rPr>
                                </m:ctrlPr>
                              </m:accPr>
                              <m:e>
                                <m:r>
                                  <a:rPr lang="en-US" i="1">
                                    <a:solidFill>
                                      <a:schemeClr val="tx1">
                                        <a:lumMod val="85000"/>
                                        <a:lumOff val="15000"/>
                                      </a:schemeClr>
                                    </a:solidFill>
                                    <a:latin typeface="Cambria Math" panose="02040503050406030204" pitchFamily="18" charset="0"/>
                                  </a:rPr>
                                  <m:t>𝑟</m:t>
                                </m:r>
                              </m:e>
                            </m:acc>
                            <m:r>
                              <a:rPr lang="en-US" i="1" dirty="0">
                                <a:solidFill>
                                  <a:schemeClr val="tx1">
                                    <a:lumMod val="85000"/>
                                    <a:lumOff val="15000"/>
                                  </a:schemeClr>
                                </a:solidFill>
                                <a:latin typeface="Cambria Math" panose="02040503050406030204" pitchFamily="18" charset="0"/>
                              </a:rPr>
                              <m:t>′</m:t>
                            </m:r>
                          </m:sub>
                        </m:sSub>
                      </m:e>
                    </m:acc>
                    <m:r>
                      <a:rPr lang="en-US" i="1" dirty="0">
                        <a:solidFill>
                          <a:schemeClr val="tx1">
                            <a:lumMod val="85000"/>
                            <a:lumOff val="15000"/>
                          </a:schemeClr>
                        </a:solidFill>
                        <a:latin typeface="Cambria Math" panose="02040503050406030204" pitchFamily="18" charset="0"/>
                      </a:rPr>
                      <m:t>=</m:t>
                    </m:r>
                    <m:sSubSup>
                      <m:sSubSupPr>
                        <m:ctrlPr>
                          <a:rPr lang="en-US" b="0" i="1" dirty="0" smtClean="0">
                            <a:solidFill>
                              <a:schemeClr val="tx1">
                                <a:lumMod val="85000"/>
                                <a:lumOff val="15000"/>
                              </a:schemeClr>
                            </a:solidFill>
                            <a:latin typeface="Cambria Math" charset="0"/>
                          </a:rPr>
                        </m:ctrlPr>
                      </m:sSubSupPr>
                      <m:e>
                        <m:r>
                          <a:rPr lang="en-US" b="0" i="1" dirty="0" smtClean="0">
                            <a:solidFill>
                              <a:schemeClr val="tx1">
                                <a:lumMod val="85000"/>
                                <a:lumOff val="15000"/>
                              </a:schemeClr>
                            </a:solidFill>
                            <a:latin typeface="Cambria Math" charset="0"/>
                          </a:rPr>
                          <m:t>𝑑</m:t>
                        </m:r>
                      </m:e>
                      <m:sub>
                        <m:r>
                          <a:rPr lang="en-US" b="0" i="1" dirty="0" smtClean="0">
                            <a:solidFill>
                              <a:schemeClr val="tx1">
                                <a:lumMod val="85000"/>
                                <a:lumOff val="15000"/>
                              </a:schemeClr>
                            </a:solidFill>
                            <a:latin typeface="Cambria Math" panose="02040503050406030204" pitchFamily="18" charset="0"/>
                          </a:rPr>
                          <m:t>0</m:t>
                        </m:r>
                      </m:sub>
                      <m:sup>
                        <m:r>
                          <a:rPr lang="en-US" b="0" i="1" dirty="0" smtClean="0">
                            <a:solidFill>
                              <a:schemeClr val="tx1">
                                <a:lumMod val="85000"/>
                                <a:lumOff val="15000"/>
                              </a:schemeClr>
                            </a:solidFill>
                            <a:latin typeface="Cambria Math" panose="02040503050406030204" pitchFamily="18" charset="0"/>
                          </a:rPr>
                          <m:t>2</m:t>
                        </m:r>
                      </m:sup>
                    </m:sSubSup>
                    <m:sSup>
                      <m:sSupPr>
                        <m:ctrlPr>
                          <a:rPr lang="en-US" i="1" dirty="0">
                            <a:solidFill>
                              <a:schemeClr val="tx1">
                                <a:lumMod val="85000"/>
                                <a:lumOff val="15000"/>
                              </a:schemeClr>
                            </a:solidFill>
                            <a:latin typeface="Cambria Math" charset="0"/>
                          </a:rPr>
                        </m:ctrlPr>
                      </m:sSupPr>
                      <m:e>
                        <m:r>
                          <a:rPr lang="en-US" i="1" dirty="0">
                            <a:solidFill>
                              <a:schemeClr val="tx1">
                                <a:lumMod val="85000"/>
                                <a:lumOff val="15000"/>
                              </a:schemeClr>
                            </a:solidFill>
                            <a:latin typeface="Cambria Math" panose="02040503050406030204" pitchFamily="18" charset="0"/>
                          </a:rPr>
                          <m:t>𝛿</m:t>
                        </m:r>
                      </m:e>
                      <m:sup>
                        <m:r>
                          <a:rPr lang="en-US" i="1" dirty="0">
                            <a:solidFill>
                              <a:schemeClr val="tx1">
                                <a:lumMod val="85000"/>
                                <a:lumOff val="15000"/>
                              </a:schemeClr>
                            </a:solidFill>
                            <a:latin typeface="Cambria Math" panose="02040503050406030204" pitchFamily="18" charset="0"/>
                          </a:rPr>
                          <m:t>𝑑</m:t>
                        </m:r>
                      </m:sup>
                    </m:sSup>
                    <m:r>
                      <a:rPr lang="en-US" i="1" dirty="0">
                        <a:solidFill>
                          <a:schemeClr val="tx1">
                            <a:lumMod val="85000"/>
                            <a:lumOff val="15000"/>
                          </a:schemeClr>
                        </a:solidFill>
                        <a:latin typeface="Cambria Math" panose="02040503050406030204" pitchFamily="18" charset="0"/>
                      </a:rPr>
                      <m:t>( </m:t>
                    </m:r>
                    <m:acc>
                      <m:accPr>
                        <m:chr m:val="⃗"/>
                        <m:ctrlPr>
                          <a:rPr lang="en-US" i="1" dirty="0">
                            <a:solidFill>
                              <a:schemeClr val="tx1">
                                <a:lumMod val="85000"/>
                                <a:lumOff val="15000"/>
                              </a:schemeClr>
                            </a:solidFill>
                            <a:latin typeface="Cambria Math" charset="0"/>
                          </a:rPr>
                        </m:ctrlPr>
                      </m:accPr>
                      <m:e>
                        <m:r>
                          <a:rPr lang="en-US" i="1" dirty="0">
                            <a:solidFill>
                              <a:schemeClr val="tx1">
                                <a:lumMod val="85000"/>
                                <a:lumOff val="15000"/>
                              </a:schemeClr>
                            </a:solidFill>
                            <a:latin typeface="Cambria Math" panose="02040503050406030204" pitchFamily="18" charset="0"/>
                          </a:rPr>
                          <m:t>𝑟</m:t>
                        </m:r>
                      </m:e>
                    </m:acc>
                    <m:r>
                      <a:rPr lang="en-US" i="1" dirty="0">
                        <a:solidFill>
                          <a:schemeClr val="tx1">
                            <a:lumMod val="85000"/>
                            <a:lumOff val="15000"/>
                          </a:schemeClr>
                        </a:solidFill>
                        <a:latin typeface="Cambria Math" panose="02040503050406030204" pitchFamily="18" charset="0"/>
                      </a:rPr>
                      <m:t>− </m:t>
                    </m:r>
                    <m:acc>
                      <m:accPr>
                        <m:chr m:val="⃗"/>
                        <m:ctrlPr>
                          <a:rPr lang="en-US" i="1" dirty="0">
                            <a:solidFill>
                              <a:schemeClr val="tx1">
                                <a:lumMod val="85000"/>
                                <a:lumOff val="15000"/>
                              </a:schemeClr>
                            </a:solidFill>
                            <a:latin typeface="Cambria Math" charset="0"/>
                          </a:rPr>
                        </m:ctrlPr>
                      </m:accPr>
                      <m:e>
                        <m:r>
                          <a:rPr lang="en-US" i="1" dirty="0">
                            <a:solidFill>
                              <a:schemeClr val="tx1">
                                <a:lumMod val="85000"/>
                                <a:lumOff val="15000"/>
                              </a:schemeClr>
                            </a:solidFill>
                            <a:latin typeface="Cambria Math" panose="02040503050406030204" pitchFamily="18" charset="0"/>
                          </a:rPr>
                          <m:t>𝑟</m:t>
                        </m:r>
                      </m:e>
                    </m:acc>
                    <m:r>
                      <a:rPr lang="en-US" i="1" dirty="0">
                        <a:solidFill>
                          <a:schemeClr val="tx1">
                            <a:lumMod val="85000"/>
                            <a:lumOff val="15000"/>
                          </a:schemeClr>
                        </a:solidFill>
                        <a:latin typeface="Cambria Math" panose="02040503050406030204" pitchFamily="18" charset="0"/>
                      </a:rPr>
                      <m:t>′)</m:t>
                    </m:r>
                  </m:oMath>
                </a14:m>
                <a:r>
                  <a:rPr lang="en-US" dirty="0">
                    <a:solidFill>
                      <a:schemeClr val="tx1">
                        <a:lumMod val="85000"/>
                        <a:lumOff val="15000"/>
                      </a:schemeClr>
                    </a:solidFill>
                  </a:rPr>
                  <a:t> </a:t>
                </a:r>
                <a:endParaRPr lang="x-none" dirty="0">
                  <a:solidFill>
                    <a:schemeClr val="tx1">
                      <a:lumMod val="85000"/>
                      <a:lumOff val="15000"/>
                    </a:schemeClr>
                  </a:solidFill>
                </a:endParaRPr>
              </a:p>
            </p:txBody>
          </p:sp>
        </mc:Choice>
        <mc:Fallback xmlns="">
          <p:sp>
            <p:nvSpPr>
              <p:cNvPr id="8" name="TextBox 7">
                <a:extLst>
                  <a:ext uri="{FF2B5EF4-FFF2-40B4-BE49-F238E27FC236}">
                    <a16:creationId xmlns="" xmlns:a16="http://schemas.microsoft.com/office/drawing/2014/main" xmlns:a14="http://schemas.microsoft.com/office/drawing/2010/main" id="{D5F5CF77-369F-46EF-8F28-41FBAA86F3FF}"/>
                  </a:ext>
                </a:extLst>
              </p:cNvPr>
              <p:cNvSpPr txBox="1">
                <a:spLocks noRot="1" noChangeAspect="1" noMove="1" noResize="1" noEditPoints="1" noAdjustHandles="1" noChangeArrowheads="1" noChangeShapeType="1" noTextEdit="1"/>
              </p:cNvSpPr>
              <p:nvPr/>
            </p:nvSpPr>
            <p:spPr>
              <a:xfrm>
                <a:off x="4362276" y="3991085"/>
                <a:ext cx="2718033" cy="377347"/>
              </a:xfrm>
              <a:prstGeom prst="rect">
                <a:avLst/>
              </a:prstGeom>
              <a:blipFill rotWithShape="0">
                <a:blip r:embed="rId5"/>
                <a:stretch>
                  <a:fillRect t="-91935" b="-1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76F0511A-6176-4E21-A3E6-223AC73965EE}"/>
                  </a:ext>
                </a:extLst>
              </p:cNvPr>
              <p:cNvSpPr txBox="1"/>
              <p:nvPr/>
            </p:nvSpPr>
            <p:spPr>
              <a:xfrm>
                <a:off x="1166443" y="4626166"/>
                <a:ext cx="4688080" cy="2034788"/>
              </a:xfrm>
              <a:prstGeom prst="rect">
                <a:avLst/>
              </a:prstGeom>
              <a:noFill/>
            </p:spPr>
            <p:txBody>
              <a:bodyPr wrap="square" rtlCol="0">
                <a:spAutoFit/>
              </a:bodyPr>
              <a:lstStyle/>
              <a:p>
                <a:r>
                  <a:rPr lang="en-US" dirty="0" smtClean="0">
                    <a:solidFill>
                      <a:schemeClr val="tx1">
                        <a:lumMod val="85000"/>
                        <a:lumOff val="15000"/>
                      </a:schemeClr>
                    </a:solidFill>
                  </a:rPr>
                  <a:t>This implies that the transverse correlation has a divergent contribution,</a:t>
                </a:r>
                <a:endParaRPr lang="en-US" i="1" dirty="0">
                  <a:solidFill>
                    <a:schemeClr val="tx1">
                      <a:lumMod val="85000"/>
                      <a:lumOff val="1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lang="en-US" b="0" i="1" smtClean="0">
                              <a:solidFill>
                                <a:schemeClr val="tx1">
                                  <a:lumMod val="85000"/>
                                  <a:lumOff val="15000"/>
                                </a:schemeClr>
                              </a:solidFill>
                              <a:latin typeface="Cambria Math" charset="0"/>
                            </a:rPr>
                          </m:ctrlPr>
                        </m:accPr>
                        <m:e>
                          <m:sSup>
                            <m:sSupPr>
                              <m:ctrlPr>
                                <a:rPr lang="en-US" b="0" i="1" smtClean="0">
                                  <a:solidFill>
                                    <a:schemeClr val="tx1">
                                      <a:lumMod val="85000"/>
                                      <a:lumOff val="15000"/>
                                    </a:schemeClr>
                                  </a:solidFill>
                                  <a:latin typeface="Cambria Math" charset="0"/>
                                </a:rPr>
                              </m:ctrlPr>
                            </m:sSupPr>
                            <m:e>
                              <m:sSubSup>
                                <m:sSubSupPr>
                                  <m:ctrlPr>
                                    <a:rPr lang="en-US" b="0" i="1" smtClean="0">
                                      <a:solidFill>
                                        <a:schemeClr val="tx1">
                                          <a:lumMod val="85000"/>
                                          <a:lumOff val="15000"/>
                                        </a:schemeClr>
                                      </a:solidFill>
                                      <a:latin typeface="Cambria Math" charset="0"/>
                                    </a:rPr>
                                  </m:ctrlPr>
                                </m:sSubSupPr>
                                <m:e>
                                  <m:r>
                                    <a:rPr lang="en-US" b="0" i="1" smtClean="0">
                                      <a:solidFill>
                                        <a:schemeClr val="tx1">
                                          <a:lumMod val="85000"/>
                                          <a:lumOff val="15000"/>
                                        </a:schemeClr>
                                      </a:solidFill>
                                      <a:latin typeface="Cambria Math" panose="02040503050406030204" pitchFamily="18" charset="0"/>
                                    </a:rPr>
                                    <m:t>𝑆</m:t>
                                  </m:r>
                                </m:e>
                                <m:sub>
                                  <m:acc>
                                    <m:accPr>
                                      <m:chr m:val="⃗"/>
                                      <m:ctrlPr>
                                        <a:rPr lang="en-US" b="0" i="1" smtClean="0">
                                          <a:solidFill>
                                            <a:schemeClr val="tx1">
                                              <a:lumMod val="85000"/>
                                              <a:lumOff val="15000"/>
                                            </a:schemeClr>
                                          </a:solidFill>
                                          <a:latin typeface="Cambria Math" charset="0"/>
                                        </a:rPr>
                                      </m:ctrlPr>
                                    </m:accPr>
                                    <m:e>
                                      <m:r>
                                        <a:rPr lang="en-US" b="0" i="1" smtClean="0">
                                          <a:solidFill>
                                            <a:schemeClr val="tx1">
                                              <a:lumMod val="85000"/>
                                              <a:lumOff val="15000"/>
                                            </a:schemeClr>
                                          </a:solidFill>
                                          <a:latin typeface="Cambria Math" panose="02040503050406030204" pitchFamily="18" charset="0"/>
                                        </a:rPr>
                                        <m:t>𝑟</m:t>
                                      </m:r>
                                    </m:e>
                                  </m:acc>
                                </m:sub>
                                <m:sup>
                                  <m:r>
                                    <a:rPr lang="en-US" b="0" i="1" smtClean="0">
                                      <a:solidFill>
                                        <a:schemeClr val="tx1">
                                          <a:lumMod val="85000"/>
                                          <a:lumOff val="15000"/>
                                        </a:schemeClr>
                                      </a:solidFill>
                                      <a:latin typeface="Cambria Math" panose="02040503050406030204" pitchFamily="18" charset="0"/>
                                    </a:rPr>
                                    <m:t>⊥</m:t>
                                  </m:r>
                                </m:sup>
                              </m:sSubSup>
                            </m:e>
                            <m:sup>
                              <m:r>
                                <a:rPr lang="en-US" b="0" i="1" smtClean="0">
                                  <a:solidFill>
                                    <a:schemeClr val="tx1">
                                      <a:lumMod val="85000"/>
                                      <a:lumOff val="15000"/>
                                    </a:schemeClr>
                                  </a:solidFill>
                                  <a:latin typeface="Cambria Math" panose="02040503050406030204" pitchFamily="18" charset="0"/>
                                </a:rPr>
                                <m:t>2</m:t>
                              </m:r>
                            </m:sup>
                          </m:sSup>
                        </m:e>
                      </m:acc>
                      <m:r>
                        <a:rPr lang="en-US" b="0" i="1" dirty="0" smtClean="0">
                          <a:solidFill>
                            <a:schemeClr val="tx1">
                              <a:lumMod val="85000"/>
                              <a:lumOff val="15000"/>
                            </a:schemeClr>
                          </a:solidFill>
                          <a:latin typeface="Cambria Math" panose="02040503050406030204" pitchFamily="18" charset="0"/>
                        </a:rPr>
                        <m:t>=</m:t>
                      </m:r>
                      <m:sSubSup>
                        <m:sSubSupPr>
                          <m:ctrlPr>
                            <a:rPr lang="en-US" b="0" i="1" dirty="0" smtClean="0">
                              <a:solidFill>
                                <a:schemeClr val="tx1">
                                  <a:lumMod val="85000"/>
                                  <a:lumOff val="15000"/>
                                </a:schemeClr>
                              </a:solidFill>
                              <a:latin typeface="Cambria Math" charset="0"/>
                            </a:rPr>
                          </m:ctrlPr>
                        </m:sSubSupPr>
                        <m:e>
                          <m:r>
                            <a:rPr lang="en-US" b="0" i="1" dirty="0" smtClean="0">
                              <a:solidFill>
                                <a:schemeClr val="tx1">
                                  <a:lumMod val="85000"/>
                                  <a:lumOff val="15000"/>
                                </a:schemeClr>
                              </a:solidFill>
                              <a:latin typeface="Cambria Math" charset="0"/>
                            </a:rPr>
                            <m:t>𝑑</m:t>
                          </m:r>
                        </m:e>
                        <m:sub>
                          <m:r>
                            <a:rPr lang="en-US" b="0" i="1" dirty="0" smtClean="0">
                              <a:solidFill>
                                <a:schemeClr val="tx1">
                                  <a:lumMod val="85000"/>
                                  <a:lumOff val="15000"/>
                                </a:schemeClr>
                              </a:solidFill>
                              <a:latin typeface="Cambria Math" panose="02040503050406030204" pitchFamily="18" charset="0"/>
                            </a:rPr>
                            <m:t>0</m:t>
                          </m:r>
                        </m:sub>
                        <m:sup>
                          <m:r>
                            <a:rPr lang="en-US" b="0" i="1" dirty="0" smtClean="0">
                              <a:solidFill>
                                <a:schemeClr val="tx1">
                                  <a:lumMod val="85000"/>
                                  <a:lumOff val="15000"/>
                                </a:schemeClr>
                              </a:solidFill>
                              <a:latin typeface="Cambria Math" panose="02040503050406030204" pitchFamily="18" charset="0"/>
                            </a:rPr>
                            <m:t>2</m:t>
                          </m:r>
                        </m:sup>
                      </m:sSubSup>
                      <m:nary>
                        <m:naryPr>
                          <m:chr m:val="∑"/>
                          <m:supHide m:val="on"/>
                          <m:ctrlPr>
                            <a:rPr lang="en-US" b="0" i="1" dirty="0" smtClean="0">
                              <a:solidFill>
                                <a:schemeClr val="tx1">
                                  <a:lumMod val="85000"/>
                                  <a:lumOff val="15000"/>
                                </a:schemeClr>
                              </a:solidFill>
                              <a:latin typeface="Cambria Math" charset="0"/>
                            </a:rPr>
                          </m:ctrlPr>
                        </m:naryPr>
                        <m:sub>
                          <m:acc>
                            <m:accPr>
                              <m:chr m:val="⃗"/>
                              <m:ctrlPr>
                                <a:rPr lang="en-US" b="0" i="1" dirty="0" smtClean="0">
                                  <a:solidFill>
                                    <a:schemeClr val="tx1">
                                      <a:lumMod val="85000"/>
                                      <a:lumOff val="15000"/>
                                    </a:schemeClr>
                                  </a:solidFill>
                                  <a:latin typeface="Cambria Math" charset="0"/>
                                </a:rPr>
                              </m:ctrlPr>
                            </m:accPr>
                            <m:e>
                              <m:r>
                                <a:rPr lang="en-US" b="0" i="1" dirty="0" smtClean="0">
                                  <a:solidFill>
                                    <a:schemeClr val="tx1">
                                      <a:lumMod val="85000"/>
                                      <a:lumOff val="15000"/>
                                    </a:schemeClr>
                                  </a:solidFill>
                                  <a:latin typeface="Cambria Math" panose="02040503050406030204" pitchFamily="18" charset="0"/>
                                </a:rPr>
                                <m:t>𝑟</m:t>
                              </m:r>
                            </m:e>
                          </m:acc>
                          <m:r>
                            <a:rPr lang="en-US" b="0" i="1" dirty="0" smtClean="0">
                              <a:solidFill>
                                <a:schemeClr val="tx1">
                                  <a:lumMod val="85000"/>
                                  <a:lumOff val="15000"/>
                                </a:schemeClr>
                              </a:solidFill>
                              <a:latin typeface="Cambria Math" panose="02040503050406030204" pitchFamily="18" charset="0"/>
                            </a:rPr>
                            <m:t>′</m:t>
                          </m:r>
                        </m:sub>
                        <m:sup/>
                        <m:e>
                          <m:sSubSup>
                            <m:sSubSupPr>
                              <m:ctrlPr>
                                <a:rPr lang="en-US" b="0" i="1" dirty="0" smtClean="0">
                                  <a:solidFill>
                                    <a:schemeClr val="tx1">
                                      <a:lumMod val="85000"/>
                                      <a:lumOff val="15000"/>
                                    </a:schemeClr>
                                  </a:solidFill>
                                  <a:latin typeface="Cambria Math" charset="0"/>
                                </a:rPr>
                              </m:ctrlPr>
                            </m:sSubSupPr>
                            <m:e>
                              <m:sSup>
                                <m:sSupPr>
                                  <m:ctrlPr>
                                    <a:rPr lang="en-US" b="0" i="1" dirty="0" smtClean="0">
                                      <a:solidFill>
                                        <a:schemeClr val="tx1">
                                          <a:lumMod val="85000"/>
                                          <a:lumOff val="15000"/>
                                        </a:schemeClr>
                                      </a:solidFill>
                                      <a:latin typeface="Cambria Math" charset="0"/>
                                    </a:rPr>
                                  </m:ctrlPr>
                                </m:sSupPr>
                                <m:e>
                                  <m:r>
                                    <a:rPr lang="en-US" b="0" i="1" dirty="0" smtClean="0">
                                      <a:solidFill>
                                        <a:schemeClr val="tx1">
                                          <a:lumMod val="85000"/>
                                          <a:lumOff val="15000"/>
                                        </a:schemeClr>
                                      </a:solidFill>
                                      <a:latin typeface="Cambria Math" panose="02040503050406030204" pitchFamily="18" charset="0"/>
                                    </a:rPr>
                                    <m:t>𝜒</m:t>
                                  </m:r>
                                </m:e>
                                <m:sup>
                                  <m:r>
                                    <a:rPr lang="en-US" b="0" i="1" dirty="0" smtClean="0">
                                      <a:solidFill>
                                        <a:schemeClr val="tx1">
                                          <a:lumMod val="85000"/>
                                          <a:lumOff val="15000"/>
                                        </a:schemeClr>
                                      </a:solidFill>
                                      <a:latin typeface="Cambria Math" charset="0"/>
                                    </a:rPr>
                                    <m:t>𝑑</m:t>
                                  </m:r>
                                </m:sup>
                              </m:sSup>
                            </m:e>
                            <m:sub>
                              <m:acc>
                                <m:accPr>
                                  <m:chr m:val="⃗"/>
                                  <m:ctrlPr>
                                    <a:rPr lang="en-US" b="0" i="1" dirty="0" smtClean="0">
                                      <a:solidFill>
                                        <a:schemeClr val="tx1">
                                          <a:lumMod val="85000"/>
                                          <a:lumOff val="15000"/>
                                        </a:schemeClr>
                                      </a:solidFill>
                                      <a:latin typeface="Cambria Math" charset="0"/>
                                    </a:rPr>
                                  </m:ctrlPr>
                                </m:accPr>
                                <m:e>
                                  <m:r>
                                    <a:rPr lang="en-US" b="0" i="1" dirty="0" smtClean="0">
                                      <a:solidFill>
                                        <a:schemeClr val="tx1">
                                          <a:lumMod val="85000"/>
                                          <a:lumOff val="15000"/>
                                        </a:schemeClr>
                                      </a:solidFill>
                                      <a:latin typeface="Cambria Math" panose="02040503050406030204" pitchFamily="18" charset="0"/>
                                    </a:rPr>
                                    <m:t>𝑟</m:t>
                                  </m:r>
                                </m:e>
                              </m:acc>
                              <m:r>
                                <a:rPr lang="en-US" b="0" i="1" dirty="0" smtClean="0">
                                  <a:solidFill>
                                    <a:schemeClr val="tx1">
                                      <a:lumMod val="85000"/>
                                      <a:lumOff val="15000"/>
                                    </a:schemeClr>
                                  </a:solidFill>
                                  <a:latin typeface="Cambria Math" panose="02040503050406030204" pitchFamily="18" charset="0"/>
                                </a:rPr>
                                <m:t> </m:t>
                              </m:r>
                              <m:sSup>
                                <m:sSupPr>
                                  <m:ctrlPr>
                                    <a:rPr lang="en-US" b="0" i="1" dirty="0" smtClean="0">
                                      <a:solidFill>
                                        <a:schemeClr val="tx1">
                                          <a:lumMod val="85000"/>
                                          <a:lumOff val="15000"/>
                                        </a:schemeClr>
                                      </a:solidFill>
                                      <a:latin typeface="Cambria Math" charset="0"/>
                                    </a:rPr>
                                  </m:ctrlPr>
                                </m:sSupPr>
                                <m:e>
                                  <m:acc>
                                    <m:accPr>
                                      <m:chr m:val="⃗"/>
                                      <m:ctrlPr>
                                        <a:rPr lang="en-US" b="0" i="1" dirty="0" smtClean="0">
                                          <a:solidFill>
                                            <a:schemeClr val="tx1">
                                              <a:lumMod val="85000"/>
                                              <a:lumOff val="15000"/>
                                            </a:schemeClr>
                                          </a:solidFill>
                                          <a:latin typeface="Cambria Math" charset="0"/>
                                        </a:rPr>
                                      </m:ctrlPr>
                                    </m:accPr>
                                    <m:e>
                                      <m:r>
                                        <a:rPr lang="en-US" b="0" i="1" dirty="0" smtClean="0">
                                          <a:solidFill>
                                            <a:schemeClr val="tx1">
                                              <a:lumMod val="85000"/>
                                              <a:lumOff val="15000"/>
                                            </a:schemeClr>
                                          </a:solidFill>
                                          <a:latin typeface="Cambria Math" panose="02040503050406030204" pitchFamily="18" charset="0"/>
                                        </a:rPr>
                                        <m:t>𝑟</m:t>
                                      </m:r>
                                    </m:e>
                                  </m:acc>
                                </m:e>
                                <m:sup>
                                  <m:r>
                                    <a:rPr lang="en-US" b="0" i="1" dirty="0" smtClean="0">
                                      <a:solidFill>
                                        <a:schemeClr val="tx1">
                                          <a:lumMod val="85000"/>
                                          <a:lumOff val="15000"/>
                                        </a:schemeClr>
                                      </a:solidFill>
                                      <a:latin typeface="Cambria Math" panose="02040503050406030204" pitchFamily="18" charset="0"/>
                                    </a:rPr>
                                    <m:t>′</m:t>
                                  </m:r>
                                </m:sup>
                              </m:sSup>
                            </m:sub>
                            <m:sup>
                              <m:r>
                                <a:rPr lang="en-US" b="0" i="1" dirty="0" smtClean="0">
                                  <a:solidFill>
                                    <a:schemeClr val="tx1">
                                      <a:lumMod val="85000"/>
                                      <a:lumOff val="15000"/>
                                    </a:schemeClr>
                                  </a:solidFill>
                                  <a:latin typeface="Cambria Math" panose="02040503050406030204" pitchFamily="18" charset="0"/>
                                </a:rPr>
                                <m:t>2</m:t>
                              </m:r>
                            </m:sup>
                          </m:sSubSup>
                        </m:e>
                      </m:nary>
                      <m:r>
                        <a:rPr lang="en-US" b="0" i="1" dirty="0" smtClean="0">
                          <a:solidFill>
                            <a:schemeClr val="tx1">
                              <a:lumMod val="85000"/>
                              <a:lumOff val="15000"/>
                            </a:schemeClr>
                          </a:solidFill>
                          <a:latin typeface="Cambria Math" panose="02040503050406030204" pitchFamily="18" charset="0"/>
                        </a:rPr>
                        <m:t>=</m:t>
                      </m:r>
                      <m:sSubSup>
                        <m:sSubSupPr>
                          <m:ctrlPr>
                            <a:rPr lang="en-US" b="0" i="1" dirty="0" smtClean="0">
                              <a:solidFill>
                                <a:schemeClr val="tx1">
                                  <a:lumMod val="85000"/>
                                  <a:lumOff val="15000"/>
                                </a:schemeClr>
                              </a:solidFill>
                              <a:latin typeface="Cambria Math" charset="0"/>
                            </a:rPr>
                          </m:ctrlPr>
                        </m:sSubSupPr>
                        <m:e>
                          <m:r>
                            <a:rPr lang="en-US" b="0" i="1" dirty="0" smtClean="0">
                              <a:solidFill>
                                <a:schemeClr val="tx1">
                                  <a:lumMod val="85000"/>
                                  <a:lumOff val="15000"/>
                                </a:schemeClr>
                              </a:solidFill>
                              <a:latin typeface="Cambria Math" charset="0"/>
                            </a:rPr>
                            <m:t>𝑑</m:t>
                          </m:r>
                        </m:e>
                        <m:sub>
                          <m:r>
                            <a:rPr lang="en-US" b="0" i="1" dirty="0" smtClean="0">
                              <a:solidFill>
                                <a:schemeClr val="tx1">
                                  <a:lumMod val="85000"/>
                                  <a:lumOff val="15000"/>
                                </a:schemeClr>
                              </a:solidFill>
                              <a:latin typeface="Cambria Math" panose="02040503050406030204" pitchFamily="18" charset="0"/>
                            </a:rPr>
                            <m:t>0</m:t>
                          </m:r>
                        </m:sub>
                        <m:sup>
                          <m:r>
                            <a:rPr lang="en-US" b="0" i="1" dirty="0" smtClean="0">
                              <a:solidFill>
                                <a:schemeClr val="tx1">
                                  <a:lumMod val="85000"/>
                                  <a:lumOff val="15000"/>
                                </a:schemeClr>
                              </a:solidFill>
                              <a:latin typeface="Cambria Math" panose="02040503050406030204" pitchFamily="18" charset="0"/>
                            </a:rPr>
                            <m:t>2</m:t>
                          </m:r>
                        </m:sup>
                      </m:sSubSup>
                      <m:nary>
                        <m:naryPr>
                          <m:subHide m:val="on"/>
                          <m:supHide m:val="on"/>
                          <m:ctrlPr>
                            <a:rPr lang="en-US" b="0" i="1" dirty="0" smtClean="0">
                              <a:solidFill>
                                <a:schemeClr val="tx1">
                                  <a:lumMod val="85000"/>
                                  <a:lumOff val="15000"/>
                                </a:schemeClr>
                              </a:solidFill>
                              <a:latin typeface="Cambria Math" charset="0"/>
                            </a:rPr>
                          </m:ctrlPr>
                        </m:naryPr>
                        <m:sub/>
                        <m:sup/>
                        <m:e>
                          <m:f>
                            <m:fPr>
                              <m:ctrlPr>
                                <a:rPr lang="en-US" b="0" i="1" dirty="0" smtClean="0">
                                  <a:solidFill>
                                    <a:schemeClr val="tx1">
                                      <a:lumMod val="85000"/>
                                      <a:lumOff val="15000"/>
                                    </a:schemeClr>
                                  </a:solidFill>
                                  <a:latin typeface="Cambria Math" charset="0"/>
                                </a:rPr>
                              </m:ctrlPr>
                            </m:fPr>
                            <m:num>
                              <m:sSup>
                                <m:sSupPr>
                                  <m:ctrlPr>
                                    <a:rPr lang="en-US" b="0" i="1" dirty="0" smtClean="0">
                                      <a:solidFill>
                                        <a:schemeClr val="tx1">
                                          <a:lumMod val="85000"/>
                                          <a:lumOff val="15000"/>
                                        </a:schemeClr>
                                      </a:solidFill>
                                      <a:latin typeface="Cambria Math" charset="0"/>
                                    </a:rPr>
                                  </m:ctrlPr>
                                </m:sSupPr>
                                <m:e>
                                  <m:r>
                                    <a:rPr lang="en-US" b="0" i="1" dirty="0" smtClean="0">
                                      <a:solidFill>
                                        <a:schemeClr val="tx1">
                                          <a:lumMod val="85000"/>
                                          <a:lumOff val="15000"/>
                                        </a:schemeClr>
                                      </a:solidFill>
                                      <a:latin typeface="Cambria Math" panose="02040503050406030204" pitchFamily="18" charset="0"/>
                                    </a:rPr>
                                    <m:t>𝑑</m:t>
                                  </m:r>
                                </m:e>
                                <m:sup>
                                  <m:r>
                                    <a:rPr lang="en-US" b="0" i="1" dirty="0" smtClean="0">
                                      <a:solidFill>
                                        <a:schemeClr val="tx1">
                                          <a:lumMod val="85000"/>
                                          <a:lumOff val="15000"/>
                                        </a:schemeClr>
                                      </a:solidFill>
                                      <a:latin typeface="Cambria Math" panose="02040503050406030204" pitchFamily="18" charset="0"/>
                                    </a:rPr>
                                    <m:t>𝑑</m:t>
                                  </m:r>
                                </m:sup>
                              </m:sSup>
                              <m:r>
                                <a:rPr lang="en-US" b="0" i="1" dirty="0" smtClean="0">
                                  <a:solidFill>
                                    <a:schemeClr val="tx1">
                                      <a:lumMod val="85000"/>
                                      <a:lumOff val="15000"/>
                                    </a:schemeClr>
                                  </a:solidFill>
                                  <a:latin typeface="Cambria Math" panose="02040503050406030204" pitchFamily="18" charset="0"/>
                                </a:rPr>
                                <m:t>𝑞</m:t>
                              </m:r>
                            </m:num>
                            <m:den>
                              <m:sSup>
                                <m:sSupPr>
                                  <m:ctrlPr>
                                    <a:rPr lang="en-US" b="0" i="1" dirty="0" smtClean="0">
                                      <a:solidFill>
                                        <a:schemeClr val="tx1">
                                          <a:lumMod val="85000"/>
                                          <a:lumOff val="15000"/>
                                        </a:schemeClr>
                                      </a:solidFill>
                                      <a:latin typeface="Cambria Math" charset="0"/>
                                    </a:rPr>
                                  </m:ctrlPr>
                                </m:sSupPr>
                                <m:e>
                                  <m:d>
                                    <m:dPr>
                                      <m:ctrlPr>
                                        <a:rPr lang="en-US" b="0" i="1" dirty="0" smtClean="0">
                                          <a:solidFill>
                                            <a:schemeClr val="tx1">
                                              <a:lumMod val="85000"/>
                                              <a:lumOff val="15000"/>
                                            </a:schemeClr>
                                          </a:solidFill>
                                          <a:latin typeface="Cambria Math" charset="0"/>
                                        </a:rPr>
                                      </m:ctrlPr>
                                    </m:dPr>
                                    <m:e>
                                      <m:r>
                                        <a:rPr lang="en-US" b="0" i="1" dirty="0" smtClean="0">
                                          <a:solidFill>
                                            <a:schemeClr val="tx1">
                                              <a:lumMod val="85000"/>
                                              <a:lumOff val="15000"/>
                                            </a:schemeClr>
                                          </a:solidFill>
                                          <a:latin typeface="Cambria Math" panose="02040503050406030204" pitchFamily="18" charset="0"/>
                                        </a:rPr>
                                        <m:t>2</m:t>
                                      </m:r>
                                      <m:r>
                                        <a:rPr lang="en-US" b="0" i="1" dirty="0" smtClean="0">
                                          <a:solidFill>
                                            <a:schemeClr val="tx1">
                                              <a:lumMod val="85000"/>
                                              <a:lumOff val="15000"/>
                                            </a:schemeClr>
                                          </a:solidFill>
                                          <a:latin typeface="Cambria Math" panose="02040503050406030204" pitchFamily="18" charset="0"/>
                                        </a:rPr>
                                        <m:t>𝜋</m:t>
                                      </m:r>
                                    </m:e>
                                  </m:d>
                                </m:e>
                                <m:sup>
                                  <m:r>
                                    <a:rPr lang="en-US" b="0" i="1" dirty="0" smtClean="0">
                                      <a:solidFill>
                                        <a:schemeClr val="tx1">
                                          <a:lumMod val="85000"/>
                                          <a:lumOff val="15000"/>
                                        </a:schemeClr>
                                      </a:solidFill>
                                      <a:latin typeface="Cambria Math" panose="02040503050406030204" pitchFamily="18" charset="0"/>
                                    </a:rPr>
                                    <m:t>𝑑</m:t>
                                  </m:r>
                                </m:sup>
                              </m:sSup>
                            </m:den>
                          </m:f>
                          <m:sSubSup>
                            <m:sSubSupPr>
                              <m:ctrlPr>
                                <a:rPr lang="en-US" b="0" i="1" dirty="0" smtClean="0">
                                  <a:solidFill>
                                    <a:schemeClr val="tx1">
                                      <a:lumMod val="85000"/>
                                      <a:lumOff val="15000"/>
                                    </a:schemeClr>
                                  </a:solidFill>
                                  <a:latin typeface="Cambria Math" charset="0"/>
                                </a:rPr>
                              </m:ctrlPr>
                            </m:sSubSupPr>
                            <m:e>
                              <m:sSup>
                                <m:sSupPr>
                                  <m:ctrlPr>
                                    <a:rPr lang="en-US" b="0" i="1" dirty="0" smtClean="0">
                                      <a:solidFill>
                                        <a:schemeClr val="tx1">
                                          <a:lumMod val="85000"/>
                                          <a:lumOff val="15000"/>
                                        </a:schemeClr>
                                      </a:solidFill>
                                      <a:latin typeface="Cambria Math" charset="0"/>
                                    </a:rPr>
                                  </m:ctrlPr>
                                </m:sSupPr>
                                <m:e>
                                  <m:r>
                                    <a:rPr lang="en-US" b="0" i="1" dirty="0" smtClean="0">
                                      <a:solidFill>
                                        <a:schemeClr val="tx1">
                                          <a:lumMod val="85000"/>
                                          <a:lumOff val="15000"/>
                                        </a:schemeClr>
                                      </a:solidFill>
                                      <a:latin typeface="Cambria Math" panose="02040503050406030204" pitchFamily="18" charset="0"/>
                                    </a:rPr>
                                    <m:t>𝜒</m:t>
                                  </m:r>
                                </m:e>
                                <m:sup>
                                  <m:r>
                                    <a:rPr lang="en-US" b="0" i="1" dirty="0" smtClean="0">
                                      <a:solidFill>
                                        <a:schemeClr val="tx1">
                                          <a:lumMod val="85000"/>
                                          <a:lumOff val="15000"/>
                                        </a:schemeClr>
                                      </a:solidFill>
                                      <a:latin typeface="Cambria Math" charset="0"/>
                                    </a:rPr>
                                    <m:t>𝑑</m:t>
                                  </m:r>
                                </m:sup>
                              </m:sSup>
                            </m:e>
                            <m:sub>
                              <m:acc>
                                <m:accPr>
                                  <m:chr m:val="⃗"/>
                                  <m:ctrlPr>
                                    <a:rPr lang="en-US" b="0" i="1" dirty="0" smtClean="0">
                                      <a:solidFill>
                                        <a:schemeClr val="tx1">
                                          <a:lumMod val="85000"/>
                                          <a:lumOff val="15000"/>
                                        </a:schemeClr>
                                      </a:solidFill>
                                      <a:latin typeface="Cambria Math" charset="0"/>
                                    </a:rPr>
                                  </m:ctrlPr>
                                </m:accPr>
                                <m:e>
                                  <m:r>
                                    <a:rPr lang="en-US" b="0" i="1" dirty="0" smtClean="0">
                                      <a:solidFill>
                                        <a:schemeClr val="tx1">
                                          <a:lumMod val="85000"/>
                                          <a:lumOff val="15000"/>
                                        </a:schemeClr>
                                      </a:solidFill>
                                      <a:latin typeface="Cambria Math" panose="02040503050406030204" pitchFamily="18" charset="0"/>
                                    </a:rPr>
                                    <m:t>𝑞</m:t>
                                  </m:r>
                                </m:e>
                              </m:acc>
                            </m:sub>
                            <m:sup>
                              <m:r>
                                <a:rPr lang="en-US" b="0" i="1" dirty="0" smtClean="0">
                                  <a:solidFill>
                                    <a:schemeClr val="tx1">
                                      <a:lumMod val="85000"/>
                                      <a:lumOff val="15000"/>
                                    </a:schemeClr>
                                  </a:solidFill>
                                  <a:latin typeface="Cambria Math" panose="02040503050406030204" pitchFamily="18" charset="0"/>
                                </a:rPr>
                                <m:t>2</m:t>
                              </m:r>
                            </m:sup>
                          </m:sSubSup>
                        </m:e>
                      </m:nary>
                      <m:r>
                        <a:rPr lang="en-US" b="0" i="1" dirty="0" smtClean="0">
                          <a:solidFill>
                            <a:schemeClr val="tx1">
                              <a:lumMod val="85000"/>
                              <a:lumOff val="15000"/>
                            </a:schemeClr>
                          </a:solidFill>
                          <a:latin typeface="Cambria Math" panose="02040503050406030204" pitchFamily="18" charset="0"/>
                        </a:rPr>
                        <m:t>∼∫</m:t>
                      </m:r>
                      <m:sSup>
                        <m:sSupPr>
                          <m:ctrlPr>
                            <a:rPr lang="en-US" b="0" i="1" dirty="0" smtClean="0">
                              <a:solidFill>
                                <a:schemeClr val="tx1">
                                  <a:lumMod val="85000"/>
                                  <a:lumOff val="15000"/>
                                </a:schemeClr>
                              </a:solidFill>
                              <a:latin typeface="Cambria Math" charset="0"/>
                            </a:rPr>
                          </m:ctrlPr>
                        </m:sSupPr>
                        <m:e>
                          <m:r>
                            <a:rPr lang="en-US" b="0" i="1" dirty="0" smtClean="0">
                              <a:solidFill>
                                <a:schemeClr val="tx1">
                                  <a:lumMod val="85000"/>
                                  <a:lumOff val="15000"/>
                                </a:schemeClr>
                              </a:solidFill>
                              <a:latin typeface="Cambria Math" panose="02040503050406030204" pitchFamily="18" charset="0"/>
                            </a:rPr>
                            <m:t>𝑑</m:t>
                          </m:r>
                        </m:e>
                        <m:sup>
                          <m:r>
                            <a:rPr lang="en-US" b="0" i="1" dirty="0" smtClean="0">
                              <a:solidFill>
                                <a:schemeClr val="tx1">
                                  <a:lumMod val="85000"/>
                                  <a:lumOff val="15000"/>
                                </a:schemeClr>
                              </a:solidFill>
                              <a:latin typeface="Cambria Math" panose="02040503050406030204" pitchFamily="18" charset="0"/>
                            </a:rPr>
                            <m:t>𝑑</m:t>
                          </m:r>
                        </m:sup>
                      </m:sSup>
                      <m:r>
                        <a:rPr lang="en-US" b="0" i="1" dirty="0" smtClean="0">
                          <a:solidFill>
                            <a:schemeClr val="tx1">
                              <a:lumMod val="85000"/>
                              <a:lumOff val="15000"/>
                            </a:schemeClr>
                          </a:solidFill>
                          <a:latin typeface="Cambria Math" panose="02040503050406030204" pitchFamily="18" charset="0"/>
                        </a:rPr>
                        <m:t>𝑞</m:t>
                      </m:r>
                      <m:sSup>
                        <m:sSupPr>
                          <m:ctrlPr>
                            <a:rPr lang="en-US" b="0" i="1" dirty="0" smtClean="0">
                              <a:solidFill>
                                <a:schemeClr val="tx1">
                                  <a:lumMod val="85000"/>
                                  <a:lumOff val="15000"/>
                                </a:schemeClr>
                              </a:solidFill>
                              <a:latin typeface="Cambria Math" charset="0"/>
                            </a:rPr>
                          </m:ctrlPr>
                        </m:sSupPr>
                        <m:e>
                          <m:d>
                            <m:dPr>
                              <m:ctrlPr>
                                <a:rPr lang="en-US" b="0" i="1" dirty="0" smtClean="0">
                                  <a:solidFill>
                                    <a:schemeClr val="tx1">
                                      <a:lumMod val="85000"/>
                                      <a:lumOff val="15000"/>
                                    </a:schemeClr>
                                  </a:solidFill>
                                  <a:latin typeface="Cambria Math" charset="0"/>
                                </a:rPr>
                              </m:ctrlPr>
                            </m:dPr>
                            <m:e>
                              <m:f>
                                <m:fPr>
                                  <m:ctrlPr>
                                    <a:rPr lang="en-US" b="0" i="1" dirty="0" smtClean="0">
                                      <a:solidFill>
                                        <a:schemeClr val="tx1">
                                          <a:lumMod val="85000"/>
                                          <a:lumOff val="15000"/>
                                        </a:schemeClr>
                                      </a:solidFill>
                                      <a:latin typeface="Cambria Math" charset="0"/>
                                    </a:rPr>
                                  </m:ctrlPr>
                                </m:fPr>
                                <m:num>
                                  <m:r>
                                    <a:rPr lang="en-US" b="0" i="1" dirty="0" smtClean="0">
                                      <a:solidFill>
                                        <a:schemeClr val="tx1">
                                          <a:lumMod val="85000"/>
                                          <a:lumOff val="15000"/>
                                        </a:schemeClr>
                                      </a:solidFill>
                                      <a:latin typeface="Cambria Math" panose="02040503050406030204" pitchFamily="18" charset="0"/>
                                    </a:rPr>
                                    <m:t>1</m:t>
                                  </m:r>
                                </m:num>
                                <m:den>
                                  <m:r>
                                    <a:rPr lang="en-US" b="0" i="1" dirty="0" smtClean="0">
                                      <a:solidFill>
                                        <a:schemeClr val="tx1">
                                          <a:lumMod val="85000"/>
                                          <a:lumOff val="15000"/>
                                        </a:schemeClr>
                                      </a:solidFill>
                                      <a:latin typeface="Cambria Math" panose="02040503050406030204" pitchFamily="18" charset="0"/>
                                    </a:rPr>
                                    <m:t>𝑞</m:t>
                                  </m:r>
                                </m:den>
                              </m:f>
                            </m:e>
                          </m:d>
                        </m:e>
                        <m:sup>
                          <m:r>
                            <a:rPr lang="en-US" b="0" i="1" dirty="0" smtClean="0">
                              <a:solidFill>
                                <a:schemeClr val="tx1">
                                  <a:lumMod val="85000"/>
                                  <a:lumOff val="15000"/>
                                </a:schemeClr>
                              </a:solidFill>
                              <a:latin typeface="Cambria Math" panose="02040503050406030204" pitchFamily="18" charset="0"/>
                            </a:rPr>
                            <m:t>2</m:t>
                          </m:r>
                        </m:sup>
                      </m:sSup>
                    </m:oMath>
                  </m:oMathPara>
                </a14:m>
                <a:endParaRPr lang="en-US" dirty="0">
                  <a:solidFill>
                    <a:schemeClr val="tx1">
                      <a:lumMod val="85000"/>
                      <a:lumOff val="15000"/>
                    </a:schemeClr>
                  </a:solidFill>
                </a:endParaRPr>
              </a:p>
            </p:txBody>
          </p:sp>
        </mc:Choice>
        <mc:Fallback xmlns="">
          <p:sp>
            <p:nvSpPr>
              <p:cNvPr id="14" name="TextBox 13">
                <a:extLst>
                  <a:ext uri="{FF2B5EF4-FFF2-40B4-BE49-F238E27FC236}">
                    <a16:creationId xmlns:a16="http://schemas.microsoft.com/office/drawing/2014/main" xmlns="" xmlns:a14="http://schemas.microsoft.com/office/drawing/2010/main" id="{76F0511A-6176-4E21-A3E6-223AC73965EE}"/>
                  </a:ext>
                </a:extLst>
              </p:cNvPr>
              <p:cNvSpPr txBox="1">
                <a:spLocks noRot="1" noChangeAspect="1" noMove="1" noResize="1" noEditPoints="1" noAdjustHandles="1" noChangeArrowheads="1" noChangeShapeType="1" noTextEdit="1"/>
              </p:cNvSpPr>
              <p:nvPr/>
            </p:nvSpPr>
            <p:spPr>
              <a:xfrm>
                <a:off x="1166443" y="4626166"/>
                <a:ext cx="4688080" cy="2034788"/>
              </a:xfrm>
              <a:prstGeom prst="rect">
                <a:avLst/>
              </a:prstGeom>
              <a:blipFill rotWithShape="0">
                <a:blip r:embed="rId6"/>
                <a:stretch>
                  <a:fillRect l="-1040" t="-1796" r="-2211"/>
                </a:stretch>
              </a:blipFill>
            </p:spPr>
            <p:txBody>
              <a:bodyPr/>
              <a:lstStyle/>
              <a:p>
                <a:r>
                  <a:rPr lang="en-US">
                    <a:noFill/>
                  </a:rPr>
                  <a:t> </a:t>
                </a:r>
              </a:p>
            </p:txBody>
          </p:sp>
        </mc:Fallback>
      </mc:AlternateContent>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Concentration of bond impurity</a:t>
            </a:r>
            <a:endParaRPr lang="x-none" sz="3600" dirty="0"/>
          </a:p>
        </p:txBody>
      </p:sp>
      <p:cxnSp>
        <p:nvCxnSpPr>
          <p:cNvPr id="15" name="Straight Connector 1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Infrared divergence driven by disorder</a:t>
            </a:r>
            <a:endParaRPr lang="en-US" sz="3200" dirty="0">
              <a:solidFill>
                <a:schemeClr val="tx1">
                  <a:lumMod val="65000"/>
                  <a:lumOff val="35000"/>
                </a:schemeClr>
              </a:solidFill>
              <a:latin typeface="+mj-lt"/>
            </a:endParaRPr>
          </a:p>
        </p:txBody>
      </p:sp>
    </p:spTree>
    <p:extLst>
      <p:ext uri="{BB962C8B-B14F-4D97-AF65-F5344CB8AC3E}">
        <p14:creationId xmlns:p14="http://schemas.microsoft.com/office/powerpoint/2010/main" val="1884231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841598"/>
            <a:ext cx="9144000" cy="2268414"/>
          </a:xfrm>
        </p:spPr>
        <p:txBody>
          <a:bodyPr>
            <a:normAutofit/>
          </a:bodyPr>
          <a:lstStyle/>
          <a:p>
            <a:pPr algn="l"/>
            <a:r>
              <a:rPr lang="en-US" sz="4000" dirty="0">
                <a:solidFill>
                  <a:schemeClr val="accent2">
                    <a:lumMod val="50000"/>
                  </a:schemeClr>
                </a:solidFill>
              </a:rPr>
              <a:t>Quenched Disorder: Random Couplings</a:t>
            </a:r>
            <a:endParaRPr lang="x-none" sz="4000"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2" y="3813052"/>
            <a:ext cx="9383813" cy="922529"/>
          </a:xfrm>
        </p:spPr>
        <p:txBody>
          <a:bodyPr>
            <a:noAutofit/>
          </a:bodyPr>
          <a:lstStyle/>
          <a:p>
            <a:pPr algn="l">
              <a:lnSpc>
                <a:spcPct val="100000"/>
              </a:lnSpc>
            </a:pPr>
            <a:r>
              <a:rPr lang="en-US" dirty="0" smtClean="0">
                <a:solidFill>
                  <a:schemeClr val="tx1">
                    <a:lumMod val="65000"/>
                    <a:lumOff val="35000"/>
                  </a:schemeClr>
                </a:solidFill>
              </a:rPr>
              <a:t>The Energetics Argument for the Lower Critical Dimension</a:t>
            </a:r>
            <a:endParaRPr lang="en-US" dirty="0">
              <a:solidFill>
                <a:schemeClr val="tx1">
                  <a:lumMod val="65000"/>
                  <a:lumOff val="35000"/>
                </a:schemeClr>
              </a:solidFill>
            </a:endParaRPr>
          </a:p>
        </p:txBody>
      </p:sp>
      <p:cxnSp>
        <p:nvCxnSpPr>
          <p:cNvPr id="6" name="Straight Connector 5">
            <a:extLst>
              <a:ext uri="{FF2B5EF4-FFF2-40B4-BE49-F238E27FC236}">
                <a16:creationId xmlns:a16="http://schemas.microsoft.com/office/drawing/2014/main" xmlns="" id="{ED567242-5A9E-41B9-B90C-625163F4C5F0}"/>
              </a:ext>
            </a:extLst>
          </p:cNvPr>
          <p:cNvCxnSpPr>
            <a:cxnSpLocks/>
          </p:cNvCxnSpPr>
          <p:nvPr/>
        </p:nvCxnSpPr>
        <p:spPr>
          <a:xfrm>
            <a:off x="1635368" y="3405431"/>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21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a:lnSpc>
                <a:spcPct val="110000"/>
              </a:lnSpc>
              <a:buFont typeface="Wingdings" charset="2"/>
              <a:buChar char="§"/>
            </a:pPr>
            <a:r>
              <a:rPr lang="en-US" sz="2000" dirty="0" smtClean="0">
                <a:solidFill>
                  <a:schemeClr val="tx1">
                    <a:lumMod val="85000"/>
                    <a:lumOff val="15000"/>
                  </a:schemeClr>
                </a:solidFill>
              </a:rPr>
              <a:t>Our </a:t>
            </a:r>
            <a:r>
              <a:rPr lang="en-US" sz="2000" dirty="0">
                <a:solidFill>
                  <a:schemeClr val="tx1">
                    <a:lumMod val="85000"/>
                    <a:lumOff val="15000"/>
                  </a:schemeClr>
                </a:solidFill>
              </a:rPr>
              <a:t>test syste</a:t>
            </a:r>
            <a:r>
              <a:rPr lang="en-US" sz="2000" dirty="0"/>
              <a:t>m: The triangular lattice Heisenberg model</a:t>
            </a:r>
            <a:endParaRPr lang="en-US" sz="2000" dirty="0">
              <a:solidFill>
                <a:schemeClr val="tx1">
                  <a:lumMod val="85000"/>
                  <a:lumOff val="15000"/>
                </a:schemeClr>
              </a:solidFill>
            </a:endParaRPr>
          </a:p>
          <a:p>
            <a:pPr>
              <a:lnSpc>
                <a:spcPct val="110000"/>
              </a:lnSpc>
              <a:buFont typeface="Wingdings" panose="05000000000000000000" pitchFamily="2" charset="2"/>
              <a:buChar char="§"/>
            </a:pPr>
            <a:endParaRPr lang="en-US" dirty="0">
              <a:solidFill>
                <a:schemeClr val="tx1">
                  <a:lumMod val="85000"/>
                  <a:lumOff val="15000"/>
                </a:schemeClr>
              </a:solidFill>
            </a:endParaRPr>
          </a:p>
          <a:p>
            <a:pPr>
              <a:lnSpc>
                <a:spcPct val="110000"/>
              </a:lnSpc>
              <a:buFont typeface="Wingdings" panose="05000000000000000000" pitchFamily="2" charset="2"/>
              <a:buChar char="§"/>
            </a:pPr>
            <a:endParaRPr lang="en-US" dirty="0">
              <a:solidFill>
                <a:schemeClr val="tx1">
                  <a:lumMod val="85000"/>
                  <a:lumOff val="15000"/>
                </a:schemeClr>
              </a:solidFill>
            </a:endParaRPr>
          </a:p>
          <a:p>
            <a:pPr>
              <a:lnSpc>
                <a:spcPct val="110000"/>
              </a:lnSpc>
              <a:buFont typeface="Wingdings" panose="05000000000000000000" pitchFamily="2" charset="2"/>
              <a:buChar char="§"/>
            </a:pPr>
            <a:endParaRPr lang="en-US" dirty="0">
              <a:solidFill>
                <a:schemeClr val="tx1">
                  <a:lumMod val="85000"/>
                  <a:lumOff val="15000"/>
                </a:schemeClr>
              </a:solidFill>
            </a:endParaRPr>
          </a:p>
          <a:p>
            <a:pPr>
              <a:lnSpc>
                <a:spcPct val="110000"/>
              </a:lnSpc>
              <a:buFont typeface="Wingdings" panose="05000000000000000000" pitchFamily="2" charset="2"/>
              <a:buChar char="§"/>
            </a:pPr>
            <a:endParaRPr lang="en-US" dirty="0">
              <a:solidFill>
                <a:schemeClr val="tx1">
                  <a:lumMod val="85000"/>
                  <a:lumOff val="15000"/>
                </a:schemeClr>
              </a:solidFill>
            </a:endParaRPr>
          </a:p>
          <a:p>
            <a:pPr marL="0" indent="0" algn="ctr">
              <a:lnSpc>
                <a:spcPct val="110000"/>
              </a:lnSpc>
              <a:buNone/>
            </a:pPr>
            <a:endParaRPr lang="en-US" dirty="0">
              <a:solidFill>
                <a:schemeClr val="tx1">
                  <a:lumMod val="85000"/>
                  <a:lumOff val="15000"/>
                </a:schemeClr>
              </a:solidFill>
            </a:endParaRPr>
          </a:p>
          <a:p>
            <a:pPr marL="0" indent="0" algn="ctr">
              <a:lnSpc>
                <a:spcPct val="110000"/>
              </a:lnSpc>
              <a:buNone/>
            </a:pPr>
            <a:r>
              <a:rPr lang="en-US" sz="2400" dirty="0" smtClean="0">
                <a:solidFill>
                  <a:schemeClr val="accent2">
                    <a:lumMod val="50000"/>
                  </a:schemeClr>
                </a:solidFill>
              </a:rPr>
              <a:t>Claim</a:t>
            </a:r>
            <a:r>
              <a:rPr lang="en-US" sz="2400" dirty="0">
                <a:solidFill>
                  <a:schemeClr val="accent2">
                    <a:lumMod val="50000"/>
                  </a:schemeClr>
                </a:solidFill>
              </a:rPr>
              <a:t>: In a system with random couplings, some rare regions emerge with a particular bond anisotropy orientation.</a:t>
            </a:r>
          </a:p>
        </p:txBody>
      </p:sp>
      <mc:AlternateContent xmlns:mc="http://schemas.openxmlformats.org/markup-compatibility/2006">
        <mc:Choice xmlns:a14="http://schemas.microsoft.com/office/drawing/2010/main" Requires="a14">
          <p:sp>
            <p:nvSpPr>
              <p:cNvPr id="244" name="TextBox 243">
                <a:extLst>
                  <a:ext uri="{FF2B5EF4-FFF2-40B4-BE49-F238E27FC236}">
                    <a16:creationId xmlns:a16="http://schemas.microsoft.com/office/drawing/2014/main" xmlns="" id="{94233CE1-06D0-4A9B-9F02-2781C8450F7D}"/>
                  </a:ext>
                </a:extLst>
              </p:cNvPr>
              <p:cNvSpPr txBox="1"/>
              <p:nvPr/>
            </p:nvSpPr>
            <p:spPr>
              <a:xfrm>
                <a:off x="5610969" y="3718925"/>
                <a:ext cx="5100427" cy="1337867"/>
              </a:xfrm>
              <a:prstGeom prst="rect">
                <a:avLst/>
              </a:prstGeom>
              <a:noFill/>
            </p:spPr>
            <p:txBody>
              <a:bodyPr wrap="square" rtlCol="0">
                <a:spAutoFit/>
              </a:bodyPr>
              <a:lstStyle/>
              <a:p>
                <a:pPr marL="342900" indent="-342900">
                  <a:buFont typeface="Courier New" charset="0"/>
                  <a:buChar char="o"/>
                </a:pPr>
                <a:r>
                  <a:rPr lang="en-US" dirty="0" smtClean="0">
                    <a:solidFill>
                      <a:schemeClr val="tx1">
                        <a:lumMod val="85000"/>
                        <a:lumOff val="15000"/>
                      </a:schemeClr>
                    </a:solidFill>
                  </a:rPr>
                  <a:t>In the “isotropic” limit, </a:t>
                </a:r>
                <a14:m>
                  <m:oMath xmlns:m="http://schemas.openxmlformats.org/officeDocument/2006/math">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𝐽</m:t>
                        </m:r>
                      </m:e>
                      <m:sub>
                        <m:r>
                          <a:rPr lang="en-US" b="0" i="1" smtClean="0">
                            <a:solidFill>
                              <a:schemeClr val="tx1">
                                <a:lumMod val="85000"/>
                                <a:lumOff val="15000"/>
                              </a:schemeClr>
                            </a:solidFill>
                            <a:latin typeface="Cambria Math" charset="0"/>
                          </a:rPr>
                          <m:t>1</m:t>
                        </m:r>
                      </m:sub>
                    </m:sSub>
                    <m:r>
                      <a:rPr lang="en-US" b="0" i="1" smtClean="0">
                        <a:solidFill>
                          <a:schemeClr val="tx1">
                            <a:lumMod val="85000"/>
                            <a:lumOff val="15000"/>
                          </a:schemeClr>
                        </a:solidFill>
                        <a:latin typeface="Cambria Math" charset="0"/>
                      </a:rPr>
                      <m:t>=</m:t>
                    </m:r>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𝐽</m:t>
                        </m:r>
                      </m:e>
                      <m:sub>
                        <m:r>
                          <a:rPr lang="en-US" b="0" i="1" smtClean="0">
                            <a:solidFill>
                              <a:schemeClr val="tx1">
                                <a:lumMod val="85000"/>
                                <a:lumOff val="15000"/>
                              </a:schemeClr>
                            </a:solidFill>
                            <a:latin typeface="Cambria Math" charset="0"/>
                          </a:rPr>
                          <m:t>2</m:t>
                        </m:r>
                      </m:sub>
                    </m:sSub>
                  </m:oMath>
                </a14:m>
                <a:r>
                  <a:rPr lang="en-US" dirty="0" smtClean="0">
                    <a:solidFill>
                      <a:schemeClr val="tx1">
                        <a:lumMod val="85000"/>
                        <a:lumOff val="15000"/>
                      </a:schemeClr>
                    </a:solidFill>
                  </a:rPr>
                  <a:t> , the </a:t>
                </a:r>
                <a:r>
                  <a:rPr lang="en-US" dirty="0">
                    <a:solidFill>
                      <a:schemeClr val="tx1">
                        <a:lumMod val="85000"/>
                        <a:lumOff val="15000"/>
                      </a:schemeClr>
                    </a:solidFill>
                  </a:rPr>
                  <a:t>ground state has spiral order with ordering vector,</a:t>
                </a:r>
              </a:p>
              <a:p>
                <a:r>
                  <a:rPr lang="en-US" dirty="0">
                    <a:solidFill>
                      <a:schemeClr val="tx1">
                        <a:lumMod val="85000"/>
                        <a:lumOff val="15000"/>
                      </a:schemeClr>
                    </a:solidFill>
                  </a:rPr>
                  <a:t>		</a:t>
                </a:r>
                <a14:m>
                  <m:oMath xmlns:m="http://schemas.openxmlformats.org/officeDocument/2006/math">
                    <m:r>
                      <a:rPr lang="en-US" b="0" i="1" smtClean="0">
                        <a:solidFill>
                          <a:schemeClr val="tx1">
                            <a:lumMod val="85000"/>
                            <a:lumOff val="15000"/>
                          </a:schemeClr>
                        </a:solidFill>
                        <a:latin typeface="Cambria Math" panose="02040503050406030204" pitchFamily="18" charset="0"/>
                      </a:rPr>
                      <m:t>𝑄</m:t>
                    </m:r>
                    <m:r>
                      <a:rPr lang="en-US" b="0" i="1" smtClean="0">
                        <a:solidFill>
                          <a:schemeClr val="tx1">
                            <a:lumMod val="85000"/>
                            <a:lumOff val="15000"/>
                          </a:schemeClr>
                        </a:solidFill>
                        <a:latin typeface="Cambria Math" panose="02040503050406030204" pitchFamily="18" charset="0"/>
                      </a:rPr>
                      <m:t>=</m:t>
                    </m:r>
                    <m:d>
                      <m:dPr>
                        <m:ctrlPr>
                          <a:rPr lang="en-US" b="0" i="1" smtClean="0">
                            <a:solidFill>
                              <a:schemeClr val="tx1">
                                <a:lumMod val="85000"/>
                                <a:lumOff val="15000"/>
                              </a:schemeClr>
                            </a:solidFill>
                            <a:latin typeface="Cambria Math" charset="0"/>
                          </a:rPr>
                        </m:ctrlPr>
                      </m:dPr>
                      <m:e>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panose="02040503050406030204" pitchFamily="18" charset="0"/>
                              </a:rPr>
                              <m:t>2</m:t>
                            </m:r>
                            <m:r>
                              <a:rPr lang="en-US" b="0" i="1" smtClean="0">
                                <a:solidFill>
                                  <a:schemeClr val="tx1">
                                    <a:lumMod val="85000"/>
                                    <a:lumOff val="15000"/>
                                  </a:schemeClr>
                                </a:solidFill>
                                <a:latin typeface="Cambria Math" panose="02040503050406030204" pitchFamily="18" charset="0"/>
                              </a:rPr>
                              <m:t>𝜋</m:t>
                            </m:r>
                          </m:num>
                          <m:den>
                            <m:r>
                              <a:rPr lang="en-US" b="0" i="1" smtClean="0">
                                <a:solidFill>
                                  <a:schemeClr val="tx1">
                                    <a:lumMod val="85000"/>
                                    <a:lumOff val="15000"/>
                                  </a:schemeClr>
                                </a:solidFill>
                                <a:latin typeface="Cambria Math" panose="02040503050406030204" pitchFamily="18" charset="0"/>
                              </a:rPr>
                              <m:t>3</m:t>
                            </m:r>
                          </m:den>
                        </m:f>
                        <m:r>
                          <a:rPr lang="en-US" b="0" i="1" smtClean="0">
                            <a:solidFill>
                              <a:schemeClr val="tx1">
                                <a:lumMod val="85000"/>
                                <a:lumOff val="15000"/>
                              </a:schemeClr>
                            </a:solidFill>
                            <a:latin typeface="Cambria Math" panose="02040503050406030204" pitchFamily="18" charset="0"/>
                          </a:rPr>
                          <m:t>,</m:t>
                        </m:r>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panose="02040503050406030204" pitchFamily="18" charset="0"/>
                              </a:rPr>
                              <m:t>2</m:t>
                            </m:r>
                            <m:r>
                              <a:rPr lang="en-US" b="0" i="1" smtClean="0">
                                <a:solidFill>
                                  <a:schemeClr val="tx1">
                                    <a:lumMod val="85000"/>
                                    <a:lumOff val="15000"/>
                                  </a:schemeClr>
                                </a:solidFill>
                                <a:latin typeface="Cambria Math" panose="02040503050406030204" pitchFamily="18" charset="0"/>
                              </a:rPr>
                              <m:t>𝜋</m:t>
                            </m:r>
                          </m:num>
                          <m:den>
                            <m:r>
                              <a:rPr lang="en-US" b="0" i="1" smtClean="0">
                                <a:solidFill>
                                  <a:schemeClr val="tx1">
                                    <a:lumMod val="85000"/>
                                    <a:lumOff val="15000"/>
                                  </a:schemeClr>
                                </a:solidFill>
                                <a:latin typeface="Cambria Math" panose="02040503050406030204" pitchFamily="18" charset="0"/>
                              </a:rPr>
                              <m:t>3</m:t>
                            </m:r>
                          </m:den>
                        </m:f>
                      </m:e>
                    </m:d>
                  </m:oMath>
                </a14:m>
                <a:r>
                  <a:rPr lang="en-US" dirty="0">
                    <a:solidFill>
                      <a:schemeClr val="tx1">
                        <a:lumMod val="85000"/>
                        <a:lumOff val="15000"/>
                      </a:schemeClr>
                    </a:solidFill>
                  </a:rPr>
                  <a:t> </a:t>
                </a:r>
              </a:p>
              <a:p>
                <a:pPr marL="342900" indent="-342900">
                  <a:buFont typeface="Arial" panose="020B0604020202020204" pitchFamily="34" charset="0"/>
                  <a:buChar char="•"/>
                </a:pPr>
                <a:endParaRPr lang="en-US" dirty="0">
                  <a:solidFill>
                    <a:schemeClr val="tx1">
                      <a:lumMod val="85000"/>
                      <a:lumOff val="15000"/>
                    </a:schemeClr>
                  </a:solidFill>
                </a:endParaRPr>
              </a:p>
            </p:txBody>
          </p:sp>
        </mc:Choice>
        <mc:Fallback>
          <p:sp>
            <p:nvSpPr>
              <p:cNvPr id="244" name="TextBox 243">
                <a:extLst>
                  <a:ext uri="{FF2B5EF4-FFF2-40B4-BE49-F238E27FC236}">
                    <a16:creationId xmlns:a16="http://schemas.microsoft.com/office/drawing/2014/main" xmlns="" xmlns:a14="http://schemas.microsoft.com/office/drawing/2010/main" id="{94233CE1-06D0-4A9B-9F02-2781C8450F7D}"/>
                  </a:ext>
                </a:extLst>
              </p:cNvPr>
              <p:cNvSpPr txBox="1">
                <a:spLocks noRot="1" noChangeAspect="1" noMove="1" noResize="1" noEditPoints="1" noAdjustHandles="1" noChangeArrowheads="1" noChangeShapeType="1" noTextEdit="1"/>
              </p:cNvSpPr>
              <p:nvPr/>
            </p:nvSpPr>
            <p:spPr>
              <a:xfrm>
                <a:off x="5610969" y="3718925"/>
                <a:ext cx="5100427" cy="1337867"/>
              </a:xfrm>
              <a:prstGeom prst="rect">
                <a:avLst/>
              </a:prstGeom>
              <a:blipFill rotWithShape="0">
                <a:blip r:embed="rId2"/>
                <a:stretch>
                  <a:fillRect l="-836" t="-2273" r="-95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A0E0AAD1-99C7-4545-9AFE-2E3D877EC003}"/>
              </a:ext>
            </a:extLst>
          </p:cNvPr>
          <p:cNvPicPr>
            <a:picLocks noChangeAspect="1"/>
          </p:cNvPicPr>
          <p:nvPr/>
        </p:nvPicPr>
        <p:blipFill>
          <a:blip r:embed="rId3"/>
          <a:stretch>
            <a:fillRect/>
          </a:stretch>
        </p:blipFill>
        <p:spPr>
          <a:xfrm>
            <a:off x="1147378" y="2589364"/>
            <a:ext cx="2605394" cy="2534978"/>
          </a:xfrm>
          <a:prstGeom prst="rect">
            <a:avLst/>
          </a:prstGeom>
        </p:spPr>
      </p:pic>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Incommensurability domains</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a:solidFill>
                  <a:schemeClr val="tx1">
                    <a:lumMod val="65000"/>
                    <a:lumOff val="35000"/>
                  </a:schemeClr>
                </a:solidFill>
                <a:latin typeface="+mj-lt"/>
              </a:rPr>
              <a:t>Incommensurate order in non-collinear magnets</a:t>
            </a:r>
          </a:p>
        </p:txBody>
      </p:sp>
      <p:sp>
        <p:nvSpPr>
          <p:cNvPr id="8" name="Rectangle 7">
            <a:extLst>
              <a:ext uri="{FF2B5EF4-FFF2-40B4-BE49-F238E27FC236}">
                <a16:creationId xmlns:a16="http://schemas.microsoft.com/office/drawing/2014/main" xmlns="" id="{C143E3E0-E5AF-4DCA-8D45-ABF1F63F708D}"/>
              </a:ext>
            </a:extLst>
          </p:cNvPr>
          <p:cNvSpPr/>
          <p:nvPr/>
        </p:nvSpPr>
        <p:spPr>
          <a:xfrm>
            <a:off x="1291471" y="5514288"/>
            <a:ext cx="9705440" cy="928733"/>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cxnSp>
        <p:nvCxnSpPr>
          <p:cNvPr id="5" name="Straight Arrow Connector 4"/>
          <p:cNvCxnSpPr/>
          <p:nvPr/>
        </p:nvCxnSpPr>
        <p:spPr>
          <a:xfrm flipV="1">
            <a:off x="5176299" y="2867047"/>
            <a:ext cx="6257677" cy="38335"/>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8161183" y="2778981"/>
            <a:ext cx="0" cy="230588"/>
          </a:xfrm>
          <a:prstGeom prst="line">
            <a:avLst/>
          </a:prstGeom>
          <a:ln w="19050">
            <a:solidFill>
              <a:schemeClr val="tx1">
                <a:lumMod val="85000"/>
                <a:lumOff val="15000"/>
              </a:schemeClr>
            </a:solidFill>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7738822" y="2192030"/>
                <a:ext cx="774507" cy="5952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solidFill>
                                <a:schemeClr val="tx1">
                                  <a:lumMod val="85000"/>
                                  <a:lumOff val="15000"/>
                                </a:schemeClr>
                              </a:solidFill>
                              <a:latin typeface="Cambria Math" charset="0"/>
                            </a:rPr>
                          </m:ctrlPr>
                        </m:fPr>
                        <m:num>
                          <m:sSub>
                            <m:sSubPr>
                              <m:ctrlPr>
                                <a:rPr lang="en-US" sz="1600" b="0" i="1" smtClean="0">
                                  <a:solidFill>
                                    <a:schemeClr val="tx1">
                                      <a:lumMod val="85000"/>
                                      <a:lumOff val="15000"/>
                                    </a:schemeClr>
                                  </a:solidFill>
                                  <a:latin typeface="Cambria Math" charset="0"/>
                                </a:rPr>
                              </m:ctrlPr>
                            </m:sSubPr>
                            <m:e>
                              <m:r>
                                <a:rPr lang="en-US" sz="1600" b="0" i="1" smtClean="0">
                                  <a:solidFill>
                                    <a:schemeClr val="tx1">
                                      <a:lumMod val="85000"/>
                                      <a:lumOff val="15000"/>
                                    </a:schemeClr>
                                  </a:solidFill>
                                  <a:latin typeface="Cambria Math" charset="0"/>
                                </a:rPr>
                                <m:t>𝐽</m:t>
                              </m:r>
                            </m:e>
                            <m:sub>
                              <m:r>
                                <a:rPr lang="en-US" sz="1600" b="0" i="1" smtClean="0">
                                  <a:solidFill>
                                    <a:schemeClr val="tx1">
                                      <a:lumMod val="85000"/>
                                      <a:lumOff val="15000"/>
                                    </a:schemeClr>
                                  </a:solidFill>
                                  <a:latin typeface="Cambria Math" charset="0"/>
                                </a:rPr>
                                <m:t>2</m:t>
                              </m:r>
                            </m:sub>
                          </m:sSub>
                        </m:num>
                        <m:den>
                          <m:sSub>
                            <m:sSubPr>
                              <m:ctrlPr>
                                <a:rPr lang="en-US" sz="1600" b="0" i="1" smtClean="0">
                                  <a:solidFill>
                                    <a:schemeClr val="tx1">
                                      <a:lumMod val="85000"/>
                                      <a:lumOff val="15000"/>
                                    </a:schemeClr>
                                  </a:solidFill>
                                  <a:latin typeface="Cambria Math" charset="0"/>
                                </a:rPr>
                              </m:ctrlPr>
                            </m:sSubPr>
                            <m:e>
                              <m:r>
                                <a:rPr lang="en-US" sz="1600" b="0" i="1" smtClean="0">
                                  <a:solidFill>
                                    <a:schemeClr val="tx1">
                                      <a:lumMod val="85000"/>
                                      <a:lumOff val="15000"/>
                                    </a:schemeClr>
                                  </a:solidFill>
                                  <a:latin typeface="Cambria Math" charset="0"/>
                                </a:rPr>
                                <m:t>𝐽</m:t>
                              </m:r>
                            </m:e>
                            <m:sub>
                              <m:r>
                                <a:rPr lang="en-US" sz="1600" b="0" i="1" smtClean="0">
                                  <a:solidFill>
                                    <a:schemeClr val="tx1">
                                      <a:lumMod val="85000"/>
                                      <a:lumOff val="15000"/>
                                    </a:schemeClr>
                                  </a:solidFill>
                                  <a:latin typeface="Cambria Math" charset="0"/>
                                </a:rPr>
                                <m:t>1</m:t>
                              </m:r>
                            </m:sub>
                          </m:sSub>
                        </m:den>
                      </m:f>
                      <m:r>
                        <a:rPr lang="en-US" sz="1600" b="0" i="1" smtClean="0">
                          <a:solidFill>
                            <a:schemeClr val="tx1">
                              <a:lumMod val="85000"/>
                              <a:lumOff val="15000"/>
                            </a:schemeClr>
                          </a:solidFill>
                          <a:latin typeface="Cambria Math" charset="0"/>
                        </a:rPr>
                        <m:t>=</m:t>
                      </m:r>
                      <m:f>
                        <m:fPr>
                          <m:ctrlPr>
                            <a:rPr lang="en-US" sz="1600" b="0" i="1" smtClean="0">
                              <a:solidFill>
                                <a:schemeClr val="tx1">
                                  <a:lumMod val="85000"/>
                                  <a:lumOff val="15000"/>
                                </a:schemeClr>
                              </a:solidFill>
                              <a:latin typeface="Cambria Math" charset="0"/>
                            </a:rPr>
                          </m:ctrlPr>
                        </m:fPr>
                        <m:num>
                          <m:r>
                            <a:rPr lang="en-US" sz="1600" b="0" i="1" smtClean="0">
                              <a:solidFill>
                                <a:schemeClr val="tx1">
                                  <a:lumMod val="85000"/>
                                  <a:lumOff val="15000"/>
                                </a:schemeClr>
                              </a:solidFill>
                              <a:latin typeface="Cambria Math" charset="0"/>
                            </a:rPr>
                            <m:t>1</m:t>
                          </m:r>
                        </m:num>
                        <m:den>
                          <m:r>
                            <a:rPr lang="en-US" sz="1600" b="0" i="1" smtClean="0">
                              <a:solidFill>
                                <a:schemeClr val="tx1">
                                  <a:lumMod val="85000"/>
                                  <a:lumOff val="15000"/>
                                </a:schemeClr>
                              </a:solidFill>
                              <a:latin typeface="Cambria Math" charset="0"/>
                            </a:rPr>
                            <m:t>2</m:t>
                          </m:r>
                        </m:den>
                      </m:f>
                    </m:oMath>
                  </m:oMathPara>
                </a14:m>
                <a:endParaRPr lang="en-US" sz="1600" dirty="0">
                  <a:solidFill>
                    <a:schemeClr val="tx1">
                      <a:lumMod val="85000"/>
                      <a:lumOff val="15000"/>
                    </a:schemeClr>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7738822" y="2192030"/>
                <a:ext cx="774507" cy="59522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402845" y="2930182"/>
                <a:ext cx="2947858" cy="5936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lumMod val="85000"/>
                              <a:lumOff val="15000"/>
                            </a:schemeClr>
                          </a:solidFill>
                          <a:latin typeface="Cambria Math" panose="02040503050406030204" pitchFamily="18" charset="0"/>
                        </a:rPr>
                        <m:t>𝑄</m:t>
                      </m:r>
                      <m:r>
                        <a:rPr lang="en-US" sz="1600" i="1" smtClean="0">
                          <a:solidFill>
                            <a:schemeClr val="tx1">
                              <a:lumMod val="85000"/>
                              <a:lumOff val="15000"/>
                            </a:schemeClr>
                          </a:solidFill>
                          <a:latin typeface="Cambria Math" panose="02040503050406030204" pitchFamily="18" charset="0"/>
                        </a:rPr>
                        <m:t>=</m:t>
                      </m:r>
                      <m:d>
                        <m:dPr>
                          <m:ctrlPr>
                            <a:rPr lang="en-US" sz="1600" i="1">
                              <a:solidFill>
                                <a:schemeClr val="tx1">
                                  <a:lumMod val="85000"/>
                                  <a:lumOff val="15000"/>
                                </a:schemeClr>
                              </a:solidFill>
                              <a:latin typeface="Cambria Math" charset="0"/>
                            </a:rPr>
                          </m:ctrlPr>
                        </m:dPr>
                        <m:e>
                          <m:func>
                            <m:funcPr>
                              <m:ctrlPr>
                                <a:rPr lang="en-US" sz="1600" i="1">
                                  <a:solidFill>
                                    <a:schemeClr val="tx1">
                                      <a:lumMod val="85000"/>
                                      <a:lumOff val="15000"/>
                                    </a:schemeClr>
                                  </a:solidFill>
                                  <a:latin typeface="Cambria Math" charset="0"/>
                                </a:rPr>
                              </m:ctrlPr>
                            </m:funcPr>
                            <m:fName>
                              <m:sSup>
                                <m:sSupPr>
                                  <m:ctrlPr>
                                    <a:rPr lang="en-US" sz="1600" i="1">
                                      <a:solidFill>
                                        <a:schemeClr val="tx1">
                                          <a:lumMod val="85000"/>
                                          <a:lumOff val="15000"/>
                                        </a:schemeClr>
                                      </a:solidFill>
                                      <a:latin typeface="Cambria Math" charset="0"/>
                                    </a:rPr>
                                  </m:ctrlPr>
                                </m:sSupPr>
                                <m:e>
                                  <m:r>
                                    <m:rPr>
                                      <m:sty m:val="p"/>
                                    </m:rPr>
                                    <a:rPr lang="en-US" sz="1600">
                                      <a:solidFill>
                                        <a:schemeClr val="tx1">
                                          <a:lumMod val="85000"/>
                                          <a:lumOff val="15000"/>
                                        </a:schemeClr>
                                      </a:solidFill>
                                      <a:latin typeface="Cambria Math" panose="02040503050406030204" pitchFamily="18" charset="0"/>
                                    </a:rPr>
                                    <m:t>cos</m:t>
                                  </m:r>
                                </m:e>
                                <m:sup>
                                  <m:r>
                                    <a:rPr lang="en-US" sz="1600" i="1">
                                      <a:solidFill>
                                        <a:schemeClr val="tx1">
                                          <a:lumMod val="85000"/>
                                          <a:lumOff val="15000"/>
                                        </a:schemeClr>
                                      </a:solidFill>
                                      <a:latin typeface="Cambria Math" panose="02040503050406030204" pitchFamily="18" charset="0"/>
                                    </a:rPr>
                                    <m:t>−1</m:t>
                                  </m:r>
                                </m:sup>
                              </m:sSup>
                            </m:fName>
                            <m:e>
                              <m:r>
                                <a:rPr lang="en-US" sz="1600" i="1">
                                  <a:solidFill>
                                    <a:schemeClr val="tx1">
                                      <a:lumMod val="85000"/>
                                      <a:lumOff val="15000"/>
                                    </a:schemeClr>
                                  </a:solidFill>
                                  <a:latin typeface="Cambria Math" panose="02040503050406030204" pitchFamily="18" charset="0"/>
                                </a:rPr>
                                <m:t>−</m:t>
                              </m:r>
                              <m:f>
                                <m:fPr>
                                  <m:ctrlPr>
                                    <a:rPr lang="en-US" sz="1600" i="1">
                                      <a:solidFill>
                                        <a:schemeClr val="tx1">
                                          <a:lumMod val="85000"/>
                                          <a:lumOff val="15000"/>
                                        </a:schemeClr>
                                      </a:solidFill>
                                      <a:latin typeface="Cambria Math" charset="0"/>
                                    </a:rPr>
                                  </m:ctrlPr>
                                </m:fPr>
                                <m:num>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1</m:t>
                                      </m:r>
                                    </m:sub>
                                  </m:sSub>
                                </m:num>
                                <m:den>
                                  <m:r>
                                    <a:rPr lang="en-US" sz="1600" i="1">
                                      <a:solidFill>
                                        <a:schemeClr val="tx1">
                                          <a:lumMod val="85000"/>
                                          <a:lumOff val="15000"/>
                                        </a:schemeClr>
                                      </a:solidFill>
                                      <a:latin typeface="Cambria Math" panose="02040503050406030204" pitchFamily="18" charset="0"/>
                                    </a:rPr>
                                    <m:t>2</m:t>
                                  </m:r>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2</m:t>
                                      </m:r>
                                    </m:sub>
                                  </m:sSub>
                                </m:den>
                              </m:f>
                            </m:e>
                          </m:func>
                          <m:r>
                            <a:rPr lang="en-US" sz="1600" i="1">
                              <a:solidFill>
                                <a:schemeClr val="tx1">
                                  <a:lumMod val="85000"/>
                                  <a:lumOff val="15000"/>
                                </a:schemeClr>
                              </a:solidFill>
                              <a:latin typeface="Cambria Math" panose="02040503050406030204" pitchFamily="18" charset="0"/>
                            </a:rPr>
                            <m:t>,</m:t>
                          </m:r>
                          <m:func>
                            <m:funcPr>
                              <m:ctrlPr>
                                <a:rPr lang="en-US" sz="1600" i="1">
                                  <a:solidFill>
                                    <a:schemeClr val="tx1">
                                      <a:lumMod val="85000"/>
                                      <a:lumOff val="15000"/>
                                    </a:schemeClr>
                                  </a:solidFill>
                                  <a:latin typeface="Cambria Math" charset="0"/>
                                </a:rPr>
                              </m:ctrlPr>
                            </m:funcPr>
                            <m:fName>
                              <m:sSup>
                                <m:sSupPr>
                                  <m:ctrlPr>
                                    <a:rPr lang="en-US" sz="1600" i="1">
                                      <a:solidFill>
                                        <a:schemeClr val="tx1">
                                          <a:lumMod val="85000"/>
                                          <a:lumOff val="15000"/>
                                        </a:schemeClr>
                                      </a:solidFill>
                                      <a:latin typeface="Cambria Math" charset="0"/>
                                    </a:rPr>
                                  </m:ctrlPr>
                                </m:sSupPr>
                                <m:e>
                                  <m:r>
                                    <m:rPr>
                                      <m:sty m:val="p"/>
                                    </m:rPr>
                                    <a:rPr lang="en-US" sz="1600">
                                      <a:solidFill>
                                        <a:schemeClr val="tx1">
                                          <a:lumMod val="85000"/>
                                          <a:lumOff val="15000"/>
                                        </a:schemeClr>
                                      </a:solidFill>
                                      <a:latin typeface="Cambria Math" panose="02040503050406030204" pitchFamily="18" charset="0"/>
                                    </a:rPr>
                                    <m:t>cos</m:t>
                                  </m:r>
                                </m:e>
                                <m:sup>
                                  <m:r>
                                    <a:rPr lang="en-US" sz="1600" i="1">
                                      <a:solidFill>
                                        <a:schemeClr val="tx1">
                                          <a:lumMod val="85000"/>
                                          <a:lumOff val="15000"/>
                                        </a:schemeClr>
                                      </a:solidFill>
                                      <a:latin typeface="Cambria Math" panose="02040503050406030204" pitchFamily="18" charset="0"/>
                                    </a:rPr>
                                    <m:t>−1</m:t>
                                  </m:r>
                                </m:sup>
                              </m:sSup>
                            </m:fName>
                            <m:e>
                              <m:r>
                                <a:rPr lang="en-US" sz="1600" i="1">
                                  <a:solidFill>
                                    <a:schemeClr val="tx1">
                                      <a:lumMod val="85000"/>
                                      <a:lumOff val="15000"/>
                                    </a:schemeClr>
                                  </a:solidFill>
                                  <a:latin typeface="Cambria Math" panose="02040503050406030204" pitchFamily="18" charset="0"/>
                                </a:rPr>
                                <m:t>−</m:t>
                              </m:r>
                              <m:f>
                                <m:fPr>
                                  <m:ctrlPr>
                                    <a:rPr lang="en-US" sz="1600" i="1">
                                      <a:solidFill>
                                        <a:schemeClr val="tx1">
                                          <a:lumMod val="85000"/>
                                          <a:lumOff val="15000"/>
                                        </a:schemeClr>
                                      </a:solidFill>
                                      <a:latin typeface="Cambria Math" charset="0"/>
                                    </a:rPr>
                                  </m:ctrlPr>
                                </m:fPr>
                                <m:num>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1</m:t>
                                      </m:r>
                                    </m:sub>
                                  </m:sSub>
                                </m:num>
                                <m:den>
                                  <m:r>
                                    <a:rPr lang="en-US" sz="1600" i="1">
                                      <a:solidFill>
                                        <a:schemeClr val="tx1">
                                          <a:lumMod val="85000"/>
                                          <a:lumOff val="15000"/>
                                        </a:schemeClr>
                                      </a:solidFill>
                                      <a:latin typeface="Cambria Math" panose="02040503050406030204" pitchFamily="18" charset="0"/>
                                    </a:rPr>
                                    <m:t>2</m:t>
                                  </m:r>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2</m:t>
                                      </m:r>
                                    </m:sub>
                                  </m:sSub>
                                </m:den>
                              </m:f>
                            </m:e>
                          </m:func>
                        </m:e>
                      </m:d>
                    </m:oMath>
                  </m:oMathPara>
                </a14:m>
                <a:endParaRPr lang="en-US" sz="1600" dirty="0">
                  <a:solidFill>
                    <a:schemeClr val="tx1">
                      <a:lumMod val="85000"/>
                      <a:lumOff val="15000"/>
                    </a:schemeClr>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8402845" y="2930182"/>
                <a:ext cx="2947858" cy="593624"/>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191134" y="3018598"/>
                <a:ext cx="118808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lumMod val="85000"/>
                              <a:lumOff val="15000"/>
                            </a:schemeClr>
                          </a:solidFill>
                          <a:latin typeface="Cambria Math" panose="02040503050406030204" pitchFamily="18" charset="0"/>
                        </a:rPr>
                        <m:t>𝑄</m:t>
                      </m:r>
                      <m:r>
                        <a:rPr lang="en-US" sz="1600" i="1" smtClean="0">
                          <a:solidFill>
                            <a:schemeClr val="tx1">
                              <a:lumMod val="85000"/>
                              <a:lumOff val="15000"/>
                            </a:schemeClr>
                          </a:solidFill>
                          <a:latin typeface="Cambria Math" panose="02040503050406030204" pitchFamily="18" charset="0"/>
                        </a:rPr>
                        <m:t>=</m:t>
                      </m:r>
                      <m:d>
                        <m:dPr>
                          <m:ctrlPr>
                            <a:rPr lang="en-US" sz="1600" i="1">
                              <a:solidFill>
                                <a:schemeClr val="tx1">
                                  <a:lumMod val="85000"/>
                                  <a:lumOff val="15000"/>
                                </a:schemeClr>
                              </a:solidFill>
                              <a:latin typeface="Cambria Math" charset="0"/>
                            </a:rPr>
                          </m:ctrlPr>
                        </m:dPr>
                        <m:e>
                          <m:r>
                            <a:rPr lang="en-US" sz="1600" b="0" i="1" smtClean="0">
                              <a:solidFill>
                                <a:schemeClr val="tx1">
                                  <a:lumMod val="85000"/>
                                  <a:lumOff val="15000"/>
                                </a:schemeClr>
                              </a:solidFill>
                              <a:latin typeface="Cambria Math" charset="0"/>
                            </a:rPr>
                            <m:t>𝜋</m:t>
                          </m:r>
                          <m:r>
                            <a:rPr lang="en-US" sz="1600" i="1">
                              <a:solidFill>
                                <a:schemeClr val="tx1">
                                  <a:lumMod val="85000"/>
                                  <a:lumOff val="15000"/>
                                </a:schemeClr>
                              </a:solidFill>
                              <a:latin typeface="Cambria Math" panose="02040503050406030204" pitchFamily="18" charset="0"/>
                            </a:rPr>
                            <m:t>,</m:t>
                          </m:r>
                          <m:r>
                            <a:rPr lang="en-US" sz="1600" b="0" i="1" smtClean="0">
                              <a:solidFill>
                                <a:schemeClr val="tx1">
                                  <a:lumMod val="85000"/>
                                  <a:lumOff val="15000"/>
                                </a:schemeClr>
                              </a:solidFill>
                              <a:latin typeface="Cambria Math" charset="0"/>
                            </a:rPr>
                            <m:t>𝜋</m:t>
                          </m:r>
                          <m:r>
                            <a:rPr lang="en-US" sz="1600" i="1" smtClean="0">
                              <a:solidFill>
                                <a:schemeClr val="tx1">
                                  <a:lumMod val="85000"/>
                                  <a:lumOff val="15000"/>
                                </a:schemeClr>
                              </a:solidFill>
                              <a:latin typeface="Cambria Math" charset="0"/>
                            </a:rPr>
                            <m:t> </m:t>
                          </m:r>
                        </m:e>
                      </m:d>
                    </m:oMath>
                  </m:oMathPara>
                </a14:m>
                <a:endParaRPr lang="en-US" sz="1600" dirty="0">
                  <a:solidFill>
                    <a:schemeClr val="tx1">
                      <a:lumMod val="85000"/>
                      <a:lumOff val="15000"/>
                    </a:schemeClr>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6191134" y="3018598"/>
                <a:ext cx="1188082" cy="338554"/>
              </a:xfrm>
              <a:prstGeom prst="rect">
                <a:avLst/>
              </a:prstGeom>
              <a:blipFill rotWithShape="0">
                <a:blip r:embed="rId6"/>
                <a:stretch>
                  <a:fillRect t="-87500" b="-110714"/>
                </a:stretch>
              </a:blipFill>
            </p:spPr>
            <p:txBody>
              <a:bodyPr/>
              <a:lstStyle/>
              <a:p>
                <a:r>
                  <a:rPr lang="en-US">
                    <a:noFill/>
                  </a:rPr>
                  <a:t> </a:t>
                </a:r>
              </a:p>
            </p:txBody>
          </p:sp>
        </mc:Fallback>
      </mc:AlternateContent>
      <p:sp>
        <p:nvSpPr>
          <p:cNvPr id="17" name="TextBox 16"/>
          <p:cNvSpPr txBox="1"/>
          <p:nvPr/>
        </p:nvSpPr>
        <p:spPr>
          <a:xfrm>
            <a:off x="6186139" y="2497715"/>
            <a:ext cx="1186735" cy="369332"/>
          </a:xfrm>
          <a:prstGeom prst="rect">
            <a:avLst/>
          </a:prstGeom>
          <a:noFill/>
        </p:spPr>
        <p:txBody>
          <a:bodyPr wrap="none" rtlCol="0">
            <a:spAutoFit/>
          </a:bodyPr>
          <a:lstStyle/>
          <a:p>
            <a:r>
              <a:rPr lang="en-US" dirty="0" err="1" smtClean="0">
                <a:solidFill>
                  <a:schemeClr val="tx1">
                    <a:lumMod val="85000"/>
                    <a:lumOff val="15000"/>
                  </a:schemeClr>
                </a:solidFill>
              </a:rPr>
              <a:t>Néel</a:t>
            </a:r>
            <a:r>
              <a:rPr lang="en-US" dirty="0" smtClean="0">
                <a:solidFill>
                  <a:schemeClr val="tx1">
                    <a:lumMod val="85000"/>
                    <a:lumOff val="15000"/>
                  </a:schemeClr>
                </a:solidFill>
              </a:rPr>
              <a:t> order</a:t>
            </a:r>
            <a:endParaRPr lang="en-US" dirty="0">
              <a:solidFill>
                <a:schemeClr val="tx1">
                  <a:lumMod val="85000"/>
                  <a:lumOff val="15000"/>
                </a:schemeClr>
              </a:solidFill>
            </a:endParaRPr>
          </a:p>
        </p:txBody>
      </p:sp>
      <p:sp>
        <p:nvSpPr>
          <p:cNvPr id="20" name="TextBox 19"/>
          <p:cNvSpPr txBox="1"/>
          <p:nvPr/>
        </p:nvSpPr>
        <p:spPr>
          <a:xfrm>
            <a:off x="8992445" y="2481061"/>
            <a:ext cx="1273490" cy="369332"/>
          </a:xfrm>
          <a:prstGeom prst="rect">
            <a:avLst/>
          </a:prstGeom>
          <a:noFill/>
        </p:spPr>
        <p:txBody>
          <a:bodyPr wrap="none" rtlCol="0">
            <a:spAutoFit/>
          </a:bodyPr>
          <a:lstStyle/>
          <a:p>
            <a:r>
              <a:rPr lang="en-US" dirty="0" smtClean="0">
                <a:solidFill>
                  <a:schemeClr val="tx1">
                    <a:lumMod val="85000"/>
                    <a:lumOff val="15000"/>
                  </a:schemeClr>
                </a:solidFill>
              </a:rPr>
              <a:t>Spiral order</a:t>
            </a:r>
            <a:endParaRPr lang="en-US" dirty="0">
              <a:solidFill>
                <a:schemeClr val="tx1">
                  <a:lumMod val="85000"/>
                  <a:lumOff val="15000"/>
                </a:schemeClr>
              </a:solidFill>
            </a:endParaRPr>
          </a:p>
        </p:txBody>
      </p:sp>
      <p:sp>
        <p:nvSpPr>
          <p:cNvPr id="21" name="TextBox 20"/>
          <p:cNvSpPr txBox="1"/>
          <p:nvPr/>
        </p:nvSpPr>
        <p:spPr>
          <a:xfrm>
            <a:off x="6779506" y="4928373"/>
            <a:ext cx="3463449" cy="307777"/>
          </a:xfrm>
          <a:prstGeom prst="rect">
            <a:avLst/>
          </a:prstGeom>
          <a:noFill/>
        </p:spPr>
        <p:txBody>
          <a:bodyPr wrap="none" rtlCol="0">
            <a:spAutoFit/>
          </a:bodyPr>
          <a:lstStyle/>
          <a:p>
            <a:r>
              <a:rPr lang="it-IT" sz="1400" dirty="0">
                <a:solidFill>
                  <a:schemeClr val="accent2">
                    <a:lumMod val="50000"/>
                  </a:schemeClr>
                </a:solidFill>
              </a:rPr>
              <a:t>A. </a:t>
            </a:r>
            <a:r>
              <a:rPr lang="it-IT" sz="1400" dirty="0" err="1">
                <a:solidFill>
                  <a:schemeClr val="accent2">
                    <a:lumMod val="50000"/>
                  </a:schemeClr>
                </a:solidFill>
              </a:rPr>
              <a:t>Yoshimori</a:t>
            </a:r>
            <a:r>
              <a:rPr lang="it-IT" sz="1400" dirty="0">
                <a:solidFill>
                  <a:schemeClr val="accent2">
                    <a:lumMod val="50000"/>
                  </a:schemeClr>
                </a:solidFill>
              </a:rPr>
              <a:t>, </a:t>
            </a:r>
            <a:r>
              <a:rPr lang="it-IT" sz="1400" dirty="0" err="1">
                <a:solidFill>
                  <a:schemeClr val="accent2">
                    <a:lumMod val="50000"/>
                  </a:schemeClr>
                </a:solidFill>
              </a:rPr>
              <a:t>J</a:t>
            </a:r>
            <a:r>
              <a:rPr lang="it-IT" sz="1400" dirty="0">
                <a:solidFill>
                  <a:schemeClr val="accent2">
                    <a:lumMod val="50000"/>
                  </a:schemeClr>
                </a:solidFill>
              </a:rPr>
              <a:t>. </a:t>
            </a:r>
            <a:r>
              <a:rPr lang="it-IT" sz="1400" dirty="0" err="1">
                <a:solidFill>
                  <a:schemeClr val="accent2">
                    <a:lumMod val="50000"/>
                  </a:schemeClr>
                </a:solidFill>
              </a:rPr>
              <a:t>Phys</a:t>
            </a:r>
            <a:r>
              <a:rPr lang="it-IT" sz="1400" dirty="0">
                <a:solidFill>
                  <a:schemeClr val="accent2">
                    <a:lumMod val="50000"/>
                  </a:schemeClr>
                </a:solidFill>
              </a:rPr>
              <a:t>. </a:t>
            </a:r>
            <a:r>
              <a:rPr lang="it-IT" sz="1400" dirty="0" err="1">
                <a:solidFill>
                  <a:schemeClr val="accent2">
                    <a:lumMod val="50000"/>
                  </a:schemeClr>
                </a:solidFill>
              </a:rPr>
              <a:t>Soc</a:t>
            </a:r>
            <a:r>
              <a:rPr lang="it-IT" sz="1400" dirty="0">
                <a:solidFill>
                  <a:schemeClr val="accent2">
                    <a:lumMod val="50000"/>
                  </a:schemeClr>
                </a:solidFill>
              </a:rPr>
              <a:t>. </a:t>
            </a:r>
            <a:r>
              <a:rPr lang="it-IT" sz="1400" dirty="0" err="1">
                <a:solidFill>
                  <a:schemeClr val="accent2">
                    <a:lumMod val="50000"/>
                  </a:schemeClr>
                </a:solidFill>
              </a:rPr>
              <a:t>Jpn</a:t>
            </a:r>
            <a:r>
              <a:rPr lang="it-IT" sz="1400" dirty="0">
                <a:solidFill>
                  <a:schemeClr val="accent2">
                    <a:lumMod val="50000"/>
                  </a:schemeClr>
                </a:solidFill>
              </a:rPr>
              <a:t>. 14, 807 (1959</a:t>
            </a:r>
            <a:r>
              <a:rPr lang="it-IT" sz="1400" dirty="0" smtClean="0">
                <a:solidFill>
                  <a:schemeClr val="accent2">
                    <a:lumMod val="50000"/>
                  </a:schemeClr>
                </a:solidFill>
              </a:rPr>
              <a:t>)</a:t>
            </a:r>
            <a:endParaRPr lang="it-IT" sz="1400" dirty="0">
              <a:solidFill>
                <a:schemeClr val="accent2">
                  <a:lumMod val="50000"/>
                </a:schemeClr>
              </a:solidFill>
            </a:endParaRPr>
          </a:p>
        </p:txBody>
      </p:sp>
    </p:spTree>
    <p:extLst>
      <p:ext uri="{BB962C8B-B14F-4D97-AF65-F5344CB8AC3E}">
        <p14:creationId xmlns:p14="http://schemas.microsoft.com/office/powerpoint/2010/main" val="3261305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a:lnSpc>
                <a:spcPct val="110000"/>
              </a:lnSpc>
              <a:buFont typeface="Wingdings" panose="05000000000000000000" pitchFamily="2" charset="2"/>
              <a:buChar char="§"/>
            </a:pPr>
            <a:r>
              <a:rPr lang="en-US" sz="2000" dirty="0" smtClean="0">
                <a:solidFill>
                  <a:schemeClr val="tx1">
                    <a:lumMod val="85000"/>
                    <a:lumOff val="15000"/>
                  </a:schemeClr>
                </a:solidFill>
              </a:rPr>
              <a:t>Rare regions with particular bond anisotropy:</a:t>
            </a:r>
            <a:endParaRPr lang="en-US" sz="2000" dirty="0">
              <a:solidFill>
                <a:schemeClr val="tx1">
                  <a:lumMod val="85000"/>
                  <a:lumOff val="15000"/>
                </a:schemeClr>
              </a:solidFill>
            </a:endParaRPr>
          </a:p>
          <a:p>
            <a:pPr marL="457200" lvl="1" indent="0">
              <a:lnSpc>
                <a:spcPct val="110000"/>
              </a:lnSpc>
              <a:buNone/>
            </a:pPr>
            <a:r>
              <a:rPr lang="en-US" dirty="0" smtClean="0">
                <a:solidFill>
                  <a:schemeClr val="tx1">
                    <a:lumMod val="85000"/>
                    <a:lumOff val="15000"/>
                  </a:schemeClr>
                </a:solidFill>
              </a:rPr>
              <a:t> </a:t>
            </a:r>
            <a:endParaRPr lang="en-US"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2" name="TextBox 71"/>
              <p:cNvSpPr txBox="1"/>
              <p:nvPr/>
            </p:nvSpPr>
            <p:spPr>
              <a:xfrm>
                <a:off x="701195" y="5173042"/>
                <a:ext cx="10789609" cy="1626343"/>
              </a:xfrm>
              <a:prstGeom prst="rect">
                <a:avLst/>
              </a:prstGeom>
              <a:noFill/>
            </p:spPr>
            <p:txBody>
              <a:bodyPr wrap="square" rtlCol="0">
                <a:spAutoFit/>
              </a:bodyPr>
              <a:lstStyle/>
              <a:p>
                <a:r>
                  <a:rPr lang="en-US" dirty="0" smtClean="0"/>
                  <a:t>The surface energy cost for such a domain formation is </a:t>
                </a:r>
                <a14:m>
                  <m:oMath xmlns:m="http://schemas.openxmlformats.org/officeDocument/2006/math">
                    <m:r>
                      <m:rPr>
                        <m:sty m:val="p"/>
                      </m:rPr>
                      <a:rPr lang="en-US">
                        <a:latin typeface="Cambria Math" panose="02040503050406030204" pitchFamily="18" charset="0"/>
                      </a:rPr>
                      <m:t>Δ</m:t>
                    </m:r>
                    <m:sSub>
                      <m:sSubPr>
                        <m:ctrlPr>
                          <a:rPr lang="en-US" i="1">
                            <a:latin typeface="Cambria Math" charset="0"/>
                          </a:rPr>
                        </m:ctrlPr>
                      </m:sSubPr>
                      <m:e>
                        <m:r>
                          <a:rPr lang="en-US" i="1">
                            <a:latin typeface="Cambria Math" panose="02040503050406030204" pitchFamily="18" charset="0"/>
                          </a:rPr>
                          <m:t>𝐸</m:t>
                        </m:r>
                      </m:e>
                      <m:sub>
                        <m:r>
                          <a:rPr lang="en-US" i="1">
                            <a:latin typeface="Cambria Math" panose="02040503050406030204" pitchFamily="18" charset="0"/>
                          </a:rPr>
                          <m:t>𝑠𝑢𝑟𝑓𝑎𝑐𝑒</m:t>
                        </m:r>
                      </m:sub>
                    </m:sSub>
                    <m:r>
                      <a:rPr lang="en-US" i="1">
                        <a:latin typeface="Cambria Math" panose="02040503050406030204" pitchFamily="18" charset="0"/>
                      </a:rPr>
                      <m:t>∼</m:t>
                    </m:r>
                    <m:sSup>
                      <m:sSupPr>
                        <m:ctrlPr>
                          <a:rPr lang="en-US" i="1">
                            <a:latin typeface="Cambria Math" charset="0"/>
                          </a:rPr>
                        </m:ctrlPr>
                      </m:sSupPr>
                      <m:e>
                        <m:r>
                          <a:rPr lang="en-US" i="1">
                            <a:latin typeface="Cambria Math" panose="02040503050406030204" pitchFamily="18" charset="0"/>
                          </a:rPr>
                          <m:t>𝐿</m:t>
                        </m:r>
                      </m:e>
                      <m:sup>
                        <m:r>
                          <a:rPr lang="en-US" i="1">
                            <a:latin typeface="Cambria Math" panose="02040503050406030204" pitchFamily="18" charset="0"/>
                          </a:rPr>
                          <m:t>𝑑</m:t>
                        </m:r>
                        <m:r>
                          <a:rPr lang="en-US" i="1">
                            <a:latin typeface="Cambria Math" panose="02040503050406030204" pitchFamily="18" charset="0"/>
                          </a:rPr>
                          <m:t>−1 </m:t>
                        </m:r>
                      </m:sup>
                    </m:sSup>
                  </m:oMath>
                </a14:m>
                <a:r>
                  <a:rPr lang="en-US" dirty="0"/>
                  <a:t> , while the bulk energy gain is </a:t>
                </a:r>
                <a:r>
                  <a:rPr lang="en-US" dirty="0" smtClean="0"/>
                  <a:t>per site as before, </a:t>
                </a:r>
                <a14:m>
                  <m:oMath xmlns:m="http://schemas.openxmlformats.org/officeDocument/2006/math">
                    <m:r>
                      <m:rPr>
                        <m:sty m:val="p"/>
                      </m:rPr>
                      <a:rPr lang="en-US">
                        <a:latin typeface="Cambria Math" panose="02040503050406030204" pitchFamily="18" charset="0"/>
                      </a:rPr>
                      <m:t>Δ</m:t>
                    </m:r>
                    <m:sSub>
                      <m:sSubPr>
                        <m:ctrlPr>
                          <a:rPr lang="en-US" i="1">
                            <a:latin typeface="Cambria Math" charset="0"/>
                          </a:rPr>
                        </m:ctrlPr>
                      </m:sSubPr>
                      <m:e>
                        <m:r>
                          <a:rPr lang="en-US" i="1">
                            <a:latin typeface="Cambria Math" panose="02040503050406030204" pitchFamily="18" charset="0"/>
                          </a:rPr>
                          <m:t>𝐸</m:t>
                        </m:r>
                      </m:e>
                      <m:sub>
                        <m:r>
                          <a:rPr lang="en-US" i="1">
                            <a:latin typeface="Cambria Math" panose="02040503050406030204" pitchFamily="18" charset="0"/>
                          </a:rPr>
                          <m:t>𝑏𝑢𝑙𝑘</m:t>
                        </m:r>
                      </m:sub>
                    </m:sSub>
                    <m:r>
                      <a:rPr lang="en-US" i="1">
                        <a:latin typeface="Cambria Math" panose="02040503050406030204" pitchFamily="18" charset="0"/>
                      </a:rPr>
                      <m:t>∼</m:t>
                    </m:r>
                    <m:sSup>
                      <m:sSupPr>
                        <m:ctrlPr>
                          <a:rPr lang="en-US" i="1">
                            <a:latin typeface="Cambria Math" charset="0"/>
                          </a:rPr>
                        </m:ctrlPr>
                      </m:sSupPr>
                      <m:e>
                        <m:r>
                          <a:rPr lang="en-US" i="1">
                            <a:latin typeface="Cambria Math" panose="02040503050406030204" pitchFamily="18" charset="0"/>
                          </a:rPr>
                          <m:t>𝐿</m:t>
                        </m:r>
                      </m:e>
                      <m:sup>
                        <m:f>
                          <m:fPr>
                            <m:ctrlPr>
                              <a:rPr lang="en-US" i="1">
                                <a:latin typeface="Cambria Math" charset="0"/>
                              </a:rPr>
                            </m:ctrlPr>
                          </m:fPr>
                          <m:num>
                            <m:r>
                              <a:rPr lang="en-US" i="1">
                                <a:latin typeface="Cambria Math" panose="02040503050406030204" pitchFamily="18" charset="0"/>
                              </a:rPr>
                              <m:t>𝑑</m:t>
                            </m:r>
                          </m:num>
                          <m:den>
                            <m:r>
                              <a:rPr lang="en-US" i="1">
                                <a:latin typeface="Cambria Math" panose="02040503050406030204" pitchFamily="18" charset="0"/>
                              </a:rPr>
                              <m:t>2</m:t>
                            </m:r>
                          </m:den>
                        </m:f>
                      </m:sup>
                    </m:sSup>
                  </m:oMath>
                </a14:m>
                <a:r>
                  <a:rPr lang="en-US" dirty="0"/>
                  <a:t>. Hence the critical dimension is once again</a:t>
                </a:r>
                <a:r>
                  <a:rPr lang="en-US" dirty="0" smtClean="0"/>
                  <a:t>,</a:t>
                </a:r>
              </a:p>
              <a:p>
                <a:endParaRPr lang="en-US" dirty="0"/>
              </a:p>
              <a:p>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50000"/>
                                </a:schemeClr>
                              </a:solidFill>
                              <a:latin typeface="Cambria Math" charset="0"/>
                            </a:rPr>
                          </m:ctrlPr>
                        </m:sSubPr>
                        <m:e>
                          <m:r>
                            <a:rPr lang="en-US" i="1" smtClean="0">
                              <a:solidFill>
                                <a:schemeClr val="accent2">
                                  <a:lumMod val="50000"/>
                                </a:schemeClr>
                              </a:solidFill>
                              <a:latin typeface="Cambria Math" panose="02040503050406030204" pitchFamily="18" charset="0"/>
                            </a:rPr>
                            <m:t>𝑑</m:t>
                          </m:r>
                        </m:e>
                        <m:sub>
                          <m:r>
                            <a:rPr lang="en-US" b="0" i="1" smtClean="0">
                              <a:solidFill>
                                <a:schemeClr val="accent2">
                                  <a:lumMod val="50000"/>
                                </a:schemeClr>
                              </a:solidFill>
                              <a:latin typeface="Cambria Math" charset="0"/>
                            </a:rPr>
                            <m:t>𝑐</m:t>
                          </m:r>
                        </m:sub>
                      </m:sSub>
                      <m:r>
                        <a:rPr lang="en-US" b="0" i="1" smtClean="0">
                          <a:solidFill>
                            <a:schemeClr val="accent2">
                              <a:lumMod val="50000"/>
                            </a:schemeClr>
                          </a:solidFill>
                          <a:latin typeface="Cambria Math" charset="0"/>
                        </a:rPr>
                        <m:t>=</m:t>
                      </m:r>
                      <m:r>
                        <a:rPr lang="en-US" i="1" smtClean="0">
                          <a:solidFill>
                            <a:schemeClr val="accent2">
                              <a:lumMod val="50000"/>
                            </a:schemeClr>
                          </a:solidFill>
                          <a:latin typeface="Cambria Math" panose="02040503050406030204" pitchFamily="18" charset="0"/>
                        </a:rPr>
                        <m:t>2</m:t>
                      </m:r>
                    </m:oMath>
                  </m:oMathPara>
                </a14:m>
                <a:endParaRPr lang="en-US" dirty="0">
                  <a:solidFill>
                    <a:schemeClr val="accent2">
                      <a:lumMod val="50000"/>
                    </a:schemeClr>
                  </a:solidFill>
                </a:endParaRPr>
              </a:p>
              <a:p>
                <a:endParaRPr lang="en-US" dirty="0"/>
              </a:p>
            </p:txBody>
          </p:sp>
        </mc:Choice>
        <mc:Fallback xmlns="">
          <p:sp>
            <p:nvSpPr>
              <p:cNvPr id="72" name="TextBox 71"/>
              <p:cNvSpPr txBox="1">
                <a:spLocks noRot="1" noChangeAspect="1" noMove="1" noResize="1" noEditPoints="1" noAdjustHandles="1" noChangeArrowheads="1" noChangeShapeType="1" noTextEdit="1"/>
              </p:cNvSpPr>
              <p:nvPr/>
            </p:nvSpPr>
            <p:spPr>
              <a:xfrm>
                <a:off x="701195" y="5173042"/>
                <a:ext cx="10789609" cy="1626343"/>
              </a:xfrm>
              <a:prstGeom prst="rect">
                <a:avLst/>
              </a:prstGeom>
              <a:blipFill rotWithShape="0">
                <a:blip r:embed="rId2"/>
                <a:stretch>
                  <a:fillRect l="-452" t="-16917"/>
                </a:stretch>
              </a:blipFill>
            </p:spPr>
            <p:txBody>
              <a:bodyPr/>
              <a:lstStyle/>
              <a:p>
                <a:r>
                  <a:rPr lang="en-US">
                    <a:noFill/>
                  </a:rPr>
                  <a:t> </a:t>
                </a:r>
              </a:p>
            </p:txBody>
          </p:sp>
        </mc:Fallback>
      </mc:AlternateContent>
      <p:sp>
        <p:nvSpPr>
          <p:cNvPr id="7" name="TextBox 6">
            <a:extLst>
              <a:ext uri="{FF2B5EF4-FFF2-40B4-BE49-F238E27FC236}">
                <a16:creationId xmlns:mc="http://schemas.openxmlformats.org/markup-compatibility/2006" xmlns:a14="http://schemas.microsoft.com/office/drawing/2010/main" xmlns:a16="http://schemas.microsoft.com/office/drawing/2014/main" xmlns="" id="{CC008A3C-58BC-4D61-944C-BF5112E8FA0F}"/>
              </a:ext>
            </a:extLst>
          </p:cNvPr>
          <p:cNvSpPr txBox="1"/>
          <p:nvPr/>
        </p:nvSpPr>
        <p:spPr>
          <a:xfrm>
            <a:off x="6393702" y="2495386"/>
            <a:ext cx="5265874" cy="2585323"/>
          </a:xfrm>
          <a:prstGeom prst="rect">
            <a:avLst/>
          </a:prstGeom>
          <a:noFill/>
        </p:spPr>
        <p:txBody>
          <a:bodyPr wrap="square" rtlCol="0">
            <a:spAutoFit/>
          </a:bodyPr>
          <a:lstStyle/>
          <a:p>
            <a:pPr marL="285750" indent="-285750">
              <a:buFont typeface="Courier New" panose="02070309020205020404" pitchFamily="49" charset="0"/>
              <a:buChar char="o"/>
            </a:pPr>
            <a:r>
              <a:rPr lang="en-US" dirty="0"/>
              <a:t>In a lattice there is a discrete number of possible bond anisotropy orientation.</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smtClean="0"/>
              <a:t>In a typical sample they </a:t>
            </a:r>
            <a:r>
              <a:rPr lang="en-US" dirty="0"/>
              <a:t>define </a:t>
            </a:r>
            <a:r>
              <a:rPr lang="en-US" dirty="0" smtClean="0"/>
              <a:t>sharp </a:t>
            </a:r>
            <a:r>
              <a:rPr lang="en-US" dirty="0"/>
              <a:t>domain </a:t>
            </a:r>
            <a:r>
              <a:rPr lang="en-US" dirty="0" smtClean="0"/>
              <a:t>walls</a:t>
            </a:r>
            <a:endParaRPr lang="en-US" dirty="0"/>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The incommensurate ordering vectors follow the suit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endParaRPr lang="en-US" dirty="0"/>
          </a:p>
        </p:txBody>
      </p:sp>
      <p:sp>
        <p:nvSpPr>
          <p:cNvPr id="9" name="Rectangle 8">
            <a:extLst>
              <a:ext uri="{FF2B5EF4-FFF2-40B4-BE49-F238E27FC236}">
                <a16:creationId xmlns:a16="http://schemas.microsoft.com/office/drawing/2014/main" xmlns="" id="{D7BCC96B-FD2A-4B72-9856-1CFE89872D2C}"/>
              </a:ext>
            </a:extLst>
          </p:cNvPr>
          <p:cNvSpPr/>
          <p:nvPr/>
        </p:nvSpPr>
        <p:spPr>
          <a:xfrm>
            <a:off x="5545804" y="6161882"/>
            <a:ext cx="1030778" cy="361766"/>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sp>
        <p:nvSpPr>
          <p:cNvPr id="2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Incommensurability domains</a:t>
            </a:r>
            <a:endParaRPr lang="x-none" sz="3600" dirty="0"/>
          </a:p>
        </p:txBody>
      </p:sp>
      <p:cxnSp>
        <p:nvCxnSpPr>
          <p:cNvPr id="25" name="Straight Connector 2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Sharp domain boundaries</a:t>
            </a:r>
            <a:endParaRPr lang="en-US" sz="32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3">
            <p14:nvContentPartPr>
              <p14:cNvPr id="68" name="Ink 67">
                <a:extLst>
                  <a:ext uri="{FF2B5EF4-FFF2-40B4-BE49-F238E27FC236}">
                    <a16:creationId xmlns:a16="http://schemas.microsoft.com/office/drawing/2014/main" xmlns="" id="{56428F22-64A1-4831-90F8-03179D4FD98A}"/>
                  </a:ext>
                </a:extLst>
              </p14:cNvPr>
              <p14:cNvContentPartPr/>
              <p14:nvPr/>
            </p14:nvContentPartPr>
            <p14:xfrm>
              <a:off x="4061950" y="2944255"/>
              <a:ext cx="2194579" cy="1825195"/>
            </p14:xfrm>
          </p:contentPart>
        </mc:Choice>
        <mc:Fallback xmlns="">
          <p:pic>
            <p:nvPicPr>
              <p:cNvPr id="68" name="Ink 67">
                <a:extLst>
                  <a:ext uri="{FF2B5EF4-FFF2-40B4-BE49-F238E27FC236}">
                    <a16:creationId xmlns="" xmlns:a16="http://schemas.microsoft.com/office/drawing/2014/main" xmlns:p14="http://schemas.microsoft.com/office/powerpoint/2010/main" id="{56428F22-64A1-4831-90F8-03179D4FD98A}"/>
                  </a:ext>
                </a:extLst>
              </p:cNvPr>
              <p:cNvPicPr/>
              <p:nvPr/>
            </p:nvPicPr>
            <p:blipFill>
              <a:blip r:embed="rId4"/>
              <a:stretch>
                <a:fillRect/>
              </a:stretch>
            </p:blipFill>
            <p:spPr>
              <a:xfrm>
                <a:off x="4047552" y="2929861"/>
                <a:ext cx="2223015" cy="1853264"/>
              </a:xfrm>
              <a:prstGeom prst="rect">
                <a:avLst/>
              </a:prstGeom>
            </p:spPr>
          </p:pic>
        </mc:Fallback>
      </mc:AlternateContent>
      <p:pic>
        <p:nvPicPr>
          <p:cNvPr id="73" name="Picture 72">
            <a:extLst>
              <a:ext uri="{FF2B5EF4-FFF2-40B4-BE49-F238E27FC236}">
                <a16:creationId xmlns:a16="http://schemas.microsoft.com/office/drawing/2014/main" xmlns="" id="{A0E0AAD1-99C7-4545-9AFE-2E3D877EC003}"/>
              </a:ext>
            </a:extLst>
          </p:cNvPr>
          <p:cNvPicPr>
            <a:picLocks noChangeAspect="1"/>
          </p:cNvPicPr>
          <p:nvPr/>
        </p:nvPicPr>
        <p:blipFill>
          <a:blip r:embed="rId5"/>
          <a:stretch>
            <a:fillRect/>
          </a:stretch>
        </p:blipFill>
        <p:spPr>
          <a:xfrm>
            <a:off x="1147378" y="2589364"/>
            <a:ext cx="2605394" cy="2534978"/>
          </a:xfrm>
          <a:prstGeom prst="rect">
            <a:avLst/>
          </a:prstGeom>
        </p:spPr>
      </p:pic>
      <mc:AlternateContent xmlns:mc="http://schemas.openxmlformats.org/markup-compatibility/2006" xmlns:a14="http://schemas.microsoft.com/office/drawing/2010/main">
        <mc:Choice Requires="a14">
          <p:sp>
            <p:nvSpPr>
              <p:cNvPr id="74" name="TextBox 73"/>
              <p:cNvSpPr txBox="1"/>
              <p:nvPr/>
            </p:nvSpPr>
            <p:spPr>
              <a:xfrm>
                <a:off x="4226509" y="3912810"/>
                <a:ext cx="8975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charset="0"/>
                            </a:rPr>
                          </m:ctrlPr>
                        </m:sSubPr>
                        <m:e>
                          <m:r>
                            <a:rPr lang="en-US" b="0" i="1" smtClean="0">
                              <a:latin typeface="Cambria Math" charset="0"/>
                            </a:rPr>
                            <m:t>𝐽</m:t>
                          </m:r>
                        </m:e>
                        <m:sub>
                          <m:r>
                            <a:rPr lang="en-US" b="0" i="1" smtClean="0">
                              <a:latin typeface="Cambria Math" charset="0"/>
                            </a:rPr>
                            <m:t>1</m:t>
                          </m:r>
                        </m:sub>
                      </m:sSub>
                      <m:r>
                        <a:rPr lang="en-US" b="0" i="1" smtClean="0">
                          <a:latin typeface="Cambria Math" charset="0"/>
                        </a:rPr>
                        <m:t>&gt;</m:t>
                      </m:r>
                      <m:sSub>
                        <m:sSubPr>
                          <m:ctrlPr>
                            <a:rPr lang="en-US" b="0" i="1" smtClean="0">
                              <a:latin typeface="Cambria Math" charset="0"/>
                            </a:rPr>
                          </m:ctrlPr>
                        </m:sSubPr>
                        <m:e>
                          <m:r>
                            <a:rPr lang="en-US" b="0" i="1" smtClean="0">
                              <a:latin typeface="Cambria Math" charset="0"/>
                            </a:rPr>
                            <m:t>𝐽</m:t>
                          </m:r>
                        </m:e>
                        <m:sub>
                          <m:r>
                            <a:rPr lang="en-US" b="0" i="1" smtClean="0">
                              <a:latin typeface="Cambria Math" charset="0"/>
                            </a:rPr>
                            <m:t>2</m:t>
                          </m:r>
                        </m:sub>
                      </m:sSub>
                    </m:oMath>
                  </m:oMathPara>
                </a14:m>
                <a:endParaRPr lang="en-US" dirty="0"/>
              </a:p>
            </p:txBody>
          </p:sp>
        </mc:Choice>
        <mc:Fallback xmlns="">
          <p:sp>
            <p:nvSpPr>
              <p:cNvPr id="74" name="TextBox 73"/>
              <p:cNvSpPr txBox="1">
                <a:spLocks noRot="1" noChangeAspect="1" noMove="1" noResize="1" noEditPoints="1" noAdjustHandles="1" noChangeArrowheads="1" noChangeShapeType="1" noTextEdit="1"/>
              </p:cNvSpPr>
              <p:nvPr/>
            </p:nvSpPr>
            <p:spPr>
              <a:xfrm>
                <a:off x="4226509" y="3912810"/>
                <a:ext cx="897553" cy="369332"/>
              </a:xfrm>
              <a:prstGeom prst="rect">
                <a:avLst/>
              </a:prstGeom>
              <a:blipFill rotWithShape="0">
                <a:blip r:embed="rId6"/>
                <a:stretch>
                  <a:fillRect b="-1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5288620" y="3539717"/>
                <a:ext cx="8975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charset="0"/>
                            </a:rPr>
                          </m:ctrlPr>
                        </m:sSubPr>
                        <m:e>
                          <m:r>
                            <a:rPr lang="en-US" b="0" i="1" smtClean="0">
                              <a:latin typeface="Cambria Math" charset="0"/>
                            </a:rPr>
                            <m:t>𝐽</m:t>
                          </m:r>
                        </m:e>
                        <m:sub>
                          <m:r>
                            <a:rPr lang="en-US" b="0" i="1" smtClean="0">
                              <a:latin typeface="Cambria Math" charset="0"/>
                            </a:rPr>
                            <m:t>2</m:t>
                          </m:r>
                        </m:sub>
                      </m:sSub>
                      <m:r>
                        <a:rPr lang="en-US" b="0" i="1" smtClean="0">
                          <a:latin typeface="Cambria Math" charset="0"/>
                        </a:rPr>
                        <m:t>&gt;</m:t>
                      </m:r>
                      <m:sSub>
                        <m:sSubPr>
                          <m:ctrlPr>
                            <a:rPr lang="en-US" b="0" i="1" smtClean="0">
                              <a:latin typeface="Cambria Math" charset="0"/>
                            </a:rPr>
                          </m:ctrlPr>
                        </m:sSubPr>
                        <m:e>
                          <m:r>
                            <a:rPr lang="en-US" b="0" i="1" smtClean="0">
                              <a:latin typeface="Cambria Math" charset="0"/>
                            </a:rPr>
                            <m:t>𝐽</m:t>
                          </m:r>
                        </m:e>
                        <m:sub>
                          <m:r>
                            <a:rPr lang="en-US" b="0" i="1" smtClean="0">
                              <a:latin typeface="Cambria Math" charset="0"/>
                            </a:rPr>
                            <m:t>1</m:t>
                          </m:r>
                        </m:sub>
                      </m:sSub>
                    </m:oMath>
                  </m:oMathPara>
                </a14:m>
                <a:endParaRPr 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5288620" y="3539717"/>
                <a:ext cx="897553" cy="369332"/>
              </a:xfrm>
              <a:prstGeom prst="rect">
                <a:avLst/>
              </a:prstGeom>
              <a:blipFill rotWithShape="0">
                <a:blip r:embed="rId7"/>
                <a:stretch>
                  <a:fillRect b="-11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7711470" y="4377622"/>
                <a:ext cx="2947858" cy="5936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tx1">
                              <a:lumMod val="85000"/>
                              <a:lumOff val="15000"/>
                            </a:schemeClr>
                          </a:solidFill>
                          <a:latin typeface="Cambria Math" panose="02040503050406030204" pitchFamily="18" charset="0"/>
                        </a:rPr>
                        <m:t>𝑄</m:t>
                      </m:r>
                      <m:r>
                        <a:rPr lang="en-US" sz="1600" i="1" smtClean="0">
                          <a:solidFill>
                            <a:schemeClr val="tx1">
                              <a:lumMod val="85000"/>
                              <a:lumOff val="15000"/>
                            </a:schemeClr>
                          </a:solidFill>
                          <a:latin typeface="Cambria Math" panose="02040503050406030204" pitchFamily="18" charset="0"/>
                        </a:rPr>
                        <m:t>=</m:t>
                      </m:r>
                      <m:d>
                        <m:dPr>
                          <m:ctrlPr>
                            <a:rPr lang="en-US" sz="1600" i="1">
                              <a:solidFill>
                                <a:schemeClr val="tx1">
                                  <a:lumMod val="85000"/>
                                  <a:lumOff val="15000"/>
                                </a:schemeClr>
                              </a:solidFill>
                              <a:latin typeface="Cambria Math" charset="0"/>
                            </a:rPr>
                          </m:ctrlPr>
                        </m:dPr>
                        <m:e>
                          <m:func>
                            <m:funcPr>
                              <m:ctrlPr>
                                <a:rPr lang="en-US" sz="1600" i="1">
                                  <a:solidFill>
                                    <a:schemeClr val="tx1">
                                      <a:lumMod val="85000"/>
                                      <a:lumOff val="15000"/>
                                    </a:schemeClr>
                                  </a:solidFill>
                                  <a:latin typeface="Cambria Math" charset="0"/>
                                </a:rPr>
                              </m:ctrlPr>
                            </m:funcPr>
                            <m:fName>
                              <m:sSup>
                                <m:sSupPr>
                                  <m:ctrlPr>
                                    <a:rPr lang="en-US" sz="1600" i="1">
                                      <a:solidFill>
                                        <a:schemeClr val="tx1">
                                          <a:lumMod val="85000"/>
                                          <a:lumOff val="15000"/>
                                        </a:schemeClr>
                                      </a:solidFill>
                                      <a:latin typeface="Cambria Math" charset="0"/>
                                    </a:rPr>
                                  </m:ctrlPr>
                                </m:sSupPr>
                                <m:e>
                                  <m:r>
                                    <m:rPr>
                                      <m:sty m:val="p"/>
                                    </m:rPr>
                                    <a:rPr lang="en-US" sz="1600">
                                      <a:solidFill>
                                        <a:schemeClr val="tx1">
                                          <a:lumMod val="85000"/>
                                          <a:lumOff val="15000"/>
                                        </a:schemeClr>
                                      </a:solidFill>
                                      <a:latin typeface="Cambria Math" panose="02040503050406030204" pitchFamily="18" charset="0"/>
                                    </a:rPr>
                                    <m:t>cos</m:t>
                                  </m:r>
                                </m:e>
                                <m:sup>
                                  <m:r>
                                    <a:rPr lang="en-US" sz="1600" i="1">
                                      <a:solidFill>
                                        <a:schemeClr val="tx1">
                                          <a:lumMod val="85000"/>
                                          <a:lumOff val="15000"/>
                                        </a:schemeClr>
                                      </a:solidFill>
                                      <a:latin typeface="Cambria Math" panose="02040503050406030204" pitchFamily="18" charset="0"/>
                                    </a:rPr>
                                    <m:t>−1</m:t>
                                  </m:r>
                                </m:sup>
                              </m:sSup>
                            </m:fName>
                            <m:e>
                              <m:r>
                                <a:rPr lang="en-US" sz="1600" i="1">
                                  <a:solidFill>
                                    <a:schemeClr val="tx1">
                                      <a:lumMod val="85000"/>
                                      <a:lumOff val="15000"/>
                                    </a:schemeClr>
                                  </a:solidFill>
                                  <a:latin typeface="Cambria Math" panose="02040503050406030204" pitchFamily="18" charset="0"/>
                                </a:rPr>
                                <m:t>−</m:t>
                              </m:r>
                              <m:f>
                                <m:fPr>
                                  <m:ctrlPr>
                                    <a:rPr lang="en-US" sz="1600" i="1">
                                      <a:solidFill>
                                        <a:schemeClr val="tx1">
                                          <a:lumMod val="85000"/>
                                          <a:lumOff val="15000"/>
                                        </a:schemeClr>
                                      </a:solidFill>
                                      <a:latin typeface="Cambria Math" charset="0"/>
                                    </a:rPr>
                                  </m:ctrlPr>
                                </m:fPr>
                                <m:num>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1</m:t>
                                      </m:r>
                                    </m:sub>
                                  </m:sSub>
                                </m:num>
                                <m:den>
                                  <m:r>
                                    <a:rPr lang="en-US" sz="1600" i="1">
                                      <a:solidFill>
                                        <a:schemeClr val="tx1">
                                          <a:lumMod val="85000"/>
                                          <a:lumOff val="15000"/>
                                        </a:schemeClr>
                                      </a:solidFill>
                                      <a:latin typeface="Cambria Math" panose="02040503050406030204" pitchFamily="18" charset="0"/>
                                    </a:rPr>
                                    <m:t>2</m:t>
                                  </m:r>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2</m:t>
                                      </m:r>
                                    </m:sub>
                                  </m:sSub>
                                </m:den>
                              </m:f>
                            </m:e>
                          </m:func>
                          <m:r>
                            <a:rPr lang="en-US" sz="1600" i="1">
                              <a:solidFill>
                                <a:schemeClr val="tx1">
                                  <a:lumMod val="85000"/>
                                  <a:lumOff val="15000"/>
                                </a:schemeClr>
                              </a:solidFill>
                              <a:latin typeface="Cambria Math" panose="02040503050406030204" pitchFamily="18" charset="0"/>
                            </a:rPr>
                            <m:t>,</m:t>
                          </m:r>
                          <m:func>
                            <m:funcPr>
                              <m:ctrlPr>
                                <a:rPr lang="en-US" sz="1600" i="1">
                                  <a:solidFill>
                                    <a:schemeClr val="tx1">
                                      <a:lumMod val="85000"/>
                                      <a:lumOff val="15000"/>
                                    </a:schemeClr>
                                  </a:solidFill>
                                  <a:latin typeface="Cambria Math" charset="0"/>
                                </a:rPr>
                              </m:ctrlPr>
                            </m:funcPr>
                            <m:fName>
                              <m:sSup>
                                <m:sSupPr>
                                  <m:ctrlPr>
                                    <a:rPr lang="en-US" sz="1600" i="1">
                                      <a:solidFill>
                                        <a:schemeClr val="tx1">
                                          <a:lumMod val="85000"/>
                                          <a:lumOff val="15000"/>
                                        </a:schemeClr>
                                      </a:solidFill>
                                      <a:latin typeface="Cambria Math" charset="0"/>
                                    </a:rPr>
                                  </m:ctrlPr>
                                </m:sSupPr>
                                <m:e>
                                  <m:r>
                                    <m:rPr>
                                      <m:sty m:val="p"/>
                                    </m:rPr>
                                    <a:rPr lang="en-US" sz="1600">
                                      <a:solidFill>
                                        <a:schemeClr val="tx1">
                                          <a:lumMod val="85000"/>
                                          <a:lumOff val="15000"/>
                                        </a:schemeClr>
                                      </a:solidFill>
                                      <a:latin typeface="Cambria Math" panose="02040503050406030204" pitchFamily="18" charset="0"/>
                                    </a:rPr>
                                    <m:t>cos</m:t>
                                  </m:r>
                                </m:e>
                                <m:sup>
                                  <m:r>
                                    <a:rPr lang="en-US" sz="1600" i="1">
                                      <a:solidFill>
                                        <a:schemeClr val="tx1">
                                          <a:lumMod val="85000"/>
                                          <a:lumOff val="15000"/>
                                        </a:schemeClr>
                                      </a:solidFill>
                                      <a:latin typeface="Cambria Math" panose="02040503050406030204" pitchFamily="18" charset="0"/>
                                    </a:rPr>
                                    <m:t>−1</m:t>
                                  </m:r>
                                </m:sup>
                              </m:sSup>
                            </m:fName>
                            <m:e>
                              <m:r>
                                <a:rPr lang="en-US" sz="1600" i="1">
                                  <a:solidFill>
                                    <a:schemeClr val="tx1">
                                      <a:lumMod val="85000"/>
                                      <a:lumOff val="15000"/>
                                    </a:schemeClr>
                                  </a:solidFill>
                                  <a:latin typeface="Cambria Math" panose="02040503050406030204" pitchFamily="18" charset="0"/>
                                </a:rPr>
                                <m:t>−</m:t>
                              </m:r>
                              <m:f>
                                <m:fPr>
                                  <m:ctrlPr>
                                    <a:rPr lang="en-US" sz="1600" i="1">
                                      <a:solidFill>
                                        <a:schemeClr val="tx1">
                                          <a:lumMod val="85000"/>
                                          <a:lumOff val="15000"/>
                                        </a:schemeClr>
                                      </a:solidFill>
                                      <a:latin typeface="Cambria Math" charset="0"/>
                                    </a:rPr>
                                  </m:ctrlPr>
                                </m:fPr>
                                <m:num>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1</m:t>
                                      </m:r>
                                    </m:sub>
                                  </m:sSub>
                                </m:num>
                                <m:den>
                                  <m:r>
                                    <a:rPr lang="en-US" sz="1600" i="1">
                                      <a:solidFill>
                                        <a:schemeClr val="tx1">
                                          <a:lumMod val="85000"/>
                                          <a:lumOff val="15000"/>
                                        </a:schemeClr>
                                      </a:solidFill>
                                      <a:latin typeface="Cambria Math" panose="02040503050406030204" pitchFamily="18" charset="0"/>
                                    </a:rPr>
                                    <m:t>2</m:t>
                                  </m:r>
                                  <m:sSub>
                                    <m:sSubPr>
                                      <m:ctrlPr>
                                        <a:rPr lang="en-US" sz="1600" i="1">
                                          <a:solidFill>
                                            <a:schemeClr val="tx1">
                                              <a:lumMod val="85000"/>
                                              <a:lumOff val="15000"/>
                                            </a:schemeClr>
                                          </a:solidFill>
                                          <a:latin typeface="Cambria Math" charset="0"/>
                                        </a:rPr>
                                      </m:ctrlPr>
                                    </m:sSubPr>
                                    <m:e>
                                      <m:r>
                                        <a:rPr lang="en-US" sz="1600" i="1">
                                          <a:solidFill>
                                            <a:schemeClr val="tx1">
                                              <a:lumMod val="85000"/>
                                              <a:lumOff val="15000"/>
                                            </a:schemeClr>
                                          </a:solidFill>
                                          <a:latin typeface="Cambria Math" panose="02040503050406030204" pitchFamily="18" charset="0"/>
                                        </a:rPr>
                                        <m:t>𝐽</m:t>
                                      </m:r>
                                    </m:e>
                                    <m:sub>
                                      <m:r>
                                        <a:rPr lang="en-US" sz="1600" i="1">
                                          <a:solidFill>
                                            <a:schemeClr val="tx1">
                                              <a:lumMod val="85000"/>
                                              <a:lumOff val="15000"/>
                                            </a:schemeClr>
                                          </a:solidFill>
                                          <a:latin typeface="Cambria Math" panose="02040503050406030204" pitchFamily="18" charset="0"/>
                                        </a:rPr>
                                        <m:t>2</m:t>
                                      </m:r>
                                    </m:sub>
                                  </m:sSub>
                                </m:den>
                              </m:f>
                            </m:e>
                          </m:func>
                        </m:e>
                      </m:d>
                    </m:oMath>
                  </m:oMathPara>
                </a14:m>
                <a:endParaRPr lang="en-US" sz="1600" dirty="0">
                  <a:solidFill>
                    <a:schemeClr val="tx1">
                      <a:lumMod val="85000"/>
                      <a:lumOff val="15000"/>
                    </a:schemeClr>
                  </a:solidFill>
                </a:endParaRPr>
              </a:p>
            </p:txBody>
          </p:sp>
        </mc:Choice>
        <mc:Fallback>
          <p:sp>
            <p:nvSpPr>
              <p:cNvPr id="13" name="TextBox 12"/>
              <p:cNvSpPr txBox="1">
                <a:spLocks noRot="1" noChangeAspect="1" noMove="1" noResize="1" noEditPoints="1" noAdjustHandles="1" noChangeArrowheads="1" noChangeShapeType="1" noTextEdit="1"/>
              </p:cNvSpPr>
              <p:nvPr/>
            </p:nvSpPr>
            <p:spPr>
              <a:xfrm>
                <a:off x="7711470" y="4377622"/>
                <a:ext cx="2947858" cy="593624"/>
              </a:xfrm>
              <a:prstGeom prst="rect">
                <a:avLst/>
              </a:prstGeom>
              <a:blipFill rotWithShape="0">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11939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390" y="1281596"/>
            <a:ext cx="5486400" cy="5486400"/>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71600"/>
            <a:ext cx="5486400" cy="5486400"/>
          </a:xfrm>
          <a:prstGeom prst="rect">
            <a:avLst/>
          </a:prstGeom>
        </p:spPr>
      </p:pic>
      <p:sp>
        <p:nvSpPr>
          <p:cNvPr id="15" name="TextBox 14">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Disordered triangular lattice Heisenberg model</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L="0" indent="0" algn="ctr">
                  <a:lnSpc>
                    <a:spcPct val="110000"/>
                  </a:lnSpc>
                  <a:buNone/>
                </a:pPr>
                <a14:m>
                  <m:oMath xmlns:m="http://schemas.openxmlformats.org/officeDocument/2006/math">
                    <m:r>
                      <a:rPr lang="en-US" sz="1800" b="0" i="1" smtClean="0">
                        <a:solidFill>
                          <a:schemeClr val="tx1">
                            <a:lumMod val="85000"/>
                            <a:lumOff val="15000"/>
                          </a:schemeClr>
                        </a:solidFill>
                        <a:latin typeface="Cambria Math" charset="0"/>
                      </a:rPr>
                      <m:t>𝐻</m:t>
                    </m:r>
                    <m:r>
                      <a:rPr lang="en-US" sz="1800" b="0" i="1" smtClean="0">
                        <a:solidFill>
                          <a:schemeClr val="tx1">
                            <a:lumMod val="85000"/>
                            <a:lumOff val="15000"/>
                          </a:schemeClr>
                        </a:solidFill>
                        <a:latin typeface="Cambria Math" charset="0"/>
                      </a:rPr>
                      <m:t>=</m:t>
                    </m:r>
                    <m:nary>
                      <m:naryPr>
                        <m:chr m:val="∑"/>
                        <m:supHide m:val="on"/>
                        <m:ctrlPr>
                          <a:rPr lang="en-US" sz="1800" b="0" i="1" smtClean="0">
                            <a:solidFill>
                              <a:schemeClr val="tx1">
                                <a:lumMod val="85000"/>
                                <a:lumOff val="15000"/>
                              </a:schemeClr>
                            </a:solidFill>
                            <a:latin typeface="Cambria Math" charset="0"/>
                          </a:rPr>
                        </m:ctrlPr>
                      </m:naryPr>
                      <m:sub>
                        <m:d>
                          <m:dPr>
                            <m:begChr m:val="〈"/>
                            <m:endChr m:val="〉"/>
                            <m:ctrlPr>
                              <a:rPr lang="en-US" sz="1800" b="0" i="1" smtClean="0">
                                <a:solidFill>
                                  <a:schemeClr val="tx1">
                                    <a:lumMod val="85000"/>
                                    <a:lumOff val="15000"/>
                                  </a:schemeClr>
                                </a:solidFill>
                                <a:latin typeface="Cambria Math" charset="0"/>
                              </a:rPr>
                            </m:ctrlPr>
                          </m:dPr>
                          <m:e>
                            <m:r>
                              <a:rPr lang="en-US" sz="1800" b="0" i="1" smtClean="0">
                                <a:solidFill>
                                  <a:schemeClr val="tx1">
                                    <a:lumMod val="85000"/>
                                    <a:lumOff val="15000"/>
                                  </a:schemeClr>
                                </a:solidFill>
                                <a:latin typeface="Cambria Math" charset="0"/>
                              </a:rPr>
                              <m:t>𝑖</m:t>
                            </m:r>
                            <m:r>
                              <a:rPr lang="en-US" sz="1800" b="0" i="1" smtClean="0">
                                <a:solidFill>
                                  <a:schemeClr val="tx1">
                                    <a:lumMod val="85000"/>
                                    <a:lumOff val="15000"/>
                                  </a:schemeClr>
                                </a:solidFill>
                                <a:latin typeface="Cambria Math" charset="0"/>
                              </a:rPr>
                              <m:t>,</m:t>
                            </m:r>
                            <m:r>
                              <a:rPr lang="en-US" sz="1800" b="0" i="1" smtClean="0">
                                <a:solidFill>
                                  <a:schemeClr val="tx1">
                                    <a:lumMod val="85000"/>
                                    <a:lumOff val="15000"/>
                                  </a:schemeClr>
                                </a:solidFill>
                                <a:latin typeface="Cambria Math" charset="0"/>
                              </a:rPr>
                              <m:t>𝑗</m:t>
                            </m:r>
                          </m:e>
                        </m:d>
                      </m:sub>
                      <m:sup/>
                      <m:e>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sSub>
                          <m:sSubPr>
                            <m:ctrlPr>
                              <a:rPr lang="en-US" sz="1800" b="0" i="1" dirty="0"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dirty="0" smtClean="0">
                                <a:solidFill>
                                  <a:schemeClr val="tx1">
                                    <a:lumMod val="85000"/>
                                    <a:lumOff val="15000"/>
                                  </a:schemeClr>
                                </a:solidFill>
                                <a:latin typeface="Cambria Math" charset="0"/>
                              </a:rPr>
                              <m:t>𝑖</m:t>
                            </m:r>
                          </m:sub>
                        </m:sSub>
                      </m:e>
                    </m:nary>
                    <m:r>
                      <a:rPr lang="en-US" sz="1800" b="0" i="1" smtClean="0">
                        <a:solidFill>
                          <a:schemeClr val="tx1">
                            <a:lumMod val="85000"/>
                            <a:lumOff val="15000"/>
                          </a:schemeClr>
                        </a:solidFill>
                        <a:latin typeface="Cambria Math" charset="0"/>
                      </a:rPr>
                      <m:t>.</m:t>
                    </m:r>
                    <m:sSub>
                      <m:sSubPr>
                        <m:ctrlPr>
                          <a:rPr lang="en-US" sz="1800" b="0" i="1"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smtClean="0">
                            <a:solidFill>
                              <a:schemeClr val="tx1">
                                <a:lumMod val="85000"/>
                                <a:lumOff val="15000"/>
                              </a:schemeClr>
                            </a:solidFill>
                            <a:latin typeface="Cambria Math" charset="0"/>
                          </a:rPr>
                          <m:t>𝑗</m:t>
                        </m:r>
                      </m:sub>
                    </m:sSub>
                  </m:oMath>
                </a14:m>
                <a:r>
                  <a:rPr lang="en-US" sz="1800" dirty="0" smtClean="0">
                    <a:solidFill>
                      <a:schemeClr val="tx1">
                        <a:lumMod val="85000"/>
                        <a:lumOff val="15000"/>
                      </a:schemeClr>
                    </a:solidFill>
                  </a:rPr>
                  <a:t> </a:t>
                </a:r>
              </a:p>
              <a:p>
                <a:pPr marL="0" indent="0" algn="ctr">
                  <a:lnSpc>
                    <a:spcPct val="110000"/>
                  </a:lnSpc>
                  <a:buNone/>
                </a:pPr>
                <a:r>
                  <a:rPr lang="en-US" sz="1800" dirty="0" smtClean="0">
                    <a:solidFill>
                      <a:schemeClr val="tx1">
                        <a:lumMod val="85000"/>
                        <a:lumOff val="15000"/>
                      </a:schemeClr>
                    </a:solidFill>
                  </a:rPr>
                  <a:t>With</a:t>
                </a:r>
              </a:p>
              <a:p>
                <a:pPr marL="0" indent="0" algn="ctr">
                  <a:lnSpc>
                    <a:spcPct val="110000"/>
                  </a:lnSpc>
                  <a:buNone/>
                </a:pPr>
                <a:r>
                  <a:rPr lang="en-US" sz="1800" dirty="0" smtClean="0">
                    <a:solidFill>
                      <a:schemeClr val="tx1">
                        <a:lumMod val="85000"/>
                        <a:lumOff val="15000"/>
                      </a:schemeClr>
                    </a:solidFill>
                  </a:rPr>
                  <a:t> </a:t>
                </a:r>
                <a14:m>
                  <m:oMath xmlns:m="http://schemas.openxmlformats.org/officeDocument/2006/math">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r>
                      <a:rPr lang="en-US" sz="1800" i="1">
                        <a:solidFill>
                          <a:schemeClr val="tx1">
                            <a:lumMod val="85000"/>
                            <a:lumOff val="15000"/>
                          </a:schemeClr>
                        </a:solidFill>
                        <a:latin typeface="Cambria Math" charset="0"/>
                        <a:ea typeface="Cambria Math" charset="0"/>
                        <a:cs typeface="Cambria Math" charset="0"/>
                      </a:rPr>
                      <m:t>∈</m:t>
                    </m:r>
                    <m:d>
                      <m:dPr>
                        <m:begChr m:val="["/>
                        <m:endChr m:val="]"/>
                        <m:ctrlPr>
                          <a:rPr lang="en-US" sz="1800" b="0" i="1" smtClean="0">
                            <a:solidFill>
                              <a:schemeClr val="tx1">
                                <a:lumMod val="85000"/>
                                <a:lumOff val="15000"/>
                              </a:schemeClr>
                            </a:solidFill>
                            <a:latin typeface="Cambria Math" charset="0"/>
                            <a:ea typeface="Cambria Math" charset="0"/>
                            <a:cs typeface="Cambria Math" charset="0"/>
                          </a:rPr>
                        </m:ctrlPr>
                      </m:dPr>
                      <m:e>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e>
                    </m:d>
                  </m:oMath>
                </a14:m>
                <a:endParaRPr lang="en-US" sz="1800" b="0" dirty="0" smtClean="0">
                  <a:solidFill>
                    <a:schemeClr val="tx1">
                      <a:lumMod val="85000"/>
                      <a:lumOff val="15000"/>
                    </a:schemeClr>
                  </a:solidFill>
                  <a:ea typeface="Cambria Math" charset="0"/>
                  <a:cs typeface="Cambria Math" charset="0"/>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endParaRPr lang="en-US" sz="1800" dirty="0">
                  <a:solidFill>
                    <a:schemeClr val="tx1">
                      <a:lumMod val="85000"/>
                      <a:lumOff val="15000"/>
                    </a:schemeClr>
                  </a:solidFill>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85000"/>
                              <a:lumOff val="15000"/>
                            </a:schemeClr>
                          </a:solidFill>
                          <a:latin typeface="Cambria Math" charset="0"/>
                        </a:rPr>
                        <m:t>Δ</m:t>
                      </m:r>
                      <m:r>
                        <a:rPr lang="en-US" b="0" i="1" smtClean="0">
                          <a:solidFill>
                            <a:schemeClr val="tx1">
                              <a:lumMod val="85000"/>
                              <a:lumOff val="15000"/>
                            </a:schemeClr>
                          </a:solidFill>
                          <a:latin typeface="Cambria Math" charset="0"/>
                        </a:rPr>
                        <m:t>=0</m:t>
                      </m:r>
                    </m:oMath>
                  </m:oMathPara>
                </a14:m>
                <a:endParaRPr lang="en-US" dirty="0">
                  <a:solidFill>
                    <a:schemeClr val="tx1">
                      <a:lumMod val="85000"/>
                      <a:lumOff val="15000"/>
                    </a:schemeClr>
                  </a:solidFill>
                </a:endParaRPr>
              </a:p>
              <a:p>
                <a:pPr marL="457200" lvl="1" indent="0">
                  <a:lnSpc>
                    <a:spcPct val="110000"/>
                  </a:lnSpc>
                  <a:buNone/>
                </a:pPr>
                <a:endParaRPr lang="en-US"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4"/>
                <a:stretch>
                  <a:fillRect t="-8123"/>
                </a:stretch>
              </a:blipFill>
            </p:spPr>
            <p:txBody>
              <a:bodyPr/>
              <a:lstStyle/>
              <a:p>
                <a:r>
                  <a:rPr lang="en-US">
                    <a:noFill/>
                  </a:rPr>
                  <a:t> </a:t>
                </a:r>
              </a:p>
            </p:txBody>
          </p:sp>
        </mc:Fallback>
      </mc:AlternateContent>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Incommensurability domains at d=2</a:t>
            </a:r>
            <a:endParaRPr lang="x-none" sz="3600" dirty="0"/>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5901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390" y="1281596"/>
            <a:ext cx="5486400" cy="5486400"/>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71600"/>
            <a:ext cx="5486400" cy="5486400"/>
          </a:xfrm>
          <a:prstGeom prst="rect">
            <a:avLst/>
          </a:prstGeom>
        </p:spPr>
      </p:pic>
      <p:sp>
        <p:nvSpPr>
          <p:cNvPr id="15" name="TextBox 14">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Disordered triangular lattice Heisenberg model</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L="0" indent="0" algn="ctr">
                  <a:lnSpc>
                    <a:spcPct val="110000"/>
                  </a:lnSpc>
                  <a:buNone/>
                </a:pPr>
                <a14:m>
                  <m:oMath xmlns:m="http://schemas.openxmlformats.org/officeDocument/2006/math">
                    <m:r>
                      <a:rPr lang="en-US" sz="1800" b="0" i="1" smtClean="0">
                        <a:solidFill>
                          <a:schemeClr val="tx1">
                            <a:lumMod val="85000"/>
                            <a:lumOff val="15000"/>
                          </a:schemeClr>
                        </a:solidFill>
                        <a:latin typeface="Cambria Math" charset="0"/>
                      </a:rPr>
                      <m:t>𝐻</m:t>
                    </m:r>
                    <m:r>
                      <a:rPr lang="en-US" sz="1800" b="0" i="1" smtClean="0">
                        <a:solidFill>
                          <a:schemeClr val="tx1">
                            <a:lumMod val="85000"/>
                            <a:lumOff val="15000"/>
                          </a:schemeClr>
                        </a:solidFill>
                        <a:latin typeface="Cambria Math" charset="0"/>
                      </a:rPr>
                      <m:t>=</m:t>
                    </m:r>
                    <m:nary>
                      <m:naryPr>
                        <m:chr m:val="∑"/>
                        <m:supHide m:val="on"/>
                        <m:ctrlPr>
                          <a:rPr lang="en-US" sz="1800" b="0" i="1" smtClean="0">
                            <a:solidFill>
                              <a:schemeClr val="tx1">
                                <a:lumMod val="85000"/>
                                <a:lumOff val="15000"/>
                              </a:schemeClr>
                            </a:solidFill>
                            <a:latin typeface="Cambria Math" charset="0"/>
                          </a:rPr>
                        </m:ctrlPr>
                      </m:naryPr>
                      <m:sub>
                        <m:d>
                          <m:dPr>
                            <m:begChr m:val="〈"/>
                            <m:endChr m:val="〉"/>
                            <m:ctrlPr>
                              <a:rPr lang="en-US" sz="1800" b="0" i="1" smtClean="0">
                                <a:solidFill>
                                  <a:schemeClr val="tx1">
                                    <a:lumMod val="85000"/>
                                    <a:lumOff val="15000"/>
                                  </a:schemeClr>
                                </a:solidFill>
                                <a:latin typeface="Cambria Math" charset="0"/>
                              </a:rPr>
                            </m:ctrlPr>
                          </m:dPr>
                          <m:e>
                            <m:r>
                              <a:rPr lang="en-US" sz="1800" b="0" i="1" smtClean="0">
                                <a:solidFill>
                                  <a:schemeClr val="tx1">
                                    <a:lumMod val="85000"/>
                                    <a:lumOff val="15000"/>
                                  </a:schemeClr>
                                </a:solidFill>
                                <a:latin typeface="Cambria Math" charset="0"/>
                              </a:rPr>
                              <m:t>𝑖</m:t>
                            </m:r>
                            <m:r>
                              <a:rPr lang="en-US" sz="1800" b="0" i="1" smtClean="0">
                                <a:solidFill>
                                  <a:schemeClr val="tx1">
                                    <a:lumMod val="85000"/>
                                    <a:lumOff val="15000"/>
                                  </a:schemeClr>
                                </a:solidFill>
                                <a:latin typeface="Cambria Math" charset="0"/>
                              </a:rPr>
                              <m:t>,</m:t>
                            </m:r>
                            <m:r>
                              <a:rPr lang="en-US" sz="1800" b="0" i="1" smtClean="0">
                                <a:solidFill>
                                  <a:schemeClr val="tx1">
                                    <a:lumMod val="85000"/>
                                    <a:lumOff val="15000"/>
                                  </a:schemeClr>
                                </a:solidFill>
                                <a:latin typeface="Cambria Math" charset="0"/>
                              </a:rPr>
                              <m:t>𝑗</m:t>
                            </m:r>
                          </m:e>
                        </m:d>
                      </m:sub>
                      <m:sup/>
                      <m:e>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sSub>
                          <m:sSubPr>
                            <m:ctrlPr>
                              <a:rPr lang="en-US" sz="1800" b="0" i="1" dirty="0"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dirty="0" smtClean="0">
                                <a:solidFill>
                                  <a:schemeClr val="tx1">
                                    <a:lumMod val="85000"/>
                                    <a:lumOff val="15000"/>
                                  </a:schemeClr>
                                </a:solidFill>
                                <a:latin typeface="Cambria Math" charset="0"/>
                              </a:rPr>
                              <m:t>𝑖</m:t>
                            </m:r>
                          </m:sub>
                        </m:sSub>
                      </m:e>
                    </m:nary>
                    <m:r>
                      <a:rPr lang="en-US" sz="1800" b="0" i="1" smtClean="0">
                        <a:solidFill>
                          <a:schemeClr val="tx1">
                            <a:lumMod val="85000"/>
                            <a:lumOff val="15000"/>
                          </a:schemeClr>
                        </a:solidFill>
                        <a:latin typeface="Cambria Math" charset="0"/>
                      </a:rPr>
                      <m:t>.</m:t>
                    </m:r>
                    <m:sSub>
                      <m:sSubPr>
                        <m:ctrlPr>
                          <a:rPr lang="en-US" sz="1800" b="0" i="1"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smtClean="0">
                            <a:solidFill>
                              <a:schemeClr val="tx1">
                                <a:lumMod val="85000"/>
                                <a:lumOff val="15000"/>
                              </a:schemeClr>
                            </a:solidFill>
                            <a:latin typeface="Cambria Math" charset="0"/>
                          </a:rPr>
                          <m:t>𝑗</m:t>
                        </m:r>
                      </m:sub>
                    </m:sSub>
                  </m:oMath>
                </a14:m>
                <a:r>
                  <a:rPr lang="en-US" sz="1800" dirty="0" smtClean="0">
                    <a:solidFill>
                      <a:schemeClr val="tx1">
                        <a:lumMod val="85000"/>
                        <a:lumOff val="15000"/>
                      </a:schemeClr>
                    </a:solidFill>
                  </a:rPr>
                  <a:t> </a:t>
                </a:r>
              </a:p>
              <a:p>
                <a:pPr marL="0" indent="0" algn="ctr">
                  <a:lnSpc>
                    <a:spcPct val="110000"/>
                  </a:lnSpc>
                  <a:buNone/>
                </a:pPr>
                <a:r>
                  <a:rPr lang="en-US" sz="1800" dirty="0" smtClean="0">
                    <a:solidFill>
                      <a:schemeClr val="tx1">
                        <a:lumMod val="85000"/>
                        <a:lumOff val="15000"/>
                      </a:schemeClr>
                    </a:solidFill>
                  </a:rPr>
                  <a:t>With</a:t>
                </a:r>
              </a:p>
              <a:p>
                <a:pPr marL="0" indent="0" algn="ctr">
                  <a:lnSpc>
                    <a:spcPct val="110000"/>
                  </a:lnSpc>
                  <a:buNone/>
                </a:pPr>
                <a:r>
                  <a:rPr lang="en-US" sz="1800" dirty="0" smtClean="0">
                    <a:solidFill>
                      <a:schemeClr val="tx1">
                        <a:lumMod val="85000"/>
                        <a:lumOff val="15000"/>
                      </a:schemeClr>
                    </a:solidFill>
                  </a:rPr>
                  <a:t> </a:t>
                </a:r>
                <a14:m>
                  <m:oMath xmlns:m="http://schemas.openxmlformats.org/officeDocument/2006/math">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r>
                      <a:rPr lang="en-US" sz="1800" i="1">
                        <a:solidFill>
                          <a:schemeClr val="tx1">
                            <a:lumMod val="85000"/>
                            <a:lumOff val="15000"/>
                          </a:schemeClr>
                        </a:solidFill>
                        <a:latin typeface="Cambria Math" charset="0"/>
                        <a:ea typeface="Cambria Math" charset="0"/>
                        <a:cs typeface="Cambria Math" charset="0"/>
                      </a:rPr>
                      <m:t>∈</m:t>
                    </m:r>
                    <m:d>
                      <m:dPr>
                        <m:begChr m:val="["/>
                        <m:endChr m:val="]"/>
                        <m:ctrlPr>
                          <a:rPr lang="en-US" sz="1800" b="0" i="1" smtClean="0">
                            <a:solidFill>
                              <a:schemeClr val="tx1">
                                <a:lumMod val="85000"/>
                                <a:lumOff val="15000"/>
                              </a:schemeClr>
                            </a:solidFill>
                            <a:latin typeface="Cambria Math" charset="0"/>
                            <a:ea typeface="Cambria Math" charset="0"/>
                            <a:cs typeface="Cambria Math" charset="0"/>
                          </a:rPr>
                        </m:ctrlPr>
                      </m:dPr>
                      <m:e>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e>
                    </m:d>
                  </m:oMath>
                </a14:m>
                <a:endParaRPr lang="en-US" sz="1800" b="0" dirty="0" smtClean="0">
                  <a:solidFill>
                    <a:schemeClr val="tx1">
                      <a:lumMod val="85000"/>
                      <a:lumOff val="15000"/>
                    </a:schemeClr>
                  </a:solidFill>
                  <a:ea typeface="Cambria Math" charset="0"/>
                  <a:cs typeface="Cambria Math" charset="0"/>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endParaRPr lang="en-US" sz="1800" dirty="0">
                  <a:solidFill>
                    <a:schemeClr val="tx1">
                      <a:lumMod val="85000"/>
                      <a:lumOff val="15000"/>
                    </a:schemeClr>
                  </a:solidFill>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85000"/>
                              <a:lumOff val="15000"/>
                            </a:schemeClr>
                          </a:solidFill>
                          <a:latin typeface="Cambria Math" charset="0"/>
                        </a:rPr>
                        <m:t>Δ</m:t>
                      </m:r>
                      <m:r>
                        <a:rPr lang="en-US" b="0" i="1" smtClean="0">
                          <a:solidFill>
                            <a:schemeClr val="tx1">
                              <a:lumMod val="85000"/>
                              <a:lumOff val="15000"/>
                            </a:schemeClr>
                          </a:solidFill>
                          <a:latin typeface="Cambria Math" charset="0"/>
                        </a:rPr>
                        <m:t>=0.5</m:t>
                      </m:r>
                    </m:oMath>
                  </m:oMathPara>
                </a14:m>
                <a:endParaRPr lang="en-US" dirty="0">
                  <a:solidFill>
                    <a:schemeClr val="tx1">
                      <a:lumMod val="85000"/>
                      <a:lumOff val="15000"/>
                    </a:schemeClr>
                  </a:solidFill>
                </a:endParaRPr>
              </a:p>
              <a:p>
                <a:pPr marL="457200" lvl="1" indent="0">
                  <a:lnSpc>
                    <a:spcPct val="110000"/>
                  </a:lnSpc>
                  <a:buNone/>
                </a:pPr>
                <a:endParaRPr lang="en-US"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4"/>
                <a:stretch>
                  <a:fillRect t="-8123"/>
                </a:stretch>
              </a:blipFill>
            </p:spPr>
            <p:txBody>
              <a:bodyPr/>
              <a:lstStyle/>
              <a:p>
                <a:r>
                  <a:rPr lang="en-US">
                    <a:noFill/>
                  </a:rPr>
                  <a:t> </a:t>
                </a:r>
              </a:p>
            </p:txBody>
          </p:sp>
        </mc:Fallback>
      </mc:AlternateContent>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Incommensurability domains at d=2</a:t>
            </a:r>
            <a:endParaRPr lang="x-none" sz="3600" dirty="0"/>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5730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390" y="1281596"/>
            <a:ext cx="5486400" cy="5486400"/>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71600"/>
            <a:ext cx="5486400" cy="5486400"/>
          </a:xfrm>
          <a:prstGeom prst="rect">
            <a:avLst/>
          </a:prstGeom>
        </p:spPr>
      </p:pic>
      <p:sp>
        <p:nvSpPr>
          <p:cNvPr id="15" name="TextBox 14">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Disordered triangular lattice Heisenberg model</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L="0" indent="0" algn="ctr">
                  <a:lnSpc>
                    <a:spcPct val="110000"/>
                  </a:lnSpc>
                  <a:buNone/>
                </a:pPr>
                <a14:m>
                  <m:oMath xmlns:m="http://schemas.openxmlformats.org/officeDocument/2006/math">
                    <m:r>
                      <a:rPr lang="en-US" sz="1800" b="0" i="1" smtClean="0">
                        <a:solidFill>
                          <a:schemeClr val="tx1">
                            <a:lumMod val="85000"/>
                            <a:lumOff val="15000"/>
                          </a:schemeClr>
                        </a:solidFill>
                        <a:latin typeface="Cambria Math" charset="0"/>
                      </a:rPr>
                      <m:t>𝐻</m:t>
                    </m:r>
                    <m:r>
                      <a:rPr lang="en-US" sz="1800" b="0" i="1" smtClean="0">
                        <a:solidFill>
                          <a:schemeClr val="tx1">
                            <a:lumMod val="85000"/>
                            <a:lumOff val="15000"/>
                          </a:schemeClr>
                        </a:solidFill>
                        <a:latin typeface="Cambria Math" charset="0"/>
                      </a:rPr>
                      <m:t>=</m:t>
                    </m:r>
                    <m:nary>
                      <m:naryPr>
                        <m:chr m:val="∑"/>
                        <m:supHide m:val="on"/>
                        <m:ctrlPr>
                          <a:rPr lang="en-US" sz="1800" b="0" i="1" smtClean="0">
                            <a:solidFill>
                              <a:schemeClr val="tx1">
                                <a:lumMod val="85000"/>
                                <a:lumOff val="15000"/>
                              </a:schemeClr>
                            </a:solidFill>
                            <a:latin typeface="Cambria Math" charset="0"/>
                          </a:rPr>
                        </m:ctrlPr>
                      </m:naryPr>
                      <m:sub>
                        <m:d>
                          <m:dPr>
                            <m:begChr m:val="〈"/>
                            <m:endChr m:val="〉"/>
                            <m:ctrlPr>
                              <a:rPr lang="en-US" sz="1800" b="0" i="1" smtClean="0">
                                <a:solidFill>
                                  <a:schemeClr val="tx1">
                                    <a:lumMod val="85000"/>
                                    <a:lumOff val="15000"/>
                                  </a:schemeClr>
                                </a:solidFill>
                                <a:latin typeface="Cambria Math" charset="0"/>
                              </a:rPr>
                            </m:ctrlPr>
                          </m:dPr>
                          <m:e>
                            <m:r>
                              <a:rPr lang="en-US" sz="1800" b="0" i="1" smtClean="0">
                                <a:solidFill>
                                  <a:schemeClr val="tx1">
                                    <a:lumMod val="85000"/>
                                    <a:lumOff val="15000"/>
                                  </a:schemeClr>
                                </a:solidFill>
                                <a:latin typeface="Cambria Math" charset="0"/>
                              </a:rPr>
                              <m:t>𝑖</m:t>
                            </m:r>
                            <m:r>
                              <a:rPr lang="en-US" sz="1800" b="0" i="1" smtClean="0">
                                <a:solidFill>
                                  <a:schemeClr val="tx1">
                                    <a:lumMod val="85000"/>
                                    <a:lumOff val="15000"/>
                                  </a:schemeClr>
                                </a:solidFill>
                                <a:latin typeface="Cambria Math" charset="0"/>
                              </a:rPr>
                              <m:t>,</m:t>
                            </m:r>
                            <m:r>
                              <a:rPr lang="en-US" sz="1800" b="0" i="1" smtClean="0">
                                <a:solidFill>
                                  <a:schemeClr val="tx1">
                                    <a:lumMod val="85000"/>
                                    <a:lumOff val="15000"/>
                                  </a:schemeClr>
                                </a:solidFill>
                                <a:latin typeface="Cambria Math" charset="0"/>
                              </a:rPr>
                              <m:t>𝑗</m:t>
                            </m:r>
                          </m:e>
                        </m:d>
                      </m:sub>
                      <m:sup/>
                      <m:e>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sSub>
                          <m:sSubPr>
                            <m:ctrlPr>
                              <a:rPr lang="en-US" sz="1800" b="0" i="1" dirty="0"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dirty="0" smtClean="0">
                                <a:solidFill>
                                  <a:schemeClr val="tx1">
                                    <a:lumMod val="85000"/>
                                    <a:lumOff val="15000"/>
                                  </a:schemeClr>
                                </a:solidFill>
                                <a:latin typeface="Cambria Math" charset="0"/>
                              </a:rPr>
                              <m:t>𝑖</m:t>
                            </m:r>
                          </m:sub>
                        </m:sSub>
                      </m:e>
                    </m:nary>
                    <m:r>
                      <a:rPr lang="en-US" sz="1800" b="0" i="1" smtClean="0">
                        <a:solidFill>
                          <a:schemeClr val="tx1">
                            <a:lumMod val="85000"/>
                            <a:lumOff val="15000"/>
                          </a:schemeClr>
                        </a:solidFill>
                        <a:latin typeface="Cambria Math" charset="0"/>
                      </a:rPr>
                      <m:t>.</m:t>
                    </m:r>
                    <m:sSub>
                      <m:sSubPr>
                        <m:ctrlPr>
                          <a:rPr lang="en-US" sz="1800" b="0" i="1"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smtClean="0">
                            <a:solidFill>
                              <a:schemeClr val="tx1">
                                <a:lumMod val="85000"/>
                                <a:lumOff val="15000"/>
                              </a:schemeClr>
                            </a:solidFill>
                            <a:latin typeface="Cambria Math" charset="0"/>
                          </a:rPr>
                          <m:t>𝑗</m:t>
                        </m:r>
                      </m:sub>
                    </m:sSub>
                  </m:oMath>
                </a14:m>
                <a:r>
                  <a:rPr lang="en-US" sz="1800" dirty="0" smtClean="0">
                    <a:solidFill>
                      <a:schemeClr val="tx1">
                        <a:lumMod val="85000"/>
                        <a:lumOff val="15000"/>
                      </a:schemeClr>
                    </a:solidFill>
                  </a:rPr>
                  <a:t> </a:t>
                </a:r>
              </a:p>
              <a:p>
                <a:pPr marL="0" indent="0" algn="ctr">
                  <a:lnSpc>
                    <a:spcPct val="110000"/>
                  </a:lnSpc>
                  <a:buNone/>
                </a:pPr>
                <a:r>
                  <a:rPr lang="en-US" sz="1800" dirty="0" smtClean="0">
                    <a:solidFill>
                      <a:schemeClr val="tx1">
                        <a:lumMod val="85000"/>
                        <a:lumOff val="15000"/>
                      </a:schemeClr>
                    </a:solidFill>
                  </a:rPr>
                  <a:t>With</a:t>
                </a:r>
              </a:p>
              <a:p>
                <a:pPr marL="0" indent="0" algn="ctr">
                  <a:lnSpc>
                    <a:spcPct val="110000"/>
                  </a:lnSpc>
                  <a:buNone/>
                </a:pPr>
                <a:r>
                  <a:rPr lang="en-US" sz="1800" dirty="0" smtClean="0">
                    <a:solidFill>
                      <a:schemeClr val="tx1">
                        <a:lumMod val="85000"/>
                        <a:lumOff val="15000"/>
                      </a:schemeClr>
                    </a:solidFill>
                  </a:rPr>
                  <a:t> </a:t>
                </a:r>
                <a14:m>
                  <m:oMath xmlns:m="http://schemas.openxmlformats.org/officeDocument/2006/math">
                    <m:sSub>
                      <m:sSubPr>
                        <m:ctrlPr>
                          <a:rPr lang="en-US" sz="1800" b="0" i="1" smtClean="0">
                            <a:solidFill>
                              <a:schemeClr val="tx1">
                                <a:lumMod val="85000"/>
                                <a:lumOff val="15000"/>
                              </a:schemeClr>
                            </a:solidFill>
                            <a:latin typeface="Cambria Math" charset="0"/>
                          </a:rPr>
                        </m:ctrlPr>
                      </m:sSubPr>
                      <m:e>
                        <m:r>
                          <a:rPr lang="en-US" sz="1800" b="0" i="1" smtClean="0">
                            <a:solidFill>
                              <a:schemeClr val="tx1">
                                <a:lumMod val="85000"/>
                                <a:lumOff val="15000"/>
                              </a:schemeClr>
                            </a:solidFill>
                            <a:latin typeface="Cambria Math" charset="0"/>
                          </a:rPr>
                          <m:t>𝐽</m:t>
                        </m:r>
                      </m:e>
                      <m:sub>
                        <m:r>
                          <a:rPr lang="en-US" sz="1800" b="0" i="1" smtClean="0">
                            <a:solidFill>
                              <a:schemeClr val="tx1">
                                <a:lumMod val="85000"/>
                                <a:lumOff val="15000"/>
                              </a:schemeClr>
                            </a:solidFill>
                            <a:latin typeface="Cambria Math" charset="0"/>
                          </a:rPr>
                          <m:t>𝑖𝑗</m:t>
                        </m:r>
                      </m:sub>
                    </m:sSub>
                    <m:r>
                      <a:rPr lang="en-US" sz="1800" i="1">
                        <a:solidFill>
                          <a:schemeClr val="tx1">
                            <a:lumMod val="85000"/>
                            <a:lumOff val="15000"/>
                          </a:schemeClr>
                        </a:solidFill>
                        <a:latin typeface="Cambria Math" charset="0"/>
                        <a:ea typeface="Cambria Math" charset="0"/>
                        <a:cs typeface="Cambria Math" charset="0"/>
                      </a:rPr>
                      <m:t>∈</m:t>
                    </m:r>
                    <m:d>
                      <m:dPr>
                        <m:begChr m:val="["/>
                        <m:endChr m:val="]"/>
                        <m:ctrlPr>
                          <a:rPr lang="en-US" sz="1800" b="0" i="1" smtClean="0">
                            <a:solidFill>
                              <a:schemeClr val="tx1">
                                <a:lumMod val="85000"/>
                                <a:lumOff val="15000"/>
                              </a:schemeClr>
                            </a:solidFill>
                            <a:latin typeface="Cambria Math" charset="0"/>
                            <a:ea typeface="Cambria Math" charset="0"/>
                            <a:cs typeface="Cambria Math" charset="0"/>
                          </a:rPr>
                        </m:ctrlPr>
                      </m:dPr>
                      <m:e>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r>
                          <a:rPr lang="en-US" sz="1800" b="0" i="1" smtClean="0">
                            <a:solidFill>
                              <a:schemeClr val="tx1">
                                <a:lumMod val="85000"/>
                                <a:lumOff val="15000"/>
                              </a:schemeClr>
                            </a:solidFill>
                            <a:latin typeface="Cambria Math" charset="0"/>
                            <a:ea typeface="Cambria Math" charset="0"/>
                            <a:cs typeface="Cambria Math" charset="0"/>
                          </a:rPr>
                          <m:t>,1+</m:t>
                        </m:r>
                        <m:r>
                          <m:rPr>
                            <m:sty m:val="p"/>
                          </m:rPr>
                          <a:rPr lang="en-US" sz="1800" b="0" i="0" smtClean="0">
                            <a:solidFill>
                              <a:schemeClr val="tx1">
                                <a:lumMod val="85000"/>
                                <a:lumOff val="15000"/>
                              </a:schemeClr>
                            </a:solidFill>
                            <a:latin typeface="Cambria Math" charset="0"/>
                            <a:ea typeface="Cambria Math" charset="0"/>
                            <a:cs typeface="Cambria Math" charset="0"/>
                          </a:rPr>
                          <m:t>Δ</m:t>
                        </m:r>
                      </m:e>
                    </m:d>
                  </m:oMath>
                </a14:m>
                <a:endParaRPr lang="en-US" sz="1800" b="0" dirty="0" smtClean="0">
                  <a:solidFill>
                    <a:schemeClr val="tx1">
                      <a:lumMod val="85000"/>
                      <a:lumOff val="15000"/>
                    </a:schemeClr>
                  </a:solidFill>
                  <a:ea typeface="Cambria Math" charset="0"/>
                  <a:cs typeface="Cambria Math" charset="0"/>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endParaRPr lang="en-US" sz="1800" dirty="0">
                  <a:solidFill>
                    <a:schemeClr val="tx1">
                      <a:lumMod val="85000"/>
                      <a:lumOff val="15000"/>
                    </a:schemeClr>
                  </a:solidFill>
                </a:endParaRPr>
              </a:p>
              <a:p>
                <a:pPr marL="0" indent="0" algn="ctr">
                  <a:lnSpc>
                    <a:spcPct val="110000"/>
                  </a:lnSpc>
                  <a:buNone/>
                </a:pPr>
                <a:endParaRPr lang="en-US" sz="1800" dirty="0" smtClean="0">
                  <a:solidFill>
                    <a:schemeClr val="tx1">
                      <a:lumMod val="85000"/>
                      <a:lumOff val="15000"/>
                    </a:schemeClr>
                  </a:solidFill>
                </a:endParaRPr>
              </a:p>
              <a:p>
                <a:pPr marL="0" indent="0" algn="ctr">
                  <a:lnSpc>
                    <a:spcPct val="110000"/>
                  </a:lnSpc>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85000"/>
                              <a:lumOff val="15000"/>
                            </a:schemeClr>
                          </a:solidFill>
                          <a:latin typeface="Cambria Math" charset="0"/>
                        </a:rPr>
                        <m:t>Δ</m:t>
                      </m:r>
                      <m:r>
                        <a:rPr lang="en-US" b="0" i="1" smtClean="0">
                          <a:solidFill>
                            <a:schemeClr val="tx1">
                              <a:lumMod val="85000"/>
                              <a:lumOff val="15000"/>
                            </a:schemeClr>
                          </a:solidFill>
                          <a:latin typeface="Cambria Math" charset="0"/>
                        </a:rPr>
                        <m:t>=0.99</m:t>
                      </m:r>
                    </m:oMath>
                  </m:oMathPara>
                </a14:m>
                <a:endParaRPr lang="en-US" dirty="0">
                  <a:solidFill>
                    <a:schemeClr val="tx1">
                      <a:lumMod val="85000"/>
                      <a:lumOff val="15000"/>
                    </a:schemeClr>
                  </a:solidFill>
                </a:endParaRPr>
              </a:p>
              <a:p>
                <a:pPr marL="457200" lvl="1" indent="0">
                  <a:lnSpc>
                    <a:spcPct val="110000"/>
                  </a:lnSpc>
                  <a:buNone/>
                </a:pPr>
                <a:endParaRPr lang="en-US"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4"/>
                <a:stretch>
                  <a:fillRect t="-8123"/>
                </a:stretch>
              </a:blipFill>
            </p:spPr>
            <p:txBody>
              <a:bodyPr/>
              <a:lstStyle/>
              <a:p>
                <a:r>
                  <a:rPr lang="en-US">
                    <a:noFill/>
                  </a:rPr>
                  <a:t> </a:t>
                </a:r>
              </a:p>
            </p:txBody>
          </p:sp>
        </mc:Fallback>
      </mc:AlternateContent>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Incommensurability domains at d=2</a:t>
            </a:r>
            <a:endParaRPr lang="x-none" sz="3600" dirty="0"/>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xmlns="" id="{2F2FB3EA-C8D6-46E8-BF4D-ACC64FC11FB9}"/>
              </a:ext>
            </a:extLst>
          </p:cNvPr>
          <p:cNvSpPr txBox="1"/>
          <p:nvPr/>
        </p:nvSpPr>
        <p:spPr>
          <a:xfrm>
            <a:off x="3998258" y="5679510"/>
            <a:ext cx="5184173" cy="461665"/>
          </a:xfrm>
          <a:prstGeom prst="rect">
            <a:avLst/>
          </a:prstGeom>
          <a:noFill/>
        </p:spPr>
        <p:txBody>
          <a:bodyPr wrap="square" rtlCol="0">
            <a:spAutoFit/>
          </a:bodyPr>
          <a:lstStyle/>
          <a:p>
            <a:r>
              <a:rPr lang="en-US" sz="2400" dirty="0" smtClean="0">
                <a:solidFill>
                  <a:schemeClr val="accent2">
                    <a:lumMod val="50000"/>
                  </a:schemeClr>
                </a:solidFill>
              </a:rPr>
              <a:t>Domain size decreases </a:t>
            </a:r>
            <a:r>
              <a:rPr lang="en-US" sz="2400" smtClean="0">
                <a:solidFill>
                  <a:schemeClr val="accent2">
                    <a:lumMod val="50000"/>
                  </a:schemeClr>
                </a:solidFill>
              </a:rPr>
              <a:t>with disorder!</a:t>
            </a:r>
            <a:endParaRPr lang="x-none" sz="2400" dirty="0">
              <a:solidFill>
                <a:schemeClr val="accent2">
                  <a:lumMod val="50000"/>
                </a:schemeClr>
              </a:solidFill>
            </a:endParaRPr>
          </a:p>
        </p:txBody>
      </p:sp>
    </p:spTree>
    <p:extLst>
      <p:ext uri="{BB962C8B-B14F-4D97-AF65-F5344CB8AC3E}">
        <p14:creationId xmlns:p14="http://schemas.microsoft.com/office/powerpoint/2010/main" val="13642857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Autofit/>
              </a:bodyPr>
              <a:lstStyle/>
              <a:p>
                <a:pPr>
                  <a:lnSpc>
                    <a:spcPct val="110000"/>
                  </a:lnSpc>
                  <a:buFont typeface="Wingdings" panose="05000000000000000000" pitchFamily="2" charset="2"/>
                  <a:buChar char="§"/>
                </a:pPr>
                <a:r>
                  <a:rPr lang="en-US" sz="2000" dirty="0" smtClean="0">
                    <a:solidFill>
                      <a:schemeClr val="tx1">
                        <a:lumMod val="85000"/>
                        <a:lumOff val="15000"/>
                      </a:schemeClr>
                    </a:solidFill>
                  </a:rPr>
                  <a:t>Transverse fluctuation diverges logarithmically at d = 2</a:t>
                </a:r>
              </a:p>
              <a:p>
                <a:pPr marL="0" indent="0">
                  <a:lnSpc>
                    <a:spcPct val="110000"/>
                  </a:lnSpc>
                  <a:buNone/>
                </a:pPr>
                <a14:m>
                  <m:oMathPara xmlns:m="http://schemas.openxmlformats.org/officeDocument/2006/math">
                    <m:oMathParaPr>
                      <m:jc m:val="centerGroup"/>
                    </m:oMathParaPr>
                    <m:oMath xmlns:m="http://schemas.openxmlformats.org/officeDocument/2006/math">
                      <m:acc>
                        <m:accPr>
                          <m:chr m:val="̅"/>
                          <m:ctrlPr>
                            <a:rPr lang="en-US" sz="2000" i="1">
                              <a:solidFill>
                                <a:schemeClr val="tx1">
                                  <a:lumMod val="85000"/>
                                  <a:lumOff val="15000"/>
                                </a:schemeClr>
                              </a:solidFill>
                              <a:latin typeface="Cambria Math" charset="0"/>
                            </a:rPr>
                          </m:ctrlPr>
                        </m:accPr>
                        <m:e>
                          <m:sSup>
                            <m:sSupPr>
                              <m:ctrlPr>
                                <a:rPr lang="en-US" sz="2000" i="1">
                                  <a:solidFill>
                                    <a:schemeClr val="tx1">
                                      <a:lumMod val="85000"/>
                                      <a:lumOff val="15000"/>
                                    </a:schemeClr>
                                  </a:solidFill>
                                  <a:latin typeface="Cambria Math" charset="0"/>
                                </a:rPr>
                              </m:ctrlPr>
                            </m:sSupPr>
                            <m:e>
                              <m:sSubSup>
                                <m:sSubSupPr>
                                  <m:ctrlPr>
                                    <a:rPr lang="en-US" sz="2000" i="1">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𝑟</m:t>
                                      </m:r>
                                    </m:e>
                                  </m:acc>
                                </m:sub>
                                <m:sup>
                                  <m:r>
                                    <a:rPr lang="en-US" sz="2000" i="1">
                                      <a:solidFill>
                                        <a:schemeClr val="tx1">
                                          <a:lumMod val="85000"/>
                                          <a:lumOff val="15000"/>
                                        </a:schemeClr>
                                      </a:solidFill>
                                      <a:latin typeface="Cambria Math" panose="02040503050406030204" pitchFamily="18" charset="0"/>
                                    </a:rPr>
                                    <m:t>⊥</m:t>
                                  </m:r>
                                </m:sup>
                              </m:sSubSup>
                            </m:e>
                            <m:sup>
                              <m:r>
                                <a:rPr lang="en-US" sz="2000" i="1">
                                  <a:solidFill>
                                    <a:schemeClr val="tx1">
                                      <a:lumMod val="85000"/>
                                      <a:lumOff val="15000"/>
                                    </a:schemeClr>
                                  </a:solidFill>
                                  <a:latin typeface="Cambria Math" panose="02040503050406030204" pitchFamily="18" charset="0"/>
                                </a:rPr>
                                <m:t>2</m:t>
                              </m:r>
                            </m:sup>
                          </m:sSup>
                        </m:e>
                      </m:acc>
                      <m:r>
                        <a:rPr lang="en-US" sz="2000" i="1" dirty="0">
                          <a:solidFill>
                            <a:schemeClr val="tx1">
                              <a:lumMod val="85000"/>
                              <a:lumOff val="15000"/>
                            </a:schemeClr>
                          </a:solidFill>
                          <a:latin typeface="Cambria Math" panose="02040503050406030204" pitchFamily="18"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nary>
                        <m:naryPr>
                          <m:subHide m:val="on"/>
                          <m:supHide m:val="on"/>
                          <m:ctrlPr>
                            <a:rPr lang="en-US" sz="2000" i="1" dirty="0">
                              <a:solidFill>
                                <a:schemeClr val="tx1">
                                  <a:lumMod val="85000"/>
                                  <a:lumOff val="15000"/>
                                </a:schemeClr>
                              </a:solidFill>
                              <a:latin typeface="Cambria Math" charset="0"/>
                            </a:rPr>
                          </m:ctrlPr>
                        </m:naryPr>
                        <m:sub/>
                        <m:sup/>
                        <m:e>
                          <m:f>
                            <m:fPr>
                              <m:ctrlPr>
                                <a:rPr lang="en-US" sz="2000" i="1" dirty="0">
                                  <a:solidFill>
                                    <a:schemeClr val="tx1">
                                      <a:lumMod val="85000"/>
                                      <a:lumOff val="15000"/>
                                    </a:schemeClr>
                                  </a:solidFill>
                                  <a:latin typeface="Cambria Math" charset="0"/>
                                </a:rPr>
                              </m:ctrlPr>
                            </m:fPr>
                            <m:num>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𝑑</m:t>
                                  </m:r>
                                </m:e>
                                <m:sup>
                                  <m:r>
                                    <a:rPr lang="en-US" sz="2000" b="0" i="1" dirty="0" smtClean="0">
                                      <a:solidFill>
                                        <a:schemeClr val="tx1">
                                          <a:lumMod val="85000"/>
                                          <a:lumOff val="15000"/>
                                        </a:schemeClr>
                                      </a:solidFill>
                                      <a:latin typeface="Cambria Math" charset="0"/>
                                    </a:rPr>
                                    <m:t>2</m:t>
                                  </m:r>
                                </m:sup>
                              </m:sSup>
                              <m:r>
                                <a:rPr lang="en-US" sz="2000" i="1" dirty="0">
                                  <a:solidFill>
                                    <a:schemeClr val="tx1">
                                      <a:lumMod val="85000"/>
                                      <a:lumOff val="15000"/>
                                    </a:schemeClr>
                                  </a:solidFill>
                                  <a:latin typeface="Cambria Math" panose="02040503050406030204" pitchFamily="18" charset="0"/>
                                </a:rPr>
                                <m:t>𝑞</m:t>
                              </m:r>
                            </m:num>
                            <m:den>
                              <m:sSup>
                                <m:sSupPr>
                                  <m:ctrlPr>
                                    <a:rPr lang="en-US" sz="2000" i="1" dirty="0">
                                      <a:solidFill>
                                        <a:schemeClr val="tx1">
                                          <a:lumMod val="85000"/>
                                          <a:lumOff val="15000"/>
                                        </a:schemeClr>
                                      </a:solidFill>
                                      <a:latin typeface="Cambria Math" charset="0"/>
                                    </a:rPr>
                                  </m:ctrlPr>
                                </m:sSupPr>
                                <m:e>
                                  <m:d>
                                    <m:dPr>
                                      <m:ctrlPr>
                                        <a:rPr lang="en-US" sz="2000" i="1" dirty="0">
                                          <a:solidFill>
                                            <a:schemeClr val="tx1">
                                              <a:lumMod val="85000"/>
                                              <a:lumOff val="15000"/>
                                            </a:schemeClr>
                                          </a:solidFill>
                                          <a:latin typeface="Cambria Math" charset="0"/>
                                        </a:rPr>
                                      </m:ctrlPr>
                                    </m:dPr>
                                    <m:e>
                                      <m:r>
                                        <a:rPr lang="en-US" sz="2000" i="1" dirty="0">
                                          <a:solidFill>
                                            <a:schemeClr val="tx1">
                                              <a:lumMod val="85000"/>
                                              <a:lumOff val="15000"/>
                                            </a:schemeClr>
                                          </a:solidFill>
                                          <a:latin typeface="Cambria Math" panose="02040503050406030204" pitchFamily="18" charset="0"/>
                                        </a:rPr>
                                        <m:t>2</m:t>
                                      </m:r>
                                      <m:r>
                                        <a:rPr lang="en-US" sz="2000" i="1" dirty="0">
                                          <a:solidFill>
                                            <a:schemeClr val="tx1">
                                              <a:lumMod val="85000"/>
                                              <a:lumOff val="15000"/>
                                            </a:schemeClr>
                                          </a:solidFill>
                                          <a:latin typeface="Cambria Math" panose="02040503050406030204" pitchFamily="18" charset="0"/>
                                        </a:rPr>
                                        <m:t>𝜋</m:t>
                                      </m:r>
                                    </m:e>
                                  </m:d>
                                </m:e>
                                <m:sup>
                                  <m:r>
                                    <a:rPr lang="en-US" sz="2000" i="1" dirty="0">
                                      <a:solidFill>
                                        <a:schemeClr val="tx1">
                                          <a:lumMod val="85000"/>
                                          <a:lumOff val="15000"/>
                                        </a:schemeClr>
                                      </a:solidFill>
                                      <a:latin typeface="Cambria Math" panose="02040503050406030204" pitchFamily="18" charset="0"/>
                                    </a:rPr>
                                    <m:t>𝑑</m:t>
                                  </m:r>
                                </m:sup>
                              </m:sSup>
                            </m:den>
                          </m:f>
                          <m:sSubSup>
                            <m:sSubSupPr>
                              <m:ctrlPr>
                                <a:rPr lang="en-US" sz="2000" i="1" dirty="0">
                                  <a:solidFill>
                                    <a:schemeClr val="tx1">
                                      <a:lumMod val="85000"/>
                                      <a:lumOff val="15000"/>
                                    </a:schemeClr>
                                  </a:solidFill>
                                  <a:latin typeface="Cambria Math" charset="0"/>
                                </a:rPr>
                              </m:ctrlPr>
                            </m:sSubSupPr>
                            <m:e>
                              <m:sSup>
                                <m:sSupPr>
                                  <m:ctrlPr>
                                    <a:rPr lang="en-US" sz="2000" b="0" i="1" dirty="0" smtClean="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𝜒</m:t>
                                  </m:r>
                                </m:e>
                                <m:sup>
                                  <m:r>
                                    <a:rPr lang="en-US" sz="2000" b="0" i="1" dirty="0" smtClean="0">
                                      <a:solidFill>
                                        <a:schemeClr val="tx1">
                                          <a:lumMod val="85000"/>
                                          <a:lumOff val="15000"/>
                                        </a:schemeClr>
                                      </a:solidFill>
                                      <a:latin typeface="Cambria Math" charset="0"/>
                                    </a:rPr>
                                    <m:t>𝑑</m:t>
                                  </m:r>
                                </m:sup>
                              </m:sSup>
                            </m:e>
                            <m:sub>
                              <m:acc>
                                <m:accPr>
                                  <m:chr m:val="⃗"/>
                                  <m:ctrlPr>
                                    <a:rPr lang="en-US" sz="2000" i="1" dirty="0">
                                      <a:solidFill>
                                        <a:schemeClr val="tx1">
                                          <a:lumMod val="85000"/>
                                          <a:lumOff val="15000"/>
                                        </a:schemeClr>
                                      </a:solidFill>
                                      <a:latin typeface="Cambria Math" charset="0"/>
                                    </a:rPr>
                                  </m:ctrlPr>
                                </m:accPr>
                                <m:e>
                                  <m:r>
                                    <a:rPr lang="en-US" sz="2000" i="1" dirty="0">
                                      <a:solidFill>
                                        <a:schemeClr val="tx1">
                                          <a:lumMod val="85000"/>
                                          <a:lumOff val="15000"/>
                                        </a:schemeClr>
                                      </a:solidFill>
                                      <a:latin typeface="Cambria Math" panose="02040503050406030204" pitchFamily="18" charset="0"/>
                                    </a:rPr>
                                    <m:t>𝑞</m:t>
                                  </m:r>
                                </m:e>
                              </m:acc>
                            </m:sub>
                            <m:sup>
                              <m:r>
                                <a:rPr lang="en-US" sz="2000" i="1" dirty="0">
                                  <a:solidFill>
                                    <a:schemeClr val="tx1">
                                      <a:lumMod val="85000"/>
                                      <a:lumOff val="15000"/>
                                    </a:schemeClr>
                                  </a:solidFill>
                                  <a:latin typeface="Cambria Math" panose="02040503050406030204" pitchFamily="18" charset="0"/>
                                </a:rPr>
                                <m:t>2</m:t>
                              </m:r>
                            </m:sup>
                          </m:sSubSup>
                        </m:e>
                      </m:nary>
                      <m:r>
                        <a:rPr lang="en-US" sz="2000" i="1" dirty="0">
                          <a:solidFill>
                            <a:schemeClr val="tx1">
                              <a:lumMod val="85000"/>
                              <a:lumOff val="15000"/>
                            </a:schemeClr>
                          </a:solidFill>
                          <a:latin typeface="Cambria Math" panose="02040503050406030204" pitchFamily="18"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r>
                        <a:rPr lang="en-US" sz="2000" i="1" dirty="0">
                          <a:solidFill>
                            <a:schemeClr val="tx1">
                              <a:lumMod val="85000"/>
                              <a:lumOff val="15000"/>
                            </a:schemeClr>
                          </a:solidFill>
                          <a:latin typeface="Cambria Math" panose="02040503050406030204" pitchFamily="18" charset="0"/>
                        </a:rPr>
                        <m:t>∫</m:t>
                      </m:r>
                      <m:r>
                        <a:rPr lang="en-US" sz="2000" b="0" i="1" dirty="0" smtClean="0">
                          <a:solidFill>
                            <a:schemeClr val="tx1">
                              <a:lumMod val="85000"/>
                              <a:lumOff val="15000"/>
                            </a:schemeClr>
                          </a:solidFill>
                          <a:latin typeface="Cambria Math" charset="0"/>
                        </a:rPr>
                        <m:t>𝑞𝑑</m:t>
                      </m:r>
                      <m:r>
                        <a:rPr lang="en-US" sz="2000" i="1" dirty="0">
                          <a:solidFill>
                            <a:schemeClr val="tx1">
                              <a:lumMod val="85000"/>
                              <a:lumOff val="15000"/>
                            </a:schemeClr>
                          </a:solidFill>
                          <a:latin typeface="Cambria Math" panose="02040503050406030204" pitchFamily="18" charset="0"/>
                        </a:rPr>
                        <m:t>𝑞</m:t>
                      </m:r>
                      <m:sSup>
                        <m:sSupPr>
                          <m:ctrlPr>
                            <a:rPr lang="en-US" sz="2000" i="1" dirty="0">
                              <a:solidFill>
                                <a:schemeClr val="tx1">
                                  <a:lumMod val="85000"/>
                                  <a:lumOff val="15000"/>
                                </a:schemeClr>
                              </a:solidFill>
                              <a:latin typeface="Cambria Math" charset="0"/>
                            </a:rPr>
                          </m:ctrlPr>
                        </m:sSupPr>
                        <m:e>
                          <m:d>
                            <m:dPr>
                              <m:ctrlPr>
                                <a:rPr lang="en-US" sz="2000" i="1" dirty="0">
                                  <a:solidFill>
                                    <a:schemeClr val="tx1">
                                      <a:lumMod val="85000"/>
                                      <a:lumOff val="15000"/>
                                    </a:schemeClr>
                                  </a:solidFill>
                                  <a:latin typeface="Cambria Math" charset="0"/>
                                </a:rPr>
                              </m:ctrlPr>
                            </m:dPr>
                            <m:e>
                              <m:f>
                                <m:fPr>
                                  <m:ctrlPr>
                                    <a:rPr lang="en-US" sz="2000" i="1" dirty="0">
                                      <a:solidFill>
                                        <a:schemeClr val="tx1">
                                          <a:lumMod val="85000"/>
                                          <a:lumOff val="15000"/>
                                        </a:schemeClr>
                                      </a:solidFill>
                                      <a:latin typeface="Cambria Math" charset="0"/>
                                    </a:rPr>
                                  </m:ctrlPr>
                                </m:fPr>
                                <m:num>
                                  <m:r>
                                    <a:rPr lang="en-US" sz="2000" i="1" dirty="0">
                                      <a:solidFill>
                                        <a:schemeClr val="tx1">
                                          <a:lumMod val="85000"/>
                                          <a:lumOff val="15000"/>
                                        </a:schemeClr>
                                      </a:solidFill>
                                      <a:latin typeface="Cambria Math" panose="02040503050406030204" pitchFamily="18" charset="0"/>
                                    </a:rPr>
                                    <m:t>1</m:t>
                                  </m:r>
                                </m:num>
                                <m:den>
                                  <m:r>
                                    <a:rPr lang="en-US" sz="2000" i="1" dirty="0">
                                      <a:solidFill>
                                        <a:schemeClr val="tx1">
                                          <a:lumMod val="85000"/>
                                          <a:lumOff val="15000"/>
                                        </a:schemeClr>
                                      </a:solidFill>
                                      <a:latin typeface="Cambria Math" panose="02040503050406030204" pitchFamily="18" charset="0"/>
                                    </a:rPr>
                                    <m:t>𝑞</m:t>
                                  </m:r>
                                </m:den>
                              </m:f>
                            </m:e>
                          </m:d>
                        </m:e>
                        <m:sup>
                          <m:r>
                            <a:rPr lang="en-US" sz="2000" i="1" dirty="0">
                              <a:solidFill>
                                <a:schemeClr val="tx1">
                                  <a:lumMod val="85000"/>
                                  <a:lumOff val="15000"/>
                                </a:schemeClr>
                              </a:solidFill>
                              <a:latin typeface="Cambria Math" panose="02040503050406030204" pitchFamily="18" charset="0"/>
                            </a:rPr>
                            <m:t>2</m:t>
                          </m:r>
                        </m:sup>
                      </m:sSup>
                      <m:r>
                        <a:rPr lang="en-US" sz="2000" b="0" i="1" dirty="0" smtClean="0">
                          <a:solidFill>
                            <a:schemeClr val="tx1">
                              <a:lumMod val="85000"/>
                              <a:lumOff val="15000"/>
                            </a:schemeClr>
                          </a:solidFill>
                          <a:latin typeface="Cambria Math"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func>
                        <m:funcPr>
                          <m:ctrlPr>
                            <a:rPr lang="en-US" sz="2000" b="0" i="1" dirty="0" smtClean="0">
                              <a:solidFill>
                                <a:schemeClr val="tx1">
                                  <a:lumMod val="85000"/>
                                  <a:lumOff val="15000"/>
                                </a:schemeClr>
                              </a:solidFill>
                              <a:latin typeface="Cambria Math" charset="0"/>
                            </a:rPr>
                          </m:ctrlPr>
                        </m:funcPr>
                        <m:fName>
                          <m:r>
                            <m:rPr>
                              <m:sty m:val="p"/>
                            </m:rPr>
                            <a:rPr lang="en-US" sz="2000" b="0" i="0" dirty="0" smtClean="0">
                              <a:solidFill>
                                <a:schemeClr val="tx1">
                                  <a:lumMod val="85000"/>
                                  <a:lumOff val="15000"/>
                                </a:schemeClr>
                              </a:solidFill>
                              <a:latin typeface="Cambria Math" charset="0"/>
                            </a:rPr>
                            <m:t>log</m:t>
                          </m:r>
                        </m:fName>
                        <m:e>
                          <m:f>
                            <m:fPr>
                              <m:ctrlPr>
                                <a:rPr lang="en-US" sz="2000" b="0" i="1" dirty="0" smtClean="0">
                                  <a:solidFill>
                                    <a:schemeClr val="tx1">
                                      <a:lumMod val="85000"/>
                                      <a:lumOff val="15000"/>
                                    </a:schemeClr>
                                  </a:solidFill>
                                  <a:latin typeface="Cambria Math" charset="0"/>
                                </a:rPr>
                              </m:ctrlPr>
                            </m:fPr>
                            <m:num>
                              <m:r>
                                <a:rPr lang="en-US" sz="2000" b="0" i="1" dirty="0" smtClean="0">
                                  <a:solidFill>
                                    <a:schemeClr val="tx1">
                                      <a:lumMod val="85000"/>
                                      <a:lumOff val="15000"/>
                                    </a:schemeClr>
                                  </a:solidFill>
                                  <a:latin typeface="Cambria Math" charset="0"/>
                                </a:rPr>
                                <m:t>𝐿</m:t>
                              </m:r>
                            </m:num>
                            <m:den>
                              <m:r>
                                <a:rPr lang="en-US" sz="2000" b="0" i="1" dirty="0" smtClean="0">
                                  <a:solidFill>
                                    <a:schemeClr val="tx1">
                                      <a:lumMod val="85000"/>
                                      <a:lumOff val="15000"/>
                                    </a:schemeClr>
                                  </a:solidFill>
                                  <a:latin typeface="Cambria Math" charset="0"/>
                                </a:rPr>
                                <m:t>𝑎</m:t>
                              </m:r>
                            </m:den>
                          </m:f>
                        </m:e>
                      </m:func>
                    </m:oMath>
                  </m:oMathPara>
                </a14:m>
                <a:endParaRPr lang="en-US" sz="2000" dirty="0">
                  <a:solidFill>
                    <a:schemeClr val="tx1">
                      <a:lumMod val="85000"/>
                      <a:lumOff val="15000"/>
                    </a:schemeClr>
                  </a:solidFill>
                </a:endParaRPr>
              </a:p>
              <a:p>
                <a:pPr marL="0" indent="0">
                  <a:lnSpc>
                    <a:spcPct val="110000"/>
                  </a:lnSpc>
                  <a:buNone/>
                </a:pPr>
                <a:r>
                  <a:rPr lang="en-US" sz="2000" dirty="0">
                    <a:solidFill>
                      <a:schemeClr val="tx1">
                        <a:lumMod val="85000"/>
                        <a:lumOff val="15000"/>
                      </a:schemeClr>
                    </a:solidFill>
                  </a:rPr>
                  <a:t> </a:t>
                </a:r>
                <a:r>
                  <a:rPr lang="en-US" sz="2000" dirty="0" smtClean="0">
                    <a:solidFill>
                      <a:schemeClr val="tx1">
                        <a:lumMod val="85000"/>
                        <a:lumOff val="15000"/>
                      </a:schemeClr>
                    </a:solidFill>
                  </a:rPr>
                  <a:t>  The domain size is determined by the condition, </a:t>
                </a:r>
                <a14:m>
                  <m:oMath xmlns:m="http://schemas.openxmlformats.org/officeDocument/2006/math">
                    <m:acc>
                      <m:accPr>
                        <m:chr m:val="̅"/>
                        <m:ctrlPr>
                          <a:rPr lang="en-US" sz="2000" i="1">
                            <a:solidFill>
                              <a:schemeClr val="tx1">
                                <a:lumMod val="85000"/>
                                <a:lumOff val="15000"/>
                              </a:schemeClr>
                            </a:solidFill>
                            <a:latin typeface="Cambria Math" charset="0"/>
                          </a:rPr>
                        </m:ctrlPr>
                      </m:accPr>
                      <m:e>
                        <m:sSup>
                          <m:sSupPr>
                            <m:ctrlPr>
                              <a:rPr lang="en-US" sz="2000" i="1">
                                <a:solidFill>
                                  <a:schemeClr val="tx1">
                                    <a:lumMod val="85000"/>
                                    <a:lumOff val="15000"/>
                                  </a:schemeClr>
                                </a:solidFill>
                                <a:latin typeface="Cambria Math" charset="0"/>
                              </a:rPr>
                            </m:ctrlPr>
                          </m:sSupPr>
                          <m:e>
                            <m:sSubSup>
                              <m:sSubSupPr>
                                <m:ctrlPr>
                                  <a:rPr lang="en-US" sz="2000" i="1">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𝑟</m:t>
                                    </m:r>
                                  </m:e>
                                </m:acc>
                              </m:sub>
                              <m:sup>
                                <m:r>
                                  <a:rPr lang="en-US" sz="2000" i="1">
                                    <a:solidFill>
                                      <a:schemeClr val="tx1">
                                        <a:lumMod val="85000"/>
                                        <a:lumOff val="15000"/>
                                      </a:schemeClr>
                                    </a:solidFill>
                                    <a:latin typeface="Cambria Math" panose="02040503050406030204" pitchFamily="18" charset="0"/>
                                  </a:rPr>
                                  <m:t>⊥</m:t>
                                </m:r>
                              </m:sup>
                            </m:sSubSup>
                          </m:e>
                          <m:sup>
                            <m:r>
                              <a:rPr lang="en-US" sz="2000" i="1">
                                <a:solidFill>
                                  <a:schemeClr val="tx1">
                                    <a:lumMod val="85000"/>
                                    <a:lumOff val="15000"/>
                                  </a:schemeClr>
                                </a:solidFill>
                                <a:latin typeface="Cambria Math" panose="02040503050406030204" pitchFamily="18" charset="0"/>
                              </a:rPr>
                              <m:t>2</m:t>
                            </m:r>
                          </m:sup>
                        </m:sSup>
                      </m:e>
                    </m:acc>
                    <m:r>
                      <a:rPr lang="en-US" sz="2000" b="0" i="1" smtClean="0">
                        <a:solidFill>
                          <a:schemeClr val="tx1">
                            <a:lumMod val="85000"/>
                            <a:lumOff val="15000"/>
                          </a:schemeClr>
                        </a:solidFill>
                        <a:latin typeface="Cambria Math" charset="0"/>
                      </a:rPr>
                      <m:t>∼1</m:t>
                    </m:r>
                  </m:oMath>
                </a14:m>
                <a:r>
                  <a:rPr lang="en-US" sz="2000" dirty="0" smtClean="0">
                    <a:solidFill>
                      <a:schemeClr val="tx1">
                        <a:lumMod val="85000"/>
                        <a:lumOff val="15000"/>
                      </a:schemeClr>
                    </a:solidFill>
                  </a:rPr>
                  <a:t>, which defines the domain (correlation) length,</a:t>
                </a:r>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accent2">
                                  <a:lumMod val="50000"/>
                                </a:schemeClr>
                              </a:solidFill>
                              <a:latin typeface="Cambria Math" charset="0"/>
                            </a:rPr>
                          </m:ctrlPr>
                        </m:sSubPr>
                        <m:e>
                          <m:r>
                            <a:rPr lang="en-US" sz="2000" b="0" i="1" smtClean="0">
                              <a:solidFill>
                                <a:schemeClr val="accent2">
                                  <a:lumMod val="50000"/>
                                </a:schemeClr>
                              </a:solidFill>
                              <a:latin typeface="Cambria Math" charset="0"/>
                            </a:rPr>
                            <m:t>𝜉</m:t>
                          </m:r>
                        </m:e>
                        <m:sub>
                          <m:r>
                            <a:rPr lang="en-US" sz="2000" b="0" i="1" smtClean="0">
                              <a:solidFill>
                                <a:schemeClr val="accent2">
                                  <a:lumMod val="50000"/>
                                </a:schemeClr>
                              </a:solidFill>
                              <a:latin typeface="Cambria Math" charset="0"/>
                            </a:rPr>
                            <m:t>𝑐</m:t>
                          </m:r>
                        </m:sub>
                      </m:sSub>
                      <m:r>
                        <a:rPr lang="en-US" sz="2000" b="0" i="1" smtClean="0">
                          <a:solidFill>
                            <a:schemeClr val="accent2">
                              <a:lumMod val="50000"/>
                            </a:schemeClr>
                          </a:solidFill>
                          <a:latin typeface="Cambria Math" charset="0"/>
                        </a:rPr>
                        <m:t>∼</m:t>
                      </m:r>
                      <m:sSup>
                        <m:sSupPr>
                          <m:ctrlPr>
                            <a:rPr lang="en-US" sz="2000" b="0" i="1" smtClean="0">
                              <a:solidFill>
                                <a:schemeClr val="accent2">
                                  <a:lumMod val="50000"/>
                                </a:schemeClr>
                              </a:solidFill>
                              <a:latin typeface="Cambria Math" charset="0"/>
                            </a:rPr>
                          </m:ctrlPr>
                        </m:sSupPr>
                        <m:e>
                          <m:r>
                            <a:rPr lang="en-US" sz="2000" b="0" i="1" smtClean="0">
                              <a:solidFill>
                                <a:schemeClr val="accent2">
                                  <a:lumMod val="50000"/>
                                </a:schemeClr>
                              </a:solidFill>
                              <a:latin typeface="Cambria Math" charset="0"/>
                            </a:rPr>
                            <m:t>𝑒</m:t>
                          </m:r>
                        </m:e>
                        <m:sup>
                          <m:f>
                            <m:fPr>
                              <m:ctrlPr>
                                <a:rPr lang="en-US" sz="2000" b="0" i="1" smtClean="0">
                                  <a:solidFill>
                                    <a:schemeClr val="accent2">
                                      <a:lumMod val="50000"/>
                                    </a:schemeClr>
                                  </a:solidFill>
                                  <a:latin typeface="Cambria Math" charset="0"/>
                                </a:rPr>
                              </m:ctrlPr>
                            </m:fPr>
                            <m:num>
                              <m:r>
                                <a:rPr lang="en-US" sz="2000" b="0" i="1" smtClean="0">
                                  <a:solidFill>
                                    <a:schemeClr val="accent2">
                                      <a:lumMod val="50000"/>
                                    </a:schemeClr>
                                  </a:solidFill>
                                  <a:latin typeface="Cambria Math" charset="0"/>
                                </a:rPr>
                                <m:t>1</m:t>
                              </m:r>
                            </m:num>
                            <m:den>
                              <m:sSubSup>
                                <m:sSubSupPr>
                                  <m:ctrlPr>
                                    <a:rPr lang="en-US" sz="2000" b="0" i="1" smtClean="0">
                                      <a:solidFill>
                                        <a:schemeClr val="accent2">
                                          <a:lumMod val="50000"/>
                                        </a:schemeClr>
                                      </a:solidFill>
                                      <a:latin typeface="Cambria Math" charset="0"/>
                                    </a:rPr>
                                  </m:ctrlPr>
                                </m:sSubSupPr>
                                <m:e>
                                  <m:r>
                                    <a:rPr lang="en-US" sz="2000" b="0" i="1" smtClean="0">
                                      <a:solidFill>
                                        <a:schemeClr val="accent2">
                                          <a:lumMod val="50000"/>
                                        </a:schemeClr>
                                      </a:solidFill>
                                      <a:latin typeface="Cambria Math" charset="0"/>
                                    </a:rPr>
                                    <m:t>𝑑</m:t>
                                  </m:r>
                                </m:e>
                                <m:sub>
                                  <m:r>
                                    <a:rPr lang="en-US" sz="2000" b="0" i="1" smtClean="0">
                                      <a:solidFill>
                                        <a:schemeClr val="accent2">
                                          <a:lumMod val="50000"/>
                                        </a:schemeClr>
                                      </a:solidFill>
                                      <a:latin typeface="Cambria Math" charset="0"/>
                                    </a:rPr>
                                    <m:t>0</m:t>
                                  </m:r>
                                </m:sub>
                                <m:sup>
                                  <m:r>
                                    <a:rPr lang="en-US" sz="2000" b="0" i="1" smtClean="0">
                                      <a:solidFill>
                                        <a:schemeClr val="accent2">
                                          <a:lumMod val="50000"/>
                                        </a:schemeClr>
                                      </a:solidFill>
                                      <a:latin typeface="Cambria Math" charset="0"/>
                                    </a:rPr>
                                    <m:t>2</m:t>
                                  </m:r>
                                </m:sup>
                              </m:sSubSup>
                            </m:den>
                          </m:f>
                        </m:sup>
                      </m:sSup>
                    </m:oMath>
                  </m:oMathPara>
                </a14:m>
                <a:endParaRPr lang="en-US" sz="2000" dirty="0">
                  <a:solidFill>
                    <a:schemeClr val="tx1">
                      <a:lumMod val="85000"/>
                      <a:lumOff val="15000"/>
                    </a:schemeClr>
                  </a:solidFill>
                </a:endParaRPr>
              </a:p>
              <a:p>
                <a:pPr>
                  <a:lnSpc>
                    <a:spcPct val="110000"/>
                  </a:lnSpc>
                  <a:buFont typeface="Wingdings" panose="05000000000000000000" pitchFamily="2" charset="2"/>
                  <a:buChar char="§"/>
                </a:pPr>
                <a:r>
                  <a:rPr lang="en-US" sz="2000" b="0" dirty="0" smtClean="0">
                    <a:solidFill>
                      <a:schemeClr val="tx1">
                        <a:lumMod val="85000"/>
                        <a:lumOff val="15000"/>
                      </a:schemeClr>
                    </a:solidFill>
                  </a:rPr>
                  <a:t>This leads to the appearance of order for small values of disorder strength.</a:t>
                </a:r>
                <a:endParaRPr lang="en-US" sz="2000" b="0" dirty="0">
                  <a:solidFill>
                    <a:schemeClr val="tx1">
                      <a:lumMod val="85000"/>
                      <a:lumOff val="15000"/>
                    </a:schemeClr>
                  </a:solidFill>
                </a:endParaRPr>
              </a:p>
              <a:p>
                <a:pPr>
                  <a:lnSpc>
                    <a:spcPct val="110000"/>
                  </a:lnSpc>
                  <a:buFont typeface="Wingdings" panose="05000000000000000000" pitchFamily="2" charset="2"/>
                  <a:buChar char="§"/>
                </a:pPr>
                <a:endParaRPr lang="en-US" sz="2000" dirty="0">
                  <a:solidFill>
                    <a:schemeClr val="tx1">
                      <a:lumMod val="85000"/>
                      <a:lumOff val="15000"/>
                    </a:schemeClr>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638" t="-39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Logarithmic divergence</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Properties at the critical dimension </a:t>
                </a:r>
                <a14:m>
                  <m:oMath xmlns:m="http://schemas.openxmlformats.org/officeDocument/2006/math">
                    <m:sSub>
                      <m:sSubPr>
                        <m:ctrlPr>
                          <a:rPr lang="en-US" sz="3600" b="0" i="1" smtClean="0">
                            <a:latin typeface="Cambria Math" charset="0"/>
                          </a:rPr>
                        </m:ctrlPr>
                      </m:sSubPr>
                      <m:e>
                        <m:r>
                          <a:rPr lang="en-US" sz="3600" b="0" i="1" smtClean="0">
                            <a:latin typeface="Cambria Math" charset="0"/>
                          </a:rPr>
                          <m:t>𝑑</m:t>
                        </m:r>
                      </m:e>
                      <m:sub>
                        <m:r>
                          <a:rPr lang="en-US" sz="3600" b="0" i="1" smtClean="0">
                            <a:latin typeface="Cambria Math" charset="0"/>
                          </a:rPr>
                          <m:t>𝑐</m:t>
                        </m:r>
                      </m:sub>
                    </m:sSub>
                    <m:r>
                      <a:rPr lang="en-US" sz="3600" b="0" i="1" smtClean="0">
                        <a:latin typeface="Cambria Math" charset="0"/>
                      </a:rPr>
                      <m:t>=2</m:t>
                    </m:r>
                  </m:oMath>
                </a14:m>
                <a:endParaRPr lang="x-none" sz="3600" dirty="0"/>
              </a:p>
            </p:txBody>
          </p:sp>
        </mc:Choice>
        <mc:Fallback xmlns="">
          <p:sp>
            <p:nvSpPr>
              <p:cNvPr id="8" name="Title 1">
                <a:extLst>
                  <a:ext uri="{FF2B5EF4-FFF2-40B4-BE49-F238E27FC236}">
                    <a16:creationId xmlns:a16="http://schemas.microsoft.com/office/drawing/2014/main" xmlns="" id="{5F125C44-7ECF-4972-8CDB-951A823B7D0D}"/>
                  </a:ext>
                </a:extLst>
              </p:cNvPr>
              <p:cNvSpPr>
                <a:spLocks noGrp="1" noRot="1" noChangeAspect="1" noMove="1" noResize="1" noEditPoints="1" noAdjustHandles="1" noChangeArrowheads="1" noChangeShapeType="1" noTextEdit="1"/>
              </p:cNvSpPr>
              <p:nvPr>
                <p:ph type="title"/>
              </p:nvPr>
            </p:nvSpPr>
            <p:spPr>
              <a:xfrm>
                <a:off x="803393" y="130906"/>
                <a:ext cx="10515600" cy="1041644"/>
              </a:xfrm>
              <a:blipFill rotWithShape="0">
                <a:blip r:embed="rId3"/>
                <a:stretch>
                  <a:fillRect l="-1797" b="-585"/>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xmlns="" id="{D7BCC96B-FD2A-4B72-9856-1CFE89872D2C}"/>
              </a:ext>
            </a:extLst>
          </p:cNvPr>
          <p:cNvSpPr/>
          <p:nvPr/>
        </p:nvSpPr>
        <p:spPr>
          <a:xfrm>
            <a:off x="5490144" y="4078640"/>
            <a:ext cx="1236659" cy="652386"/>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spTree>
    <p:extLst>
      <p:ext uri="{BB962C8B-B14F-4D97-AF65-F5344CB8AC3E}">
        <p14:creationId xmlns:p14="http://schemas.microsoft.com/office/powerpoint/2010/main" val="2940474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Autofit/>
              </a:bodyPr>
              <a:lstStyle/>
              <a:p>
                <a:pPr>
                  <a:lnSpc>
                    <a:spcPct val="150000"/>
                  </a:lnSpc>
                  <a:buFont typeface="Wingdings" panose="05000000000000000000" pitchFamily="2" charset="2"/>
                  <a:buChar char="§"/>
                </a:pPr>
                <a:r>
                  <a:rPr lang="en-US" sz="2000" dirty="0" smtClean="0">
                    <a:solidFill>
                      <a:schemeClr val="tx1">
                        <a:lumMod val="85000"/>
                        <a:lumOff val="15000"/>
                      </a:schemeClr>
                    </a:solidFill>
                  </a:rPr>
                  <a:t>For finite temperature the system will be thermally disordered.</a:t>
                </a:r>
              </a:p>
              <a:p>
                <a:pPr>
                  <a:lnSpc>
                    <a:spcPct val="150000"/>
                  </a:lnSpc>
                  <a:buFont typeface="Wingdings" panose="05000000000000000000" pitchFamily="2" charset="2"/>
                  <a:buChar char="§"/>
                </a:pPr>
                <a:r>
                  <a:rPr lang="en-US" sz="2000" dirty="0" smtClean="0">
                    <a:solidFill>
                      <a:schemeClr val="tx1">
                        <a:lumMod val="85000"/>
                        <a:lumOff val="15000"/>
                      </a:schemeClr>
                    </a:solidFill>
                  </a:rPr>
                  <a:t>However, for small temperature there will be a competition between thermal and quenched disorder.</a:t>
                </a:r>
              </a:p>
              <a:p>
                <a:pPr>
                  <a:lnSpc>
                    <a:spcPct val="150000"/>
                  </a:lnSpc>
                  <a:buFont typeface="Wingdings" panose="05000000000000000000" pitchFamily="2" charset="2"/>
                  <a:buChar char="§"/>
                </a:pPr>
                <a:r>
                  <a:rPr lang="en-US" sz="2000" dirty="0" smtClean="0">
                    <a:solidFill>
                      <a:schemeClr val="tx1">
                        <a:lumMod val="85000"/>
                        <a:lumOff val="15000"/>
                      </a:schemeClr>
                    </a:solidFill>
                  </a:rPr>
                  <a:t>At, small T the thermal correlation length </a:t>
                </a:r>
                <a:r>
                  <a:rPr lang="en-US" sz="2000" dirty="0" smtClean="0">
                    <a:solidFill>
                      <a:schemeClr val="tx1">
                        <a:lumMod val="85000"/>
                        <a:lumOff val="15000"/>
                      </a:schemeClr>
                    </a:solidFill>
                  </a:rPr>
                  <a:t>is,</a:t>
                </a:r>
                <a:endParaRPr lang="en-US" sz="2000" dirty="0">
                  <a:solidFill>
                    <a:schemeClr val="tx1">
                      <a:lumMod val="85000"/>
                      <a:lumOff val="15000"/>
                    </a:schemeClr>
                  </a:solidFill>
                </a:endParaRPr>
              </a:p>
              <a:p>
                <a:pPr marL="0" indent="0" algn="ctr">
                  <a:lnSpc>
                    <a:spcPct val="150000"/>
                  </a:lnSpc>
                  <a:buNone/>
                </a:pPr>
                <a14:m>
                  <m:oMath xmlns:m="http://schemas.openxmlformats.org/officeDocument/2006/math">
                    <m:sSub>
                      <m:sSubPr>
                        <m:ctrlPr>
                          <a:rPr lang="en-US" sz="2000" i="1">
                            <a:solidFill>
                              <a:schemeClr val="tx1">
                                <a:lumMod val="85000"/>
                                <a:lumOff val="15000"/>
                              </a:schemeClr>
                            </a:solidFill>
                            <a:latin typeface="Cambria Math" charset="0"/>
                          </a:rPr>
                        </m:ctrlPr>
                      </m:sSubPr>
                      <m:e>
                        <m:r>
                          <a:rPr lang="en-US" sz="2000" i="1">
                            <a:solidFill>
                              <a:schemeClr val="tx1">
                                <a:lumMod val="85000"/>
                                <a:lumOff val="15000"/>
                              </a:schemeClr>
                            </a:solidFill>
                            <a:latin typeface="Cambria Math" charset="0"/>
                          </a:rPr>
                          <m:t>𝜉</m:t>
                        </m:r>
                      </m:e>
                      <m:sub>
                        <m:r>
                          <a:rPr lang="en-US" sz="2000" i="1">
                            <a:solidFill>
                              <a:schemeClr val="tx1">
                                <a:lumMod val="85000"/>
                                <a:lumOff val="15000"/>
                              </a:schemeClr>
                            </a:solidFill>
                            <a:latin typeface="Cambria Math" charset="0"/>
                          </a:rPr>
                          <m:t>𝑐</m:t>
                        </m:r>
                      </m:sub>
                    </m:sSub>
                    <m:r>
                      <a:rPr lang="en-US" sz="2000" i="1">
                        <a:solidFill>
                          <a:schemeClr val="tx1">
                            <a:lumMod val="85000"/>
                            <a:lumOff val="15000"/>
                          </a:schemeClr>
                        </a:solidFill>
                        <a:latin typeface="Cambria Math" charset="0"/>
                      </a:rPr>
                      <m:t>∼</m:t>
                    </m:r>
                    <m:sSup>
                      <m:sSupPr>
                        <m:ctrlPr>
                          <a:rPr lang="en-US" sz="2000" i="1">
                            <a:solidFill>
                              <a:schemeClr val="tx1">
                                <a:lumMod val="85000"/>
                                <a:lumOff val="15000"/>
                              </a:schemeClr>
                            </a:solidFill>
                            <a:latin typeface="Cambria Math" charset="0"/>
                          </a:rPr>
                        </m:ctrlPr>
                      </m:sSupPr>
                      <m:e>
                        <m:r>
                          <a:rPr lang="en-US" sz="2000" i="1">
                            <a:solidFill>
                              <a:schemeClr val="tx1">
                                <a:lumMod val="85000"/>
                                <a:lumOff val="15000"/>
                              </a:schemeClr>
                            </a:solidFill>
                            <a:latin typeface="Cambria Math" charset="0"/>
                          </a:rPr>
                          <m:t>𝑒</m:t>
                        </m:r>
                      </m:e>
                      <m:sup>
                        <m:f>
                          <m:fPr>
                            <m:ctrlPr>
                              <a:rPr lang="en-US" sz="2000" i="1">
                                <a:solidFill>
                                  <a:schemeClr val="tx1">
                                    <a:lumMod val="85000"/>
                                    <a:lumOff val="15000"/>
                                  </a:schemeClr>
                                </a:solidFill>
                                <a:latin typeface="Cambria Math" charset="0"/>
                              </a:rPr>
                            </m:ctrlPr>
                          </m:fPr>
                          <m:num>
                            <m:r>
                              <a:rPr lang="en-US" sz="2000" i="1">
                                <a:solidFill>
                                  <a:schemeClr val="tx1">
                                    <a:lumMod val="85000"/>
                                    <a:lumOff val="15000"/>
                                  </a:schemeClr>
                                </a:solidFill>
                                <a:latin typeface="Cambria Math" charset="0"/>
                              </a:rPr>
                              <m:t>1</m:t>
                            </m:r>
                          </m:num>
                          <m:den>
                            <m:r>
                              <a:rPr lang="en-US" sz="2000" b="0" i="1" smtClean="0">
                                <a:solidFill>
                                  <a:schemeClr val="tx1">
                                    <a:lumMod val="85000"/>
                                    <a:lumOff val="15000"/>
                                  </a:schemeClr>
                                </a:solidFill>
                                <a:latin typeface="Cambria Math" charset="0"/>
                              </a:rPr>
                              <m:t>𝑇</m:t>
                            </m:r>
                          </m:den>
                        </m:f>
                      </m:sup>
                    </m:sSup>
                  </m:oMath>
                </a14:m>
                <a:r>
                  <a:rPr lang="en-US" sz="2000" dirty="0" smtClean="0">
                    <a:solidFill>
                      <a:schemeClr val="tx1">
                        <a:lumMod val="85000"/>
                        <a:lumOff val="15000"/>
                      </a:schemeClr>
                    </a:solidFill>
                  </a:rPr>
                  <a:t> </a:t>
                </a:r>
                <a:r>
                  <a:rPr lang="en-US" sz="2000" dirty="0" smtClean="0">
                    <a:solidFill>
                      <a:schemeClr val="accent2">
                        <a:lumMod val="50000"/>
                      </a:schemeClr>
                    </a:solidFill>
                  </a:rPr>
                  <a:t>[</a:t>
                </a:r>
                <a:r>
                  <a:rPr lang="en-US" sz="2000" dirty="0">
                    <a:solidFill>
                      <a:schemeClr val="accent2">
                        <a:lumMod val="50000"/>
                      </a:schemeClr>
                    </a:solidFill>
                  </a:rPr>
                  <a:t>1]</a:t>
                </a:r>
                <a:endParaRPr lang="en-US" sz="2000" dirty="0">
                  <a:solidFill>
                    <a:schemeClr val="tx1">
                      <a:lumMod val="85000"/>
                      <a:lumOff val="15000"/>
                    </a:schemeClr>
                  </a:solidFill>
                </a:endParaRPr>
              </a:p>
              <a:p>
                <a:pPr>
                  <a:lnSpc>
                    <a:spcPct val="150000"/>
                  </a:lnSpc>
                  <a:buFont typeface="Wingdings" panose="05000000000000000000" pitchFamily="2" charset="2"/>
                  <a:buChar char="§"/>
                </a:pPr>
                <a:r>
                  <a:rPr lang="en-US" sz="2000" dirty="0" smtClean="0">
                    <a:solidFill>
                      <a:schemeClr val="tx1">
                        <a:lumMod val="85000"/>
                        <a:lumOff val="15000"/>
                      </a:schemeClr>
                    </a:solidFill>
                  </a:rPr>
                  <a:t>So, the crossover temperature is,</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sz="2000" b="0" i="1" smtClean="0">
                              <a:solidFill>
                                <a:schemeClr val="accent2">
                                  <a:lumMod val="50000"/>
                                </a:schemeClr>
                              </a:solidFill>
                              <a:latin typeface="Cambria Math" charset="0"/>
                            </a:rPr>
                          </m:ctrlPr>
                        </m:sSupPr>
                        <m:e>
                          <m:r>
                            <a:rPr lang="en-US" sz="2000" b="0" i="1" smtClean="0">
                              <a:solidFill>
                                <a:schemeClr val="accent2">
                                  <a:lumMod val="50000"/>
                                </a:schemeClr>
                              </a:solidFill>
                              <a:latin typeface="Cambria Math" charset="0"/>
                            </a:rPr>
                            <m:t>𝑇</m:t>
                          </m:r>
                        </m:e>
                        <m:sup>
                          <m:r>
                            <a:rPr lang="en-US" sz="2000" b="0" i="1" smtClean="0">
                              <a:solidFill>
                                <a:schemeClr val="accent2">
                                  <a:lumMod val="50000"/>
                                </a:schemeClr>
                              </a:solidFill>
                              <a:latin typeface="Cambria Math" charset="0"/>
                            </a:rPr>
                            <m:t>∗</m:t>
                          </m:r>
                        </m:sup>
                      </m:sSup>
                      <m:r>
                        <a:rPr lang="en-US" sz="2000" b="0" i="1" smtClean="0">
                          <a:solidFill>
                            <a:schemeClr val="accent2">
                              <a:lumMod val="50000"/>
                            </a:schemeClr>
                          </a:solidFill>
                          <a:latin typeface="Cambria Math" charset="0"/>
                        </a:rPr>
                        <m:t>~ </m:t>
                      </m:r>
                      <m:sSubSup>
                        <m:sSubSupPr>
                          <m:ctrlPr>
                            <a:rPr lang="en-US" sz="2000" b="0" i="1" smtClean="0">
                              <a:solidFill>
                                <a:schemeClr val="accent2">
                                  <a:lumMod val="50000"/>
                                </a:schemeClr>
                              </a:solidFill>
                              <a:latin typeface="Cambria Math" charset="0"/>
                            </a:rPr>
                          </m:ctrlPr>
                        </m:sSubSupPr>
                        <m:e>
                          <m:r>
                            <a:rPr lang="en-US" sz="2000" b="0" i="1" smtClean="0">
                              <a:solidFill>
                                <a:schemeClr val="accent2">
                                  <a:lumMod val="50000"/>
                                </a:schemeClr>
                              </a:solidFill>
                              <a:latin typeface="Cambria Math" charset="0"/>
                            </a:rPr>
                            <m:t>𝑑</m:t>
                          </m:r>
                        </m:e>
                        <m:sub>
                          <m:r>
                            <a:rPr lang="en-US" sz="2000" b="0" i="1" smtClean="0">
                              <a:solidFill>
                                <a:schemeClr val="accent2">
                                  <a:lumMod val="50000"/>
                                </a:schemeClr>
                              </a:solidFill>
                              <a:latin typeface="Cambria Math" charset="0"/>
                            </a:rPr>
                            <m:t>0</m:t>
                          </m:r>
                        </m:sub>
                        <m:sup>
                          <m:r>
                            <a:rPr lang="en-US" sz="2000" b="0" i="1" smtClean="0">
                              <a:solidFill>
                                <a:schemeClr val="accent2">
                                  <a:lumMod val="50000"/>
                                </a:schemeClr>
                              </a:solidFill>
                              <a:latin typeface="Cambria Math" charset="0"/>
                            </a:rPr>
                            <m:t>2</m:t>
                          </m:r>
                        </m:sup>
                      </m:sSubSup>
                    </m:oMath>
                  </m:oMathPara>
                </a14:m>
                <a:endParaRPr lang="en-US" sz="2000" dirty="0" smtClean="0">
                  <a:solidFill>
                    <a:schemeClr val="accent2">
                      <a:lumMod val="50000"/>
                    </a:schemeClr>
                  </a:solidFill>
                </a:endParaRPr>
              </a:p>
              <a:p>
                <a:pPr>
                  <a:lnSpc>
                    <a:spcPct val="150000"/>
                  </a:lnSpc>
                  <a:buFont typeface="Wingdings" panose="05000000000000000000" pitchFamily="2" charset="2"/>
                  <a:buChar char="§"/>
                </a:pPr>
                <a:endParaRPr lang="en-US" sz="2000" dirty="0">
                  <a:solidFill>
                    <a:schemeClr val="tx1">
                      <a:lumMod val="85000"/>
                      <a:lumOff val="15000"/>
                    </a:schemeClr>
                  </a:solidFill>
                </a:endParaRPr>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52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Finite temperature</a:t>
            </a:r>
            <a:endParaRPr lang="en-US" sz="3200" dirty="0">
              <a:solidFill>
                <a:schemeClr val="tx1">
                  <a:lumMod val="65000"/>
                  <a:lumOff val="35000"/>
                </a:schemeClr>
              </a:solidFill>
              <a:latin typeface="+mj-lt"/>
            </a:endParaRP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t>Properties at the critical dimension </a:t>
                </a:r>
                <a14:m>
                  <m:oMath xmlns:m="http://schemas.openxmlformats.org/officeDocument/2006/math">
                    <m:sSub>
                      <m:sSubPr>
                        <m:ctrlPr>
                          <a:rPr lang="en-US" sz="3600" i="1">
                            <a:latin typeface="Cambria Math" charset="0"/>
                          </a:rPr>
                        </m:ctrlPr>
                      </m:sSubPr>
                      <m:e>
                        <m:r>
                          <a:rPr lang="en-US" sz="3600" i="1">
                            <a:latin typeface="Cambria Math" charset="0"/>
                          </a:rPr>
                          <m:t>𝑑</m:t>
                        </m:r>
                      </m:e>
                      <m:sub>
                        <m:r>
                          <a:rPr lang="en-US" sz="3600" i="1">
                            <a:latin typeface="Cambria Math" charset="0"/>
                          </a:rPr>
                          <m:t>𝑐</m:t>
                        </m:r>
                      </m:sub>
                    </m:sSub>
                    <m:r>
                      <a:rPr lang="en-US" sz="3600" i="1">
                        <a:latin typeface="Cambria Math" charset="0"/>
                      </a:rPr>
                      <m:t>=2</m:t>
                    </m:r>
                  </m:oMath>
                </a14:m>
                <a:endParaRPr lang="x-none" sz="3600" dirty="0"/>
              </a:p>
            </p:txBody>
          </p:sp>
        </mc:Choice>
        <mc:Fallback xmlns="">
          <p:sp>
            <p:nvSpPr>
              <p:cNvPr id="8" name="Title 1">
                <a:extLst>
                  <a:ext uri="{FF2B5EF4-FFF2-40B4-BE49-F238E27FC236}">
                    <a16:creationId xmlns:a16="http://schemas.microsoft.com/office/drawing/2014/main" xmlns="" id="{5F125C44-7ECF-4972-8CDB-951A823B7D0D}"/>
                  </a:ext>
                </a:extLst>
              </p:cNvPr>
              <p:cNvSpPr>
                <a:spLocks noGrp="1" noRot="1" noChangeAspect="1" noMove="1" noResize="1" noEditPoints="1" noAdjustHandles="1" noChangeArrowheads="1" noChangeShapeType="1" noTextEdit="1"/>
              </p:cNvSpPr>
              <p:nvPr>
                <p:ph type="title"/>
              </p:nvPr>
            </p:nvSpPr>
            <p:spPr>
              <a:xfrm>
                <a:off x="803393" y="130906"/>
                <a:ext cx="10515600" cy="1041644"/>
              </a:xfrm>
              <a:blipFill rotWithShape="0">
                <a:blip r:embed="rId3"/>
                <a:stretch>
                  <a:fillRect l="-1797" b="-585"/>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144191" y="6398390"/>
            <a:ext cx="5796395" cy="307777"/>
          </a:xfrm>
          <a:prstGeom prst="rect">
            <a:avLst/>
          </a:prstGeom>
          <a:noFill/>
        </p:spPr>
        <p:txBody>
          <a:bodyPr wrap="none" rtlCol="0">
            <a:spAutoFit/>
          </a:bodyPr>
          <a:lstStyle/>
          <a:p>
            <a:r>
              <a:rPr lang="it-IT" sz="1400" dirty="0" smtClean="0">
                <a:solidFill>
                  <a:schemeClr val="accent2">
                    <a:lumMod val="50000"/>
                  </a:schemeClr>
                </a:solidFill>
              </a:rPr>
              <a:t>[1</a:t>
            </a:r>
            <a:r>
              <a:rPr lang="it-IT" sz="1400" dirty="0">
                <a:solidFill>
                  <a:schemeClr val="accent2">
                    <a:lumMod val="50000"/>
                  </a:schemeClr>
                </a:solidFill>
              </a:rPr>
              <a:t>] </a:t>
            </a:r>
            <a:r>
              <a:rPr lang="it-IT" sz="1400" dirty="0" smtClean="0">
                <a:solidFill>
                  <a:schemeClr val="accent2">
                    <a:lumMod val="50000"/>
                  </a:schemeClr>
                </a:solidFill>
              </a:rPr>
              <a:t>S. </a:t>
            </a:r>
            <a:r>
              <a:rPr lang="it-IT" sz="1400" dirty="0" err="1">
                <a:solidFill>
                  <a:schemeClr val="accent2">
                    <a:lumMod val="50000"/>
                  </a:schemeClr>
                </a:solidFill>
              </a:rPr>
              <a:t>Chakravarty</a:t>
            </a:r>
            <a:r>
              <a:rPr lang="it-IT" sz="1400" dirty="0">
                <a:solidFill>
                  <a:schemeClr val="accent2">
                    <a:lumMod val="50000"/>
                  </a:schemeClr>
                </a:solidFill>
              </a:rPr>
              <a:t>, </a:t>
            </a:r>
            <a:r>
              <a:rPr lang="it-IT" sz="1400" dirty="0" smtClean="0">
                <a:solidFill>
                  <a:schemeClr val="accent2">
                    <a:lumMod val="50000"/>
                  </a:schemeClr>
                </a:solidFill>
              </a:rPr>
              <a:t>B. </a:t>
            </a:r>
            <a:r>
              <a:rPr lang="it-IT" sz="1400" dirty="0">
                <a:solidFill>
                  <a:schemeClr val="accent2">
                    <a:lumMod val="50000"/>
                  </a:schemeClr>
                </a:solidFill>
              </a:rPr>
              <a:t>I. </a:t>
            </a:r>
            <a:r>
              <a:rPr lang="it-IT" sz="1400" dirty="0" err="1">
                <a:solidFill>
                  <a:schemeClr val="accent2">
                    <a:lumMod val="50000"/>
                  </a:schemeClr>
                </a:solidFill>
              </a:rPr>
              <a:t>Halperin</a:t>
            </a:r>
            <a:r>
              <a:rPr lang="it-IT" sz="1400" dirty="0">
                <a:solidFill>
                  <a:schemeClr val="accent2">
                    <a:lumMod val="50000"/>
                  </a:schemeClr>
                </a:solidFill>
              </a:rPr>
              <a:t>, and </a:t>
            </a:r>
            <a:r>
              <a:rPr lang="it-IT" sz="1400" dirty="0" smtClean="0">
                <a:solidFill>
                  <a:schemeClr val="accent2">
                    <a:lumMod val="50000"/>
                  </a:schemeClr>
                </a:solidFill>
              </a:rPr>
              <a:t>D. </a:t>
            </a:r>
            <a:r>
              <a:rPr lang="it-IT" sz="1400" dirty="0" err="1">
                <a:solidFill>
                  <a:schemeClr val="accent2">
                    <a:lumMod val="50000"/>
                  </a:schemeClr>
                </a:solidFill>
              </a:rPr>
              <a:t>R</a:t>
            </a:r>
            <a:r>
              <a:rPr lang="it-IT" sz="1400" dirty="0">
                <a:solidFill>
                  <a:schemeClr val="accent2">
                    <a:lumMod val="50000"/>
                  </a:schemeClr>
                </a:solidFill>
              </a:rPr>
              <a:t>. </a:t>
            </a:r>
            <a:r>
              <a:rPr lang="it-IT" sz="1400" dirty="0" err="1" smtClean="0">
                <a:solidFill>
                  <a:schemeClr val="accent2">
                    <a:lumMod val="50000"/>
                  </a:schemeClr>
                </a:solidFill>
              </a:rPr>
              <a:t>Nelson,Phys</a:t>
            </a:r>
            <a:r>
              <a:rPr lang="it-IT" sz="1400" dirty="0">
                <a:solidFill>
                  <a:schemeClr val="accent2">
                    <a:lumMod val="50000"/>
                  </a:schemeClr>
                </a:solidFill>
              </a:rPr>
              <a:t>. Rev. B 39, 2344 (</a:t>
            </a:r>
            <a:r>
              <a:rPr lang="it-IT" sz="1400" dirty="0" smtClean="0">
                <a:solidFill>
                  <a:schemeClr val="accent2">
                    <a:lumMod val="50000"/>
                  </a:schemeClr>
                </a:solidFill>
              </a:rPr>
              <a:t>1989)</a:t>
            </a:r>
            <a:endParaRPr lang="it-IT" sz="1400" dirty="0">
              <a:solidFill>
                <a:schemeClr val="accent2">
                  <a:lumMod val="50000"/>
                </a:schemeClr>
              </a:solidFill>
            </a:endParaRPr>
          </a:p>
        </p:txBody>
      </p:sp>
      <p:sp>
        <p:nvSpPr>
          <p:cNvPr id="10" name="Rectangle 9">
            <a:extLst>
              <a:ext uri="{FF2B5EF4-FFF2-40B4-BE49-F238E27FC236}">
                <a16:creationId xmlns:a16="http://schemas.microsoft.com/office/drawing/2014/main" xmlns="" id="{D7BCC96B-FD2A-4B72-9856-1CFE89872D2C}"/>
              </a:ext>
            </a:extLst>
          </p:cNvPr>
          <p:cNvSpPr/>
          <p:nvPr/>
        </p:nvSpPr>
        <p:spPr>
          <a:xfrm>
            <a:off x="5477670" y="5334695"/>
            <a:ext cx="1236659" cy="652386"/>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spTree>
    <p:extLst>
      <p:ext uri="{BB962C8B-B14F-4D97-AF65-F5344CB8AC3E}">
        <p14:creationId xmlns:p14="http://schemas.microsoft.com/office/powerpoint/2010/main" val="1350042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Autofit/>
              </a:bodyPr>
              <a:lstStyle/>
              <a:p>
                <a:pPr>
                  <a:lnSpc>
                    <a:spcPct val="150000"/>
                  </a:lnSpc>
                  <a:buFont typeface="Wingdings" panose="05000000000000000000" pitchFamily="2" charset="2"/>
                  <a:buChar char="§"/>
                </a:pPr>
                <a:r>
                  <a:rPr lang="en-US" sz="2000" dirty="0" smtClean="0">
                    <a:solidFill>
                      <a:schemeClr val="tx1">
                        <a:lumMod val="85000"/>
                        <a:lumOff val="15000"/>
                      </a:schemeClr>
                    </a:solidFill>
                  </a:rPr>
                  <a:t>If the continuous symmetry of the Hamiltonian is explicitly broken, e.g. an XXZ model, the low energy excitations are gapped, </a:t>
                </a:r>
                <a14:m>
                  <m:oMath xmlns:m="http://schemas.openxmlformats.org/officeDocument/2006/math">
                    <m:r>
                      <a:rPr lang="en-US" sz="2000" b="0" i="1" smtClean="0">
                        <a:solidFill>
                          <a:schemeClr val="tx1">
                            <a:lumMod val="85000"/>
                            <a:lumOff val="15000"/>
                          </a:schemeClr>
                        </a:solidFill>
                        <a:latin typeface="Cambria Math" charset="0"/>
                      </a:rPr>
                      <m:t>𝜒</m:t>
                    </m:r>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𝑞</m:t>
                        </m:r>
                      </m:e>
                    </m:d>
                    <m:r>
                      <a:rPr lang="en-US" sz="2000" b="0" i="1" smtClean="0">
                        <a:solidFill>
                          <a:schemeClr val="tx1">
                            <a:lumMod val="85000"/>
                            <a:lumOff val="15000"/>
                          </a:schemeClr>
                        </a:solidFill>
                        <a:latin typeface="Cambria Math" charset="0"/>
                      </a:rPr>
                      <m:t>~1/(</m:t>
                    </m:r>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𝑞</m:t>
                        </m:r>
                      </m:e>
                      <m:sup>
                        <m:r>
                          <a:rPr lang="en-US" sz="2000" b="0" i="1" smtClean="0">
                            <a:solidFill>
                              <a:schemeClr val="tx1">
                                <a:lumMod val="85000"/>
                                <a:lumOff val="15000"/>
                              </a:schemeClr>
                            </a:solidFill>
                            <a:latin typeface="Cambria Math" charset="0"/>
                          </a:rPr>
                          <m:t>2</m:t>
                        </m:r>
                      </m:sup>
                    </m:sSup>
                    <m:r>
                      <a:rPr lang="en-US" sz="2000" b="0" i="1" smtClean="0">
                        <a:solidFill>
                          <a:schemeClr val="tx1">
                            <a:lumMod val="85000"/>
                            <a:lumOff val="15000"/>
                          </a:schemeClr>
                        </a:solidFill>
                        <a:latin typeface="Cambria Math" charset="0"/>
                      </a:rPr>
                      <m:t>+</m:t>
                    </m:r>
                    <m:r>
                      <a:rPr lang="en-US" sz="2000" b="0" i="1" smtClean="0">
                        <a:solidFill>
                          <a:schemeClr val="tx1">
                            <a:lumMod val="85000"/>
                            <a:lumOff val="15000"/>
                          </a:schemeClr>
                        </a:solidFill>
                        <a:latin typeface="Cambria Math" charset="0"/>
                      </a:rPr>
                      <m:t>𝜆</m:t>
                    </m:r>
                    <m:r>
                      <a:rPr lang="en-US" sz="2000" b="0" i="1" smtClean="0">
                        <a:solidFill>
                          <a:schemeClr val="tx1">
                            <a:lumMod val="85000"/>
                            <a:lumOff val="15000"/>
                          </a:schemeClr>
                        </a:solidFill>
                        <a:latin typeface="Cambria Math" charset="0"/>
                      </a:rPr>
                      <m:t>)</m:t>
                    </m:r>
                  </m:oMath>
                </a14:m>
                <a:r>
                  <a:rPr lang="en-US" sz="2000" dirty="0" smtClean="0">
                    <a:solidFill>
                      <a:schemeClr val="tx1">
                        <a:lumMod val="85000"/>
                        <a:lumOff val="15000"/>
                      </a:schemeClr>
                    </a:solidFill>
                  </a:rPr>
                  <a:t> and therefore the transverse fluctuation in the presence of random couplings is given by,</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n-US" sz="2000" i="1">
                              <a:solidFill>
                                <a:schemeClr val="tx1">
                                  <a:lumMod val="85000"/>
                                  <a:lumOff val="15000"/>
                                </a:schemeClr>
                              </a:solidFill>
                              <a:latin typeface="Cambria Math" charset="0"/>
                            </a:rPr>
                          </m:ctrlPr>
                        </m:accPr>
                        <m:e>
                          <m:sSup>
                            <m:sSupPr>
                              <m:ctrlPr>
                                <a:rPr lang="en-US" sz="2000" i="1">
                                  <a:solidFill>
                                    <a:schemeClr val="tx1">
                                      <a:lumMod val="85000"/>
                                      <a:lumOff val="15000"/>
                                    </a:schemeClr>
                                  </a:solidFill>
                                  <a:latin typeface="Cambria Math" charset="0"/>
                                </a:rPr>
                              </m:ctrlPr>
                            </m:sSupPr>
                            <m:e>
                              <m:sSubSup>
                                <m:sSubSupPr>
                                  <m:ctrlPr>
                                    <a:rPr lang="en-US" sz="2000" i="1">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𝑟</m:t>
                                      </m:r>
                                    </m:e>
                                  </m:acc>
                                </m:sub>
                                <m:sup>
                                  <m:r>
                                    <a:rPr lang="en-US" sz="2000" i="1">
                                      <a:solidFill>
                                        <a:schemeClr val="tx1">
                                          <a:lumMod val="85000"/>
                                          <a:lumOff val="15000"/>
                                        </a:schemeClr>
                                      </a:solidFill>
                                      <a:latin typeface="Cambria Math" panose="02040503050406030204" pitchFamily="18" charset="0"/>
                                    </a:rPr>
                                    <m:t>⊥</m:t>
                                  </m:r>
                                </m:sup>
                              </m:sSubSup>
                            </m:e>
                            <m:sup>
                              <m:r>
                                <a:rPr lang="en-US" sz="2000" i="1">
                                  <a:solidFill>
                                    <a:schemeClr val="tx1">
                                      <a:lumMod val="85000"/>
                                      <a:lumOff val="15000"/>
                                    </a:schemeClr>
                                  </a:solidFill>
                                  <a:latin typeface="Cambria Math" panose="02040503050406030204" pitchFamily="18" charset="0"/>
                                </a:rPr>
                                <m:t>2</m:t>
                              </m:r>
                            </m:sup>
                          </m:sSup>
                        </m:e>
                      </m:acc>
                      <m:r>
                        <a:rPr lang="en-US" sz="2000" b="0" i="1" smtClean="0">
                          <a:solidFill>
                            <a:schemeClr val="tx1">
                              <a:lumMod val="85000"/>
                              <a:lumOff val="15000"/>
                            </a:schemeClr>
                          </a:solidFill>
                          <a:latin typeface="Cambria Math"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nary>
                        <m:naryPr>
                          <m:subHide m:val="on"/>
                          <m:supHide m:val="on"/>
                          <m:ctrlPr>
                            <a:rPr lang="en-US" sz="2000" i="1" dirty="0">
                              <a:solidFill>
                                <a:schemeClr val="tx1">
                                  <a:lumMod val="85000"/>
                                  <a:lumOff val="15000"/>
                                </a:schemeClr>
                              </a:solidFill>
                              <a:latin typeface="Cambria Math" charset="0"/>
                            </a:rPr>
                          </m:ctrlPr>
                        </m:naryPr>
                        <m:sub/>
                        <m:sup/>
                        <m:e>
                          <m:f>
                            <m:fPr>
                              <m:ctrlPr>
                                <a:rPr lang="en-US" sz="2000" i="1" dirty="0">
                                  <a:solidFill>
                                    <a:schemeClr val="tx1">
                                      <a:lumMod val="85000"/>
                                      <a:lumOff val="15000"/>
                                    </a:schemeClr>
                                  </a:solidFill>
                                  <a:latin typeface="Cambria Math" charset="0"/>
                                </a:rPr>
                              </m:ctrlPr>
                            </m:fPr>
                            <m:num>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𝑑</m:t>
                                  </m:r>
                                </m:e>
                                <m:sup>
                                  <m:r>
                                    <a:rPr lang="en-US" sz="2000" b="0" i="1" dirty="0" smtClean="0">
                                      <a:solidFill>
                                        <a:schemeClr val="tx1">
                                          <a:lumMod val="85000"/>
                                          <a:lumOff val="15000"/>
                                        </a:schemeClr>
                                      </a:solidFill>
                                      <a:latin typeface="Cambria Math" charset="0"/>
                                    </a:rPr>
                                    <m:t>𝑑</m:t>
                                  </m:r>
                                </m:sup>
                              </m:sSup>
                              <m:r>
                                <a:rPr lang="en-US" sz="2000" i="1" dirty="0">
                                  <a:solidFill>
                                    <a:schemeClr val="tx1">
                                      <a:lumMod val="85000"/>
                                      <a:lumOff val="15000"/>
                                    </a:schemeClr>
                                  </a:solidFill>
                                  <a:latin typeface="Cambria Math" panose="02040503050406030204" pitchFamily="18" charset="0"/>
                                </a:rPr>
                                <m:t>𝑞</m:t>
                              </m:r>
                            </m:num>
                            <m:den>
                              <m:sSup>
                                <m:sSupPr>
                                  <m:ctrlPr>
                                    <a:rPr lang="en-US" sz="2000" i="1" dirty="0">
                                      <a:solidFill>
                                        <a:schemeClr val="tx1">
                                          <a:lumMod val="85000"/>
                                          <a:lumOff val="15000"/>
                                        </a:schemeClr>
                                      </a:solidFill>
                                      <a:latin typeface="Cambria Math" charset="0"/>
                                    </a:rPr>
                                  </m:ctrlPr>
                                </m:sSupPr>
                                <m:e>
                                  <m:d>
                                    <m:dPr>
                                      <m:ctrlPr>
                                        <a:rPr lang="en-US" sz="2000" i="1" dirty="0">
                                          <a:solidFill>
                                            <a:schemeClr val="tx1">
                                              <a:lumMod val="85000"/>
                                              <a:lumOff val="15000"/>
                                            </a:schemeClr>
                                          </a:solidFill>
                                          <a:latin typeface="Cambria Math" charset="0"/>
                                        </a:rPr>
                                      </m:ctrlPr>
                                    </m:dPr>
                                    <m:e>
                                      <m:r>
                                        <a:rPr lang="en-US" sz="2000" i="1" dirty="0">
                                          <a:solidFill>
                                            <a:schemeClr val="tx1">
                                              <a:lumMod val="85000"/>
                                              <a:lumOff val="15000"/>
                                            </a:schemeClr>
                                          </a:solidFill>
                                          <a:latin typeface="Cambria Math" panose="02040503050406030204" pitchFamily="18" charset="0"/>
                                        </a:rPr>
                                        <m:t>2</m:t>
                                      </m:r>
                                      <m:r>
                                        <a:rPr lang="en-US" sz="2000" i="1" dirty="0">
                                          <a:solidFill>
                                            <a:schemeClr val="tx1">
                                              <a:lumMod val="85000"/>
                                              <a:lumOff val="15000"/>
                                            </a:schemeClr>
                                          </a:solidFill>
                                          <a:latin typeface="Cambria Math" panose="02040503050406030204" pitchFamily="18" charset="0"/>
                                        </a:rPr>
                                        <m:t>𝜋</m:t>
                                      </m:r>
                                    </m:e>
                                  </m:d>
                                </m:e>
                                <m:sup>
                                  <m:r>
                                    <a:rPr lang="en-US" sz="2000" i="1" dirty="0">
                                      <a:solidFill>
                                        <a:schemeClr val="tx1">
                                          <a:lumMod val="85000"/>
                                          <a:lumOff val="15000"/>
                                        </a:schemeClr>
                                      </a:solidFill>
                                      <a:latin typeface="Cambria Math" panose="02040503050406030204" pitchFamily="18" charset="0"/>
                                    </a:rPr>
                                    <m:t>𝑑</m:t>
                                  </m:r>
                                </m:sup>
                              </m:sSup>
                            </m:den>
                          </m:f>
                          <m:sSubSup>
                            <m:sSubSupPr>
                              <m:ctrlPr>
                                <a:rPr lang="en-US" sz="2000" i="1" dirty="0">
                                  <a:solidFill>
                                    <a:schemeClr val="tx1">
                                      <a:lumMod val="85000"/>
                                      <a:lumOff val="15000"/>
                                    </a:schemeClr>
                                  </a:solidFill>
                                  <a:latin typeface="Cambria Math" charset="0"/>
                                </a:rPr>
                              </m:ctrlPr>
                            </m:sSubSupPr>
                            <m:e>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𝜒</m:t>
                                  </m:r>
                                </m:e>
                                <m:sup>
                                  <m:r>
                                    <a:rPr lang="en-US" sz="2000" i="1" dirty="0">
                                      <a:solidFill>
                                        <a:schemeClr val="tx1">
                                          <a:lumMod val="85000"/>
                                          <a:lumOff val="15000"/>
                                        </a:schemeClr>
                                      </a:solidFill>
                                      <a:latin typeface="Cambria Math" charset="0"/>
                                    </a:rPr>
                                    <m:t>𝑑</m:t>
                                  </m:r>
                                </m:sup>
                              </m:sSup>
                            </m:e>
                            <m:sub>
                              <m:acc>
                                <m:accPr>
                                  <m:chr m:val="⃗"/>
                                  <m:ctrlPr>
                                    <a:rPr lang="en-US" sz="2000" i="1" dirty="0">
                                      <a:solidFill>
                                        <a:schemeClr val="tx1">
                                          <a:lumMod val="85000"/>
                                          <a:lumOff val="15000"/>
                                        </a:schemeClr>
                                      </a:solidFill>
                                      <a:latin typeface="Cambria Math" charset="0"/>
                                    </a:rPr>
                                  </m:ctrlPr>
                                </m:accPr>
                                <m:e>
                                  <m:r>
                                    <a:rPr lang="en-US" sz="2000" i="1" dirty="0">
                                      <a:solidFill>
                                        <a:schemeClr val="tx1">
                                          <a:lumMod val="85000"/>
                                          <a:lumOff val="15000"/>
                                        </a:schemeClr>
                                      </a:solidFill>
                                      <a:latin typeface="Cambria Math" panose="02040503050406030204" pitchFamily="18" charset="0"/>
                                    </a:rPr>
                                    <m:t>𝑞</m:t>
                                  </m:r>
                                </m:e>
                              </m:acc>
                            </m:sub>
                            <m:sup>
                              <m:r>
                                <a:rPr lang="en-US" sz="2000" i="1" dirty="0">
                                  <a:solidFill>
                                    <a:schemeClr val="tx1">
                                      <a:lumMod val="85000"/>
                                      <a:lumOff val="15000"/>
                                    </a:schemeClr>
                                  </a:solidFill>
                                  <a:latin typeface="Cambria Math" panose="02040503050406030204" pitchFamily="18" charset="0"/>
                                </a:rPr>
                                <m:t>2</m:t>
                              </m:r>
                            </m:sup>
                          </m:sSubSup>
                        </m:e>
                      </m:nary>
                      <m:r>
                        <a:rPr lang="en-US" sz="2000" i="1" dirty="0">
                          <a:solidFill>
                            <a:schemeClr val="tx1">
                              <a:lumMod val="85000"/>
                              <a:lumOff val="15000"/>
                            </a:schemeClr>
                          </a:solidFill>
                          <a:latin typeface="Cambria Math" panose="02040503050406030204" pitchFamily="18"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r>
                        <a:rPr lang="en-US" sz="2000" i="1" dirty="0">
                          <a:solidFill>
                            <a:schemeClr val="tx1">
                              <a:lumMod val="85000"/>
                              <a:lumOff val="15000"/>
                            </a:schemeClr>
                          </a:solidFill>
                          <a:latin typeface="Cambria Math" panose="02040503050406030204" pitchFamily="18" charset="0"/>
                        </a:rPr>
                        <m:t>∫</m:t>
                      </m:r>
                      <m:sSup>
                        <m:sSupPr>
                          <m:ctrlPr>
                            <a:rPr lang="en-US" sz="2000" b="0" i="1" dirty="0" smtClean="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charset="0"/>
                            </a:rPr>
                            <m:t>𝑑</m:t>
                          </m:r>
                        </m:e>
                        <m:sup>
                          <m:r>
                            <a:rPr lang="en-US" sz="2000" b="0" i="1" dirty="0" smtClean="0">
                              <a:solidFill>
                                <a:schemeClr val="tx1">
                                  <a:lumMod val="85000"/>
                                  <a:lumOff val="15000"/>
                                </a:schemeClr>
                              </a:solidFill>
                              <a:latin typeface="Cambria Math" charset="0"/>
                            </a:rPr>
                            <m:t>𝑑</m:t>
                          </m:r>
                        </m:sup>
                      </m:sSup>
                      <m:r>
                        <a:rPr lang="en-US" sz="2000" i="1" dirty="0">
                          <a:solidFill>
                            <a:schemeClr val="tx1">
                              <a:lumMod val="85000"/>
                              <a:lumOff val="15000"/>
                            </a:schemeClr>
                          </a:solidFill>
                          <a:latin typeface="Cambria Math" panose="02040503050406030204" pitchFamily="18" charset="0"/>
                        </a:rPr>
                        <m:t>𝑞</m:t>
                      </m:r>
                      <m:sSup>
                        <m:sSupPr>
                          <m:ctrlPr>
                            <a:rPr lang="en-US" sz="2000" i="1" dirty="0">
                              <a:solidFill>
                                <a:schemeClr val="tx1">
                                  <a:lumMod val="85000"/>
                                  <a:lumOff val="15000"/>
                                </a:schemeClr>
                              </a:solidFill>
                              <a:latin typeface="Cambria Math" charset="0"/>
                            </a:rPr>
                          </m:ctrlPr>
                        </m:sSupPr>
                        <m:e>
                          <m:d>
                            <m:dPr>
                              <m:ctrlPr>
                                <a:rPr lang="en-US" sz="2000" i="1" dirty="0">
                                  <a:solidFill>
                                    <a:schemeClr val="tx1">
                                      <a:lumMod val="85000"/>
                                      <a:lumOff val="15000"/>
                                    </a:schemeClr>
                                  </a:solidFill>
                                  <a:latin typeface="Cambria Math" charset="0"/>
                                </a:rPr>
                              </m:ctrlPr>
                            </m:dPr>
                            <m:e>
                              <m:f>
                                <m:fPr>
                                  <m:ctrlPr>
                                    <a:rPr lang="en-US" sz="2000" i="1" dirty="0">
                                      <a:solidFill>
                                        <a:schemeClr val="tx1">
                                          <a:lumMod val="85000"/>
                                          <a:lumOff val="15000"/>
                                        </a:schemeClr>
                                      </a:solidFill>
                                      <a:latin typeface="Cambria Math" charset="0"/>
                                    </a:rPr>
                                  </m:ctrlPr>
                                </m:fPr>
                                <m:num>
                                  <m:r>
                                    <a:rPr lang="en-US" sz="2000" b="0" i="1" dirty="0" smtClean="0">
                                      <a:solidFill>
                                        <a:schemeClr val="tx1">
                                          <a:lumMod val="85000"/>
                                          <a:lumOff val="15000"/>
                                        </a:schemeClr>
                                      </a:solidFill>
                                      <a:latin typeface="Cambria Math" charset="0"/>
                                    </a:rPr>
                                    <m:t>𝑞</m:t>
                                  </m:r>
                                </m:num>
                                <m:den>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𝑞</m:t>
                                      </m:r>
                                    </m:e>
                                    <m:sup>
                                      <m:r>
                                        <a:rPr lang="en-US" sz="2000" i="1" dirty="0">
                                          <a:solidFill>
                                            <a:schemeClr val="tx1">
                                              <a:lumMod val="85000"/>
                                              <a:lumOff val="15000"/>
                                            </a:schemeClr>
                                          </a:solidFill>
                                          <a:latin typeface="Cambria Math" charset="0"/>
                                        </a:rPr>
                                        <m:t>2</m:t>
                                      </m:r>
                                    </m:sup>
                                  </m:sSup>
                                  <m:r>
                                    <a:rPr lang="en-US" sz="2000" i="1" dirty="0">
                                      <a:solidFill>
                                        <a:schemeClr val="tx1">
                                          <a:lumMod val="85000"/>
                                          <a:lumOff val="15000"/>
                                        </a:schemeClr>
                                      </a:solidFill>
                                      <a:latin typeface="Cambria Math" charset="0"/>
                                    </a:rPr>
                                    <m:t>+</m:t>
                                  </m:r>
                                  <m:r>
                                    <a:rPr lang="en-US" sz="2000" i="1" dirty="0">
                                      <a:solidFill>
                                        <a:schemeClr val="tx1">
                                          <a:lumMod val="85000"/>
                                          <a:lumOff val="15000"/>
                                        </a:schemeClr>
                                      </a:solidFill>
                                      <a:latin typeface="Cambria Math" charset="0"/>
                                    </a:rPr>
                                    <m:t>𝜆</m:t>
                                  </m:r>
                                </m:den>
                              </m:f>
                            </m:e>
                          </m:d>
                        </m:e>
                        <m:sup>
                          <m:r>
                            <a:rPr lang="en-US" sz="2000" i="1" dirty="0">
                              <a:solidFill>
                                <a:schemeClr val="tx1">
                                  <a:lumMod val="85000"/>
                                  <a:lumOff val="15000"/>
                                </a:schemeClr>
                              </a:solidFill>
                              <a:latin typeface="Cambria Math" panose="02040503050406030204" pitchFamily="18" charset="0"/>
                            </a:rPr>
                            <m:t>2</m:t>
                          </m:r>
                        </m:sup>
                      </m:sSup>
                    </m:oMath>
                  </m:oMathPara>
                </a14:m>
                <a:endParaRPr lang="en-US" sz="2000" dirty="0" smtClean="0">
                  <a:solidFill>
                    <a:schemeClr val="tx1">
                      <a:lumMod val="85000"/>
                      <a:lumOff val="15000"/>
                    </a:schemeClr>
                  </a:solidFill>
                </a:endParaRPr>
              </a:p>
              <a:p>
                <a:pPr>
                  <a:lnSpc>
                    <a:spcPct val="150000"/>
                  </a:lnSpc>
                  <a:buFont typeface="Wingdings" panose="05000000000000000000" pitchFamily="2" charset="2"/>
                  <a:buChar char="§"/>
                </a:pPr>
                <a:r>
                  <a:rPr lang="en-US" sz="2000" dirty="0" smtClean="0">
                    <a:solidFill>
                      <a:schemeClr val="tx1">
                        <a:lumMod val="85000"/>
                        <a:lumOff val="15000"/>
                      </a:schemeClr>
                    </a:solidFill>
                  </a:rPr>
                  <a:t>In this case, long range order survives for small disorder with the stability criterion,</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n-US" sz="2000" i="1">
                              <a:solidFill>
                                <a:schemeClr val="tx1">
                                  <a:lumMod val="85000"/>
                                  <a:lumOff val="15000"/>
                                </a:schemeClr>
                              </a:solidFill>
                              <a:latin typeface="Cambria Math" charset="0"/>
                            </a:rPr>
                          </m:ctrlPr>
                        </m:accPr>
                        <m:e>
                          <m:sSup>
                            <m:sSupPr>
                              <m:ctrlPr>
                                <a:rPr lang="en-US" sz="2000" i="1">
                                  <a:solidFill>
                                    <a:schemeClr val="tx1">
                                      <a:lumMod val="85000"/>
                                      <a:lumOff val="15000"/>
                                    </a:schemeClr>
                                  </a:solidFill>
                                  <a:latin typeface="Cambria Math" charset="0"/>
                                </a:rPr>
                              </m:ctrlPr>
                            </m:sSupPr>
                            <m:e>
                              <m:sSubSup>
                                <m:sSubSupPr>
                                  <m:ctrlPr>
                                    <a:rPr lang="en-US" sz="2000" i="1" smtClean="0">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𝑟</m:t>
                                      </m:r>
                                    </m:e>
                                  </m:acc>
                                </m:sub>
                                <m:sup>
                                  <m:r>
                                    <a:rPr lang="en-US" sz="2000" i="1">
                                      <a:solidFill>
                                        <a:schemeClr val="tx1">
                                          <a:lumMod val="85000"/>
                                          <a:lumOff val="15000"/>
                                        </a:schemeClr>
                                      </a:solidFill>
                                      <a:latin typeface="Cambria Math" panose="02040503050406030204" pitchFamily="18" charset="0"/>
                                    </a:rPr>
                                    <m:t>⊥</m:t>
                                  </m:r>
                                </m:sup>
                              </m:sSubSup>
                            </m:e>
                            <m:sup>
                              <m:r>
                                <a:rPr lang="en-US" sz="2000" i="1">
                                  <a:solidFill>
                                    <a:schemeClr val="tx1">
                                      <a:lumMod val="85000"/>
                                      <a:lumOff val="15000"/>
                                    </a:schemeClr>
                                  </a:solidFill>
                                  <a:latin typeface="Cambria Math" panose="02040503050406030204" pitchFamily="18" charset="0"/>
                                </a:rPr>
                                <m:t>2</m:t>
                              </m:r>
                            </m:sup>
                          </m:sSup>
                        </m:e>
                      </m:acc>
                      <m:r>
                        <a:rPr lang="en-US" sz="2000" b="0" i="1" smtClean="0">
                          <a:solidFill>
                            <a:schemeClr val="tx1">
                              <a:lumMod val="85000"/>
                              <a:lumOff val="15000"/>
                            </a:schemeClr>
                          </a:solidFill>
                          <a:latin typeface="Cambria Math" charset="0"/>
                        </a:rPr>
                        <m:t>≪1</m:t>
                      </m:r>
                    </m:oMath>
                  </m:oMathPara>
                </a14:m>
                <a:endParaRPr lang="en-US" sz="2000" b="0" i="1" dirty="0" smtClean="0">
                  <a:solidFill>
                    <a:schemeClr val="tx1">
                      <a:lumMod val="85000"/>
                      <a:lumOff val="15000"/>
                    </a:schemeClr>
                  </a:solidFill>
                  <a:latin typeface="Cambria Math"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sz="2000" i="1" dirty="0" smtClean="0">
                          <a:solidFill>
                            <a:schemeClr val="tx1">
                              <a:lumMod val="85000"/>
                              <a:lumOff val="15000"/>
                            </a:schemeClr>
                          </a:solidFill>
                          <a:latin typeface="Cambria Math" charset="0"/>
                          <a:ea typeface="Cambria Math" charset="0"/>
                          <a:cs typeface="Cambria Math" charset="0"/>
                        </a:rPr>
                        <m:t>⇒</m:t>
                      </m:r>
                      <m:sSub>
                        <m:sSubPr>
                          <m:ctrlPr>
                            <a:rPr lang="en-US" sz="2000" b="0" i="1" dirty="0" smtClean="0">
                              <a:solidFill>
                                <a:schemeClr val="accent2">
                                  <a:lumMod val="50000"/>
                                </a:schemeClr>
                              </a:solidFill>
                              <a:latin typeface="Cambria Math" charset="0"/>
                              <a:ea typeface="Cambria Math" charset="0"/>
                              <a:cs typeface="Cambria Math" charset="0"/>
                            </a:rPr>
                          </m:ctrlPr>
                        </m:sSubPr>
                        <m:e>
                          <m:r>
                            <a:rPr lang="en-US" sz="2000" b="0" i="1" dirty="0" smtClean="0">
                              <a:solidFill>
                                <a:schemeClr val="accent2">
                                  <a:lumMod val="50000"/>
                                </a:schemeClr>
                              </a:solidFill>
                              <a:latin typeface="Cambria Math" charset="0"/>
                              <a:ea typeface="Cambria Math" charset="0"/>
                              <a:cs typeface="Cambria Math" charset="0"/>
                            </a:rPr>
                            <m:t>𝑑</m:t>
                          </m:r>
                        </m:e>
                        <m:sub>
                          <m:r>
                            <a:rPr lang="en-US" sz="2000" b="0" i="1" dirty="0" smtClean="0">
                              <a:solidFill>
                                <a:schemeClr val="accent2">
                                  <a:lumMod val="50000"/>
                                </a:schemeClr>
                              </a:solidFill>
                              <a:latin typeface="Cambria Math" charset="0"/>
                              <a:ea typeface="Cambria Math" charset="0"/>
                              <a:cs typeface="Cambria Math" charset="0"/>
                            </a:rPr>
                            <m:t>0</m:t>
                          </m:r>
                        </m:sub>
                      </m:sSub>
                      <m:r>
                        <a:rPr lang="en-US" sz="2000" i="1">
                          <a:solidFill>
                            <a:schemeClr val="accent2">
                              <a:lumMod val="50000"/>
                            </a:schemeClr>
                          </a:solidFill>
                          <a:latin typeface="Cambria Math" charset="0"/>
                        </a:rPr>
                        <m:t>≪</m:t>
                      </m:r>
                      <m:sSup>
                        <m:sSupPr>
                          <m:ctrlPr>
                            <a:rPr lang="en-US" sz="2000" b="0" i="1" smtClean="0">
                              <a:solidFill>
                                <a:schemeClr val="accent2">
                                  <a:lumMod val="50000"/>
                                </a:schemeClr>
                              </a:solidFill>
                              <a:latin typeface="Cambria Math" charset="0"/>
                            </a:rPr>
                          </m:ctrlPr>
                        </m:sSupPr>
                        <m:e>
                          <m:r>
                            <a:rPr lang="en-US" sz="2000" b="0" i="1" smtClean="0">
                              <a:solidFill>
                                <a:schemeClr val="accent2">
                                  <a:lumMod val="50000"/>
                                </a:schemeClr>
                              </a:solidFill>
                              <a:latin typeface="Cambria Math" charset="0"/>
                            </a:rPr>
                            <m:t>𝜆</m:t>
                          </m:r>
                        </m:e>
                        <m:sup>
                          <m:r>
                            <a:rPr lang="en-US" sz="2000" b="0" i="1" smtClean="0">
                              <a:solidFill>
                                <a:schemeClr val="accent2">
                                  <a:lumMod val="50000"/>
                                </a:schemeClr>
                              </a:solidFill>
                              <a:latin typeface="Cambria Math" charset="0"/>
                            </a:rPr>
                            <m:t>2−</m:t>
                          </m:r>
                          <m:r>
                            <a:rPr lang="en-US" sz="2000" b="0" i="1" smtClean="0">
                              <a:solidFill>
                                <a:schemeClr val="accent2">
                                  <a:lumMod val="50000"/>
                                </a:schemeClr>
                              </a:solidFill>
                              <a:latin typeface="Cambria Math" charset="0"/>
                            </a:rPr>
                            <m:t>𝑑</m:t>
                          </m:r>
                        </m:sup>
                      </m:sSup>
                    </m:oMath>
                  </m:oMathPara>
                </a14:m>
                <a:endParaRPr lang="en-US" sz="2000" dirty="0">
                  <a:solidFill>
                    <a:schemeClr val="tx1">
                      <a:lumMod val="85000"/>
                      <a:lumOff val="15000"/>
                    </a:schemeClr>
                  </a:solidFill>
                </a:endParaRPr>
              </a:p>
              <a:p>
                <a:pPr>
                  <a:lnSpc>
                    <a:spcPct val="150000"/>
                  </a:lnSpc>
                  <a:buFont typeface="Wingdings" panose="05000000000000000000" pitchFamily="2" charset="2"/>
                  <a:buChar char="§"/>
                </a:pPr>
                <a:endParaRPr lang="en-US" sz="2000" dirty="0" smtClean="0">
                  <a:solidFill>
                    <a:schemeClr val="tx1">
                      <a:lumMod val="85000"/>
                      <a:lumOff val="15000"/>
                    </a:schemeClr>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52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Gapped excitations</a:t>
            </a:r>
            <a:endParaRPr lang="en-US" sz="3200" dirty="0">
              <a:solidFill>
                <a:schemeClr val="tx1">
                  <a:lumMod val="65000"/>
                  <a:lumOff val="35000"/>
                </a:schemeClr>
              </a:solidFill>
              <a:latin typeface="+mj-lt"/>
            </a:endParaRPr>
          </a:p>
        </p:txBody>
      </p:sp>
      <p:sp>
        <p:nvSpPr>
          <p:cNvPr id="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Beyond 2D</a:t>
            </a:r>
            <a:endParaRPr lang="x-none" sz="3600" dirty="0"/>
          </a:p>
        </p:txBody>
      </p:sp>
      <p:cxnSp>
        <p:nvCxnSpPr>
          <p:cNvPr id="9" name="Straight Connector 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xmlns="" id="{D7BCC96B-FD2A-4B72-9856-1CFE89872D2C}"/>
              </a:ext>
            </a:extLst>
          </p:cNvPr>
          <p:cNvSpPr/>
          <p:nvPr/>
        </p:nvSpPr>
        <p:spPr>
          <a:xfrm>
            <a:off x="5636696" y="5724309"/>
            <a:ext cx="1217328" cy="620832"/>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spTree>
    <p:extLst>
      <p:ext uri="{BB962C8B-B14F-4D97-AF65-F5344CB8AC3E}">
        <p14:creationId xmlns:p14="http://schemas.microsoft.com/office/powerpoint/2010/main" val="832650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Autofit/>
              </a:bodyPr>
              <a:lstStyle/>
              <a:p>
                <a:pPr>
                  <a:lnSpc>
                    <a:spcPct val="100000"/>
                  </a:lnSpc>
                  <a:buFont typeface="Wingdings" panose="05000000000000000000" pitchFamily="2" charset="2"/>
                  <a:buChar char="§"/>
                </a:pPr>
                <a:r>
                  <a:rPr lang="en-US" sz="2000" dirty="0" smtClean="0">
                    <a:solidFill>
                      <a:schemeClr val="tx1">
                        <a:lumMod val="85000"/>
                        <a:lumOff val="15000"/>
                      </a:schemeClr>
                    </a:solidFill>
                  </a:rPr>
                  <a:t>If the coupling between the layers,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𝐽</m:t>
                        </m:r>
                      </m:e>
                      <m:sub>
                        <m:r>
                          <a:rPr lang="en-US" sz="2000" b="0" i="1" smtClean="0">
                            <a:solidFill>
                              <a:schemeClr val="tx1">
                                <a:lumMod val="85000"/>
                                <a:lumOff val="15000"/>
                              </a:schemeClr>
                            </a:solidFill>
                            <a:latin typeface="Cambria Math" charset="0"/>
                          </a:rPr>
                          <m:t>⊥</m:t>
                        </m:r>
                      </m:sub>
                    </m:sSub>
                  </m:oMath>
                </a14:m>
                <a:r>
                  <a:rPr lang="en-US" sz="2000" dirty="0" smtClean="0">
                    <a:solidFill>
                      <a:schemeClr val="tx1">
                        <a:lumMod val="85000"/>
                        <a:lumOff val="15000"/>
                      </a:schemeClr>
                    </a:solidFill>
                  </a:rPr>
                  <a:t> is finite then the system has an extra dimension which prevents the divergence and long range order is sustained even in the presence of random couplings. With the bare susceptibility now given by, </a:t>
                </a:r>
                <a14:m>
                  <m:oMath xmlns:m="http://schemas.openxmlformats.org/officeDocument/2006/math">
                    <m:r>
                      <a:rPr lang="en-US" sz="2000" b="0" i="1" smtClean="0">
                        <a:solidFill>
                          <a:schemeClr val="tx1">
                            <a:lumMod val="85000"/>
                            <a:lumOff val="15000"/>
                          </a:schemeClr>
                        </a:solidFill>
                        <a:latin typeface="Cambria Math" charset="0"/>
                      </a:rPr>
                      <m:t>𝜒</m:t>
                    </m:r>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𝑞</m:t>
                        </m:r>
                        <m:r>
                          <a:rPr lang="en-US" sz="2000" b="0" i="1" smtClean="0">
                            <a:solidFill>
                              <a:schemeClr val="tx1">
                                <a:lumMod val="85000"/>
                                <a:lumOff val="15000"/>
                              </a:schemeClr>
                            </a:solidFill>
                            <a:latin typeface="Cambria Math" charset="0"/>
                          </a:rPr>
                          <m:t>,</m:t>
                        </m:r>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𝑞</m:t>
                            </m:r>
                          </m:e>
                          <m:sub>
                            <m:r>
                              <a:rPr lang="en-US" sz="2000" b="0" i="1" smtClean="0">
                                <a:solidFill>
                                  <a:schemeClr val="tx1">
                                    <a:lumMod val="85000"/>
                                    <a:lumOff val="15000"/>
                                  </a:schemeClr>
                                </a:solidFill>
                                <a:latin typeface="Cambria Math" charset="0"/>
                              </a:rPr>
                              <m:t>⊥</m:t>
                            </m:r>
                          </m:sub>
                        </m:sSub>
                        <m:r>
                          <a:rPr lang="en-US" sz="2000" b="0" i="1" smtClean="0">
                            <a:solidFill>
                              <a:schemeClr val="tx1">
                                <a:lumMod val="85000"/>
                                <a:lumOff val="15000"/>
                              </a:schemeClr>
                            </a:solidFill>
                            <a:latin typeface="Cambria Math" charset="0"/>
                          </a:rPr>
                          <m:t> </m:t>
                        </m:r>
                      </m:e>
                    </m:d>
                    <m:r>
                      <a:rPr lang="en-US" sz="2000" b="0" i="1" smtClean="0">
                        <a:solidFill>
                          <a:schemeClr val="tx1">
                            <a:lumMod val="85000"/>
                            <a:lumOff val="15000"/>
                          </a:schemeClr>
                        </a:solidFill>
                        <a:latin typeface="Cambria Math" charset="0"/>
                      </a:rPr>
                      <m:t>=</m:t>
                    </m:r>
                    <m:f>
                      <m:fPr>
                        <m:ctrlPr>
                          <a:rPr lang="en-US" sz="2000" b="0" i="1" smtClean="0">
                            <a:solidFill>
                              <a:schemeClr val="tx1">
                                <a:lumMod val="85000"/>
                                <a:lumOff val="15000"/>
                              </a:schemeClr>
                            </a:solidFill>
                            <a:latin typeface="Cambria Math" charset="0"/>
                          </a:rPr>
                        </m:ctrlPr>
                      </m:fPr>
                      <m:num>
                        <m:r>
                          <a:rPr lang="en-US" sz="2000" b="0" i="1" smtClean="0">
                            <a:solidFill>
                              <a:schemeClr val="tx1">
                                <a:lumMod val="85000"/>
                                <a:lumOff val="15000"/>
                              </a:schemeClr>
                            </a:solidFill>
                            <a:latin typeface="Cambria Math" charset="0"/>
                          </a:rPr>
                          <m:t>1</m:t>
                        </m:r>
                      </m:num>
                      <m:den>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𝑐</m:t>
                            </m:r>
                          </m:e>
                          <m:sup>
                            <m:r>
                              <a:rPr lang="en-US" sz="2000" b="0" i="1" smtClean="0">
                                <a:solidFill>
                                  <a:schemeClr val="tx1">
                                    <a:lumMod val="85000"/>
                                    <a:lumOff val="15000"/>
                                  </a:schemeClr>
                                </a:solidFill>
                                <a:latin typeface="Cambria Math" charset="0"/>
                              </a:rPr>
                              <m:t>2</m:t>
                            </m:r>
                          </m:sup>
                        </m:sSup>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𝑞</m:t>
                            </m:r>
                          </m:e>
                          <m:sup>
                            <m:r>
                              <a:rPr lang="en-US" sz="2000" b="0" i="1" smtClean="0">
                                <a:solidFill>
                                  <a:schemeClr val="tx1">
                                    <a:lumMod val="85000"/>
                                    <a:lumOff val="15000"/>
                                  </a:schemeClr>
                                </a:solidFill>
                                <a:latin typeface="Cambria Math" charset="0"/>
                              </a:rPr>
                              <m:t>2</m:t>
                            </m:r>
                          </m:sup>
                        </m:sSup>
                        <m:r>
                          <a:rPr lang="en-US" sz="2000" b="0" i="1" smtClean="0">
                            <a:solidFill>
                              <a:schemeClr val="tx1">
                                <a:lumMod val="85000"/>
                                <a:lumOff val="15000"/>
                              </a:schemeClr>
                            </a:solidFill>
                            <a:latin typeface="Cambria Math" charset="0"/>
                          </a:rPr>
                          <m:t>+</m:t>
                        </m:r>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charset="0"/>
                              </a:rPr>
                              <m:t>𝑐</m:t>
                            </m:r>
                          </m:e>
                          <m:sub>
                            <m:r>
                              <a:rPr lang="en-US" sz="2000" b="0" i="1" smtClean="0">
                                <a:solidFill>
                                  <a:schemeClr val="tx1">
                                    <a:lumMod val="85000"/>
                                    <a:lumOff val="15000"/>
                                  </a:schemeClr>
                                </a:solidFill>
                                <a:latin typeface="Cambria Math" charset="0"/>
                              </a:rPr>
                              <m:t>⊥</m:t>
                            </m:r>
                          </m:sub>
                          <m:sup>
                            <m:r>
                              <a:rPr lang="en-US" sz="2000" b="0" i="1" smtClean="0">
                                <a:solidFill>
                                  <a:schemeClr val="tx1">
                                    <a:lumMod val="85000"/>
                                    <a:lumOff val="15000"/>
                                  </a:schemeClr>
                                </a:solidFill>
                                <a:latin typeface="Cambria Math" charset="0"/>
                              </a:rPr>
                              <m:t>2</m:t>
                            </m:r>
                          </m:sup>
                        </m:sSubSup>
                        <m:sSup>
                          <m:sSupPr>
                            <m:ctrlPr>
                              <a:rPr lang="en-US" sz="2000" b="0" i="1" smtClean="0">
                                <a:solidFill>
                                  <a:schemeClr val="tx1">
                                    <a:lumMod val="85000"/>
                                    <a:lumOff val="15000"/>
                                  </a:schemeClr>
                                </a:solidFill>
                                <a:latin typeface="Cambria Math" charset="0"/>
                              </a:rPr>
                            </m:ctrlPr>
                          </m:sSupPr>
                          <m:e>
                            <m:r>
                              <a:rPr lang="en-US" sz="2000" b="0" i="1" smtClean="0">
                                <a:solidFill>
                                  <a:schemeClr val="tx1">
                                    <a:lumMod val="85000"/>
                                    <a:lumOff val="15000"/>
                                  </a:schemeClr>
                                </a:solidFill>
                                <a:latin typeface="Cambria Math" charset="0"/>
                              </a:rPr>
                              <m:t>𝑞</m:t>
                            </m:r>
                          </m:e>
                          <m:sup>
                            <m:r>
                              <a:rPr lang="en-US" sz="2000" b="0" i="1" smtClean="0">
                                <a:solidFill>
                                  <a:schemeClr val="tx1">
                                    <a:lumMod val="85000"/>
                                    <a:lumOff val="15000"/>
                                  </a:schemeClr>
                                </a:solidFill>
                                <a:latin typeface="Cambria Math" charset="0"/>
                              </a:rPr>
                              <m:t>2</m:t>
                            </m:r>
                          </m:sup>
                        </m:sSup>
                      </m:den>
                    </m:f>
                  </m:oMath>
                </a14:m>
                <a:r>
                  <a:rPr lang="en-US" sz="2000" dirty="0" smtClean="0">
                    <a:solidFill>
                      <a:schemeClr val="tx1">
                        <a:lumMod val="85000"/>
                        <a:lumOff val="15000"/>
                      </a:schemeClr>
                    </a:solidFill>
                  </a:rPr>
                  <a:t> with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𝑐</m:t>
                        </m:r>
                      </m:e>
                      <m:sub>
                        <m:r>
                          <a:rPr lang="en-US" sz="2000" b="0" i="1" smtClean="0">
                            <a:solidFill>
                              <a:schemeClr val="tx1">
                                <a:lumMod val="85000"/>
                                <a:lumOff val="15000"/>
                              </a:schemeClr>
                            </a:solidFill>
                            <a:latin typeface="Cambria Math" charset="0"/>
                          </a:rPr>
                          <m:t>⊥</m:t>
                        </m:r>
                      </m:sub>
                    </m:sSub>
                    <m:r>
                      <a:rPr lang="en-US" sz="2000" i="1">
                        <a:solidFill>
                          <a:schemeClr val="tx1">
                            <a:lumMod val="85000"/>
                            <a:lumOff val="15000"/>
                          </a:schemeClr>
                        </a:solidFill>
                        <a:latin typeface="Cambria Math" charset="0"/>
                        <a:ea typeface="Cambria Math" charset="0"/>
                        <a:cs typeface="Cambria Math" charset="0"/>
                      </a:rPr>
                      <m:t>∝</m:t>
                    </m:r>
                    <m:sSub>
                      <m:sSubPr>
                        <m:ctrlPr>
                          <a:rPr lang="en-US" sz="2000" b="0" i="1" smtClean="0">
                            <a:solidFill>
                              <a:schemeClr val="tx1">
                                <a:lumMod val="85000"/>
                                <a:lumOff val="15000"/>
                              </a:schemeClr>
                            </a:solidFill>
                            <a:latin typeface="Cambria Math" charset="0"/>
                            <a:ea typeface="Cambria Math" charset="0"/>
                            <a:cs typeface="Cambria Math" charset="0"/>
                          </a:rPr>
                        </m:ctrlPr>
                      </m:sSubPr>
                      <m:e>
                        <m:r>
                          <a:rPr lang="en-US" sz="2000" b="0" i="1" smtClean="0">
                            <a:solidFill>
                              <a:schemeClr val="tx1">
                                <a:lumMod val="85000"/>
                                <a:lumOff val="15000"/>
                              </a:schemeClr>
                            </a:solidFill>
                            <a:latin typeface="Cambria Math" charset="0"/>
                            <a:ea typeface="Cambria Math" charset="0"/>
                            <a:cs typeface="Cambria Math" charset="0"/>
                          </a:rPr>
                          <m:t>𝐽</m:t>
                        </m:r>
                      </m:e>
                      <m:sub>
                        <m:r>
                          <a:rPr lang="en-US" sz="2000" b="0" i="1" smtClean="0">
                            <a:solidFill>
                              <a:schemeClr val="tx1">
                                <a:lumMod val="85000"/>
                                <a:lumOff val="15000"/>
                              </a:schemeClr>
                            </a:solidFill>
                            <a:latin typeface="Cambria Math" charset="0"/>
                            <a:ea typeface="Cambria Math" charset="0"/>
                            <a:cs typeface="Cambria Math" charset="0"/>
                          </a:rPr>
                          <m:t>⊥</m:t>
                        </m:r>
                      </m:sub>
                    </m:sSub>
                  </m:oMath>
                </a14:m>
                <a:endParaRPr lang="en-US" sz="2000" dirty="0" smtClean="0">
                  <a:solidFill>
                    <a:schemeClr val="tx1">
                      <a:lumMod val="85000"/>
                      <a:lumOff val="15000"/>
                    </a:schemeClr>
                  </a:solidFill>
                </a:endParaRPr>
              </a:p>
              <a:p>
                <a:pPr marL="0" indent="0">
                  <a:lnSpc>
                    <a:spcPct val="100000"/>
                  </a:lnSpc>
                  <a:buNone/>
                </a:pPr>
                <a:endParaRPr lang="en-US" sz="2000" i="1" dirty="0" smtClean="0">
                  <a:solidFill>
                    <a:schemeClr val="tx1">
                      <a:lumMod val="85000"/>
                      <a:lumOff val="15000"/>
                    </a:schemeClr>
                  </a:solidFill>
                  <a:latin typeface="Cambria Math" charset="0"/>
                </a:endParaRPr>
              </a:p>
              <a:p>
                <a:pPr marL="0" indent="0">
                  <a:lnSpc>
                    <a:spcPct val="100000"/>
                  </a:lnSpc>
                  <a:buNone/>
                </a:pPr>
                <a14:m>
                  <m:oMathPara xmlns:m="http://schemas.openxmlformats.org/officeDocument/2006/math">
                    <m:oMathParaPr>
                      <m:jc m:val="centerGroup"/>
                    </m:oMathParaPr>
                    <m:oMath xmlns:m="http://schemas.openxmlformats.org/officeDocument/2006/math">
                      <m:acc>
                        <m:accPr>
                          <m:chr m:val="̅"/>
                          <m:ctrlPr>
                            <a:rPr lang="en-US" sz="2000" i="1">
                              <a:solidFill>
                                <a:schemeClr val="tx1">
                                  <a:lumMod val="85000"/>
                                  <a:lumOff val="15000"/>
                                </a:schemeClr>
                              </a:solidFill>
                              <a:latin typeface="Cambria Math" charset="0"/>
                            </a:rPr>
                          </m:ctrlPr>
                        </m:accPr>
                        <m:e>
                          <m:sSup>
                            <m:sSupPr>
                              <m:ctrlPr>
                                <a:rPr lang="en-US" sz="2000" i="1">
                                  <a:solidFill>
                                    <a:schemeClr val="tx1">
                                      <a:lumMod val="85000"/>
                                      <a:lumOff val="15000"/>
                                    </a:schemeClr>
                                  </a:solidFill>
                                  <a:latin typeface="Cambria Math" charset="0"/>
                                </a:rPr>
                              </m:ctrlPr>
                            </m:sSupPr>
                            <m:e>
                              <m:sSubSup>
                                <m:sSubSupPr>
                                  <m:ctrlPr>
                                    <a:rPr lang="en-US" sz="2000" i="1">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panose="02040503050406030204" pitchFamily="18" charset="0"/>
                                    </a:rPr>
                                    <m:t>𝑆</m:t>
                                  </m:r>
                                </m:e>
                                <m:sub>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panose="02040503050406030204" pitchFamily="18" charset="0"/>
                                        </a:rPr>
                                        <m:t>𝑟</m:t>
                                      </m:r>
                                    </m:e>
                                  </m:acc>
                                </m:sub>
                                <m:sup>
                                  <m:r>
                                    <a:rPr lang="en-US" sz="2000" i="1">
                                      <a:solidFill>
                                        <a:schemeClr val="tx1">
                                          <a:lumMod val="85000"/>
                                          <a:lumOff val="15000"/>
                                        </a:schemeClr>
                                      </a:solidFill>
                                      <a:latin typeface="Cambria Math" panose="02040503050406030204" pitchFamily="18" charset="0"/>
                                    </a:rPr>
                                    <m:t>⊥</m:t>
                                  </m:r>
                                </m:sup>
                              </m:sSubSup>
                            </m:e>
                            <m:sup>
                              <m:r>
                                <a:rPr lang="en-US" sz="2000" i="1">
                                  <a:solidFill>
                                    <a:schemeClr val="tx1">
                                      <a:lumMod val="85000"/>
                                      <a:lumOff val="15000"/>
                                    </a:schemeClr>
                                  </a:solidFill>
                                  <a:latin typeface="Cambria Math" panose="02040503050406030204" pitchFamily="18" charset="0"/>
                                </a:rPr>
                                <m:t>2</m:t>
                              </m:r>
                            </m:sup>
                          </m:sSup>
                        </m:e>
                      </m:acc>
                      <m:r>
                        <a:rPr lang="en-US" sz="2000" b="0" i="1" smtClean="0">
                          <a:solidFill>
                            <a:schemeClr val="tx1">
                              <a:lumMod val="85000"/>
                              <a:lumOff val="15000"/>
                            </a:schemeClr>
                          </a:solidFill>
                          <a:latin typeface="Cambria Math" charset="0"/>
                        </a:rPr>
                        <m:t>=</m:t>
                      </m:r>
                      <m:sSubSup>
                        <m:sSubSupPr>
                          <m:ctrlPr>
                            <a:rPr lang="en-US" sz="2000" i="1" dirty="0">
                              <a:solidFill>
                                <a:schemeClr val="tx1">
                                  <a:lumMod val="85000"/>
                                  <a:lumOff val="15000"/>
                                </a:schemeClr>
                              </a:solidFill>
                              <a:latin typeface="Cambria Math" charset="0"/>
                            </a:rPr>
                          </m:ctrlPr>
                        </m:sSubSupPr>
                        <m:e>
                          <m:r>
                            <a:rPr lang="en-US" sz="2000" i="1" dirty="0">
                              <a:solidFill>
                                <a:schemeClr val="tx1">
                                  <a:lumMod val="85000"/>
                                  <a:lumOff val="15000"/>
                                </a:schemeClr>
                              </a:solidFill>
                              <a:latin typeface="Cambria Math" charset="0"/>
                            </a:rPr>
                            <m:t>𝑑</m:t>
                          </m:r>
                        </m:e>
                        <m:sub>
                          <m:r>
                            <a:rPr lang="en-US" sz="2000" i="1" dirty="0">
                              <a:solidFill>
                                <a:schemeClr val="tx1">
                                  <a:lumMod val="85000"/>
                                  <a:lumOff val="15000"/>
                                </a:schemeClr>
                              </a:solidFill>
                              <a:latin typeface="Cambria Math" panose="02040503050406030204" pitchFamily="18" charset="0"/>
                            </a:rPr>
                            <m:t>0</m:t>
                          </m:r>
                        </m:sub>
                        <m:sup>
                          <m:r>
                            <a:rPr lang="en-US" sz="2000" i="1" dirty="0">
                              <a:solidFill>
                                <a:schemeClr val="tx1">
                                  <a:lumMod val="85000"/>
                                  <a:lumOff val="15000"/>
                                </a:schemeClr>
                              </a:solidFill>
                              <a:latin typeface="Cambria Math" panose="02040503050406030204" pitchFamily="18" charset="0"/>
                            </a:rPr>
                            <m:t>2</m:t>
                          </m:r>
                        </m:sup>
                      </m:sSubSup>
                      <m:nary>
                        <m:naryPr>
                          <m:subHide m:val="on"/>
                          <m:supHide m:val="on"/>
                          <m:ctrlPr>
                            <a:rPr lang="en-US" sz="2000" i="1" dirty="0">
                              <a:solidFill>
                                <a:schemeClr val="tx1">
                                  <a:lumMod val="85000"/>
                                  <a:lumOff val="15000"/>
                                </a:schemeClr>
                              </a:solidFill>
                              <a:latin typeface="Cambria Math" charset="0"/>
                            </a:rPr>
                          </m:ctrlPr>
                        </m:naryPr>
                        <m:sub/>
                        <m:sup/>
                        <m:e>
                          <m:f>
                            <m:fPr>
                              <m:ctrlPr>
                                <a:rPr lang="en-US" sz="2000" i="1" dirty="0">
                                  <a:solidFill>
                                    <a:schemeClr val="tx1">
                                      <a:lumMod val="85000"/>
                                      <a:lumOff val="15000"/>
                                    </a:schemeClr>
                                  </a:solidFill>
                                  <a:latin typeface="Cambria Math" charset="0"/>
                                </a:rPr>
                              </m:ctrlPr>
                            </m:fPr>
                            <m:num>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𝑑</m:t>
                                  </m:r>
                                </m:e>
                                <m:sup>
                                  <m:r>
                                    <a:rPr lang="en-US" sz="2000" b="0" i="1" dirty="0" smtClean="0">
                                      <a:solidFill>
                                        <a:schemeClr val="tx1">
                                          <a:lumMod val="85000"/>
                                          <a:lumOff val="15000"/>
                                        </a:schemeClr>
                                      </a:solidFill>
                                      <a:latin typeface="Cambria Math" charset="0"/>
                                    </a:rPr>
                                    <m:t>𝑑</m:t>
                                  </m:r>
                                </m:sup>
                              </m:sSup>
                              <m:r>
                                <a:rPr lang="en-US" sz="2000" i="1" dirty="0">
                                  <a:solidFill>
                                    <a:schemeClr val="tx1">
                                      <a:lumMod val="85000"/>
                                      <a:lumOff val="15000"/>
                                    </a:schemeClr>
                                  </a:solidFill>
                                  <a:latin typeface="Cambria Math" panose="02040503050406030204" pitchFamily="18" charset="0"/>
                                </a:rPr>
                                <m:t>𝑞</m:t>
                              </m:r>
                            </m:num>
                            <m:den>
                              <m:sSup>
                                <m:sSupPr>
                                  <m:ctrlPr>
                                    <a:rPr lang="en-US" sz="2000" i="1" dirty="0">
                                      <a:solidFill>
                                        <a:schemeClr val="tx1">
                                          <a:lumMod val="85000"/>
                                          <a:lumOff val="15000"/>
                                        </a:schemeClr>
                                      </a:solidFill>
                                      <a:latin typeface="Cambria Math" charset="0"/>
                                    </a:rPr>
                                  </m:ctrlPr>
                                </m:sSupPr>
                                <m:e>
                                  <m:d>
                                    <m:dPr>
                                      <m:ctrlPr>
                                        <a:rPr lang="en-US" sz="2000" i="1" dirty="0">
                                          <a:solidFill>
                                            <a:schemeClr val="tx1">
                                              <a:lumMod val="85000"/>
                                              <a:lumOff val="15000"/>
                                            </a:schemeClr>
                                          </a:solidFill>
                                          <a:latin typeface="Cambria Math" charset="0"/>
                                        </a:rPr>
                                      </m:ctrlPr>
                                    </m:dPr>
                                    <m:e>
                                      <m:r>
                                        <a:rPr lang="en-US" sz="2000" i="1" dirty="0">
                                          <a:solidFill>
                                            <a:schemeClr val="tx1">
                                              <a:lumMod val="85000"/>
                                              <a:lumOff val="15000"/>
                                            </a:schemeClr>
                                          </a:solidFill>
                                          <a:latin typeface="Cambria Math" panose="02040503050406030204" pitchFamily="18" charset="0"/>
                                        </a:rPr>
                                        <m:t>2</m:t>
                                      </m:r>
                                      <m:r>
                                        <a:rPr lang="en-US" sz="2000" i="1" dirty="0">
                                          <a:solidFill>
                                            <a:schemeClr val="tx1">
                                              <a:lumMod val="85000"/>
                                              <a:lumOff val="15000"/>
                                            </a:schemeClr>
                                          </a:solidFill>
                                          <a:latin typeface="Cambria Math" panose="02040503050406030204" pitchFamily="18" charset="0"/>
                                        </a:rPr>
                                        <m:t>𝜋</m:t>
                                      </m:r>
                                    </m:e>
                                  </m:d>
                                </m:e>
                                <m:sup>
                                  <m:r>
                                    <a:rPr lang="en-US" sz="2000" i="1" dirty="0">
                                      <a:solidFill>
                                        <a:schemeClr val="tx1">
                                          <a:lumMod val="85000"/>
                                          <a:lumOff val="15000"/>
                                        </a:schemeClr>
                                      </a:solidFill>
                                      <a:latin typeface="Cambria Math" panose="02040503050406030204" pitchFamily="18" charset="0"/>
                                    </a:rPr>
                                    <m:t>𝑑</m:t>
                                  </m:r>
                                </m:sup>
                              </m:sSup>
                            </m:den>
                          </m:f>
                          <m:sSubSup>
                            <m:sSubSupPr>
                              <m:ctrlPr>
                                <a:rPr lang="en-US" sz="2000" i="1" dirty="0">
                                  <a:solidFill>
                                    <a:schemeClr val="tx1">
                                      <a:lumMod val="85000"/>
                                      <a:lumOff val="15000"/>
                                    </a:schemeClr>
                                  </a:solidFill>
                                  <a:latin typeface="Cambria Math" charset="0"/>
                                </a:rPr>
                              </m:ctrlPr>
                            </m:sSubSupPr>
                            <m:e>
                              <m:sSup>
                                <m:sSupPr>
                                  <m:ctrlPr>
                                    <a:rPr lang="en-US" sz="2000" i="1" dirty="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panose="02040503050406030204" pitchFamily="18" charset="0"/>
                                    </a:rPr>
                                    <m:t>𝜒</m:t>
                                  </m:r>
                                </m:e>
                                <m:sup>
                                  <m:r>
                                    <a:rPr lang="en-US" sz="2000" i="1" dirty="0">
                                      <a:solidFill>
                                        <a:schemeClr val="tx1">
                                          <a:lumMod val="85000"/>
                                          <a:lumOff val="15000"/>
                                        </a:schemeClr>
                                      </a:solidFill>
                                      <a:latin typeface="Cambria Math" charset="0"/>
                                    </a:rPr>
                                    <m:t>𝑑</m:t>
                                  </m:r>
                                </m:sup>
                              </m:sSup>
                            </m:e>
                            <m:sub>
                              <m:acc>
                                <m:accPr>
                                  <m:chr m:val="⃗"/>
                                  <m:ctrlPr>
                                    <a:rPr lang="en-US" sz="2000" i="1" dirty="0">
                                      <a:solidFill>
                                        <a:schemeClr val="tx1">
                                          <a:lumMod val="85000"/>
                                          <a:lumOff val="15000"/>
                                        </a:schemeClr>
                                      </a:solidFill>
                                      <a:latin typeface="Cambria Math" charset="0"/>
                                    </a:rPr>
                                  </m:ctrlPr>
                                </m:accPr>
                                <m:e>
                                  <m:r>
                                    <a:rPr lang="en-US" sz="2000" i="1" dirty="0">
                                      <a:solidFill>
                                        <a:schemeClr val="tx1">
                                          <a:lumMod val="85000"/>
                                          <a:lumOff val="15000"/>
                                        </a:schemeClr>
                                      </a:solidFill>
                                      <a:latin typeface="Cambria Math" panose="02040503050406030204" pitchFamily="18" charset="0"/>
                                    </a:rPr>
                                    <m:t>𝑞</m:t>
                                  </m:r>
                                </m:e>
                              </m:acc>
                            </m:sub>
                            <m:sup>
                              <m:r>
                                <a:rPr lang="en-US" sz="2000" i="1" dirty="0">
                                  <a:solidFill>
                                    <a:schemeClr val="tx1">
                                      <a:lumMod val="85000"/>
                                      <a:lumOff val="15000"/>
                                    </a:schemeClr>
                                  </a:solidFill>
                                  <a:latin typeface="Cambria Math" panose="02040503050406030204" pitchFamily="18" charset="0"/>
                                </a:rPr>
                                <m:t>2</m:t>
                              </m:r>
                            </m:sup>
                          </m:sSubSup>
                        </m:e>
                      </m:nary>
                      <m:r>
                        <a:rPr lang="en-US" sz="2000" i="1" dirty="0">
                          <a:solidFill>
                            <a:schemeClr val="tx1">
                              <a:lumMod val="85000"/>
                              <a:lumOff val="15000"/>
                            </a:schemeClr>
                          </a:solidFill>
                          <a:latin typeface="Cambria Math" panose="02040503050406030204" pitchFamily="18" charset="0"/>
                        </a:rPr>
                        <m:t>∼</m:t>
                      </m:r>
                      <m:f>
                        <m:fPr>
                          <m:ctrlPr>
                            <a:rPr lang="en-US" sz="2000" b="0" i="1" dirty="0" smtClean="0">
                              <a:solidFill>
                                <a:schemeClr val="tx1">
                                  <a:lumMod val="85000"/>
                                  <a:lumOff val="15000"/>
                                </a:schemeClr>
                              </a:solidFill>
                              <a:latin typeface="Cambria Math" charset="0"/>
                            </a:rPr>
                          </m:ctrlPr>
                        </m:fPr>
                        <m:num>
                          <m:sSubSup>
                            <m:sSubSupPr>
                              <m:ctrlPr>
                                <a:rPr lang="en-US" sz="2000" b="0" i="1" dirty="0" smtClean="0">
                                  <a:solidFill>
                                    <a:schemeClr val="tx1">
                                      <a:lumMod val="85000"/>
                                      <a:lumOff val="15000"/>
                                    </a:schemeClr>
                                  </a:solidFill>
                                  <a:latin typeface="Cambria Math" charset="0"/>
                                </a:rPr>
                              </m:ctrlPr>
                            </m:sSubSupPr>
                            <m:e>
                              <m:r>
                                <a:rPr lang="en-US" sz="2000" b="0" i="1" dirty="0" smtClean="0">
                                  <a:solidFill>
                                    <a:schemeClr val="tx1">
                                      <a:lumMod val="85000"/>
                                      <a:lumOff val="15000"/>
                                    </a:schemeClr>
                                  </a:solidFill>
                                  <a:latin typeface="Cambria Math" charset="0"/>
                                </a:rPr>
                                <m:t>𝑑</m:t>
                              </m:r>
                            </m:e>
                            <m:sub>
                              <m:r>
                                <a:rPr lang="en-US" sz="2000" b="0" i="1" dirty="0" smtClean="0">
                                  <a:solidFill>
                                    <a:schemeClr val="tx1">
                                      <a:lumMod val="85000"/>
                                      <a:lumOff val="15000"/>
                                    </a:schemeClr>
                                  </a:solidFill>
                                  <a:latin typeface="Cambria Math" charset="0"/>
                                </a:rPr>
                                <m:t>0</m:t>
                              </m:r>
                            </m:sub>
                            <m:sup>
                              <m:r>
                                <a:rPr lang="en-US" sz="2000" b="0" i="1" dirty="0" smtClean="0">
                                  <a:solidFill>
                                    <a:schemeClr val="tx1">
                                      <a:lumMod val="85000"/>
                                      <a:lumOff val="15000"/>
                                    </a:schemeClr>
                                  </a:solidFill>
                                  <a:latin typeface="Cambria Math" charset="0"/>
                                </a:rPr>
                                <m:t>2</m:t>
                              </m:r>
                            </m:sup>
                          </m:sSubSup>
                        </m:num>
                        <m:den>
                          <m:sSub>
                            <m:sSubPr>
                              <m:ctrlPr>
                                <a:rPr lang="en-US" sz="2000" b="0" i="1" dirty="0" smtClean="0">
                                  <a:solidFill>
                                    <a:schemeClr val="tx1">
                                      <a:lumMod val="85000"/>
                                      <a:lumOff val="15000"/>
                                    </a:schemeClr>
                                  </a:solidFill>
                                  <a:latin typeface="Cambria Math" charset="0"/>
                                </a:rPr>
                              </m:ctrlPr>
                            </m:sSubPr>
                            <m:e>
                              <m:r>
                                <a:rPr lang="en-US" sz="2000" b="0" i="1" dirty="0" smtClean="0">
                                  <a:solidFill>
                                    <a:schemeClr val="tx1">
                                      <a:lumMod val="85000"/>
                                      <a:lumOff val="15000"/>
                                    </a:schemeClr>
                                  </a:solidFill>
                                  <a:latin typeface="Cambria Math" charset="0"/>
                                </a:rPr>
                                <m:t>𝐽</m:t>
                              </m:r>
                            </m:e>
                            <m:sub>
                              <m:r>
                                <a:rPr lang="en-US" sz="2000" b="0" i="1" dirty="0" smtClean="0">
                                  <a:solidFill>
                                    <a:schemeClr val="tx1">
                                      <a:lumMod val="85000"/>
                                      <a:lumOff val="15000"/>
                                    </a:schemeClr>
                                  </a:solidFill>
                                  <a:latin typeface="Cambria Math" charset="0"/>
                                </a:rPr>
                                <m:t>⊥</m:t>
                              </m:r>
                            </m:sub>
                          </m:sSub>
                          <m:r>
                            <a:rPr lang="en-US" sz="2000" b="0" i="1" dirty="0" smtClean="0">
                              <a:solidFill>
                                <a:schemeClr val="tx1">
                                  <a:lumMod val="85000"/>
                                  <a:lumOff val="15000"/>
                                </a:schemeClr>
                              </a:solidFill>
                              <a:latin typeface="Cambria Math" charset="0"/>
                            </a:rPr>
                            <m:t>/</m:t>
                          </m:r>
                          <m:r>
                            <a:rPr lang="en-US" sz="2000" b="0" i="1" dirty="0" smtClean="0">
                              <a:solidFill>
                                <a:schemeClr val="tx1">
                                  <a:lumMod val="85000"/>
                                  <a:lumOff val="15000"/>
                                </a:schemeClr>
                              </a:solidFill>
                              <a:latin typeface="Cambria Math" charset="0"/>
                            </a:rPr>
                            <m:t>𝐽</m:t>
                          </m:r>
                        </m:den>
                      </m:f>
                      <m:r>
                        <a:rPr lang="en-US" sz="2000" i="1" dirty="0">
                          <a:solidFill>
                            <a:schemeClr val="tx1">
                              <a:lumMod val="85000"/>
                              <a:lumOff val="15000"/>
                            </a:schemeClr>
                          </a:solidFill>
                          <a:latin typeface="Cambria Math" panose="02040503050406030204" pitchFamily="18" charset="0"/>
                        </a:rPr>
                        <m:t>∫</m:t>
                      </m:r>
                      <m:sSup>
                        <m:sSupPr>
                          <m:ctrlPr>
                            <a:rPr lang="en-US" sz="2000" b="0" i="1" dirty="0" smtClean="0">
                              <a:solidFill>
                                <a:schemeClr val="tx1">
                                  <a:lumMod val="85000"/>
                                  <a:lumOff val="15000"/>
                                </a:schemeClr>
                              </a:solidFill>
                              <a:latin typeface="Cambria Math" charset="0"/>
                            </a:rPr>
                          </m:ctrlPr>
                        </m:sSupPr>
                        <m:e>
                          <m:r>
                            <a:rPr lang="en-US" sz="2000" i="1" dirty="0">
                              <a:solidFill>
                                <a:schemeClr val="tx1">
                                  <a:lumMod val="85000"/>
                                  <a:lumOff val="15000"/>
                                </a:schemeClr>
                              </a:solidFill>
                              <a:latin typeface="Cambria Math" charset="0"/>
                            </a:rPr>
                            <m:t>𝑑</m:t>
                          </m:r>
                        </m:e>
                        <m:sup>
                          <m:r>
                            <a:rPr lang="en-US" sz="2000" b="0" i="1" dirty="0" smtClean="0">
                              <a:solidFill>
                                <a:schemeClr val="tx1">
                                  <a:lumMod val="85000"/>
                                  <a:lumOff val="15000"/>
                                </a:schemeClr>
                              </a:solidFill>
                              <a:latin typeface="Cambria Math" charset="0"/>
                            </a:rPr>
                            <m:t>𝑑</m:t>
                          </m:r>
                          <m:r>
                            <a:rPr lang="en-US" sz="2000" b="0" i="1" dirty="0" smtClean="0">
                              <a:solidFill>
                                <a:schemeClr val="tx1">
                                  <a:lumMod val="85000"/>
                                  <a:lumOff val="15000"/>
                                </a:schemeClr>
                              </a:solidFill>
                              <a:latin typeface="Cambria Math" charset="0"/>
                            </a:rPr>
                            <m:t>−1</m:t>
                          </m:r>
                        </m:sup>
                      </m:sSup>
                      <m:r>
                        <a:rPr lang="en-US" sz="2000" i="1" dirty="0">
                          <a:solidFill>
                            <a:schemeClr val="tx1">
                              <a:lumMod val="85000"/>
                              <a:lumOff val="15000"/>
                            </a:schemeClr>
                          </a:solidFill>
                          <a:latin typeface="Cambria Math" panose="02040503050406030204" pitchFamily="18" charset="0"/>
                        </a:rPr>
                        <m:t>𝑞</m:t>
                      </m:r>
                      <m:f>
                        <m:fPr>
                          <m:ctrlPr>
                            <a:rPr lang="en-US" sz="2000" b="0" i="1" dirty="0" smtClean="0">
                              <a:solidFill>
                                <a:schemeClr val="tx1">
                                  <a:lumMod val="85000"/>
                                  <a:lumOff val="15000"/>
                                </a:schemeClr>
                              </a:solidFill>
                              <a:latin typeface="Cambria Math" charset="0"/>
                            </a:rPr>
                          </m:ctrlPr>
                        </m:fPr>
                        <m:num>
                          <m:r>
                            <a:rPr lang="en-US" sz="2000" b="0" i="1" dirty="0" smtClean="0">
                              <a:solidFill>
                                <a:schemeClr val="tx1">
                                  <a:lumMod val="85000"/>
                                  <a:lumOff val="15000"/>
                                </a:schemeClr>
                              </a:solidFill>
                              <a:latin typeface="Cambria Math" charset="0"/>
                            </a:rPr>
                            <m:t>1</m:t>
                          </m:r>
                        </m:num>
                        <m:den>
                          <m:r>
                            <a:rPr lang="en-US" sz="2000" b="0" i="1" dirty="0" smtClean="0">
                              <a:solidFill>
                                <a:schemeClr val="tx1">
                                  <a:lumMod val="85000"/>
                                  <a:lumOff val="15000"/>
                                </a:schemeClr>
                              </a:solidFill>
                              <a:latin typeface="Cambria Math" charset="0"/>
                            </a:rPr>
                            <m:t>𝑞</m:t>
                          </m:r>
                        </m:den>
                      </m:f>
                    </m:oMath>
                  </m:oMathPara>
                </a14:m>
                <a:endParaRPr lang="en-US" sz="2000" dirty="0" smtClean="0">
                  <a:solidFill>
                    <a:schemeClr val="tx1">
                      <a:lumMod val="85000"/>
                      <a:lumOff val="15000"/>
                    </a:schemeClr>
                  </a:solidFill>
                </a:endParaRPr>
              </a:p>
              <a:p>
                <a:pPr>
                  <a:lnSpc>
                    <a:spcPct val="100000"/>
                  </a:lnSpc>
                  <a:buFont typeface="Wingdings" panose="05000000000000000000" pitchFamily="2" charset="2"/>
                  <a:buChar char="§"/>
                </a:pPr>
                <a:endParaRPr lang="en-US" sz="2000" dirty="0" smtClean="0">
                  <a:solidFill>
                    <a:schemeClr val="tx1">
                      <a:lumMod val="85000"/>
                      <a:lumOff val="15000"/>
                    </a:schemeClr>
                  </a:solidFill>
                </a:endParaRPr>
              </a:p>
              <a:p>
                <a:pPr>
                  <a:lnSpc>
                    <a:spcPct val="100000"/>
                  </a:lnSpc>
                  <a:buFont typeface="Wingdings" panose="05000000000000000000" pitchFamily="2" charset="2"/>
                  <a:buChar char="§"/>
                </a:pPr>
                <a:r>
                  <a:rPr lang="en-US" sz="2000" dirty="0" smtClean="0">
                    <a:solidFill>
                      <a:schemeClr val="tx1">
                        <a:lumMod val="85000"/>
                        <a:lumOff val="15000"/>
                      </a:schemeClr>
                    </a:solidFill>
                  </a:rPr>
                  <a:t>The stability criterion, therefore is given by</a:t>
                </a:r>
              </a:p>
              <a:p>
                <a:pPr marL="0" indent="0">
                  <a:lnSpc>
                    <a:spcPct val="100000"/>
                  </a:lnSpc>
                  <a:buNone/>
                </a:pPr>
                <a:endParaRPr lang="en-US" sz="2000" i="1" dirty="0" smtClean="0">
                  <a:solidFill>
                    <a:schemeClr val="tx1">
                      <a:lumMod val="85000"/>
                      <a:lumOff val="15000"/>
                    </a:schemeClr>
                  </a:solidFill>
                  <a:latin typeface="Cambria Math" charset="0"/>
                  <a:ea typeface="Cambria Math" charset="0"/>
                  <a:cs typeface="Cambria Math" charset="0"/>
                </a:endParaRP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sz="2000" b="0" i="1" dirty="0" smtClean="0">
                              <a:solidFill>
                                <a:schemeClr val="accent2">
                                  <a:lumMod val="50000"/>
                                </a:schemeClr>
                              </a:solidFill>
                              <a:latin typeface="Cambria Math" charset="0"/>
                              <a:ea typeface="Cambria Math" charset="0"/>
                              <a:cs typeface="Cambria Math" charset="0"/>
                            </a:rPr>
                          </m:ctrlPr>
                        </m:sSubSupPr>
                        <m:e>
                          <m:r>
                            <a:rPr lang="en-US" sz="2000" b="0" i="1" dirty="0" smtClean="0">
                              <a:solidFill>
                                <a:schemeClr val="accent2">
                                  <a:lumMod val="50000"/>
                                </a:schemeClr>
                              </a:solidFill>
                              <a:latin typeface="Cambria Math" charset="0"/>
                              <a:ea typeface="Cambria Math" charset="0"/>
                              <a:cs typeface="Cambria Math" charset="0"/>
                            </a:rPr>
                            <m:t>𝑑</m:t>
                          </m:r>
                        </m:e>
                        <m:sub>
                          <m:r>
                            <a:rPr lang="en-US" sz="2000" b="0" i="1" dirty="0" smtClean="0">
                              <a:solidFill>
                                <a:schemeClr val="accent2">
                                  <a:lumMod val="50000"/>
                                </a:schemeClr>
                              </a:solidFill>
                              <a:latin typeface="Cambria Math" charset="0"/>
                              <a:ea typeface="Cambria Math" charset="0"/>
                              <a:cs typeface="Cambria Math" charset="0"/>
                            </a:rPr>
                            <m:t>0</m:t>
                          </m:r>
                        </m:sub>
                        <m:sup>
                          <m:r>
                            <a:rPr lang="en-US" sz="2000" b="0" i="1" dirty="0" smtClean="0">
                              <a:solidFill>
                                <a:schemeClr val="accent2">
                                  <a:lumMod val="50000"/>
                                </a:schemeClr>
                              </a:solidFill>
                              <a:latin typeface="Cambria Math" charset="0"/>
                              <a:ea typeface="Cambria Math" charset="0"/>
                              <a:cs typeface="Cambria Math" charset="0"/>
                            </a:rPr>
                            <m:t>2</m:t>
                          </m:r>
                        </m:sup>
                      </m:sSubSup>
                      <m:r>
                        <a:rPr lang="en-US" sz="2000" i="1">
                          <a:solidFill>
                            <a:schemeClr val="accent2">
                              <a:lumMod val="50000"/>
                            </a:schemeClr>
                          </a:solidFill>
                          <a:latin typeface="Cambria Math" charset="0"/>
                        </a:rPr>
                        <m:t>≪</m:t>
                      </m:r>
                      <m:f>
                        <m:fPr>
                          <m:ctrlPr>
                            <a:rPr lang="en-US" sz="2000" b="0" i="1" smtClean="0">
                              <a:solidFill>
                                <a:schemeClr val="accent2">
                                  <a:lumMod val="50000"/>
                                </a:schemeClr>
                              </a:solidFill>
                              <a:latin typeface="Cambria Math" charset="0"/>
                            </a:rPr>
                          </m:ctrlPr>
                        </m:fPr>
                        <m:num>
                          <m:sSub>
                            <m:sSubPr>
                              <m:ctrlPr>
                                <a:rPr lang="en-US" sz="2000" b="0" i="1" smtClean="0">
                                  <a:solidFill>
                                    <a:schemeClr val="accent2">
                                      <a:lumMod val="50000"/>
                                    </a:schemeClr>
                                  </a:solidFill>
                                  <a:latin typeface="Cambria Math" charset="0"/>
                                </a:rPr>
                              </m:ctrlPr>
                            </m:sSubPr>
                            <m:e>
                              <m:r>
                                <a:rPr lang="en-US" sz="2000" b="0" i="1" smtClean="0">
                                  <a:solidFill>
                                    <a:schemeClr val="accent2">
                                      <a:lumMod val="50000"/>
                                    </a:schemeClr>
                                  </a:solidFill>
                                  <a:latin typeface="Cambria Math" charset="0"/>
                                </a:rPr>
                                <m:t>𝐽</m:t>
                              </m:r>
                            </m:e>
                            <m:sub>
                              <m:r>
                                <a:rPr lang="en-US" sz="2000" b="0" i="1" smtClean="0">
                                  <a:solidFill>
                                    <a:schemeClr val="accent2">
                                      <a:lumMod val="50000"/>
                                    </a:schemeClr>
                                  </a:solidFill>
                                  <a:latin typeface="Cambria Math" charset="0"/>
                                </a:rPr>
                                <m:t>⊥</m:t>
                              </m:r>
                            </m:sub>
                          </m:sSub>
                        </m:num>
                        <m:den>
                          <m:r>
                            <a:rPr lang="en-US" sz="2000" b="0" i="1" smtClean="0">
                              <a:solidFill>
                                <a:schemeClr val="accent2">
                                  <a:lumMod val="50000"/>
                                </a:schemeClr>
                              </a:solidFill>
                              <a:latin typeface="Cambria Math" charset="0"/>
                            </a:rPr>
                            <m:t>𝐽</m:t>
                          </m:r>
                        </m:den>
                      </m:f>
                    </m:oMath>
                  </m:oMathPara>
                </a14:m>
                <a:endParaRPr lang="en-US" sz="2000" dirty="0">
                  <a:solidFill>
                    <a:schemeClr val="accent2">
                      <a:lumMod val="50000"/>
                    </a:schemeClr>
                  </a:solidFill>
                </a:endParaRPr>
              </a:p>
              <a:p>
                <a:pPr>
                  <a:lnSpc>
                    <a:spcPct val="150000"/>
                  </a:lnSpc>
                  <a:buFont typeface="Wingdings" panose="05000000000000000000" pitchFamily="2" charset="2"/>
                  <a:buChar char="§"/>
                </a:pPr>
                <a:endParaRPr lang="en-US" sz="2000" dirty="0" smtClean="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522" t="-66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Layered quasi-2D system</a:t>
            </a:r>
            <a:endParaRPr lang="en-US" sz="3200" dirty="0">
              <a:solidFill>
                <a:schemeClr val="tx1">
                  <a:lumMod val="65000"/>
                  <a:lumOff val="35000"/>
                </a:schemeClr>
              </a:solidFill>
              <a:latin typeface="+mj-lt"/>
            </a:endParaRPr>
          </a:p>
        </p:txBody>
      </p:sp>
      <p:sp>
        <p:nvSpPr>
          <p:cNvPr id="8"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Beyond 2D</a:t>
            </a:r>
            <a:endParaRPr lang="x-none" sz="3600" dirty="0"/>
          </a:p>
        </p:txBody>
      </p:sp>
      <p:cxnSp>
        <p:nvCxnSpPr>
          <p:cNvPr id="9" name="Straight Connector 8">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xmlns="" id="{D7BCC96B-FD2A-4B72-9856-1CFE89872D2C}"/>
              </a:ext>
            </a:extLst>
          </p:cNvPr>
          <p:cNvSpPr/>
          <p:nvPr/>
        </p:nvSpPr>
        <p:spPr>
          <a:xfrm>
            <a:off x="5477671" y="5533671"/>
            <a:ext cx="1213062" cy="733313"/>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chemeClr val="tx1">
                  <a:lumMod val="85000"/>
                  <a:lumOff val="15000"/>
                </a:schemeClr>
              </a:solidFill>
            </a:endParaRPr>
          </a:p>
        </p:txBody>
      </p:sp>
    </p:spTree>
    <p:extLst>
      <p:ext uri="{BB962C8B-B14F-4D97-AF65-F5344CB8AC3E}">
        <p14:creationId xmlns:p14="http://schemas.microsoft.com/office/powerpoint/2010/main" val="2067985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841598"/>
            <a:ext cx="9144000" cy="2268414"/>
          </a:xfrm>
        </p:spPr>
        <p:txBody>
          <a:bodyPr>
            <a:normAutofit/>
          </a:bodyPr>
          <a:lstStyle/>
          <a:p>
            <a:pPr algn="l"/>
            <a:r>
              <a:rPr lang="en-US" sz="4000" dirty="0">
                <a:solidFill>
                  <a:schemeClr val="accent2">
                    <a:lumMod val="50000"/>
                  </a:schemeClr>
                </a:solidFill>
              </a:rPr>
              <a:t>An example</a:t>
            </a:r>
            <a:endParaRPr lang="x-none" sz="4000"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2" y="3813052"/>
            <a:ext cx="9350257" cy="909945"/>
          </a:xfrm>
        </p:spPr>
        <p:txBody>
          <a:bodyPr>
            <a:noAutofit/>
          </a:bodyPr>
          <a:lstStyle/>
          <a:p>
            <a:pPr algn="l">
              <a:lnSpc>
                <a:spcPct val="100000"/>
              </a:lnSpc>
            </a:pPr>
            <a:r>
              <a:rPr lang="en-US" dirty="0" err="1" smtClean="0">
                <a:solidFill>
                  <a:schemeClr val="tx1">
                    <a:lumMod val="65000"/>
                    <a:lumOff val="35000"/>
                  </a:schemeClr>
                </a:solidFill>
              </a:rPr>
              <a:t>Microscopics</a:t>
            </a:r>
            <a:r>
              <a:rPr lang="en-US" dirty="0" smtClean="0">
                <a:solidFill>
                  <a:schemeClr val="tx1">
                    <a:lumMod val="65000"/>
                    <a:lumOff val="35000"/>
                  </a:schemeClr>
                </a:solidFill>
              </a:rPr>
              <a:t> and experiments on </a:t>
            </a:r>
            <a:r>
              <a:rPr lang="en-US" dirty="0">
                <a:solidFill>
                  <a:schemeClr val="tx1">
                    <a:lumMod val="65000"/>
                    <a:lumOff val="35000"/>
                  </a:schemeClr>
                </a:solidFill>
              </a:rPr>
              <a:t>disordered triangular lattice antiferromagnet</a:t>
            </a:r>
          </a:p>
        </p:txBody>
      </p:sp>
      <p:cxnSp>
        <p:nvCxnSpPr>
          <p:cNvPr id="7" name="Straight Connector 6">
            <a:extLst>
              <a:ext uri="{FF2B5EF4-FFF2-40B4-BE49-F238E27FC236}">
                <a16:creationId xmlns:a16="http://schemas.microsoft.com/office/drawing/2014/main" xmlns="" id="{F645B3AE-7BD3-414D-8C84-8BAC6069E752}"/>
              </a:ext>
            </a:extLst>
          </p:cNvPr>
          <p:cNvCxnSpPr>
            <a:cxnSpLocks/>
          </p:cNvCxnSpPr>
          <p:nvPr/>
        </p:nvCxnSpPr>
        <p:spPr>
          <a:xfrm>
            <a:off x="1635368" y="3405431"/>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277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000" dirty="0" smtClean="0">
                    <a:solidFill>
                      <a:schemeClr val="tx1">
                        <a:lumMod val="85000"/>
                        <a:lumOff val="15000"/>
                      </a:schemeClr>
                    </a:solidFill>
                  </a:rPr>
                  <a:t>Disordered </a:t>
                </a:r>
                <a14:m>
                  <m:oMath xmlns:m="http://schemas.openxmlformats.org/officeDocument/2006/math">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𝐽</m:t>
                        </m:r>
                      </m:e>
                      <m:sub>
                        <m:r>
                          <a:rPr lang="en-US" sz="2000" b="0" i="1" smtClean="0">
                            <a:solidFill>
                              <a:schemeClr val="tx1">
                                <a:lumMod val="85000"/>
                                <a:lumOff val="15000"/>
                              </a:schemeClr>
                            </a:solidFill>
                            <a:latin typeface="Cambria Math" charset="0"/>
                          </a:rPr>
                          <m:t>1</m:t>
                        </m:r>
                      </m:sub>
                    </m:sSub>
                    <m:r>
                      <a:rPr lang="en-US" sz="2000" b="0" i="1" smtClean="0">
                        <a:solidFill>
                          <a:schemeClr val="tx1">
                            <a:lumMod val="85000"/>
                            <a:lumOff val="15000"/>
                          </a:schemeClr>
                        </a:solidFill>
                        <a:latin typeface="Cambria Math" charset="0"/>
                      </a:rPr>
                      <m:t>−</m:t>
                    </m:r>
                    <m:sSub>
                      <m:sSubPr>
                        <m:ctrlPr>
                          <a:rPr lang="en-US" sz="2000" b="0" i="1" smtClean="0">
                            <a:solidFill>
                              <a:schemeClr val="tx1">
                                <a:lumMod val="85000"/>
                                <a:lumOff val="15000"/>
                              </a:schemeClr>
                            </a:solidFill>
                            <a:latin typeface="Cambria Math" charset="0"/>
                          </a:rPr>
                        </m:ctrlPr>
                      </m:sSubPr>
                      <m:e>
                        <m:r>
                          <a:rPr lang="en-US" sz="2000" b="0" i="1" smtClean="0">
                            <a:solidFill>
                              <a:schemeClr val="tx1">
                                <a:lumMod val="85000"/>
                                <a:lumOff val="15000"/>
                              </a:schemeClr>
                            </a:solidFill>
                            <a:latin typeface="Cambria Math" charset="0"/>
                          </a:rPr>
                          <m:t>𝐽</m:t>
                        </m:r>
                      </m:e>
                      <m:sub>
                        <m:r>
                          <a:rPr lang="en-US" sz="2000" b="0" i="1" smtClean="0">
                            <a:solidFill>
                              <a:schemeClr val="tx1">
                                <a:lumMod val="85000"/>
                                <a:lumOff val="15000"/>
                              </a:schemeClr>
                            </a:solidFill>
                            <a:latin typeface="Cambria Math" charset="0"/>
                          </a:rPr>
                          <m:t>2</m:t>
                        </m:r>
                      </m:sub>
                    </m:sSub>
                  </m:oMath>
                </a14:m>
                <a:r>
                  <a:rPr lang="en-US" sz="2000" dirty="0" smtClean="0">
                    <a:solidFill>
                      <a:schemeClr val="tx1">
                        <a:lumMod val="85000"/>
                        <a:lumOff val="15000"/>
                      </a:schemeClr>
                    </a:solidFill>
                  </a:rPr>
                  <a:t> Heisenberg model </a:t>
                </a:r>
              </a:p>
              <a:p>
                <a:pPr marL="0" lvl="0" indent="0">
                  <a:lnSpc>
                    <a:spcPct val="110000"/>
                  </a:lnSpc>
                  <a:spcBef>
                    <a:spcPts val="0"/>
                  </a:spcBef>
                  <a:buNone/>
                  <a:defRPr/>
                </a:pPr>
                <a14:m>
                  <m:oMathPara xmlns:m="http://schemas.openxmlformats.org/officeDocument/2006/math">
                    <m:oMathParaPr>
                      <m:jc m:val="centerGroup"/>
                    </m:oMathParaPr>
                    <m:oMath xmlns:m="http://schemas.openxmlformats.org/officeDocument/2006/math">
                      <m:r>
                        <a:rPr lang="en-US" sz="2000" b="0" i="1" smtClean="0">
                          <a:solidFill>
                            <a:schemeClr val="tx1">
                              <a:lumMod val="85000"/>
                              <a:lumOff val="15000"/>
                            </a:schemeClr>
                          </a:solidFill>
                          <a:latin typeface="Cambria Math" charset="0"/>
                        </a:rPr>
                        <m:t>𝐻</m:t>
                      </m:r>
                      <m:r>
                        <a:rPr lang="en-US" sz="2000" b="0" i="1" smtClean="0">
                          <a:solidFill>
                            <a:schemeClr val="tx1">
                              <a:lumMod val="85000"/>
                              <a:lumOff val="15000"/>
                            </a:schemeClr>
                          </a:solidFill>
                          <a:latin typeface="Cambria Math" charset="0"/>
                        </a:rPr>
                        <m:t>=</m:t>
                      </m:r>
                      <m:nary>
                        <m:naryPr>
                          <m:chr m:val="∑"/>
                          <m:supHide m:val="on"/>
                          <m:ctrlPr>
                            <a:rPr lang="en-US" sz="2000" b="0" i="1" smtClean="0">
                              <a:solidFill>
                                <a:schemeClr val="tx1">
                                  <a:lumMod val="85000"/>
                                  <a:lumOff val="15000"/>
                                </a:schemeClr>
                              </a:solidFill>
                              <a:latin typeface="Cambria Math" charset="0"/>
                            </a:rPr>
                          </m:ctrlPr>
                        </m:naryPr>
                        <m:sub>
                          <m:d>
                            <m:dPr>
                              <m:begChr m:val="〈"/>
                              <m:endChr m:val="〉"/>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𝑖</m:t>
                              </m:r>
                              <m:r>
                                <a:rPr lang="en-US" sz="2000" b="0" i="1" smtClean="0">
                                  <a:solidFill>
                                    <a:schemeClr val="tx1">
                                      <a:lumMod val="85000"/>
                                      <a:lumOff val="15000"/>
                                    </a:schemeClr>
                                  </a:solidFill>
                                  <a:latin typeface="Cambria Math" charset="0"/>
                                </a:rPr>
                                <m:t>,</m:t>
                              </m:r>
                              <m:r>
                                <a:rPr lang="en-US" sz="2000" b="0" i="1" smtClean="0">
                                  <a:solidFill>
                                    <a:schemeClr val="tx1">
                                      <a:lumMod val="85000"/>
                                      <a:lumOff val="15000"/>
                                    </a:schemeClr>
                                  </a:solidFill>
                                  <a:latin typeface="Cambria Math" charset="0"/>
                                </a:rPr>
                                <m:t>𝑗</m:t>
                              </m:r>
                            </m:e>
                          </m:d>
                        </m:sub>
                        <m:sup/>
                        <m:e>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charset="0"/>
                                </a:rPr>
                                <m:t>𝐽</m:t>
                              </m:r>
                            </m:e>
                            <m:sub>
                              <m:r>
                                <a:rPr lang="en-US" sz="2000" b="0" i="1" smtClean="0">
                                  <a:solidFill>
                                    <a:schemeClr val="tx1">
                                      <a:lumMod val="85000"/>
                                      <a:lumOff val="15000"/>
                                    </a:schemeClr>
                                  </a:solidFill>
                                  <a:latin typeface="Cambria Math" charset="0"/>
                                </a:rPr>
                                <m:t>𝑖𝑗</m:t>
                              </m:r>
                            </m:sub>
                            <m:sup>
                              <m:r>
                                <a:rPr lang="en-US" sz="2000" b="0" i="1" smtClean="0">
                                  <a:solidFill>
                                    <a:schemeClr val="tx1">
                                      <a:lumMod val="85000"/>
                                      <a:lumOff val="15000"/>
                                    </a:schemeClr>
                                  </a:solidFill>
                                  <a:latin typeface="Cambria Math" charset="0"/>
                                </a:rPr>
                                <m:t>(1)</m:t>
                              </m:r>
                            </m:sup>
                          </m:sSubSup>
                        </m:e>
                      </m:nary>
                      <m:sSub>
                        <m:sSubPr>
                          <m:ctrlPr>
                            <a:rPr lang="en-US" sz="2000" b="0" i="1" dirty="0" smtClean="0">
                              <a:solidFill>
                                <a:schemeClr val="tx1">
                                  <a:lumMod val="85000"/>
                                  <a:lumOff val="15000"/>
                                </a:schemeClr>
                              </a:solidFill>
                              <a:latin typeface="Cambria Math" charset="0"/>
                            </a:rPr>
                          </m:ctrlPr>
                        </m:sSubPr>
                        <m:e>
                          <m:acc>
                            <m:accPr>
                              <m:chr m:val="⃗"/>
                              <m:ctrlPr>
                                <a:rPr lang="en-US" sz="2000" b="0" i="1" smtClean="0">
                                  <a:solidFill>
                                    <a:schemeClr val="tx1">
                                      <a:lumMod val="85000"/>
                                      <a:lumOff val="15000"/>
                                    </a:schemeClr>
                                  </a:solidFill>
                                  <a:latin typeface="Cambria Math" charset="0"/>
                                </a:rPr>
                              </m:ctrlPr>
                            </m:accPr>
                            <m:e>
                              <m:r>
                                <a:rPr lang="en-US" sz="2000" b="0" i="1" smtClean="0">
                                  <a:solidFill>
                                    <a:schemeClr val="tx1">
                                      <a:lumMod val="85000"/>
                                      <a:lumOff val="15000"/>
                                    </a:schemeClr>
                                  </a:solidFill>
                                  <a:latin typeface="Cambria Math" charset="0"/>
                                </a:rPr>
                                <m:t>𝑆</m:t>
                              </m:r>
                            </m:e>
                          </m:acc>
                        </m:e>
                        <m:sub>
                          <m:r>
                            <a:rPr lang="en-US" sz="2000" b="0" i="1" dirty="0" smtClean="0">
                              <a:solidFill>
                                <a:schemeClr val="tx1">
                                  <a:lumMod val="85000"/>
                                  <a:lumOff val="15000"/>
                                </a:schemeClr>
                              </a:solidFill>
                              <a:latin typeface="Cambria Math" charset="0"/>
                            </a:rPr>
                            <m:t>𝑖</m:t>
                          </m:r>
                        </m:sub>
                      </m:sSub>
                      <m:r>
                        <a:rPr lang="en-US" sz="2000" b="0" i="1" dirty="0" smtClean="0">
                          <a:solidFill>
                            <a:schemeClr val="tx1">
                              <a:lumMod val="85000"/>
                              <a:lumOff val="15000"/>
                            </a:schemeClr>
                          </a:solidFill>
                          <a:latin typeface="Cambria Math" charset="0"/>
                        </a:rPr>
                        <m:t>.</m:t>
                      </m:r>
                      <m:sSub>
                        <m:sSubPr>
                          <m:ctrlPr>
                            <a:rPr lang="en-US" sz="2000" b="0" i="1" dirty="0" smtClean="0">
                              <a:solidFill>
                                <a:schemeClr val="tx1">
                                  <a:lumMod val="85000"/>
                                  <a:lumOff val="15000"/>
                                </a:schemeClr>
                              </a:solidFill>
                              <a:latin typeface="Cambria Math" charset="0"/>
                            </a:rPr>
                          </m:ctrlPr>
                        </m:sSubPr>
                        <m:e>
                          <m:acc>
                            <m:accPr>
                              <m:chr m:val="⃗"/>
                              <m:ctrlPr>
                                <a:rPr lang="en-US" sz="2000" b="0" i="1" dirty="0" smtClean="0">
                                  <a:solidFill>
                                    <a:schemeClr val="tx1">
                                      <a:lumMod val="85000"/>
                                      <a:lumOff val="15000"/>
                                    </a:schemeClr>
                                  </a:solidFill>
                                  <a:latin typeface="Cambria Math" charset="0"/>
                                </a:rPr>
                              </m:ctrlPr>
                            </m:accPr>
                            <m:e>
                              <m:r>
                                <a:rPr lang="en-US" sz="2000" b="0" i="1" dirty="0" smtClean="0">
                                  <a:solidFill>
                                    <a:schemeClr val="tx1">
                                      <a:lumMod val="85000"/>
                                      <a:lumOff val="15000"/>
                                    </a:schemeClr>
                                  </a:solidFill>
                                  <a:latin typeface="Cambria Math" charset="0"/>
                                </a:rPr>
                                <m:t>𝑆</m:t>
                              </m:r>
                            </m:e>
                          </m:acc>
                        </m:e>
                        <m:sub>
                          <m:r>
                            <a:rPr lang="en-US" sz="2000" b="0" i="1" dirty="0" smtClean="0">
                              <a:solidFill>
                                <a:schemeClr val="tx1">
                                  <a:lumMod val="85000"/>
                                  <a:lumOff val="15000"/>
                                </a:schemeClr>
                              </a:solidFill>
                              <a:latin typeface="Cambria Math" charset="0"/>
                            </a:rPr>
                            <m:t>𝑗</m:t>
                          </m:r>
                        </m:sub>
                      </m:sSub>
                      <m:r>
                        <a:rPr lang="en-US" sz="2000" b="0" i="1" dirty="0" smtClean="0">
                          <a:solidFill>
                            <a:schemeClr val="tx1">
                              <a:lumMod val="85000"/>
                              <a:lumOff val="15000"/>
                            </a:schemeClr>
                          </a:solidFill>
                          <a:latin typeface="Cambria Math" charset="0"/>
                        </a:rPr>
                        <m:t>+</m:t>
                      </m:r>
                      <m:r>
                        <a:rPr lang="en-US" sz="2000" b="0" i="1" dirty="0" smtClean="0">
                          <a:solidFill>
                            <a:schemeClr val="tx1">
                              <a:lumMod val="85000"/>
                              <a:lumOff val="15000"/>
                            </a:schemeClr>
                          </a:solidFill>
                          <a:latin typeface="Cambria Math" charset="0"/>
                        </a:rPr>
                        <m:t>𝛼</m:t>
                      </m:r>
                      <m:nary>
                        <m:naryPr>
                          <m:chr m:val="∑"/>
                          <m:supHide m:val="on"/>
                          <m:ctrlPr>
                            <a:rPr lang="en-US" sz="2000" i="1">
                              <a:solidFill>
                                <a:schemeClr val="tx1">
                                  <a:lumMod val="85000"/>
                                  <a:lumOff val="15000"/>
                                </a:schemeClr>
                              </a:solidFill>
                              <a:latin typeface="Cambria Math" charset="0"/>
                            </a:rPr>
                          </m:ctrlPr>
                        </m:naryPr>
                        <m:sub>
                          <m:r>
                            <a:rPr lang="en-US" sz="2000" b="0" i="1" smtClean="0">
                              <a:solidFill>
                                <a:schemeClr val="tx1">
                                  <a:lumMod val="85000"/>
                                  <a:lumOff val="15000"/>
                                </a:schemeClr>
                              </a:solidFill>
                              <a:latin typeface="Cambria Math" charset="0"/>
                            </a:rPr>
                            <m:t>〈</m:t>
                          </m:r>
                          <m:d>
                            <m:dPr>
                              <m:begChr m:val="〈"/>
                              <m:endChr m:val="〉"/>
                              <m:ctrlPr>
                                <a:rPr lang="en-US" sz="2000" i="1">
                                  <a:solidFill>
                                    <a:schemeClr val="tx1">
                                      <a:lumMod val="85000"/>
                                      <a:lumOff val="15000"/>
                                    </a:schemeClr>
                                  </a:solidFill>
                                  <a:latin typeface="Cambria Math" charset="0"/>
                                </a:rPr>
                              </m:ctrlPr>
                            </m:dPr>
                            <m:e>
                              <m:r>
                                <a:rPr lang="en-US" sz="2000" i="1">
                                  <a:solidFill>
                                    <a:schemeClr val="tx1">
                                      <a:lumMod val="85000"/>
                                      <a:lumOff val="15000"/>
                                    </a:schemeClr>
                                  </a:solidFill>
                                  <a:latin typeface="Cambria Math" charset="0"/>
                                </a:rPr>
                                <m:t>𝑖</m:t>
                              </m:r>
                              <m:r>
                                <a:rPr lang="en-US" sz="2000" i="1">
                                  <a:solidFill>
                                    <a:schemeClr val="tx1">
                                      <a:lumMod val="85000"/>
                                      <a:lumOff val="15000"/>
                                    </a:schemeClr>
                                  </a:solidFill>
                                  <a:latin typeface="Cambria Math" charset="0"/>
                                </a:rPr>
                                <m:t>,</m:t>
                              </m:r>
                              <m:r>
                                <a:rPr lang="en-US" sz="2000" i="1">
                                  <a:solidFill>
                                    <a:schemeClr val="tx1">
                                      <a:lumMod val="85000"/>
                                      <a:lumOff val="15000"/>
                                    </a:schemeClr>
                                  </a:solidFill>
                                  <a:latin typeface="Cambria Math" charset="0"/>
                                </a:rPr>
                                <m:t>𝑗</m:t>
                              </m:r>
                            </m:e>
                          </m:d>
                          <m:r>
                            <a:rPr lang="en-US" sz="2000" b="0" i="1" smtClean="0">
                              <a:solidFill>
                                <a:schemeClr val="tx1">
                                  <a:lumMod val="85000"/>
                                  <a:lumOff val="15000"/>
                                </a:schemeClr>
                              </a:solidFill>
                              <a:latin typeface="Cambria Math" charset="0"/>
                            </a:rPr>
                            <m:t>〉</m:t>
                          </m:r>
                        </m:sub>
                        <m:sup/>
                        <m:e>
                          <m:sSubSup>
                            <m:sSubSupPr>
                              <m:ctrlPr>
                                <a:rPr lang="en-US" sz="2000" b="0" i="1" smtClean="0">
                                  <a:solidFill>
                                    <a:schemeClr val="tx1">
                                      <a:lumMod val="85000"/>
                                      <a:lumOff val="15000"/>
                                    </a:schemeClr>
                                  </a:solidFill>
                                  <a:latin typeface="Cambria Math" charset="0"/>
                                </a:rPr>
                              </m:ctrlPr>
                            </m:sSubSupPr>
                            <m:e>
                              <m:r>
                                <a:rPr lang="en-US" sz="2000" i="1">
                                  <a:solidFill>
                                    <a:schemeClr val="tx1">
                                      <a:lumMod val="85000"/>
                                      <a:lumOff val="15000"/>
                                    </a:schemeClr>
                                  </a:solidFill>
                                  <a:latin typeface="Cambria Math" charset="0"/>
                                </a:rPr>
                                <m:t>𝐽</m:t>
                              </m:r>
                            </m:e>
                            <m:sub>
                              <m:r>
                                <a:rPr lang="en-US" sz="2000" i="1">
                                  <a:solidFill>
                                    <a:schemeClr val="tx1">
                                      <a:lumMod val="85000"/>
                                      <a:lumOff val="15000"/>
                                    </a:schemeClr>
                                  </a:solidFill>
                                  <a:latin typeface="Cambria Math" charset="0"/>
                                </a:rPr>
                                <m:t>𝑖𝑗</m:t>
                              </m:r>
                            </m:sub>
                            <m:sup>
                              <m:r>
                                <a:rPr lang="en-US" sz="2000" b="0" i="1" smtClean="0">
                                  <a:solidFill>
                                    <a:schemeClr val="tx1">
                                      <a:lumMod val="85000"/>
                                      <a:lumOff val="15000"/>
                                    </a:schemeClr>
                                  </a:solidFill>
                                  <a:latin typeface="Cambria Math" charset="0"/>
                                </a:rPr>
                                <m:t>(2)</m:t>
                              </m:r>
                            </m:sup>
                          </m:sSubSup>
                        </m:e>
                      </m:nary>
                      <m:sSub>
                        <m:sSubPr>
                          <m:ctrlPr>
                            <a:rPr lang="en-US" sz="2000" i="1" dirty="0">
                              <a:solidFill>
                                <a:schemeClr val="tx1">
                                  <a:lumMod val="85000"/>
                                  <a:lumOff val="15000"/>
                                </a:schemeClr>
                              </a:solidFill>
                              <a:latin typeface="Cambria Math" charset="0"/>
                            </a:rPr>
                          </m:ctrlPr>
                        </m:sSubPr>
                        <m:e>
                          <m:acc>
                            <m:accPr>
                              <m:chr m:val="⃗"/>
                              <m:ctrlPr>
                                <a:rPr lang="en-US" sz="2000" i="1">
                                  <a:solidFill>
                                    <a:schemeClr val="tx1">
                                      <a:lumMod val="85000"/>
                                      <a:lumOff val="15000"/>
                                    </a:schemeClr>
                                  </a:solidFill>
                                  <a:latin typeface="Cambria Math" charset="0"/>
                                </a:rPr>
                              </m:ctrlPr>
                            </m:accPr>
                            <m:e>
                              <m:r>
                                <a:rPr lang="en-US" sz="2000" i="1">
                                  <a:solidFill>
                                    <a:schemeClr val="tx1">
                                      <a:lumMod val="85000"/>
                                      <a:lumOff val="15000"/>
                                    </a:schemeClr>
                                  </a:solidFill>
                                  <a:latin typeface="Cambria Math" charset="0"/>
                                </a:rPr>
                                <m:t>𝑆</m:t>
                              </m:r>
                            </m:e>
                          </m:acc>
                        </m:e>
                        <m:sub>
                          <m:r>
                            <a:rPr lang="en-US" sz="2000" i="1" dirty="0">
                              <a:solidFill>
                                <a:schemeClr val="tx1">
                                  <a:lumMod val="85000"/>
                                  <a:lumOff val="15000"/>
                                </a:schemeClr>
                              </a:solidFill>
                              <a:latin typeface="Cambria Math" charset="0"/>
                            </a:rPr>
                            <m:t>𝑖</m:t>
                          </m:r>
                        </m:sub>
                      </m:sSub>
                      <m:r>
                        <a:rPr lang="en-US" sz="2000" i="1" dirty="0">
                          <a:solidFill>
                            <a:schemeClr val="tx1">
                              <a:lumMod val="85000"/>
                              <a:lumOff val="15000"/>
                            </a:schemeClr>
                          </a:solidFill>
                          <a:latin typeface="Cambria Math" charset="0"/>
                        </a:rPr>
                        <m:t>.</m:t>
                      </m:r>
                      <m:sSub>
                        <m:sSubPr>
                          <m:ctrlPr>
                            <a:rPr lang="en-US" sz="2000" i="1" dirty="0">
                              <a:solidFill>
                                <a:schemeClr val="tx1">
                                  <a:lumMod val="85000"/>
                                  <a:lumOff val="15000"/>
                                </a:schemeClr>
                              </a:solidFill>
                              <a:latin typeface="Cambria Math" charset="0"/>
                            </a:rPr>
                          </m:ctrlPr>
                        </m:sSubPr>
                        <m:e>
                          <m:acc>
                            <m:accPr>
                              <m:chr m:val="⃗"/>
                              <m:ctrlPr>
                                <a:rPr lang="en-US" sz="2000" i="1" dirty="0">
                                  <a:solidFill>
                                    <a:schemeClr val="tx1">
                                      <a:lumMod val="85000"/>
                                      <a:lumOff val="15000"/>
                                    </a:schemeClr>
                                  </a:solidFill>
                                  <a:latin typeface="Cambria Math" charset="0"/>
                                </a:rPr>
                              </m:ctrlPr>
                            </m:accPr>
                            <m:e>
                              <m:r>
                                <a:rPr lang="en-US" sz="2000" i="1" dirty="0">
                                  <a:solidFill>
                                    <a:schemeClr val="tx1">
                                      <a:lumMod val="85000"/>
                                      <a:lumOff val="15000"/>
                                    </a:schemeClr>
                                  </a:solidFill>
                                  <a:latin typeface="Cambria Math" charset="0"/>
                                </a:rPr>
                                <m:t>𝑆</m:t>
                              </m:r>
                            </m:e>
                          </m:acc>
                        </m:e>
                        <m:sub>
                          <m:r>
                            <a:rPr lang="en-US" sz="2000" i="1" dirty="0">
                              <a:solidFill>
                                <a:schemeClr val="tx1">
                                  <a:lumMod val="85000"/>
                                  <a:lumOff val="15000"/>
                                </a:schemeClr>
                              </a:solidFill>
                              <a:latin typeface="Cambria Math" charset="0"/>
                            </a:rPr>
                            <m:t>𝑗</m:t>
                          </m:r>
                        </m:sub>
                      </m:sSub>
                    </m:oMath>
                  </m:oMathPara>
                </a14:m>
                <a:endParaRPr lang="en-US" sz="2000" dirty="0" smtClean="0">
                  <a:solidFill>
                    <a:schemeClr val="tx1">
                      <a:lumMod val="85000"/>
                      <a:lumOff val="15000"/>
                    </a:schemeClr>
                  </a:solidFill>
                </a:endParaRPr>
              </a:p>
              <a:p>
                <a:pPr marL="0" lvl="0" indent="0">
                  <a:lnSpc>
                    <a:spcPct val="110000"/>
                  </a:lnSpc>
                  <a:spcBef>
                    <a:spcPts val="0"/>
                  </a:spcBef>
                  <a:buNone/>
                  <a:defRPr/>
                </a:pPr>
                <a:endParaRPr lang="en-US" sz="2000" dirty="0">
                  <a:solidFill>
                    <a:schemeClr val="tx1">
                      <a:lumMod val="85000"/>
                      <a:lumOff val="15000"/>
                    </a:schemeClr>
                  </a:solidFill>
                </a:endParaRPr>
              </a:p>
              <a:p>
                <a:pPr marL="0" lvl="0" indent="0" algn="ctr">
                  <a:lnSpc>
                    <a:spcPct val="110000"/>
                  </a:lnSpc>
                  <a:spcBef>
                    <a:spcPts val="0"/>
                  </a:spcBef>
                  <a:buNone/>
                  <a:defRPr/>
                </a:pPr>
                <a:r>
                  <a:rPr lang="en-US" sz="2000" dirty="0">
                    <a:solidFill>
                      <a:schemeClr val="tx1">
                        <a:lumMod val="85000"/>
                        <a:lumOff val="15000"/>
                      </a:schemeClr>
                    </a:solidFill>
                  </a:rPr>
                  <a:t> </a:t>
                </a:r>
                <a:r>
                  <a:rPr lang="en-US" sz="2000" dirty="0" smtClean="0">
                    <a:solidFill>
                      <a:schemeClr val="tx1">
                        <a:lumMod val="85000"/>
                        <a:lumOff val="15000"/>
                      </a:schemeClr>
                    </a:solidFill>
                  </a:rPr>
                  <a:t>   with, </a:t>
                </a:r>
                <a14:m>
                  <m:oMath xmlns:m="http://schemas.openxmlformats.org/officeDocument/2006/math">
                    <m:sSubSup>
                      <m:sSubSupPr>
                        <m:ctrlPr>
                          <a:rPr lang="en-US" sz="2000" b="0" i="1" smtClean="0">
                            <a:solidFill>
                              <a:schemeClr val="tx1">
                                <a:lumMod val="85000"/>
                                <a:lumOff val="15000"/>
                              </a:schemeClr>
                            </a:solidFill>
                            <a:latin typeface="Cambria Math" charset="0"/>
                          </a:rPr>
                        </m:ctrlPr>
                      </m:sSubSupPr>
                      <m:e>
                        <m:r>
                          <a:rPr lang="en-US" sz="2000" b="0" i="1" smtClean="0">
                            <a:solidFill>
                              <a:schemeClr val="tx1">
                                <a:lumMod val="85000"/>
                                <a:lumOff val="15000"/>
                              </a:schemeClr>
                            </a:solidFill>
                            <a:latin typeface="Cambria Math" charset="0"/>
                          </a:rPr>
                          <m:t>𝐽</m:t>
                        </m:r>
                      </m:e>
                      <m:sub>
                        <m:r>
                          <a:rPr lang="en-US" sz="2000" b="0" i="1" smtClean="0">
                            <a:solidFill>
                              <a:schemeClr val="tx1">
                                <a:lumMod val="85000"/>
                                <a:lumOff val="15000"/>
                              </a:schemeClr>
                            </a:solidFill>
                            <a:latin typeface="Cambria Math" charset="0"/>
                          </a:rPr>
                          <m:t>𝑖𝑗</m:t>
                        </m:r>
                      </m:sub>
                      <m:sup>
                        <m:d>
                          <m:dPr>
                            <m:ctrlPr>
                              <a:rPr lang="en-US" sz="2000" b="0" i="1" smtClean="0">
                                <a:solidFill>
                                  <a:schemeClr val="tx1">
                                    <a:lumMod val="85000"/>
                                    <a:lumOff val="15000"/>
                                  </a:schemeClr>
                                </a:solidFill>
                                <a:latin typeface="Cambria Math" charset="0"/>
                              </a:rPr>
                            </m:ctrlPr>
                          </m:dPr>
                          <m:e>
                            <m:r>
                              <a:rPr lang="en-US" sz="2000" b="0" i="1" smtClean="0">
                                <a:solidFill>
                                  <a:schemeClr val="tx1">
                                    <a:lumMod val="85000"/>
                                    <a:lumOff val="15000"/>
                                  </a:schemeClr>
                                </a:solidFill>
                                <a:latin typeface="Cambria Math" charset="0"/>
                              </a:rPr>
                              <m:t>1,2</m:t>
                            </m:r>
                          </m:e>
                        </m:d>
                      </m:sup>
                    </m:sSubSup>
                    <m:r>
                      <a:rPr lang="en-US" sz="2000" b="0" i="1" smtClean="0">
                        <a:solidFill>
                          <a:schemeClr val="tx1">
                            <a:lumMod val="85000"/>
                            <a:lumOff val="15000"/>
                          </a:schemeClr>
                        </a:solidFill>
                        <a:latin typeface="Cambria Math" charset="0"/>
                        <a:ea typeface="Cambria Math" charset="0"/>
                        <a:cs typeface="Cambria Math" charset="0"/>
                      </a:rPr>
                      <m:t>∈</m:t>
                    </m:r>
                    <m:r>
                      <a:rPr lang="en-US" sz="2000" b="0" i="1" smtClean="0">
                        <a:solidFill>
                          <a:schemeClr val="tx1">
                            <a:lumMod val="85000"/>
                            <a:lumOff val="15000"/>
                          </a:schemeClr>
                        </a:solidFill>
                        <a:latin typeface="Cambria Math" charset="0"/>
                        <a:ea typeface="Cambria Math" charset="0"/>
                        <a:cs typeface="Cambria Math" charset="0"/>
                      </a:rPr>
                      <m:t>𝑃</m:t>
                    </m:r>
                    <m:r>
                      <a:rPr lang="en-US" sz="2000" b="0" i="1" smtClean="0">
                        <a:solidFill>
                          <a:schemeClr val="tx1">
                            <a:lumMod val="85000"/>
                            <a:lumOff val="15000"/>
                          </a:schemeClr>
                        </a:solidFill>
                        <a:latin typeface="Cambria Math" charset="0"/>
                        <a:ea typeface="Cambria Math" charset="0"/>
                        <a:cs typeface="Cambria Math" charset="0"/>
                      </a:rPr>
                      <m:t>(</m:t>
                    </m:r>
                    <m:r>
                      <a:rPr lang="en-US" sz="2000" b="0" i="1" smtClean="0">
                        <a:solidFill>
                          <a:schemeClr val="tx1">
                            <a:lumMod val="85000"/>
                            <a:lumOff val="15000"/>
                          </a:schemeClr>
                        </a:solidFill>
                        <a:latin typeface="Cambria Math" charset="0"/>
                        <a:ea typeface="Cambria Math" charset="0"/>
                        <a:cs typeface="Cambria Math" charset="0"/>
                      </a:rPr>
                      <m:t>𝐽</m:t>
                    </m:r>
                    <m:r>
                      <a:rPr lang="en-US" sz="2000" b="0" i="1" smtClean="0">
                        <a:solidFill>
                          <a:schemeClr val="tx1">
                            <a:lumMod val="85000"/>
                            <a:lumOff val="15000"/>
                          </a:schemeClr>
                        </a:solidFill>
                        <a:latin typeface="Cambria Math" charset="0"/>
                        <a:ea typeface="Cambria Math" charset="0"/>
                        <a:cs typeface="Cambria Math" charset="0"/>
                      </a:rPr>
                      <m:t>,</m:t>
                    </m:r>
                    <m:r>
                      <m:rPr>
                        <m:sty m:val="p"/>
                      </m:rPr>
                      <a:rPr lang="en-US" sz="2000" b="0" i="0" smtClean="0">
                        <a:solidFill>
                          <a:schemeClr val="tx1">
                            <a:lumMod val="85000"/>
                            <a:lumOff val="15000"/>
                          </a:schemeClr>
                        </a:solidFill>
                        <a:latin typeface="Cambria Math" charset="0"/>
                        <a:ea typeface="Cambria Math" charset="0"/>
                        <a:cs typeface="Cambria Math" charset="0"/>
                      </a:rPr>
                      <m:t>Δ</m:t>
                    </m:r>
                    <m:r>
                      <a:rPr lang="en-US" sz="2000" b="0" i="1" smtClean="0">
                        <a:solidFill>
                          <a:schemeClr val="tx1">
                            <a:lumMod val="85000"/>
                            <a:lumOff val="15000"/>
                          </a:schemeClr>
                        </a:solidFill>
                        <a:latin typeface="Cambria Math" charset="0"/>
                        <a:ea typeface="Cambria Math" charset="0"/>
                        <a:cs typeface="Cambria Math" charset="0"/>
                      </a:rPr>
                      <m:t>)</m:t>
                    </m:r>
                  </m:oMath>
                </a14:m>
                <a:endParaRPr lang="en-US" sz="2000" dirty="0" smtClean="0">
                  <a:solidFill>
                    <a:schemeClr val="tx1">
                      <a:lumMod val="85000"/>
                      <a:lumOff val="15000"/>
                    </a:schemeClr>
                  </a:solidFill>
                </a:endParaRPr>
              </a:p>
              <a:p>
                <a:pPr marL="0" lvl="0" indent="0">
                  <a:lnSpc>
                    <a:spcPct val="110000"/>
                  </a:lnSpc>
                  <a:spcBef>
                    <a:spcPts val="0"/>
                  </a:spcBef>
                  <a:buNone/>
                  <a:defRPr/>
                </a:pPr>
                <a:endParaRPr lang="en-US" sz="2000" dirty="0">
                  <a:solidFill>
                    <a:schemeClr val="tx1">
                      <a:lumMod val="85000"/>
                      <a:lumOff val="15000"/>
                    </a:schemeClr>
                  </a:solidFill>
                </a:endParaRPr>
              </a:p>
              <a:p>
                <a:pPr lvl="0">
                  <a:lnSpc>
                    <a:spcPct val="110000"/>
                  </a:lnSpc>
                  <a:spcBef>
                    <a:spcPts val="0"/>
                  </a:spcBef>
                  <a:buFont typeface="Wingdings" charset="2"/>
                  <a:buChar char="§"/>
                  <a:defRPr/>
                </a:pPr>
                <a:r>
                  <a:rPr lang="en-US" sz="2000" dirty="0" smtClean="0">
                    <a:solidFill>
                      <a:schemeClr val="tx1">
                        <a:lumMod val="85000"/>
                        <a:lumOff val="15000"/>
                      </a:schemeClr>
                    </a:solidFill>
                  </a:rPr>
                  <a:t>From weak to stronger disorder</a:t>
                </a:r>
              </a:p>
              <a:p>
                <a:pPr lvl="0">
                  <a:lnSpc>
                    <a:spcPct val="110000"/>
                  </a:lnSpc>
                  <a:spcBef>
                    <a:spcPts val="0"/>
                  </a:spcBef>
                  <a:buFont typeface="Wingdings" charset="2"/>
                  <a:buChar char="§"/>
                  <a:defRPr/>
                </a:pPr>
                <a:endParaRPr lang="en-US" sz="2000" dirty="0">
                  <a:solidFill>
                    <a:schemeClr val="tx1">
                      <a:lumMod val="85000"/>
                      <a:lumOff val="15000"/>
                    </a:schemeClr>
                  </a:solidFill>
                </a:endParaRPr>
              </a:p>
              <a:p>
                <a:pPr lvl="1">
                  <a:lnSpc>
                    <a:spcPct val="110000"/>
                  </a:lnSpc>
                  <a:spcBef>
                    <a:spcPts val="0"/>
                  </a:spcBef>
                  <a:buFont typeface="Courier New" charset="0"/>
                  <a:buChar char="o"/>
                  <a:defRPr/>
                </a:pPr>
                <a:r>
                  <a:rPr lang="en-US" sz="1800" b="0" dirty="0" smtClean="0">
                    <a:solidFill>
                      <a:schemeClr val="tx1">
                        <a:lumMod val="85000"/>
                        <a:lumOff val="15000"/>
                      </a:schemeClr>
                    </a:solidFill>
                  </a:rPr>
                  <a:t>Rectangula</a:t>
                </a:r>
                <a:r>
                  <a:rPr lang="en-US" sz="1800" dirty="0">
                    <a:solidFill>
                      <a:schemeClr val="tx1">
                        <a:lumMod val="85000"/>
                        <a:lumOff val="15000"/>
                      </a:schemeClr>
                    </a:solidFill>
                  </a:rPr>
                  <a:t>r</a:t>
                </a:r>
                <a:r>
                  <a:rPr lang="en-US" sz="1800" dirty="0" smtClean="0">
                    <a:solidFill>
                      <a:schemeClr val="tx1">
                        <a:lumMod val="85000"/>
                        <a:lumOff val="15000"/>
                      </a:schemeClr>
                    </a:solidFill>
                  </a:rPr>
                  <a:t> distribution, </a:t>
                </a:r>
                <a14:m>
                  <m:oMath xmlns:m="http://schemas.openxmlformats.org/officeDocument/2006/math">
                    <m:r>
                      <a:rPr lang="en-US" sz="1600" b="0" i="1" smtClean="0">
                        <a:solidFill>
                          <a:schemeClr val="tx1">
                            <a:lumMod val="85000"/>
                            <a:lumOff val="15000"/>
                          </a:schemeClr>
                        </a:solidFill>
                        <a:latin typeface="Cambria Math" charset="0"/>
                      </a:rPr>
                      <m:t>𝑃</m:t>
                    </m:r>
                    <m:d>
                      <m:dPr>
                        <m:ctrlPr>
                          <a:rPr lang="en-US" sz="1600" b="0" i="1" smtClean="0">
                            <a:solidFill>
                              <a:schemeClr val="tx1">
                                <a:lumMod val="85000"/>
                                <a:lumOff val="15000"/>
                              </a:schemeClr>
                            </a:solidFill>
                            <a:latin typeface="Cambria Math" charset="0"/>
                          </a:rPr>
                        </m:ctrlPr>
                      </m:dPr>
                      <m:e>
                        <m:r>
                          <a:rPr lang="en-US" sz="1600" b="0" i="1" smtClean="0">
                            <a:solidFill>
                              <a:schemeClr val="tx1">
                                <a:lumMod val="85000"/>
                                <a:lumOff val="15000"/>
                              </a:schemeClr>
                            </a:solidFill>
                            <a:latin typeface="Cambria Math" charset="0"/>
                          </a:rPr>
                          <m:t>𝐽</m:t>
                        </m:r>
                        <m:r>
                          <a:rPr lang="en-US" sz="1600" b="0" i="1" smtClean="0">
                            <a:solidFill>
                              <a:schemeClr val="tx1">
                                <a:lumMod val="85000"/>
                                <a:lumOff val="15000"/>
                              </a:schemeClr>
                            </a:solidFill>
                            <a:latin typeface="Cambria Math" charset="0"/>
                          </a:rPr>
                          <m:t>,</m:t>
                        </m:r>
                        <m:r>
                          <m:rPr>
                            <m:sty m:val="p"/>
                          </m:rPr>
                          <a:rPr lang="en-US" sz="1600" b="0" i="0" smtClean="0">
                            <a:solidFill>
                              <a:schemeClr val="tx1">
                                <a:lumMod val="85000"/>
                                <a:lumOff val="15000"/>
                              </a:schemeClr>
                            </a:solidFill>
                            <a:latin typeface="Cambria Math" charset="0"/>
                          </a:rPr>
                          <m:t>Δ</m:t>
                        </m:r>
                      </m:e>
                    </m:d>
                    <m:r>
                      <a:rPr lang="en-US" sz="1600" b="0" i="1" smtClean="0">
                        <a:solidFill>
                          <a:schemeClr val="tx1">
                            <a:lumMod val="85000"/>
                            <a:lumOff val="15000"/>
                          </a:schemeClr>
                        </a:solidFill>
                        <a:latin typeface="Cambria Math" charset="0"/>
                      </a:rPr>
                      <m:t>=</m:t>
                    </m:r>
                    <m:f>
                      <m:fPr>
                        <m:ctrlPr>
                          <a:rPr lang="en-US" sz="1600" b="0" i="1" smtClean="0">
                            <a:solidFill>
                              <a:schemeClr val="tx1">
                                <a:lumMod val="85000"/>
                                <a:lumOff val="15000"/>
                              </a:schemeClr>
                            </a:solidFill>
                            <a:latin typeface="Cambria Math" charset="0"/>
                          </a:rPr>
                        </m:ctrlPr>
                      </m:fPr>
                      <m:num>
                        <m:r>
                          <a:rPr lang="en-US" sz="1600" b="0" i="1" smtClean="0">
                            <a:solidFill>
                              <a:schemeClr val="tx1">
                                <a:lumMod val="85000"/>
                                <a:lumOff val="15000"/>
                              </a:schemeClr>
                            </a:solidFill>
                            <a:latin typeface="Cambria Math" charset="0"/>
                          </a:rPr>
                          <m:t>1</m:t>
                        </m:r>
                      </m:num>
                      <m:den>
                        <m:r>
                          <a:rPr lang="en-US" sz="1600" b="0" i="0" smtClean="0">
                            <a:solidFill>
                              <a:schemeClr val="tx1">
                                <a:lumMod val="85000"/>
                                <a:lumOff val="15000"/>
                              </a:schemeClr>
                            </a:solidFill>
                            <a:latin typeface="Cambria Math" charset="0"/>
                          </a:rPr>
                          <m:t>2</m:t>
                        </m:r>
                        <m:r>
                          <m:rPr>
                            <m:sty m:val="p"/>
                          </m:rPr>
                          <a:rPr lang="en-US" sz="1600" b="0" i="0" smtClean="0">
                            <a:solidFill>
                              <a:schemeClr val="tx1">
                                <a:lumMod val="85000"/>
                                <a:lumOff val="15000"/>
                              </a:schemeClr>
                            </a:solidFill>
                            <a:latin typeface="Cambria Math" charset="0"/>
                          </a:rPr>
                          <m:t>Δ</m:t>
                        </m:r>
                      </m:den>
                    </m:f>
                    <m:r>
                      <a:rPr lang="en-US" sz="1600" b="0" i="0" smtClean="0">
                        <a:solidFill>
                          <a:schemeClr val="tx1">
                            <a:lumMod val="85000"/>
                            <a:lumOff val="15000"/>
                          </a:schemeClr>
                        </a:solidFill>
                        <a:latin typeface="Cambria Math" charset="0"/>
                      </a:rPr>
                      <m:t>, </m:t>
                    </m:r>
                    <m:r>
                      <m:rPr>
                        <m:sty m:val="p"/>
                      </m:rPr>
                      <a:rPr lang="en-US" sz="1600" b="0" i="0" smtClean="0">
                        <a:solidFill>
                          <a:schemeClr val="tx1">
                            <a:lumMod val="85000"/>
                            <a:lumOff val="15000"/>
                          </a:schemeClr>
                        </a:solidFill>
                        <a:latin typeface="Cambria Math" charset="0"/>
                      </a:rPr>
                      <m:t>J</m:t>
                    </m:r>
                    <m:r>
                      <a:rPr lang="en-US" sz="1800" i="1">
                        <a:latin typeface="Cambria Math" charset="0"/>
                        <a:ea typeface="Cambria Math" charset="0"/>
                        <a:cs typeface="Cambria Math" charset="0"/>
                      </a:rPr>
                      <m:t>∈</m:t>
                    </m:r>
                    <m:r>
                      <a:rPr lang="en-US" sz="1800" b="0" i="1" smtClean="0">
                        <a:latin typeface="Cambria Math" charset="0"/>
                        <a:ea typeface="Cambria Math" charset="0"/>
                        <a:cs typeface="Cambria Math" charset="0"/>
                      </a:rPr>
                      <m:t>[1−</m:t>
                    </m:r>
                    <m:r>
                      <m:rPr>
                        <m:sty m:val="p"/>
                      </m:rPr>
                      <a:rPr lang="en-US" sz="1800" b="0" i="0" smtClean="0">
                        <a:latin typeface="Cambria Math" charset="0"/>
                        <a:ea typeface="Cambria Math" charset="0"/>
                        <a:cs typeface="Cambria Math" charset="0"/>
                      </a:rPr>
                      <m:t>Δ</m:t>
                    </m:r>
                    <m:r>
                      <a:rPr lang="en-US" sz="1800" b="0" i="1" smtClean="0">
                        <a:latin typeface="Cambria Math" charset="0"/>
                        <a:ea typeface="Cambria Math" charset="0"/>
                        <a:cs typeface="Cambria Math" charset="0"/>
                      </a:rPr>
                      <m:t>,1+</m:t>
                    </m:r>
                    <m:r>
                      <m:rPr>
                        <m:sty m:val="p"/>
                      </m:rPr>
                      <a:rPr lang="en-US" sz="1800" b="0" i="0" smtClean="0">
                        <a:latin typeface="Cambria Math" charset="0"/>
                        <a:ea typeface="Cambria Math" charset="0"/>
                        <a:cs typeface="Cambria Math" charset="0"/>
                      </a:rPr>
                      <m:t>Δ</m:t>
                    </m:r>
                    <m:r>
                      <a:rPr lang="en-US" sz="1800" b="0" i="1" smtClean="0">
                        <a:latin typeface="Cambria Math" charset="0"/>
                        <a:ea typeface="Cambria Math" charset="0"/>
                        <a:cs typeface="Cambria Math" charset="0"/>
                      </a:rPr>
                      <m:t>]</m:t>
                    </m:r>
                  </m:oMath>
                </a14:m>
                <a:endParaRPr lang="en-US" sz="1800" dirty="0" smtClean="0">
                  <a:solidFill>
                    <a:schemeClr val="tx1">
                      <a:lumMod val="85000"/>
                      <a:lumOff val="15000"/>
                    </a:schemeClr>
                  </a:solidFill>
                </a:endParaRPr>
              </a:p>
              <a:p>
                <a:pPr lvl="1">
                  <a:lnSpc>
                    <a:spcPct val="110000"/>
                  </a:lnSpc>
                  <a:spcBef>
                    <a:spcPts val="0"/>
                  </a:spcBef>
                  <a:buFont typeface="Courier New" charset="0"/>
                  <a:buChar char="o"/>
                  <a:defRPr/>
                </a:pPr>
                <a:r>
                  <a:rPr lang="en-US" sz="1800" dirty="0" smtClean="0"/>
                  <a:t>Lognormal distribution, </a:t>
                </a:r>
                <a14:m>
                  <m:oMath xmlns:m="http://schemas.openxmlformats.org/officeDocument/2006/math">
                    <m:r>
                      <a:rPr lang="en-US" sz="1800" i="1">
                        <a:latin typeface="Cambria Math" charset="0"/>
                      </a:rPr>
                      <m:t>𝑃</m:t>
                    </m:r>
                    <m:d>
                      <m:dPr>
                        <m:ctrlPr>
                          <a:rPr lang="en-US" sz="1800" i="1">
                            <a:latin typeface="Cambria Math" charset="0"/>
                          </a:rPr>
                        </m:ctrlPr>
                      </m:dPr>
                      <m:e>
                        <m:r>
                          <a:rPr lang="en-US" sz="1800" i="1">
                            <a:latin typeface="Cambria Math" charset="0"/>
                          </a:rPr>
                          <m:t>𝐽</m:t>
                        </m:r>
                        <m:r>
                          <a:rPr lang="en-US" sz="1800" i="1">
                            <a:latin typeface="Cambria Math" charset="0"/>
                          </a:rPr>
                          <m:t>,</m:t>
                        </m:r>
                        <m:r>
                          <m:rPr>
                            <m:sty m:val="p"/>
                          </m:rPr>
                          <a:rPr lang="en-US" sz="1800">
                            <a:latin typeface="Cambria Math" charset="0"/>
                          </a:rPr>
                          <m:t>Δ</m:t>
                        </m:r>
                      </m:e>
                    </m:d>
                    <m:r>
                      <a:rPr lang="en-US" sz="1800" i="1">
                        <a:latin typeface="Cambria Math" charset="0"/>
                      </a:rPr>
                      <m:t>=</m:t>
                    </m:r>
                    <m:f>
                      <m:fPr>
                        <m:ctrlPr>
                          <a:rPr lang="en-US" sz="1800" b="0" i="1" smtClean="0">
                            <a:latin typeface="Cambria Math" charset="0"/>
                          </a:rPr>
                        </m:ctrlPr>
                      </m:fPr>
                      <m:num>
                        <m:r>
                          <a:rPr lang="en-US" sz="1800" b="0" i="1" smtClean="0">
                            <a:latin typeface="Cambria Math" charset="0"/>
                          </a:rPr>
                          <m:t>1</m:t>
                        </m:r>
                      </m:num>
                      <m:den>
                        <m:rad>
                          <m:radPr>
                            <m:degHide m:val="on"/>
                            <m:ctrlPr>
                              <a:rPr lang="en-US" sz="1800" b="0" i="1" smtClean="0">
                                <a:latin typeface="Cambria Math" charset="0"/>
                              </a:rPr>
                            </m:ctrlPr>
                          </m:radPr>
                          <m:deg/>
                          <m:e>
                            <m:r>
                              <a:rPr lang="en-US" sz="1800" b="0" i="1" smtClean="0">
                                <a:latin typeface="Cambria Math" charset="0"/>
                              </a:rPr>
                              <m:t>2</m:t>
                            </m:r>
                            <m:r>
                              <a:rPr lang="en-US" sz="1800" b="0" i="1" smtClean="0">
                                <a:latin typeface="Cambria Math" charset="0"/>
                              </a:rPr>
                              <m:t>𝜋</m:t>
                            </m:r>
                          </m:e>
                        </m:rad>
                        <m:r>
                          <a:rPr lang="en-US" sz="1800" b="0" i="0" smtClean="0">
                            <a:latin typeface="Cambria Math" charset="0"/>
                          </a:rPr>
                          <m:t> (</m:t>
                        </m:r>
                        <m:r>
                          <m:rPr>
                            <m:sty m:val="p"/>
                          </m:rPr>
                          <a:rPr lang="en-US" sz="1800" b="0" i="0" smtClean="0">
                            <a:latin typeface="Cambria Math" charset="0"/>
                          </a:rPr>
                          <m:t>Δ</m:t>
                        </m:r>
                        <m:r>
                          <a:rPr lang="en-US" sz="1800" b="0" i="0" smtClean="0">
                            <a:latin typeface="Cambria Math" charset="0"/>
                          </a:rPr>
                          <m:t> </m:t>
                        </m:r>
                        <m:r>
                          <m:rPr>
                            <m:sty m:val="p"/>
                          </m:rPr>
                          <a:rPr lang="en-US" sz="1800" b="0" i="0" smtClean="0">
                            <a:latin typeface="Cambria Math" charset="0"/>
                          </a:rPr>
                          <m:t>J</m:t>
                        </m:r>
                        <m:r>
                          <a:rPr lang="en-US" sz="1800" b="0" i="0" smtClean="0">
                            <a:latin typeface="Cambria Math" charset="0"/>
                          </a:rPr>
                          <m:t>)</m:t>
                        </m:r>
                      </m:den>
                    </m:f>
                    <m:sSup>
                      <m:sSupPr>
                        <m:ctrlPr>
                          <a:rPr lang="en-US" sz="1800" b="0" i="1" smtClean="0">
                            <a:latin typeface="Cambria Math" charset="0"/>
                          </a:rPr>
                        </m:ctrlPr>
                      </m:sSupPr>
                      <m:e>
                        <m:r>
                          <a:rPr lang="en-US" sz="1800" b="0" i="1" smtClean="0">
                            <a:latin typeface="Cambria Math" charset="0"/>
                          </a:rPr>
                          <m:t>𝑒</m:t>
                        </m:r>
                      </m:e>
                      <m:sup>
                        <m:r>
                          <a:rPr lang="en-US" sz="1800" b="0" i="1" smtClean="0">
                            <a:latin typeface="Cambria Math" charset="0"/>
                          </a:rPr>
                          <m:t>−</m:t>
                        </m:r>
                        <m:f>
                          <m:fPr>
                            <m:ctrlPr>
                              <a:rPr lang="en-US" sz="1800" b="0" i="1" smtClean="0">
                                <a:latin typeface="Cambria Math" charset="0"/>
                              </a:rPr>
                            </m:ctrlPr>
                          </m:fPr>
                          <m:num>
                            <m:sSup>
                              <m:sSupPr>
                                <m:ctrlPr>
                                  <a:rPr lang="en-US" sz="1800" b="0" i="1" smtClean="0">
                                    <a:latin typeface="Cambria Math" charset="0"/>
                                  </a:rPr>
                                </m:ctrlPr>
                              </m:sSupPr>
                              <m:e>
                                <m:func>
                                  <m:funcPr>
                                    <m:ctrlPr>
                                      <a:rPr lang="en-US" sz="1800" b="0" i="1" smtClean="0">
                                        <a:latin typeface="Cambria Math" charset="0"/>
                                      </a:rPr>
                                    </m:ctrlPr>
                                  </m:funcPr>
                                  <m:fName>
                                    <m:r>
                                      <a:rPr lang="en-US" sz="1800" b="0" i="0" smtClean="0">
                                        <a:latin typeface="Cambria Math" charset="0"/>
                                      </a:rPr>
                                      <m:t>(</m:t>
                                    </m:r>
                                    <m:r>
                                      <m:rPr>
                                        <m:sty m:val="p"/>
                                      </m:rPr>
                                      <a:rPr lang="en-US" sz="1800" b="0" i="0" smtClean="0">
                                        <a:latin typeface="Cambria Math" charset="0"/>
                                      </a:rPr>
                                      <m:t>log</m:t>
                                    </m:r>
                                  </m:fName>
                                  <m:e>
                                    <m:r>
                                      <a:rPr lang="en-US" sz="1800" b="0" i="1" smtClean="0">
                                        <a:latin typeface="Cambria Math" charset="0"/>
                                      </a:rPr>
                                      <m:t>𝐽</m:t>
                                    </m:r>
                                  </m:e>
                                </m:func>
                                <m:r>
                                  <a:rPr lang="en-US" sz="1800" b="0" i="1" smtClean="0">
                                    <a:latin typeface="Cambria Math" charset="0"/>
                                  </a:rPr>
                                  <m:t>−1)</m:t>
                                </m:r>
                              </m:e>
                              <m:sup>
                                <m:r>
                                  <a:rPr lang="en-US" sz="1800" b="0" i="1" smtClean="0">
                                    <a:latin typeface="Cambria Math" charset="0"/>
                                  </a:rPr>
                                  <m:t>2</m:t>
                                </m:r>
                              </m:sup>
                            </m:sSup>
                          </m:num>
                          <m:den>
                            <m:r>
                              <a:rPr lang="en-US" sz="1800" b="0" i="1" smtClean="0">
                                <a:latin typeface="Cambria Math" charset="0"/>
                              </a:rPr>
                              <m:t>2</m:t>
                            </m:r>
                            <m:sSup>
                              <m:sSupPr>
                                <m:ctrlPr>
                                  <a:rPr lang="en-US" sz="1800" b="0" i="1" smtClean="0">
                                    <a:latin typeface="Cambria Math" charset="0"/>
                                  </a:rPr>
                                </m:ctrlPr>
                              </m:sSupPr>
                              <m:e>
                                <m:r>
                                  <m:rPr>
                                    <m:sty m:val="p"/>
                                  </m:rPr>
                                  <a:rPr lang="en-US" sz="1800" b="0" i="0" smtClean="0">
                                    <a:latin typeface="Cambria Math" charset="0"/>
                                  </a:rPr>
                                  <m:t>Δ</m:t>
                                </m:r>
                              </m:e>
                              <m:sup>
                                <m:r>
                                  <a:rPr lang="en-US" sz="1800" b="0" i="1" smtClean="0">
                                    <a:latin typeface="Cambria Math" charset="0"/>
                                  </a:rPr>
                                  <m:t>2</m:t>
                                </m:r>
                              </m:sup>
                            </m:sSup>
                          </m:den>
                        </m:f>
                      </m:sup>
                    </m:sSup>
                  </m:oMath>
                </a14:m>
                <a:endParaRPr lang="en-US" sz="1800" dirty="0" smtClean="0">
                  <a:solidFill>
                    <a:schemeClr val="tx1">
                      <a:lumMod val="85000"/>
                      <a:lumOff val="15000"/>
                    </a:schemeClr>
                  </a:solidFill>
                </a:endParaRPr>
              </a:p>
              <a:p>
                <a:pPr marL="0" lvl="0" indent="0" algn="ctr">
                  <a:lnSpc>
                    <a:spcPct val="110000"/>
                  </a:lnSpc>
                  <a:spcBef>
                    <a:spcPts val="0"/>
                  </a:spcBef>
                  <a:buNone/>
                  <a:defRPr/>
                </a:pPr>
                <a:endParaRPr lang="en-US" sz="2000" dirty="0">
                  <a:solidFill>
                    <a:schemeClr val="tx1">
                      <a:lumMod val="85000"/>
                      <a:lumOff val="15000"/>
                    </a:schemeClr>
                  </a:solidFill>
                </a:endParaRPr>
              </a:p>
              <a:p>
                <a:pPr>
                  <a:lnSpc>
                    <a:spcPct val="110000"/>
                  </a:lnSpc>
                  <a:spcBef>
                    <a:spcPts val="0"/>
                  </a:spcBef>
                  <a:buFont typeface="Wingdings" charset="2"/>
                  <a:buChar char="§"/>
                  <a:defRPr/>
                </a:pPr>
                <a:endParaRPr lang="en-US" sz="2000" dirty="0" smtClean="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smtClean="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smtClean="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000" dirty="0">
                  <a:solidFill>
                    <a:schemeClr val="tx1">
                      <a:lumMod val="85000"/>
                      <a:lumOff val="15000"/>
                    </a:schemeClr>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522" t="-399"/>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Disorder distribution</a:t>
            </a:r>
            <a:endParaRPr lang="en-US" sz="3200" dirty="0">
              <a:solidFill>
                <a:schemeClr val="tx1">
                  <a:lumMod val="65000"/>
                  <a:lumOff val="35000"/>
                </a:schemeClr>
              </a:solidFill>
              <a:latin typeface="+mj-lt"/>
            </a:endParaRPr>
          </a:p>
        </p:txBody>
      </p:sp>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7750820" y="3999943"/>
            <a:ext cx="3799495" cy="2522443"/>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8458255" y="3956329"/>
                <a:ext cx="2384627" cy="646331"/>
              </a:xfrm>
              <a:prstGeom prst="rect">
                <a:avLst/>
              </a:prstGeom>
            </p:spPr>
            <p:txBody>
              <a:bodyPr wrap="none">
                <a:spAutoFit/>
              </a:bodyPr>
              <a:lstStyle/>
              <a:p>
                <a:r>
                  <a:rPr lang="en-US" dirty="0" smtClean="0"/>
                  <a:t>Lognormal distribution,</a:t>
                </a:r>
              </a:p>
              <a:p>
                <a:pPr/>
                <a14:m>
                  <m:oMathPara xmlns:m="http://schemas.openxmlformats.org/officeDocument/2006/math">
                    <m:oMathParaPr>
                      <m:jc m:val="centerGroup"/>
                    </m:oMathParaPr>
                    <m:oMath xmlns:m="http://schemas.openxmlformats.org/officeDocument/2006/math">
                      <m:r>
                        <m:rPr>
                          <m:sty m:val="p"/>
                        </m:rPr>
                        <a:rPr lang="en-US" b="0" i="0" smtClean="0">
                          <a:latin typeface="Cambria Math" charset="0"/>
                        </a:rPr>
                        <m:t>Δ</m:t>
                      </m:r>
                      <m:r>
                        <a:rPr lang="en-US" b="0" i="1" smtClean="0">
                          <a:latin typeface="Cambria Math" charset="0"/>
                        </a:rPr>
                        <m:t>=10</m:t>
                      </m:r>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8458255" y="3956329"/>
                <a:ext cx="2384627" cy="646331"/>
              </a:xfrm>
              <a:prstGeom prst="rect">
                <a:avLst/>
              </a:prstGeom>
              <a:blipFill rotWithShape="0">
                <a:blip r:embed="rId4"/>
                <a:stretch>
                  <a:fillRect l="-2302" t="-4717" r="-1790"/>
                </a:stretch>
              </a:blipFill>
            </p:spPr>
            <p:txBody>
              <a:bodyPr/>
              <a:lstStyle/>
              <a:p>
                <a:r>
                  <a:rPr lang="en-US">
                    <a:noFill/>
                  </a:rPr>
                  <a:t> </a:t>
                </a:r>
              </a:p>
            </p:txBody>
          </p:sp>
        </mc:Fallback>
      </mc:AlternateContent>
    </p:spTree>
    <p:extLst>
      <p:ext uri="{BB962C8B-B14F-4D97-AF65-F5344CB8AC3E}">
        <p14:creationId xmlns:p14="http://schemas.microsoft.com/office/powerpoint/2010/main" val="851441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7990" y="1975417"/>
                <a:ext cx="10515600" cy="4578116"/>
              </a:xfrm>
            </p:spPr>
            <p:txBody>
              <a:bodyPr>
                <a:normAutofit/>
              </a:bodyPr>
              <a:lstStyle/>
              <a:p>
                <a:pPr>
                  <a:lnSpc>
                    <a:spcPct val="110000"/>
                  </a:lnSpc>
                  <a:spcBef>
                    <a:spcPts val="0"/>
                  </a:spcBef>
                  <a:buFont typeface="Wingdings" charset="2"/>
                  <a:buChar char="§"/>
                  <a:defRPr/>
                </a:pPr>
                <a:r>
                  <a:rPr lang="en-US" sz="2000" dirty="0">
                    <a:solidFill>
                      <a:schemeClr val="tx1">
                        <a:lumMod val="85000"/>
                        <a:lumOff val="15000"/>
                      </a:schemeClr>
                    </a:solidFill>
                  </a:rPr>
                  <a:t>Classical ground state with iterative local energy minimization</a:t>
                </a:r>
                <a:r>
                  <a:rPr lang="en-US" sz="2000" dirty="0" smtClean="0">
                    <a:solidFill>
                      <a:schemeClr val="tx1">
                        <a:lumMod val="85000"/>
                        <a:lumOff val="15000"/>
                      </a:schemeClr>
                    </a:solidFill>
                  </a:rPr>
                  <a:t>.</a:t>
                </a:r>
              </a:p>
              <a:p>
                <a:pPr>
                  <a:lnSpc>
                    <a:spcPct val="110000"/>
                  </a:lnSpc>
                  <a:spcBef>
                    <a:spcPts val="0"/>
                  </a:spcBef>
                  <a:buFont typeface="Wingdings" charset="2"/>
                  <a:buChar char="§"/>
                  <a:defRPr/>
                </a:pPr>
                <a:endParaRPr lang="en-US" sz="2000" dirty="0">
                  <a:solidFill>
                    <a:schemeClr val="tx1">
                      <a:lumMod val="85000"/>
                      <a:lumOff val="15000"/>
                    </a:schemeClr>
                  </a:solidFill>
                </a:endParaRPr>
              </a:p>
              <a:p>
                <a:pPr marL="228600" lvl="1">
                  <a:lnSpc>
                    <a:spcPct val="110000"/>
                  </a:lnSpc>
                  <a:spcBef>
                    <a:spcPts val="0"/>
                  </a:spcBef>
                  <a:buFont typeface="Wingdings" charset="2"/>
                  <a:buChar char="§"/>
                  <a:defRPr/>
                </a:pPr>
                <a:r>
                  <a:rPr lang="en-US" sz="2000" dirty="0"/>
                  <a:t>Spin-wave expansion on top of disordered classical ground state. </a:t>
                </a:r>
                <a:endParaRPr lang="en-US" sz="2000" i="1" dirty="0" smtClean="0">
                  <a:latin typeface="Cambria Math" charset="0"/>
                </a:endParaRPr>
              </a:p>
              <a:p>
                <a:pPr marL="0" lvl="1" indent="0">
                  <a:lnSpc>
                    <a:spcPct val="110000"/>
                  </a:lnSpc>
                  <a:spcBef>
                    <a:spcPts val="0"/>
                  </a:spcBef>
                  <a:buNone/>
                  <a:defRPr/>
                </a:pPr>
                <a14:m>
                  <m:oMathPara xmlns:m="http://schemas.openxmlformats.org/officeDocument/2006/math">
                    <m:oMathParaPr>
                      <m:jc m:val="centerGroup"/>
                    </m:oMathParaPr>
                    <m:oMath xmlns:m="http://schemas.openxmlformats.org/officeDocument/2006/math">
                      <m:sSup>
                        <m:sSupPr>
                          <m:ctrlPr>
                            <a:rPr lang="en-US" sz="2000" i="1" dirty="0">
                              <a:latin typeface="Cambria Math" charset="0"/>
                            </a:rPr>
                          </m:ctrlPr>
                        </m:sSupPr>
                        <m:e>
                          <m:sSub>
                            <m:sSubPr>
                              <m:ctrlPr>
                                <a:rPr lang="en-US" sz="2000" i="1" dirty="0">
                                  <a:latin typeface="Cambria Math" charset="0"/>
                                </a:rPr>
                              </m:ctrlPr>
                            </m:sSubPr>
                            <m:e>
                              <m:acc>
                                <m:accPr>
                                  <m:chr m:val="̃"/>
                                  <m:ctrlPr>
                                    <a:rPr lang="en-US" sz="2000" i="1">
                                      <a:latin typeface="Cambria Math" charset="0"/>
                                    </a:rPr>
                                  </m:ctrlPr>
                                </m:accPr>
                                <m:e>
                                  <m:r>
                                    <a:rPr lang="en-US" sz="2000" i="1">
                                      <a:latin typeface="Cambria Math" charset="0"/>
                                    </a:rPr>
                                    <m:t>𝑆</m:t>
                                  </m:r>
                                </m:e>
                              </m:acc>
                            </m:e>
                            <m:sub>
                              <m:r>
                                <a:rPr lang="en-US" sz="2000" i="1" dirty="0">
                                  <a:latin typeface="Cambria Math" charset="0"/>
                                </a:rPr>
                                <m:t>𝑖</m:t>
                              </m:r>
                            </m:sub>
                          </m:sSub>
                        </m:e>
                        <m:sup>
                          <m:r>
                            <a:rPr lang="en-US" sz="2000" i="1" dirty="0">
                              <a:latin typeface="Cambria Math" charset="0"/>
                            </a:rPr>
                            <m:t>𝑧</m:t>
                          </m:r>
                        </m:sup>
                      </m:sSup>
                      <m:r>
                        <a:rPr lang="en-US" sz="2000" i="1" dirty="0">
                          <a:latin typeface="Cambria Math" charset="0"/>
                        </a:rPr>
                        <m:t>=</m:t>
                      </m:r>
                      <m:r>
                        <a:rPr lang="en-US" sz="2000" i="1" dirty="0">
                          <a:latin typeface="Cambria Math" charset="0"/>
                        </a:rPr>
                        <m:t>𝑆</m:t>
                      </m:r>
                      <m:r>
                        <a:rPr lang="en-US" sz="2000" i="1" dirty="0">
                          <a:latin typeface="Cambria Math" charset="0"/>
                        </a:rPr>
                        <m:t>−</m:t>
                      </m:r>
                      <m:sSubSup>
                        <m:sSubSupPr>
                          <m:ctrlPr>
                            <a:rPr lang="en-US" sz="2000" i="1" dirty="0">
                              <a:latin typeface="Cambria Math" charset="0"/>
                            </a:rPr>
                          </m:ctrlPr>
                        </m:sSubSupPr>
                        <m:e>
                          <m:r>
                            <a:rPr lang="en-US" sz="2000" i="1" dirty="0">
                              <a:latin typeface="Cambria Math" charset="0"/>
                            </a:rPr>
                            <m:t>𝑎</m:t>
                          </m:r>
                        </m:e>
                        <m:sub>
                          <m:r>
                            <a:rPr lang="en-US" sz="2000" i="1" dirty="0">
                              <a:latin typeface="Cambria Math" charset="0"/>
                            </a:rPr>
                            <m:t>𝑖</m:t>
                          </m:r>
                        </m:sub>
                        <m:sup>
                          <m:r>
                            <a:rPr lang="en-US" sz="2000" i="1" dirty="0">
                              <a:latin typeface="Cambria Math" charset="0"/>
                              <a:ea typeface="Cambria Math" charset="0"/>
                              <a:cs typeface="Cambria Math" charset="0"/>
                            </a:rPr>
                            <m:t>†</m:t>
                          </m:r>
                        </m:sup>
                      </m:sSubSup>
                      <m:sSub>
                        <m:sSubPr>
                          <m:ctrlPr>
                            <a:rPr lang="en-US" sz="2000" i="1" dirty="0">
                              <a:latin typeface="Cambria Math" charset="0"/>
                            </a:rPr>
                          </m:ctrlPr>
                        </m:sSubPr>
                        <m:e>
                          <m:r>
                            <a:rPr lang="en-US" sz="2000" i="1" dirty="0">
                              <a:latin typeface="Cambria Math" charset="0"/>
                            </a:rPr>
                            <m:t>𝑎</m:t>
                          </m:r>
                        </m:e>
                        <m:sub>
                          <m:r>
                            <a:rPr lang="en-US" sz="2000" i="1" dirty="0">
                              <a:latin typeface="Cambria Math" charset="0"/>
                            </a:rPr>
                            <m:t>𝑖</m:t>
                          </m:r>
                        </m:sub>
                      </m:sSub>
                    </m:oMath>
                    <m:oMath xmlns:m="http://schemas.openxmlformats.org/officeDocument/2006/math">
                      <m:sSubSup>
                        <m:sSubSupPr>
                          <m:ctrlPr>
                            <a:rPr lang="en-US" sz="2000" i="1" dirty="0">
                              <a:latin typeface="Cambria Math" charset="0"/>
                            </a:rPr>
                          </m:ctrlPr>
                        </m:sSubSupPr>
                        <m:e>
                          <m:acc>
                            <m:accPr>
                              <m:chr m:val="̃"/>
                              <m:ctrlPr>
                                <a:rPr lang="en-US" sz="2000" i="1">
                                  <a:latin typeface="Cambria Math" charset="0"/>
                                </a:rPr>
                              </m:ctrlPr>
                            </m:accPr>
                            <m:e>
                              <m:r>
                                <a:rPr lang="en-US" sz="2000" i="1">
                                  <a:latin typeface="Cambria Math" charset="0"/>
                                </a:rPr>
                                <m:t>𝑆</m:t>
                              </m:r>
                            </m:e>
                          </m:acc>
                        </m:e>
                        <m:sub>
                          <m:r>
                            <a:rPr lang="en-US" sz="2000" i="1" dirty="0">
                              <a:latin typeface="Cambria Math" charset="0"/>
                            </a:rPr>
                            <m:t>𝑖</m:t>
                          </m:r>
                        </m:sub>
                        <m:sup>
                          <m:r>
                            <a:rPr lang="en-US" sz="2000" i="1" dirty="0">
                              <a:latin typeface="Cambria Math" charset="0"/>
                            </a:rPr>
                            <m:t>+</m:t>
                          </m:r>
                        </m:sup>
                      </m:sSubSup>
                      <m:r>
                        <a:rPr lang="en-US" sz="2000" i="1" dirty="0">
                          <a:latin typeface="Cambria Math" charset="0"/>
                        </a:rPr>
                        <m:t> =</m:t>
                      </m:r>
                      <m:rad>
                        <m:radPr>
                          <m:degHide m:val="on"/>
                          <m:ctrlPr>
                            <a:rPr lang="en-US" sz="2000" i="1" dirty="0">
                              <a:latin typeface="Cambria Math" charset="0"/>
                            </a:rPr>
                          </m:ctrlPr>
                        </m:radPr>
                        <m:deg/>
                        <m:e>
                          <m:r>
                            <a:rPr lang="en-US" sz="2000" i="1" dirty="0">
                              <a:latin typeface="Cambria Math" charset="0"/>
                            </a:rPr>
                            <m:t>2</m:t>
                          </m:r>
                          <m:r>
                            <a:rPr lang="en-US" sz="2000" i="1" dirty="0">
                              <a:latin typeface="Cambria Math" charset="0"/>
                            </a:rPr>
                            <m:t>𝑆</m:t>
                          </m:r>
                          <m:r>
                            <a:rPr lang="en-US" sz="2000" i="1" dirty="0">
                              <a:latin typeface="Cambria Math" charset="0"/>
                            </a:rPr>
                            <m:t>−</m:t>
                          </m:r>
                          <m:sSubSup>
                            <m:sSubSupPr>
                              <m:ctrlPr>
                                <a:rPr lang="en-US" sz="2000" i="1" dirty="0">
                                  <a:latin typeface="Cambria Math" charset="0"/>
                                </a:rPr>
                              </m:ctrlPr>
                            </m:sSubSupPr>
                            <m:e>
                              <m:r>
                                <a:rPr lang="en-US" sz="2000" i="1" dirty="0">
                                  <a:latin typeface="Cambria Math" charset="0"/>
                                </a:rPr>
                                <m:t>𝑎</m:t>
                              </m:r>
                            </m:e>
                            <m:sub>
                              <m:r>
                                <a:rPr lang="en-US" sz="2000" i="1" dirty="0">
                                  <a:latin typeface="Cambria Math" charset="0"/>
                                </a:rPr>
                                <m:t>𝑖</m:t>
                              </m:r>
                            </m:sub>
                            <m:sup>
                              <m:r>
                                <a:rPr lang="en-US" sz="2000" i="1" dirty="0">
                                  <a:latin typeface="Cambria Math" charset="0"/>
                                  <a:ea typeface="Cambria Math" charset="0"/>
                                  <a:cs typeface="Cambria Math" charset="0"/>
                                </a:rPr>
                                <m:t>†</m:t>
                              </m:r>
                            </m:sup>
                          </m:sSubSup>
                          <m:sSub>
                            <m:sSubPr>
                              <m:ctrlPr>
                                <a:rPr lang="en-US" sz="2000" i="1" dirty="0">
                                  <a:latin typeface="Cambria Math" charset="0"/>
                                </a:rPr>
                              </m:ctrlPr>
                            </m:sSubPr>
                            <m:e>
                              <m:r>
                                <a:rPr lang="en-US" sz="2000" i="1" dirty="0">
                                  <a:latin typeface="Cambria Math" charset="0"/>
                                </a:rPr>
                                <m:t>𝑎</m:t>
                              </m:r>
                            </m:e>
                            <m:sub>
                              <m:r>
                                <a:rPr lang="en-US" sz="2000" i="1" dirty="0">
                                  <a:latin typeface="Cambria Math" charset="0"/>
                                </a:rPr>
                                <m:t>𝑖</m:t>
                              </m:r>
                            </m:sub>
                          </m:sSub>
                        </m:e>
                      </m:rad>
                      <m:sSub>
                        <m:sSubPr>
                          <m:ctrlPr>
                            <a:rPr lang="en-US" sz="2000" i="1" dirty="0">
                              <a:latin typeface="Cambria Math" charset="0"/>
                            </a:rPr>
                          </m:ctrlPr>
                        </m:sSubPr>
                        <m:e>
                          <m:r>
                            <a:rPr lang="en-US" sz="2000" i="1" dirty="0">
                              <a:latin typeface="Cambria Math" charset="0"/>
                            </a:rPr>
                            <m:t> </m:t>
                          </m:r>
                          <m:r>
                            <a:rPr lang="en-US" sz="2000" i="1" dirty="0">
                              <a:latin typeface="Cambria Math" charset="0"/>
                            </a:rPr>
                            <m:t>𝑎</m:t>
                          </m:r>
                        </m:e>
                        <m:sub>
                          <m:r>
                            <a:rPr lang="en-US" sz="2000" i="1" dirty="0">
                              <a:latin typeface="Cambria Math" charset="0"/>
                            </a:rPr>
                            <m:t>𝑖</m:t>
                          </m:r>
                        </m:sub>
                      </m:sSub>
                    </m:oMath>
                  </m:oMathPara>
                </a14:m>
                <a:endParaRPr lang="en-US" sz="2000" dirty="0" smtClean="0"/>
              </a:p>
              <a:p>
                <a:pPr marL="342900" lvl="1" indent="-342900">
                  <a:lnSpc>
                    <a:spcPct val="110000"/>
                  </a:lnSpc>
                  <a:spcBef>
                    <a:spcPts val="0"/>
                  </a:spcBef>
                  <a:buFont typeface="Wingdings" charset="2"/>
                  <a:buChar char="§"/>
                  <a:defRPr/>
                </a:pPr>
                <a:r>
                  <a:rPr lang="en-US" sz="2000" dirty="0"/>
                  <a:t>The Hamiltonian becomes,</a:t>
                </a:r>
              </a:p>
              <a:p>
                <a:pPr marL="342900" lvl="1" indent="-342900">
                  <a:lnSpc>
                    <a:spcPct val="110000"/>
                  </a:lnSpc>
                  <a:spcBef>
                    <a:spcPts val="0"/>
                  </a:spcBef>
                  <a:buFont typeface="Wingdings" charset="2"/>
                  <a:buChar char="§"/>
                  <a:defRPr/>
                </a:pPr>
                <a:endParaRPr lang="en-US" sz="2000" dirty="0"/>
              </a:p>
              <a:p>
                <a:pPr>
                  <a:lnSpc>
                    <a:spcPct val="110000"/>
                  </a:lnSpc>
                  <a:spcBef>
                    <a:spcPts val="0"/>
                  </a:spcBef>
                  <a:buFont typeface="Wingdings" charset="2"/>
                  <a:buChar char="§"/>
                  <a:defRPr/>
                </a:pPr>
                <a:endParaRPr lang="en-US" sz="2000" dirty="0" smtClean="0">
                  <a:solidFill>
                    <a:schemeClr val="tx1">
                      <a:lumMod val="85000"/>
                      <a:lumOff val="15000"/>
                    </a:schemeClr>
                  </a:solidFill>
                </a:endParaRPr>
              </a:p>
              <a:p>
                <a:pPr marL="228600" lvl="1">
                  <a:lnSpc>
                    <a:spcPct val="110000"/>
                  </a:lnSpc>
                  <a:spcBef>
                    <a:spcPts val="0"/>
                  </a:spcBef>
                  <a:buFont typeface="Wingdings" charset="2"/>
                  <a:buChar char="§"/>
                  <a:defRPr/>
                </a:pPr>
                <a:r>
                  <a:rPr lang="en-US" sz="2000" dirty="0">
                    <a:latin typeface="Cambria Math" charset="0"/>
                  </a:rPr>
                  <a:t>The </a:t>
                </a:r>
                <a:r>
                  <a:rPr lang="en-US" sz="2000" dirty="0" err="1" smtClean="0">
                    <a:latin typeface="Cambria Math" charset="0"/>
                  </a:rPr>
                  <a:t>diagonalization</a:t>
                </a:r>
                <a:r>
                  <a:rPr lang="en-US" sz="2000" dirty="0" smtClean="0">
                    <a:latin typeface="Cambria Math" charset="0"/>
                  </a:rPr>
                  <a:t> </a:t>
                </a:r>
                <a:r>
                  <a:rPr lang="en-US" sz="2000" dirty="0">
                    <a:latin typeface="Cambria Math" charset="0"/>
                  </a:rPr>
                  <a:t>is performed with real space </a:t>
                </a:r>
                <a:r>
                  <a:rPr lang="en-US" sz="2000" dirty="0" err="1">
                    <a:latin typeface="Cambria Math" charset="0"/>
                  </a:rPr>
                  <a:t>bogoliubov</a:t>
                </a:r>
                <a:r>
                  <a:rPr lang="en-US" sz="2000" dirty="0">
                    <a:latin typeface="Cambria Math" charset="0"/>
                  </a:rPr>
                  <a:t> transformation</a:t>
                </a:r>
              </a:p>
              <a:p>
                <a:pPr>
                  <a:lnSpc>
                    <a:spcPct val="110000"/>
                  </a:lnSpc>
                  <a:spcBef>
                    <a:spcPts val="0"/>
                  </a:spcBef>
                  <a:buFont typeface="Wingdings" charset="2"/>
                  <a:buChar char="§"/>
                  <a:defRPr/>
                </a:pPr>
                <a:endParaRPr lang="en-US" sz="2000" dirty="0" smtClean="0">
                  <a:solidFill>
                    <a:schemeClr val="tx1">
                      <a:lumMod val="85000"/>
                      <a:lumOff val="15000"/>
                    </a:schemeClr>
                  </a:solidFill>
                </a:endParaRPr>
              </a:p>
              <a:p>
                <a:pPr marL="228600" lvl="1">
                  <a:lnSpc>
                    <a:spcPct val="110000"/>
                  </a:lnSpc>
                  <a:spcBef>
                    <a:spcPts val="0"/>
                  </a:spcBef>
                  <a:buFont typeface="Wingdings" charset="2"/>
                  <a:buChar char="§"/>
                  <a:defRPr/>
                </a:pPr>
                <a:r>
                  <a:rPr lang="en-US" sz="2000" dirty="0">
                    <a:latin typeface="Cambria Math" charset="0"/>
                  </a:rPr>
                  <a:t>The third order terms and the first order terms are combined in a saddle point approximation to give angular fluctuation</a:t>
                </a:r>
              </a:p>
              <a:p>
                <a:pPr>
                  <a:lnSpc>
                    <a:spcPct val="110000"/>
                  </a:lnSpc>
                  <a:spcBef>
                    <a:spcPts val="0"/>
                  </a:spcBef>
                  <a:buFont typeface="Wingdings" charset="2"/>
                  <a:buChar char="§"/>
                  <a:defRPr/>
                </a:pPr>
                <a:endParaRPr lang="en-US" sz="2000" dirty="0">
                  <a:solidFill>
                    <a:schemeClr val="tx1">
                      <a:lumMod val="85000"/>
                      <a:lumOff val="15000"/>
                    </a:schemeClr>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7990" y="1975417"/>
                <a:ext cx="10515600" cy="4578116"/>
              </a:xfrm>
              <a:blipFill rotWithShape="0">
                <a:blip r:embed="rId2"/>
                <a:stretch>
                  <a:fillRect l="-522" t="-399" r="-1101" b="-666"/>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a:solidFill>
                  <a:schemeClr val="tx1">
                    <a:lumMod val="65000"/>
                    <a:lumOff val="35000"/>
                  </a:schemeClr>
                </a:solidFill>
                <a:latin typeface="+mj-lt"/>
              </a:rPr>
              <a:t>Spin-wave theory</a:t>
            </a:r>
          </a:p>
        </p:txBody>
      </p:sp>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p:cNvSpPr/>
              <p:nvPr/>
            </p:nvSpPr>
            <p:spPr>
              <a:xfrm>
                <a:off x="1069730" y="4437390"/>
                <a:ext cx="9850315" cy="514885"/>
              </a:xfrm>
              <a:prstGeom prst="rect">
                <a:avLst/>
              </a:prstGeom>
            </p:spPr>
            <p:txBody>
              <a:bodyPr wrap="square">
                <a:spAutoFit/>
              </a:bodyPr>
              <a:lstStyle/>
              <a:p>
                <a:pPr lvl="1"/>
                <a14:m>
                  <m:oMath xmlns:m="http://schemas.openxmlformats.org/officeDocument/2006/math">
                    <m:r>
                      <a:rPr lang="en-US" sz="2000" i="1" smtClean="0">
                        <a:latin typeface="Cambria Math" charset="0"/>
                      </a:rPr>
                      <m:t>𝐻</m:t>
                    </m:r>
                    <m:r>
                      <a:rPr lang="en-US" sz="2000" i="1" smtClean="0">
                        <a:latin typeface="Cambria Math" charset="0"/>
                      </a:rPr>
                      <m:t>=</m:t>
                    </m:r>
                    <m:sSub>
                      <m:sSubPr>
                        <m:ctrlPr>
                          <a:rPr lang="en-US" sz="2000" i="1">
                            <a:latin typeface="Cambria Math" charset="0"/>
                          </a:rPr>
                        </m:ctrlPr>
                      </m:sSubPr>
                      <m:e>
                        <m:r>
                          <a:rPr lang="en-US" sz="2000" i="1">
                            <a:latin typeface="Cambria Math" charset="0"/>
                          </a:rPr>
                          <m:t>𝐻</m:t>
                        </m:r>
                      </m:e>
                      <m:sub>
                        <m:r>
                          <a:rPr lang="en-US" sz="2000" i="1">
                            <a:latin typeface="Cambria Math" charset="0"/>
                          </a:rPr>
                          <m:t>0</m:t>
                        </m:r>
                      </m:sub>
                    </m:sSub>
                    <m:r>
                      <a:rPr lang="en-US" sz="2000" i="1">
                        <a:latin typeface="Cambria Math" charset="0"/>
                      </a:rPr>
                      <m:t>+</m:t>
                    </m:r>
                    <m:nary>
                      <m:naryPr>
                        <m:chr m:val="∑"/>
                        <m:supHide m:val="on"/>
                        <m:ctrlPr>
                          <a:rPr lang="en-US" sz="2000" i="1">
                            <a:latin typeface="Cambria Math" charset="0"/>
                          </a:rPr>
                        </m:ctrlPr>
                      </m:naryPr>
                      <m:sub>
                        <m:r>
                          <a:rPr lang="en-US" sz="2000" i="1">
                            <a:latin typeface="Cambria Math" charset="0"/>
                          </a:rPr>
                          <m:t>𝑖</m:t>
                        </m:r>
                      </m:sub>
                      <m:sup/>
                      <m:e>
                        <m:sSubSup>
                          <m:sSubSupPr>
                            <m:ctrlPr>
                              <a:rPr lang="en-US" sz="2000" i="1">
                                <a:latin typeface="Cambria Math" charset="0"/>
                              </a:rPr>
                            </m:ctrlPr>
                          </m:sSubSupPr>
                          <m:e>
                            <m:r>
                              <a:rPr lang="en-US" sz="2000" i="1">
                                <a:latin typeface="Cambria Math" charset="0"/>
                              </a:rPr>
                              <m:t>𝐾</m:t>
                            </m:r>
                          </m:e>
                          <m:sub>
                            <m:r>
                              <a:rPr lang="en-US" sz="2000" i="1">
                                <a:latin typeface="Cambria Math" charset="0"/>
                              </a:rPr>
                              <m:t>𝑖</m:t>
                            </m:r>
                          </m:sub>
                          <m:sup>
                            <m:d>
                              <m:dPr>
                                <m:ctrlPr>
                                  <a:rPr lang="en-US" sz="2000" i="1">
                                    <a:latin typeface="Cambria Math" charset="0"/>
                                  </a:rPr>
                                </m:ctrlPr>
                              </m:dPr>
                              <m:e>
                                <m:r>
                                  <a:rPr lang="en-US" sz="2000" i="1">
                                    <a:latin typeface="Cambria Math" charset="0"/>
                                  </a:rPr>
                                  <m:t>1</m:t>
                                </m:r>
                              </m:e>
                            </m:d>
                          </m:sup>
                        </m:sSubSup>
                        <m:sSub>
                          <m:sSubPr>
                            <m:ctrlPr>
                              <a:rPr lang="en-US" sz="2000" i="1">
                                <a:latin typeface="Cambria Math" charset="0"/>
                              </a:rPr>
                            </m:ctrlPr>
                          </m:sSubPr>
                          <m:e>
                            <m:r>
                              <a:rPr lang="en-US" sz="2000" i="1">
                                <a:latin typeface="Cambria Math" charset="0"/>
                              </a:rPr>
                              <m:t>𝛾</m:t>
                            </m:r>
                          </m:e>
                          <m:sub>
                            <m:r>
                              <a:rPr lang="en-US" sz="2000" i="1">
                                <a:latin typeface="Cambria Math" charset="0"/>
                              </a:rPr>
                              <m:t>𝑖</m:t>
                            </m:r>
                          </m:sub>
                        </m:sSub>
                      </m:e>
                    </m:nary>
                    <m:r>
                      <a:rPr lang="en-US" sz="2000" i="1">
                        <a:latin typeface="Cambria Math" charset="0"/>
                      </a:rPr>
                      <m:t>+</m:t>
                    </m:r>
                    <m:nary>
                      <m:naryPr>
                        <m:chr m:val="∑"/>
                        <m:supHide m:val="on"/>
                        <m:ctrlPr>
                          <a:rPr lang="en-US" sz="2000" i="1">
                            <a:latin typeface="Cambria Math" charset="0"/>
                          </a:rPr>
                        </m:ctrlPr>
                      </m:naryPr>
                      <m:sub>
                        <m:r>
                          <a:rPr lang="en-US" sz="2000" i="1">
                            <a:latin typeface="Cambria Math" charset="0"/>
                          </a:rPr>
                          <m:t>𝑖</m:t>
                        </m:r>
                        <m:r>
                          <a:rPr lang="en-US" sz="2000" i="1">
                            <a:latin typeface="Cambria Math" charset="0"/>
                          </a:rPr>
                          <m:t>,</m:t>
                        </m:r>
                        <m:r>
                          <a:rPr lang="en-US" sz="2000" i="1">
                            <a:latin typeface="Cambria Math" charset="0"/>
                          </a:rPr>
                          <m:t>𝑗</m:t>
                        </m:r>
                      </m:sub>
                      <m:sup/>
                      <m:e>
                        <m:sSubSup>
                          <m:sSubSupPr>
                            <m:ctrlPr>
                              <a:rPr lang="en-US" sz="2000" i="1">
                                <a:latin typeface="Cambria Math" charset="0"/>
                              </a:rPr>
                            </m:ctrlPr>
                          </m:sSubSupPr>
                          <m:e>
                            <m:r>
                              <a:rPr lang="en-US" sz="2000" i="1">
                                <a:latin typeface="Cambria Math" charset="0"/>
                              </a:rPr>
                              <m:t>𝐾</m:t>
                            </m:r>
                          </m:e>
                          <m:sub>
                            <m:r>
                              <a:rPr lang="en-US" sz="2000" i="1">
                                <a:latin typeface="Cambria Math" charset="0"/>
                              </a:rPr>
                              <m:t>𝑖</m:t>
                            </m:r>
                            <m:r>
                              <a:rPr lang="en-US" sz="2000" i="1">
                                <a:latin typeface="Cambria Math" charset="0"/>
                              </a:rPr>
                              <m:t>,</m:t>
                            </m:r>
                            <m:r>
                              <a:rPr lang="en-US" sz="2000" i="1">
                                <a:latin typeface="Cambria Math" charset="0"/>
                              </a:rPr>
                              <m:t>𝑗</m:t>
                            </m:r>
                          </m:sub>
                          <m:sup>
                            <m:d>
                              <m:dPr>
                                <m:ctrlPr>
                                  <a:rPr lang="en-US" sz="2000" i="1">
                                    <a:latin typeface="Cambria Math" charset="0"/>
                                  </a:rPr>
                                </m:ctrlPr>
                              </m:dPr>
                              <m:e>
                                <m:r>
                                  <a:rPr lang="en-US" sz="2000" i="1">
                                    <a:latin typeface="Cambria Math" charset="0"/>
                                  </a:rPr>
                                  <m:t>2</m:t>
                                </m:r>
                              </m:e>
                            </m:d>
                          </m:sup>
                        </m:sSubSup>
                        <m:sSub>
                          <m:sSubPr>
                            <m:ctrlPr>
                              <a:rPr lang="en-US" sz="2000" i="1">
                                <a:latin typeface="Cambria Math" charset="0"/>
                              </a:rPr>
                            </m:ctrlPr>
                          </m:sSubPr>
                          <m:e>
                            <m:r>
                              <a:rPr lang="en-US" sz="2000" i="1">
                                <a:latin typeface="Cambria Math" charset="0"/>
                              </a:rPr>
                              <m:t>𝛾</m:t>
                            </m:r>
                          </m:e>
                          <m:sub>
                            <m:r>
                              <a:rPr lang="en-US" sz="2000" i="1">
                                <a:latin typeface="Cambria Math" charset="0"/>
                              </a:rPr>
                              <m:t>𝑖</m:t>
                            </m:r>
                          </m:sub>
                        </m:sSub>
                        <m:sSub>
                          <m:sSubPr>
                            <m:ctrlPr>
                              <a:rPr lang="en-US" sz="2000" i="1">
                                <a:latin typeface="Cambria Math" charset="0"/>
                              </a:rPr>
                            </m:ctrlPr>
                          </m:sSubPr>
                          <m:e>
                            <m:r>
                              <a:rPr lang="en-US" sz="2000" i="1">
                                <a:latin typeface="Cambria Math" charset="0"/>
                              </a:rPr>
                              <m:t>𝛾</m:t>
                            </m:r>
                          </m:e>
                          <m:sub>
                            <m:r>
                              <a:rPr lang="en-US" sz="2000" i="1">
                                <a:latin typeface="Cambria Math" charset="0"/>
                              </a:rPr>
                              <m:t>𝑗</m:t>
                            </m:r>
                          </m:sub>
                        </m:sSub>
                      </m:e>
                    </m:nary>
                    <m:r>
                      <a:rPr lang="en-US" sz="2000" i="1">
                        <a:latin typeface="Cambria Math" charset="0"/>
                      </a:rPr>
                      <m:t>+</m:t>
                    </m:r>
                    <m:nary>
                      <m:naryPr>
                        <m:chr m:val="∑"/>
                        <m:supHide m:val="on"/>
                        <m:ctrlPr>
                          <a:rPr lang="en-US" sz="2000" i="1">
                            <a:latin typeface="Cambria Math" charset="0"/>
                          </a:rPr>
                        </m:ctrlPr>
                      </m:naryPr>
                      <m:sub>
                        <m:r>
                          <a:rPr lang="en-US" sz="2000" i="1">
                            <a:latin typeface="Cambria Math" charset="0"/>
                          </a:rPr>
                          <m:t>𝑖</m:t>
                        </m:r>
                        <m:r>
                          <a:rPr lang="en-US" sz="2000" i="1">
                            <a:latin typeface="Cambria Math" charset="0"/>
                          </a:rPr>
                          <m:t>,</m:t>
                        </m:r>
                        <m:r>
                          <a:rPr lang="en-US" sz="2000" i="1">
                            <a:latin typeface="Cambria Math" charset="0"/>
                          </a:rPr>
                          <m:t>𝑗</m:t>
                        </m:r>
                        <m:r>
                          <a:rPr lang="en-US" sz="2000" i="1">
                            <a:latin typeface="Cambria Math" charset="0"/>
                          </a:rPr>
                          <m:t>,</m:t>
                        </m:r>
                        <m:r>
                          <a:rPr lang="en-US" sz="2000" i="1">
                            <a:latin typeface="Cambria Math" charset="0"/>
                          </a:rPr>
                          <m:t>𝑘</m:t>
                        </m:r>
                      </m:sub>
                      <m:sup/>
                      <m:e>
                        <m:sSubSup>
                          <m:sSubSupPr>
                            <m:ctrlPr>
                              <a:rPr lang="en-US" sz="2000" i="1">
                                <a:latin typeface="Cambria Math" charset="0"/>
                              </a:rPr>
                            </m:ctrlPr>
                          </m:sSubSupPr>
                          <m:e>
                            <m:r>
                              <a:rPr lang="en-US" sz="2000" i="1">
                                <a:latin typeface="Cambria Math" charset="0"/>
                              </a:rPr>
                              <m:t>𝐾</m:t>
                            </m:r>
                          </m:e>
                          <m:sub>
                            <m:r>
                              <a:rPr lang="en-US" sz="2000" i="1">
                                <a:latin typeface="Cambria Math" charset="0"/>
                              </a:rPr>
                              <m:t>𝑖</m:t>
                            </m:r>
                            <m:r>
                              <a:rPr lang="en-US" sz="2000" i="1">
                                <a:latin typeface="Cambria Math" charset="0"/>
                              </a:rPr>
                              <m:t>,</m:t>
                            </m:r>
                            <m:r>
                              <a:rPr lang="en-US" sz="2000" i="1">
                                <a:latin typeface="Cambria Math" charset="0"/>
                              </a:rPr>
                              <m:t>𝑗</m:t>
                            </m:r>
                            <m:r>
                              <a:rPr lang="en-US" sz="2000" i="1">
                                <a:latin typeface="Cambria Math" charset="0"/>
                              </a:rPr>
                              <m:t>,</m:t>
                            </m:r>
                            <m:r>
                              <a:rPr lang="en-US" sz="2000" i="1">
                                <a:latin typeface="Cambria Math" charset="0"/>
                              </a:rPr>
                              <m:t>𝑘</m:t>
                            </m:r>
                          </m:sub>
                          <m:sup>
                            <m:d>
                              <m:dPr>
                                <m:ctrlPr>
                                  <a:rPr lang="en-US" sz="2000" i="1">
                                    <a:latin typeface="Cambria Math" charset="0"/>
                                  </a:rPr>
                                </m:ctrlPr>
                              </m:dPr>
                              <m:e>
                                <m:r>
                                  <a:rPr lang="en-US" sz="2000" i="1">
                                    <a:latin typeface="Cambria Math" charset="0"/>
                                  </a:rPr>
                                  <m:t>3</m:t>
                                </m:r>
                              </m:e>
                            </m:d>
                          </m:sup>
                        </m:sSubSup>
                        <m:sSub>
                          <m:sSubPr>
                            <m:ctrlPr>
                              <a:rPr lang="en-US" sz="2000" i="1">
                                <a:latin typeface="Cambria Math" charset="0"/>
                              </a:rPr>
                            </m:ctrlPr>
                          </m:sSubPr>
                          <m:e>
                            <m:r>
                              <a:rPr lang="en-US" sz="2000" i="1">
                                <a:latin typeface="Cambria Math" charset="0"/>
                              </a:rPr>
                              <m:t>𝛾</m:t>
                            </m:r>
                          </m:e>
                          <m:sub>
                            <m:r>
                              <a:rPr lang="en-US" sz="2000" i="1">
                                <a:latin typeface="Cambria Math" charset="0"/>
                              </a:rPr>
                              <m:t>𝑖</m:t>
                            </m:r>
                          </m:sub>
                        </m:sSub>
                        <m:sSub>
                          <m:sSubPr>
                            <m:ctrlPr>
                              <a:rPr lang="en-US" sz="2000" i="1">
                                <a:latin typeface="Cambria Math" charset="0"/>
                              </a:rPr>
                            </m:ctrlPr>
                          </m:sSubPr>
                          <m:e>
                            <m:r>
                              <a:rPr lang="en-US" sz="2000" i="1">
                                <a:latin typeface="Cambria Math" charset="0"/>
                              </a:rPr>
                              <m:t>𝛾</m:t>
                            </m:r>
                          </m:e>
                          <m:sub>
                            <m:r>
                              <a:rPr lang="en-US" sz="2000" i="1">
                                <a:latin typeface="Cambria Math" charset="0"/>
                              </a:rPr>
                              <m:t>𝑗</m:t>
                            </m:r>
                          </m:sub>
                        </m:sSub>
                        <m:sSub>
                          <m:sSubPr>
                            <m:ctrlPr>
                              <a:rPr lang="en-US" sz="2000" i="1">
                                <a:latin typeface="Cambria Math" charset="0"/>
                              </a:rPr>
                            </m:ctrlPr>
                          </m:sSubPr>
                          <m:e>
                            <m:r>
                              <a:rPr lang="en-US" sz="2000" i="1">
                                <a:latin typeface="Cambria Math" charset="0"/>
                              </a:rPr>
                              <m:t>𝛾</m:t>
                            </m:r>
                          </m:e>
                          <m:sub>
                            <m:r>
                              <a:rPr lang="en-US" sz="2000" i="1">
                                <a:latin typeface="Cambria Math" charset="0"/>
                              </a:rPr>
                              <m:t>𝑘</m:t>
                            </m:r>
                          </m:sub>
                        </m:sSub>
                      </m:e>
                    </m:nary>
                    <m:r>
                      <a:rPr lang="en-US" sz="2000" b="0" i="1" smtClean="0">
                        <a:latin typeface="Cambria Math" charset="0"/>
                      </a:rPr>
                      <m:t>+</m:t>
                    </m:r>
                    <m:r>
                      <a:rPr lang="en-US" sz="2000" b="0" i="1" smtClean="0">
                        <a:latin typeface="Cambria Math" charset="0"/>
                      </a:rPr>
                      <m:t>𝑂</m:t>
                    </m:r>
                    <m:r>
                      <a:rPr lang="en-US" sz="2000" b="0" i="1" smtClean="0">
                        <a:latin typeface="Cambria Math" charset="0"/>
                      </a:rPr>
                      <m:t>(</m:t>
                    </m:r>
                    <m:sSup>
                      <m:sSupPr>
                        <m:ctrlPr>
                          <a:rPr lang="en-US" sz="2000" b="0" i="1" smtClean="0">
                            <a:latin typeface="Cambria Math" charset="0"/>
                          </a:rPr>
                        </m:ctrlPr>
                      </m:sSupPr>
                      <m:e>
                        <m:r>
                          <a:rPr lang="en-US" sz="2000" b="0" i="1" smtClean="0">
                            <a:latin typeface="Cambria Math" charset="0"/>
                          </a:rPr>
                          <m:t>𝛾</m:t>
                        </m:r>
                      </m:e>
                      <m:sup>
                        <m:r>
                          <a:rPr lang="en-US" sz="2000" b="0" i="1" smtClean="0">
                            <a:latin typeface="Cambria Math" charset="0"/>
                          </a:rPr>
                          <m:t>4</m:t>
                        </m:r>
                      </m:sup>
                    </m:sSup>
                    <m:r>
                      <a:rPr lang="en-US" sz="2000" b="0" i="1" smtClean="0">
                        <a:latin typeface="Cambria Math" charset="0"/>
                      </a:rPr>
                      <m:t>)</m:t>
                    </m:r>
                  </m:oMath>
                </a14:m>
                <a:r>
                  <a:rPr lang="en-US" sz="2000" dirty="0"/>
                  <a:t>     with </a:t>
                </a:r>
                <a14:m>
                  <m:oMath xmlns:m="http://schemas.openxmlformats.org/officeDocument/2006/math">
                    <m:acc>
                      <m:accPr>
                        <m:chr m:val="⃗"/>
                        <m:ctrlPr>
                          <a:rPr lang="en-US" sz="2000" i="1">
                            <a:latin typeface="Cambria Math" charset="0"/>
                          </a:rPr>
                        </m:ctrlPr>
                      </m:accPr>
                      <m:e>
                        <m:r>
                          <a:rPr lang="en-US" sz="2000" i="1">
                            <a:latin typeface="Cambria Math" charset="0"/>
                          </a:rPr>
                          <m:t>𝛾</m:t>
                        </m:r>
                      </m:e>
                    </m:acc>
                    <m:r>
                      <a:rPr lang="en-US" sz="2000" i="1" dirty="0">
                        <a:latin typeface="Cambria Math" charset="0"/>
                      </a:rPr>
                      <m:t>=</m:t>
                    </m:r>
                    <m:d>
                      <m:dPr>
                        <m:ctrlPr>
                          <a:rPr lang="en-US" sz="2000" i="1" dirty="0">
                            <a:latin typeface="Cambria Math" charset="0"/>
                          </a:rPr>
                        </m:ctrlPr>
                      </m:dPr>
                      <m:e>
                        <m:acc>
                          <m:accPr>
                            <m:chr m:val="⃗"/>
                            <m:ctrlPr>
                              <a:rPr lang="en-US" sz="2000" i="1" dirty="0">
                                <a:latin typeface="Cambria Math" charset="0"/>
                              </a:rPr>
                            </m:ctrlPr>
                          </m:accPr>
                          <m:e>
                            <m:r>
                              <a:rPr lang="en-US" sz="2000" i="1" dirty="0">
                                <a:latin typeface="Cambria Math" charset="0"/>
                              </a:rPr>
                              <m:t>𝑎</m:t>
                            </m:r>
                          </m:e>
                        </m:acc>
                        <m:r>
                          <a:rPr lang="en-US" sz="2000" i="1" dirty="0">
                            <a:latin typeface="Cambria Math" charset="0"/>
                          </a:rPr>
                          <m:t>,</m:t>
                        </m:r>
                        <m:sSup>
                          <m:sSupPr>
                            <m:ctrlPr>
                              <a:rPr lang="en-US" sz="2000" i="1" dirty="0">
                                <a:latin typeface="Cambria Math" charset="0"/>
                              </a:rPr>
                            </m:ctrlPr>
                          </m:sSupPr>
                          <m:e>
                            <m:acc>
                              <m:accPr>
                                <m:chr m:val="⃗"/>
                                <m:ctrlPr>
                                  <a:rPr lang="en-US" sz="2000" i="1" dirty="0">
                                    <a:latin typeface="Cambria Math" charset="0"/>
                                  </a:rPr>
                                </m:ctrlPr>
                              </m:accPr>
                              <m:e>
                                <m:r>
                                  <a:rPr lang="en-US" sz="2000" i="1" dirty="0">
                                    <a:latin typeface="Cambria Math" charset="0"/>
                                  </a:rPr>
                                  <m:t>𝑎</m:t>
                                </m:r>
                              </m:e>
                            </m:acc>
                          </m:e>
                          <m:sup>
                            <m:r>
                              <a:rPr lang="sk-SK" sz="2000" i="1" dirty="0">
                                <a:latin typeface="Cambria Math" charset="0"/>
                                <a:ea typeface="Cambria Math" charset="0"/>
                                <a:cs typeface="Cambria Math" charset="0"/>
                              </a:rPr>
                              <m:t>†</m:t>
                            </m:r>
                          </m:sup>
                        </m:sSup>
                      </m:e>
                    </m:d>
                  </m:oMath>
                </a14:m>
                <a:endParaRPr lang="en-US" sz="2000" i="1" dirty="0">
                  <a:latin typeface="Cambria Math"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069730" y="4437390"/>
                <a:ext cx="9850315" cy="514885"/>
              </a:xfrm>
              <a:prstGeom prst="rect">
                <a:avLst/>
              </a:prstGeom>
              <a:blipFill rotWithShape="0">
                <a:blip r:embed="rId3"/>
                <a:stretch>
                  <a:fillRect t="-83333" b="-134524"/>
                </a:stretch>
              </a:blipFill>
            </p:spPr>
            <p:txBody>
              <a:bodyPr/>
              <a:lstStyle/>
              <a:p>
                <a:r>
                  <a:rPr lang="en-US">
                    <a:noFill/>
                  </a:rPr>
                  <a:t> </a:t>
                </a:r>
              </a:p>
            </p:txBody>
          </p:sp>
        </mc:Fallback>
      </mc:AlternateContent>
    </p:spTree>
    <p:extLst>
      <p:ext uri="{BB962C8B-B14F-4D97-AF65-F5344CB8AC3E}">
        <p14:creationId xmlns:p14="http://schemas.microsoft.com/office/powerpoint/2010/main" val="1035330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7989" y="1975417"/>
                <a:ext cx="10658917" cy="4815939"/>
              </a:xfrm>
            </p:spPr>
            <p:txBody>
              <a:bodyPr>
                <a:normAutofit/>
              </a:bodyPr>
              <a:lstStyle/>
              <a:p>
                <a:pPr>
                  <a:lnSpc>
                    <a:spcPct val="120000"/>
                  </a:lnSpc>
                  <a:spcBef>
                    <a:spcPts val="0"/>
                  </a:spcBef>
                  <a:buFont typeface="Wingdings" charset="2"/>
                  <a:buChar char="§"/>
                  <a:defRPr/>
                </a:pPr>
                <a:r>
                  <a:rPr lang="en-US" sz="1800" dirty="0" smtClean="0">
                    <a:solidFill>
                      <a:schemeClr val="tx1">
                        <a:lumMod val="85000"/>
                        <a:lumOff val="15000"/>
                      </a:schemeClr>
                    </a:solidFill>
                  </a:rPr>
                  <a:t>Slave fermion representation to capture the spin singlet formation.</a:t>
                </a:r>
                <a:endParaRPr lang="en-US" sz="1800" b="0" i="1" dirty="0" smtClean="0">
                  <a:solidFill>
                    <a:schemeClr val="tx1">
                      <a:lumMod val="85000"/>
                      <a:lumOff val="15000"/>
                    </a:schemeClr>
                  </a:solidFill>
                  <a:latin typeface="Cambria Math" charset="0"/>
                </a:endParaRPr>
              </a:p>
              <a:p>
                <a:pPr marL="0" indent="0">
                  <a:lnSpc>
                    <a:spcPct val="120000"/>
                  </a:lnSpc>
                  <a:spcBef>
                    <a:spcPts val="0"/>
                  </a:spcBef>
                  <a:buNone/>
                  <a:defRPr/>
                </a:pPr>
                <a14:m>
                  <m:oMathPara xmlns:m="http://schemas.openxmlformats.org/officeDocument/2006/math">
                    <m:oMathParaPr>
                      <m:jc m:val="centerGroup"/>
                    </m:oMathParaPr>
                    <m:oMath xmlns:m="http://schemas.openxmlformats.org/officeDocument/2006/math">
                      <m:sSub>
                        <m:sSubPr>
                          <m:ctrlPr>
                            <a:rPr lang="en-US" sz="1800" b="0" i="1" dirty="0" smtClean="0">
                              <a:solidFill>
                                <a:schemeClr val="tx1">
                                  <a:lumMod val="85000"/>
                                  <a:lumOff val="15000"/>
                                </a:schemeClr>
                              </a:solidFill>
                              <a:latin typeface="Cambria Math" charset="0"/>
                            </a:rPr>
                          </m:ctrlPr>
                        </m:sSubPr>
                        <m:e>
                          <m:acc>
                            <m:accPr>
                              <m:chr m:val="⃗"/>
                              <m:ctrlPr>
                                <a:rPr lang="en-US" sz="1800" b="0" i="1" smtClean="0">
                                  <a:solidFill>
                                    <a:schemeClr val="tx1">
                                      <a:lumMod val="85000"/>
                                      <a:lumOff val="15000"/>
                                    </a:schemeClr>
                                  </a:solidFill>
                                  <a:latin typeface="Cambria Math" charset="0"/>
                                </a:rPr>
                              </m:ctrlPr>
                            </m:accPr>
                            <m:e>
                              <m:r>
                                <a:rPr lang="en-US" sz="1800" b="0" i="1" smtClean="0">
                                  <a:solidFill>
                                    <a:schemeClr val="tx1">
                                      <a:lumMod val="85000"/>
                                      <a:lumOff val="15000"/>
                                    </a:schemeClr>
                                  </a:solidFill>
                                  <a:latin typeface="Cambria Math" charset="0"/>
                                </a:rPr>
                                <m:t>𝑆</m:t>
                              </m:r>
                            </m:e>
                          </m:acc>
                        </m:e>
                        <m:sub>
                          <m:r>
                            <a:rPr lang="en-US" sz="1800" b="0" i="1" dirty="0" smtClean="0">
                              <a:solidFill>
                                <a:schemeClr val="tx1">
                                  <a:lumMod val="85000"/>
                                  <a:lumOff val="15000"/>
                                </a:schemeClr>
                              </a:solidFill>
                              <a:latin typeface="Cambria Math" charset="0"/>
                            </a:rPr>
                            <m:t>𝑖</m:t>
                          </m:r>
                        </m:sub>
                      </m:sSub>
                      <m:r>
                        <a:rPr lang="en-US" sz="1800" b="0" i="1" dirty="0" smtClean="0">
                          <a:solidFill>
                            <a:schemeClr val="tx1">
                              <a:lumMod val="85000"/>
                              <a:lumOff val="15000"/>
                            </a:schemeClr>
                          </a:solidFill>
                          <a:latin typeface="Cambria Math" charset="0"/>
                        </a:rPr>
                        <m:t>=</m:t>
                      </m:r>
                      <m:f>
                        <m:fPr>
                          <m:ctrlPr>
                            <a:rPr lang="en-US" sz="1800" b="0" i="1" dirty="0" smtClean="0">
                              <a:solidFill>
                                <a:schemeClr val="tx1">
                                  <a:lumMod val="85000"/>
                                  <a:lumOff val="15000"/>
                                </a:schemeClr>
                              </a:solidFill>
                              <a:latin typeface="Cambria Math" charset="0"/>
                            </a:rPr>
                          </m:ctrlPr>
                        </m:fPr>
                        <m:num>
                          <m:r>
                            <a:rPr lang="en-US" sz="1800" b="0" i="1" dirty="0" smtClean="0">
                              <a:solidFill>
                                <a:schemeClr val="tx1">
                                  <a:lumMod val="85000"/>
                                  <a:lumOff val="15000"/>
                                </a:schemeClr>
                              </a:solidFill>
                              <a:latin typeface="Cambria Math" charset="0"/>
                            </a:rPr>
                            <m:t>1</m:t>
                          </m:r>
                        </m:num>
                        <m:den>
                          <m:r>
                            <a:rPr lang="en-US" sz="1800" b="0" i="1" dirty="0" smtClean="0">
                              <a:solidFill>
                                <a:schemeClr val="tx1">
                                  <a:lumMod val="85000"/>
                                  <a:lumOff val="15000"/>
                                </a:schemeClr>
                              </a:solidFill>
                              <a:latin typeface="Cambria Math" charset="0"/>
                            </a:rPr>
                            <m:t>2</m:t>
                          </m:r>
                        </m:den>
                      </m:f>
                      <m:nary>
                        <m:naryPr>
                          <m:chr m:val="∑"/>
                          <m:supHide m:val="on"/>
                          <m:ctrlPr>
                            <a:rPr lang="en-US" sz="1800" b="0" i="1" dirty="0" smtClean="0">
                              <a:solidFill>
                                <a:schemeClr val="tx1">
                                  <a:lumMod val="85000"/>
                                  <a:lumOff val="15000"/>
                                </a:schemeClr>
                              </a:solidFill>
                              <a:latin typeface="Cambria Math" charset="0"/>
                            </a:rPr>
                          </m:ctrlPr>
                        </m:naryPr>
                        <m:sub>
                          <m:r>
                            <a:rPr lang="en-US" sz="1800" b="0" i="1" dirty="0" smtClean="0">
                              <a:solidFill>
                                <a:schemeClr val="tx1">
                                  <a:lumMod val="85000"/>
                                  <a:lumOff val="15000"/>
                                </a:schemeClr>
                              </a:solidFill>
                              <a:latin typeface="Cambria Math" charset="0"/>
                            </a:rPr>
                            <m:t>𝛼</m:t>
                          </m:r>
                          <m:r>
                            <a:rPr lang="en-US" sz="1800" b="0" i="1" dirty="0" smtClean="0">
                              <a:solidFill>
                                <a:schemeClr val="tx1">
                                  <a:lumMod val="85000"/>
                                  <a:lumOff val="15000"/>
                                </a:schemeClr>
                              </a:solidFill>
                              <a:latin typeface="Cambria Math" charset="0"/>
                            </a:rPr>
                            <m:t>,</m:t>
                          </m:r>
                          <m:r>
                            <a:rPr lang="en-US" sz="1800" b="0" i="1" dirty="0" smtClean="0">
                              <a:solidFill>
                                <a:schemeClr val="tx1">
                                  <a:lumMod val="85000"/>
                                  <a:lumOff val="15000"/>
                                </a:schemeClr>
                              </a:solidFill>
                              <a:latin typeface="Cambria Math" charset="0"/>
                            </a:rPr>
                            <m:t>𝛽</m:t>
                          </m:r>
                        </m:sub>
                        <m:sup/>
                        <m:e>
                          <m:sSubSup>
                            <m:sSubSupPr>
                              <m:ctrlPr>
                                <a:rPr lang="en-US" sz="1800" i="1" dirty="0">
                                  <a:solidFill>
                                    <a:schemeClr val="tx1">
                                      <a:lumMod val="85000"/>
                                      <a:lumOff val="15000"/>
                                    </a:schemeClr>
                                  </a:solidFill>
                                  <a:latin typeface="Cambria Math" charset="0"/>
                                </a:rPr>
                              </m:ctrlPr>
                            </m:sSubSupPr>
                            <m:e>
                              <m:r>
                                <a:rPr lang="en-US" sz="1800" i="1" dirty="0">
                                  <a:solidFill>
                                    <a:schemeClr val="tx1">
                                      <a:lumMod val="85000"/>
                                      <a:lumOff val="15000"/>
                                    </a:schemeClr>
                                  </a:solidFill>
                                  <a:latin typeface="Cambria Math" charset="0"/>
                                </a:rPr>
                                <m:t>𝑓</m:t>
                              </m:r>
                            </m:e>
                            <m:sub>
                              <m:r>
                                <a:rPr lang="en-US" sz="1800" b="0" i="1" dirty="0" smtClean="0">
                                  <a:solidFill>
                                    <a:schemeClr val="tx1">
                                      <a:lumMod val="85000"/>
                                      <a:lumOff val="15000"/>
                                    </a:schemeClr>
                                  </a:solidFill>
                                  <a:latin typeface="Cambria Math" charset="0"/>
                                </a:rPr>
                                <m:t>𝑖</m:t>
                              </m:r>
                              <m:r>
                                <a:rPr lang="en-US" sz="1800" i="1" dirty="0">
                                  <a:solidFill>
                                    <a:schemeClr val="tx1">
                                      <a:lumMod val="85000"/>
                                      <a:lumOff val="15000"/>
                                    </a:schemeClr>
                                  </a:solidFill>
                                  <a:latin typeface="Cambria Math" charset="0"/>
                                </a:rPr>
                                <m:t>𝛼</m:t>
                              </m:r>
                            </m:sub>
                            <m:sup>
                              <m:r>
                                <a:rPr lang="sk-SK" sz="1800" i="1" dirty="0">
                                  <a:solidFill>
                                    <a:schemeClr val="tx1">
                                      <a:lumMod val="85000"/>
                                      <a:lumOff val="15000"/>
                                    </a:schemeClr>
                                  </a:solidFill>
                                  <a:latin typeface="Cambria Math" charset="0"/>
                                  <a:ea typeface="Cambria Math" charset="0"/>
                                  <a:cs typeface="Cambria Math" charset="0"/>
                                </a:rPr>
                                <m:t>†</m:t>
                              </m:r>
                            </m:sup>
                          </m:sSubSup>
                          <m:sSub>
                            <m:sSubPr>
                              <m:ctrlPr>
                                <a:rPr lang="en-US" sz="1800" i="1" dirty="0">
                                  <a:solidFill>
                                    <a:schemeClr val="tx1">
                                      <a:lumMod val="85000"/>
                                      <a:lumOff val="15000"/>
                                    </a:schemeClr>
                                  </a:solidFill>
                                  <a:latin typeface="Cambria Math" charset="0"/>
                                </a:rPr>
                              </m:ctrlPr>
                            </m:sSubPr>
                            <m:e>
                              <m:acc>
                                <m:accPr>
                                  <m:chr m:val="⃗"/>
                                  <m:ctrlPr>
                                    <a:rPr lang="en-US" sz="1800" i="1" dirty="0">
                                      <a:solidFill>
                                        <a:schemeClr val="tx1">
                                          <a:lumMod val="85000"/>
                                          <a:lumOff val="15000"/>
                                        </a:schemeClr>
                                      </a:solidFill>
                                      <a:latin typeface="Cambria Math" charset="0"/>
                                    </a:rPr>
                                  </m:ctrlPr>
                                </m:accPr>
                                <m:e>
                                  <m:r>
                                    <a:rPr lang="en-US" sz="1800" i="1" dirty="0">
                                      <a:solidFill>
                                        <a:schemeClr val="tx1">
                                          <a:lumMod val="85000"/>
                                          <a:lumOff val="15000"/>
                                        </a:schemeClr>
                                      </a:solidFill>
                                      <a:latin typeface="Cambria Math" charset="0"/>
                                    </a:rPr>
                                    <m:t>𝜎</m:t>
                                  </m:r>
                                </m:e>
                              </m:acc>
                            </m:e>
                            <m:sub>
                              <m:r>
                                <a:rPr lang="en-US" sz="1800" i="1" dirty="0">
                                  <a:solidFill>
                                    <a:schemeClr val="tx1">
                                      <a:lumMod val="85000"/>
                                      <a:lumOff val="15000"/>
                                    </a:schemeClr>
                                  </a:solidFill>
                                  <a:latin typeface="Cambria Math" charset="0"/>
                                </a:rPr>
                                <m:t>𝛼</m:t>
                              </m:r>
                              <m:r>
                                <a:rPr lang="en-US" sz="1800" i="1" dirty="0">
                                  <a:solidFill>
                                    <a:schemeClr val="tx1">
                                      <a:lumMod val="85000"/>
                                      <a:lumOff val="15000"/>
                                    </a:schemeClr>
                                  </a:solidFill>
                                  <a:latin typeface="Cambria Math" charset="0"/>
                                </a:rPr>
                                <m:t>,</m:t>
                              </m:r>
                              <m:r>
                                <a:rPr lang="en-US" sz="1800" i="1" dirty="0">
                                  <a:solidFill>
                                    <a:schemeClr val="tx1">
                                      <a:lumMod val="85000"/>
                                      <a:lumOff val="15000"/>
                                    </a:schemeClr>
                                  </a:solidFill>
                                  <a:latin typeface="Cambria Math" charset="0"/>
                                </a:rPr>
                                <m:t>𝛽</m:t>
                              </m:r>
                            </m:sub>
                          </m:sSub>
                          <m:sSub>
                            <m:sSubPr>
                              <m:ctrlPr>
                                <a:rPr lang="en-US" sz="1800" i="1" dirty="0">
                                  <a:solidFill>
                                    <a:schemeClr val="tx1">
                                      <a:lumMod val="85000"/>
                                      <a:lumOff val="15000"/>
                                    </a:schemeClr>
                                  </a:solidFill>
                                  <a:latin typeface="Cambria Math" charset="0"/>
                                </a:rPr>
                              </m:ctrlPr>
                            </m:sSubPr>
                            <m:e>
                              <m:r>
                                <a:rPr lang="en-US" sz="1800" i="1" dirty="0">
                                  <a:solidFill>
                                    <a:schemeClr val="tx1">
                                      <a:lumMod val="85000"/>
                                      <a:lumOff val="15000"/>
                                    </a:schemeClr>
                                  </a:solidFill>
                                  <a:latin typeface="Cambria Math" charset="0"/>
                                </a:rPr>
                                <m:t>𝑓</m:t>
                              </m:r>
                            </m:e>
                            <m:sub>
                              <m:r>
                                <a:rPr lang="en-US" sz="1800" b="0" i="1" dirty="0" smtClean="0">
                                  <a:solidFill>
                                    <a:schemeClr val="tx1">
                                      <a:lumMod val="85000"/>
                                      <a:lumOff val="15000"/>
                                    </a:schemeClr>
                                  </a:solidFill>
                                  <a:latin typeface="Cambria Math" charset="0"/>
                                </a:rPr>
                                <m:t>𝑖</m:t>
                              </m:r>
                              <m:r>
                                <a:rPr lang="en-US" sz="1800" i="1" dirty="0">
                                  <a:solidFill>
                                    <a:schemeClr val="tx1">
                                      <a:lumMod val="85000"/>
                                      <a:lumOff val="15000"/>
                                    </a:schemeClr>
                                  </a:solidFill>
                                  <a:latin typeface="Cambria Math" charset="0"/>
                                </a:rPr>
                                <m:t>𝛽</m:t>
                              </m:r>
                            </m:sub>
                          </m:sSub>
                        </m:e>
                      </m:nary>
                    </m:oMath>
                  </m:oMathPara>
                </a14:m>
                <a:endParaRPr lang="en-US" sz="1800" dirty="0">
                  <a:solidFill>
                    <a:schemeClr val="tx1">
                      <a:lumMod val="85000"/>
                      <a:lumOff val="15000"/>
                    </a:schemeClr>
                  </a:solidFill>
                </a:endParaRPr>
              </a:p>
              <a:p>
                <a:pPr marL="228600" lvl="1">
                  <a:lnSpc>
                    <a:spcPct val="120000"/>
                  </a:lnSpc>
                  <a:spcBef>
                    <a:spcPts val="0"/>
                  </a:spcBef>
                  <a:buFont typeface="Wingdings" charset="2"/>
                  <a:buChar char="§"/>
                  <a:defRPr/>
                </a:pPr>
                <a:r>
                  <a:rPr lang="en-US" sz="1800" dirty="0" smtClean="0"/>
                  <a:t>Decoupling in both singlet and magnetic channel,</a:t>
                </a:r>
              </a:p>
              <a:p>
                <a:pPr marL="228600" lvl="1">
                  <a:lnSpc>
                    <a:spcPct val="120000"/>
                  </a:lnSpc>
                  <a:spcBef>
                    <a:spcPts val="0"/>
                  </a:spcBef>
                  <a:buFont typeface="Wingdings" charset="2"/>
                  <a:buChar char="§"/>
                  <a:defRPr/>
                </a:pPr>
                <a:endParaRPr lang="en-US" sz="1800" dirty="0"/>
              </a:p>
              <a:p>
                <a:pPr marL="0" lvl="1" indent="0">
                  <a:lnSpc>
                    <a:spcPct val="120000"/>
                  </a:lnSpc>
                  <a:spcBef>
                    <a:spcPts val="0"/>
                  </a:spcBef>
                  <a:buNone/>
                  <a:defRPr/>
                </a:pPr>
                <a:r>
                  <a:rPr lang="en-US" sz="1800" dirty="0" smtClean="0"/>
                  <a:t> </a:t>
                </a:r>
                <a:endParaRPr lang="en-US" sz="1800" dirty="0" smtClean="0">
                  <a:solidFill>
                    <a:schemeClr val="tx1">
                      <a:lumMod val="85000"/>
                      <a:lumOff val="15000"/>
                    </a:schemeClr>
                  </a:solidFill>
                </a:endParaRPr>
              </a:p>
              <a:p>
                <a:pPr>
                  <a:lnSpc>
                    <a:spcPct val="120000"/>
                  </a:lnSpc>
                  <a:spcBef>
                    <a:spcPts val="0"/>
                  </a:spcBef>
                  <a:buFont typeface="Wingdings" charset="2"/>
                  <a:buChar char="§"/>
                  <a:defRPr/>
                </a:pPr>
                <a:endParaRPr lang="en-US" sz="1800" dirty="0" smtClean="0">
                  <a:solidFill>
                    <a:schemeClr val="tx1">
                      <a:lumMod val="85000"/>
                      <a:lumOff val="15000"/>
                    </a:schemeClr>
                  </a:solidFill>
                </a:endParaRPr>
              </a:p>
              <a:p>
                <a:pPr marL="228600" lvl="1">
                  <a:lnSpc>
                    <a:spcPct val="120000"/>
                  </a:lnSpc>
                  <a:spcBef>
                    <a:spcPts val="0"/>
                  </a:spcBef>
                  <a:buFont typeface="Wingdings" charset="2"/>
                  <a:buChar char="§"/>
                  <a:defRPr/>
                </a:pPr>
                <a:r>
                  <a:rPr lang="en-US" sz="1800" dirty="0" smtClean="0">
                    <a:latin typeface="Cambria Math" charset="0"/>
                  </a:rPr>
                  <a:t>With the mean-field parameters given by,</a:t>
                </a:r>
              </a:p>
              <a:p>
                <a:pPr marL="0" lvl="1" indent="0">
                  <a:lnSpc>
                    <a:spcPct val="120000"/>
                  </a:lnSpc>
                  <a:spcBef>
                    <a:spcPts val="0"/>
                  </a:spcBef>
                  <a:buNone/>
                  <a:defRPr/>
                </a:pPr>
                <a14:m>
                  <m:oMathPara xmlns:m="http://schemas.openxmlformats.org/officeDocument/2006/math">
                    <m:oMathParaPr>
                      <m:jc m:val="centerGroup"/>
                    </m:oMathParaPr>
                    <m:oMath xmlns:m="http://schemas.openxmlformats.org/officeDocument/2006/math">
                      <m:r>
                        <a:rPr lang="en-US" sz="1800" b="0" i="1" smtClean="0">
                          <a:latin typeface="Cambria Math" charset="0"/>
                        </a:rPr>
                        <m:t>2</m:t>
                      </m:r>
                      <m:sSubSup>
                        <m:sSubSupPr>
                          <m:ctrlPr>
                            <a:rPr lang="en-US" sz="1800" b="0" i="1" smtClean="0">
                              <a:latin typeface="Cambria Math" charset="0"/>
                            </a:rPr>
                          </m:ctrlPr>
                        </m:sSubSupPr>
                        <m:e>
                          <m:r>
                            <a:rPr lang="en-US" sz="1800" b="0" i="1" smtClean="0">
                              <a:latin typeface="Cambria Math" charset="0"/>
                            </a:rPr>
                            <m:t>𝜒</m:t>
                          </m:r>
                        </m:e>
                        <m:sub>
                          <m:r>
                            <a:rPr lang="en-US" sz="1800" b="0" i="1" smtClean="0">
                              <a:latin typeface="Cambria Math" charset="0"/>
                            </a:rPr>
                            <m:t>𝑖𝑗</m:t>
                          </m:r>
                        </m:sub>
                        <m:sup>
                          <m:r>
                            <a:rPr lang="en-US" sz="1800" b="0" i="1" smtClean="0">
                              <a:latin typeface="Cambria Math" charset="0"/>
                            </a:rPr>
                            <m:t>𝑁𝑁</m:t>
                          </m:r>
                          <m:r>
                            <a:rPr lang="en-US" sz="1800" b="0" i="1" smtClean="0">
                              <a:latin typeface="Cambria Math" charset="0"/>
                            </a:rPr>
                            <m:t>(</m:t>
                          </m:r>
                          <m:r>
                            <a:rPr lang="en-US" sz="1800" b="0" i="1" smtClean="0">
                              <a:latin typeface="Cambria Math" charset="0"/>
                            </a:rPr>
                            <m:t>𝑁𝑁𝑁</m:t>
                          </m:r>
                          <m:r>
                            <a:rPr lang="en-US" sz="1800" b="0" i="1" smtClean="0">
                              <a:latin typeface="Cambria Math" charset="0"/>
                            </a:rPr>
                            <m:t>)</m:t>
                          </m:r>
                        </m:sup>
                      </m:sSubSup>
                      <m:r>
                        <a:rPr lang="en-US" sz="1800" b="0" i="1" smtClean="0">
                          <a:latin typeface="Cambria Math" charset="0"/>
                        </a:rPr>
                        <m:t>=</m:t>
                      </m:r>
                      <m:d>
                        <m:dPr>
                          <m:ctrlPr>
                            <a:rPr lang="en-US" sz="1800" b="0" i="1" smtClean="0">
                              <a:latin typeface="Cambria Math" charset="0"/>
                            </a:rPr>
                          </m:ctrlPr>
                        </m:dPr>
                        <m:e>
                          <m:r>
                            <a:rPr lang="en-US" sz="1800" b="0" i="1" smtClean="0">
                              <a:latin typeface="Cambria Math" charset="0"/>
                            </a:rPr>
                            <m:t>1−</m:t>
                          </m:r>
                          <m:r>
                            <a:rPr lang="en-US" sz="1800" b="0" i="1" smtClean="0">
                              <a:latin typeface="Cambria Math" charset="0"/>
                            </a:rPr>
                            <m:t>𝑥</m:t>
                          </m:r>
                        </m:e>
                      </m:d>
                      <m:nary>
                        <m:naryPr>
                          <m:chr m:val="∑"/>
                          <m:supHide m:val="on"/>
                          <m:ctrlPr>
                            <a:rPr lang="en-US" sz="1800" b="0" i="1" smtClean="0">
                              <a:latin typeface="Cambria Math" charset="0"/>
                            </a:rPr>
                          </m:ctrlPr>
                        </m:naryPr>
                        <m:sub>
                          <m:r>
                            <a:rPr lang="en-US" sz="1800" b="0" i="1" smtClean="0">
                              <a:latin typeface="Cambria Math" charset="0"/>
                            </a:rPr>
                            <m:t>𝛼</m:t>
                          </m:r>
                        </m:sub>
                        <m:sup/>
                        <m:e>
                          <m:sSub>
                            <m:sSubPr>
                              <m:ctrlPr>
                                <a:rPr lang="en-US" sz="1800" b="0" i="1" smtClean="0">
                                  <a:latin typeface="Cambria Math" charset="0"/>
                                </a:rPr>
                              </m:ctrlPr>
                            </m:sSubPr>
                            <m:e>
                              <m:r>
                                <a:rPr lang="en-US" sz="1800" b="0" i="1" smtClean="0">
                                  <a:latin typeface="Cambria Math" charset="0"/>
                                </a:rPr>
                                <m:t>𝐽</m:t>
                              </m:r>
                            </m:e>
                            <m:sub>
                              <m:r>
                                <a:rPr lang="en-US" sz="1800" b="0" i="1" smtClean="0">
                                  <a:latin typeface="Cambria Math" charset="0"/>
                                </a:rPr>
                                <m:t>𝑖𝑗</m:t>
                              </m:r>
                            </m:sub>
                          </m:sSub>
                          <m:sSubSup>
                            <m:sSubSupPr>
                              <m:ctrlPr>
                                <a:rPr lang="en-US" sz="1800" i="1" dirty="0">
                                  <a:latin typeface="Cambria Math" charset="0"/>
                                </a:rPr>
                              </m:ctrlPr>
                            </m:sSubSupPr>
                            <m:e>
                              <m:r>
                                <a:rPr lang="en-US" sz="1800" i="1" dirty="0">
                                  <a:latin typeface="Cambria Math" charset="0"/>
                                </a:rPr>
                                <m:t>𝑓</m:t>
                              </m:r>
                            </m:e>
                            <m:sub>
                              <m:r>
                                <a:rPr lang="en-US" sz="1800" i="1" dirty="0">
                                  <a:latin typeface="Cambria Math" charset="0"/>
                                </a:rPr>
                                <m:t>𝑖</m:t>
                              </m:r>
                              <m:r>
                                <a:rPr lang="en-US" sz="1800" i="1" dirty="0">
                                  <a:latin typeface="Cambria Math" charset="0"/>
                                </a:rPr>
                                <m:t>𝛼</m:t>
                              </m:r>
                            </m:sub>
                            <m:sup>
                              <m:r>
                                <a:rPr lang="sk-SK" sz="1800" i="1" dirty="0">
                                  <a:latin typeface="Cambria Math" charset="0"/>
                                  <a:ea typeface="Cambria Math" charset="0"/>
                                  <a:cs typeface="Cambria Math" charset="0"/>
                                </a:rPr>
                                <m:t>†</m:t>
                              </m:r>
                            </m:sup>
                          </m:sSubSup>
                          <m:sSub>
                            <m:sSubPr>
                              <m:ctrlPr>
                                <a:rPr lang="en-US" sz="1800" i="1" dirty="0">
                                  <a:latin typeface="Cambria Math" charset="0"/>
                                </a:rPr>
                              </m:ctrlPr>
                            </m:sSubPr>
                            <m:e>
                              <m:r>
                                <a:rPr lang="en-US" sz="1800" i="1" dirty="0">
                                  <a:latin typeface="Cambria Math" charset="0"/>
                                </a:rPr>
                                <m:t>𝑓</m:t>
                              </m:r>
                            </m:e>
                            <m:sub>
                              <m:r>
                                <a:rPr lang="en-US" sz="1800" i="1" dirty="0">
                                  <a:latin typeface="Cambria Math" charset="0"/>
                                </a:rPr>
                                <m:t>𝑗</m:t>
                              </m:r>
                              <m:r>
                                <a:rPr lang="en-US" sz="1800" i="1" dirty="0">
                                  <a:latin typeface="Cambria Math" charset="0"/>
                                </a:rPr>
                                <m:t>𝛼</m:t>
                              </m:r>
                            </m:sub>
                          </m:sSub>
                        </m:e>
                      </m:nary>
                      <m:r>
                        <a:rPr lang="en-US" sz="1800" b="0" i="1" dirty="0" smtClean="0">
                          <a:latin typeface="Cambria Math" charset="0"/>
                        </a:rPr>
                        <m:t>,  </m:t>
                      </m:r>
                      <m:sSub>
                        <m:sSubPr>
                          <m:ctrlPr>
                            <a:rPr lang="en-US" sz="1800" i="1" dirty="0">
                              <a:latin typeface="Cambria Math" charset="0"/>
                            </a:rPr>
                          </m:ctrlPr>
                        </m:sSubPr>
                        <m:e>
                          <m:acc>
                            <m:accPr>
                              <m:chr m:val="⃗"/>
                              <m:ctrlPr>
                                <a:rPr lang="en-US" sz="1800" i="1" dirty="0">
                                  <a:latin typeface="Cambria Math" charset="0"/>
                                </a:rPr>
                              </m:ctrlPr>
                            </m:accPr>
                            <m:e>
                              <m:r>
                                <a:rPr lang="en-US" sz="1800" i="1" dirty="0">
                                  <a:latin typeface="Cambria Math" charset="0"/>
                                </a:rPr>
                                <m:t>𝐵</m:t>
                              </m:r>
                            </m:e>
                          </m:acc>
                        </m:e>
                        <m:sub>
                          <m:r>
                            <a:rPr lang="en-US" sz="1800" i="1" dirty="0">
                              <a:latin typeface="Cambria Math" charset="0"/>
                            </a:rPr>
                            <m:t>𝑖</m:t>
                          </m:r>
                        </m:sub>
                      </m:sSub>
                      <m:r>
                        <a:rPr lang="en-US" sz="1800" b="0" i="1" dirty="0" smtClean="0">
                          <a:latin typeface="Cambria Math" charset="0"/>
                        </a:rPr>
                        <m:t>=</m:t>
                      </m:r>
                      <m:f>
                        <m:fPr>
                          <m:ctrlPr>
                            <a:rPr lang="en-US" sz="1800" b="0" i="1" dirty="0" smtClean="0">
                              <a:latin typeface="Cambria Math" charset="0"/>
                            </a:rPr>
                          </m:ctrlPr>
                        </m:fPr>
                        <m:num>
                          <m:r>
                            <a:rPr lang="en-US" sz="1800" b="0" i="1" dirty="0" smtClean="0">
                              <a:latin typeface="Cambria Math" charset="0"/>
                            </a:rPr>
                            <m:t>𝑥</m:t>
                          </m:r>
                        </m:num>
                        <m:den>
                          <m:r>
                            <a:rPr lang="en-US" sz="1800" b="0" i="1" dirty="0" smtClean="0">
                              <a:latin typeface="Cambria Math" charset="0"/>
                            </a:rPr>
                            <m:t>2</m:t>
                          </m:r>
                        </m:den>
                      </m:f>
                      <m:nary>
                        <m:naryPr>
                          <m:chr m:val="∑"/>
                          <m:supHide m:val="on"/>
                          <m:ctrlPr>
                            <a:rPr lang="en-US" sz="1800" b="0" i="1" dirty="0" smtClean="0">
                              <a:latin typeface="Cambria Math" charset="0"/>
                            </a:rPr>
                          </m:ctrlPr>
                        </m:naryPr>
                        <m:sub>
                          <m:r>
                            <a:rPr lang="en-US" sz="1800" b="0" i="1" dirty="0" smtClean="0">
                              <a:latin typeface="Cambria Math" charset="0"/>
                            </a:rPr>
                            <m:t>𝑗</m:t>
                          </m:r>
                          <m:r>
                            <a:rPr lang="en-US" sz="1800" b="0" i="1" dirty="0" smtClean="0">
                              <a:latin typeface="Cambria Math" charset="0"/>
                              <a:ea typeface="Cambria Math" charset="0"/>
                              <a:cs typeface="Cambria Math" charset="0"/>
                            </a:rPr>
                            <m:t>∈</m:t>
                          </m:r>
                          <m:r>
                            <a:rPr lang="en-US" sz="1800" b="0" i="1" dirty="0" smtClean="0">
                              <a:latin typeface="Cambria Math" charset="0"/>
                              <a:ea typeface="Cambria Math" charset="0"/>
                              <a:cs typeface="Cambria Math" charset="0"/>
                            </a:rPr>
                            <m:t>𝑁𝑁</m:t>
                          </m:r>
                          <m:r>
                            <a:rPr lang="en-US" sz="1800" b="0" i="1" dirty="0" smtClean="0">
                              <a:latin typeface="Cambria Math" charset="0"/>
                              <a:ea typeface="Cambria Math" charset="0"/>
                              <a:cs typeface="Cambria Math" charset="0"/>
                            </a:rPr>
                            <m:t>,</m:t>
                          </m:r>
                          <m:r>
                            <a:rPr lang="en-US" sz="1800" b="0" i="1" dirty="0" smtClean="0">
                              <a:latin typeface="Cambria Math" charset="0"/>
                              <a:ea typeface="Cambria Math" charset="0"/>
                              <a:cs typeface="Cambria Math" charset="0"/>
                            </a:rPr>
                            <m:t>𝑁𝑁𝑁</m:t>
                          </m:r>
                          <m:r>
                            <a:rPr lang="en-US" sz="1800" b="0" i="1" dirty="0" smtClean="0">
                              <a:latin typeface="Cambria Math" charset="0"/>
                              <a:ea typeface="Cambria Math" charset="0"/>
                              <a:cs typeface="Cambria Math" charset="0"/>
                            </a:rPr>
                            <m:t>,</m:t>
                          </m:r>
                          <m:r>
                            <a:rPr lang="en-US" sz="1800" b="0" i="1" dirty="0" smtClean="0">
                              <a:latin typeface="Cambria Math" charset="0"/>
                              <a:ea typeface="Cambria Math" charset="0"/>
                              <a:cs typeface="Cambria Math" charset="0"/>
                            </a:rPr>
                            <m:t>𝛼</m:t>
                          </m:r>
                          <m:r>
                            <a:rPr lang="en-US" sz="1800" b="0" i="1" dirty="0" smtClean="0">
                              <a:latin typeface="Cambria Math" charset="0"/>
                              <a:ea typeface="Cambria Math" charset="0"/>
                              <a:cs typeface="Cambria Math" charset="0"/>
                            </a:rPr>
                            <m:t>,</m:t>
                          </m:r>
                          <m:r>
                            <a:rPr lang="en-US" sz="1800" b="0" i="1" dirty="0" smtClean="0">
                              <a:latin typeface="Cambria Math" charset="0"/>
                              <a:ea typeface="Cambria Math" charset="0"/>
                              <a:cs typeface="Cambria Math" charset="0"/>
                            </a:rPr>
                            <m:t>𝛽</m:t>
                          </m:r>
                        </m:sub>
                        <m:sup/>
                        <m:e>
                          <m:sSubSup>
                            <m:sSubSupPr>
                              <m:ctrlPr>
                                <a:rPr lang="en-US" sz="1800" i="1" dirty="0">
                                  <a:latin typeface="Cambria Math" charset="0"/>
                                </a:rPr>
                              </m:ctrlPr>
                            </m:sSubSupPr>
                            <m:e>
                              <m:r>
                                <a:rPr lang="en-US" sz="1800" i="1" dirty="0">
                                  <a:latin typeface="Cambria Math" charset="0"/>
                                </a:rPr>
                                <m:t>𝑓</m:t>
                              </m:r>
                            </m:e>
                            <m:sub>
                              <m:r>
                                <a:rPr lang="en-US" sz="1800" b="0" i="1" dirty="0" smtClean="0">
                                  <a:latin typeface="Cambria Math" charset="0"/>
                                </a:rPr>
                                <m:t>𝑗</m:t>
                              </m:r>
                              <m:r>
                                <a:rPr lang="en-US" sz="1800" i="1" dirty="0">
                                  <a:latin typeface="Cambria Math" charset="0"/>
                                </a:rPr>
                                <m:t>𝛼</m:t>
                              </m:r>
                            </m:sub>
                            <m:sup>
                              <m:r>
                                <a:rPr lang="sk-SK" sz="1800" i="1" dirty="0">
                                  <a:latin typeface="Cambria Math" charset="0"/>
                                  <a:ea typeface="Cambria Math" charset="0"/>
                                  <a:cs typeface="Cambria Math" charset="0"/>
                                </a:rPr>
                                <m:t>†</m:t>
                              </m:r>
                            </m:sup>
                          </m:sSubSup>
                          <m:sSub>
                            <m:sSubPr>
                              <m:ctrlPr>
                                <a:rPr lang="en-US" sz="1800" i="1" dirty="0">
                                  <a:latin typeface="Cambria Math" charset="0"/>
                                </a:rPr>
                              </m:ctrlPr>
                            </m:sSubPr>
                            <m:e>
                              <m:acc>
                                <m:accPr>
                                  <m:chr m:val="⃗"/>
                                  <m:ctrlPr>
                                    <a:rPr lang="en-US" sz="1800" i="1" dirty="0">
                                      <a:latin typeface="Cambria Math" charset="0"/>
                                    </a:rPr>
                                  </m:ctrlPr>
                                </m:accPr>
                                <m:e>
                                  <m:r>
                                    <a:rPr lang="en-US" sz="1800" i="1" dirty="0">
                                      <a:latin typeface="Cambria Math" charset="0"/>
                                    </a:rPr>
                                    <m:t>𝜎</m:t>
                                  </m:r>
                                </m:e>
                              </m:acc>
                            </m:e>
                            <m:sub>
                              <m:r>
                                <a:rPr lang="en-US" sz="1800" i="1" dirty="0">
                                  <a:latin typeface="Cambria Math" charset="0"/>
                                </a:rPr>
                                <m:t>𝛼</m:t>
                              </m:r>
                              <m:r>
                                <a:rPr lang="en-US" sz="1800" i="1" dirty="0">
                                  <a:latin typeface="Cambria Math" charset="0"/>
                                </a:rPr>
                                <m:t>,</m:t>
                              </m:r>
                              <m:r>
                                <a:rPr lang="en-US" sz="1800" i="1" dirty="0">
                                  <a:latin typeface="Cambria Math" charset="0"/>
                                </a:rPr>
                                <m:t>𝛽</m:t>
                              </m:r>
                            </m:sub>
                          </m:sSub>
                          <m:sSub>
                            <m:sSubPr>
                              <m:ctrlPr>
                                <a:rPr lang="en-US" sz="1800" i="1" dirty="0">
                                  <a:latin typeface="Cambria Math" charset="0"/>
                                </a:rPr>
                              </m:ctrlPr>
                            </m:sSubPr>
                            <m:e>
                              <m:r>
                                <a:rPr lang="en-US" sz="1800" i="1" dirty="0">
                                  <a:latin typeface="Cambria Math" charset="0"/>
                                </a:rPr>
                                <m:t>𝑓</m:t>
                              </m:r>
                            </m:e>
                            <m:sub>
                              <m:r>
                                <a:rPr lang="en-US" sz="1800" b="0" i="1" dirty="0" smtClean="0">
                                  <a:latin typeface="Cambria Math" charset="0"/>
                                </a:rPr>
                                <m:t>𝑗</m:t>
                              </m:r>
                              <m:r>
                                <a:rPr lang="en-US" sz="1800" i="1" dirty="0">
                                  <a:latin typeface="Cambria Math" charset="0"/>
                                </a:rPr>
                                <m:t>𝛽</m:t>
                              </m:r>
                            </m:sub>
                          </m:sSub>
                        </m:e>
                      </m:nary>
                    </m:oMath>
                    <m:oMath xmlns:m="http://schemas.openxmlformats.org/officeDocument/2006/math">
                      <m:nary>
                        <m:naryPr>
                          <m:chr m:val="∑"/>
                          <m:supHide m:val="on"/>
                          <m:ctrlPr>
                            <a:rPr lang="en-US" sz="1800" i="1">
                              <a:latin typeface="Cambria Math" charset="0"/>
                            </a:rPr>
                          </m:ctrlPr>
                        </m:naryPr>
                        <m:sub>
                          <m:r>
                            <a:rPr lang="en-US" sz="1800" i="1">
                              <a:latin typeface="Cambria Math" charset="0"/>
                            </a:rPr>
                            <m:t>𝛼</m:t>
                          </m:r>
                        </m:sub>
                        <m:sup/>
                        <m:e>
                          <m:sSubSup>
                            <m:sSubSupPr>
                              <m:ctrlPr>
                                <a:rPr lang="en-US" sz="1800" i="1" dirty="0">
                                  <a:latin typeface="Cambria Math" charset="0"/>
                                </a:rPr>
                              </m:ctrlPr>
                            </m:sSubSupPr>
                            <m:e>
                              <m:r>
                                <a:rPr lang="en-US" sz="1800" i="1" dirty="0">
                                  <a:latin typeface="Cambria Math" charset="0"/>
                                </a:rPr>
                                <m:t>𝑓</m:t>
                              </m:r>
                            </m:e>
                            <m:sub>
                              <m:r>
                                <a:rPr lang="en-US" sz="1800" i="1" dirty="0">
                                  <a:latin typeface="Cambria Math" charset="0"/>
                                </a:rPr>
                                <m:t>𝑖</m:t>
                              </m:r>
                              <m:r>
                                <a:rPr lang="en-US" sz="1800" i="1" dirty="0">
                                  <a:latin typeface="Cambria Math" charset="0"/>
                                </a:rPr>
                                <m:t>𝛼</m:t>
                              </m:r>
                            </m:sub>
                            <m:sup>
                              <m:r>
                                <a:rPr lang="sk-SK" sz="1800" i="1" dirty="0">
                                  <a:latin typeface="Cambria Math" charset="0"/>
                                  <a:ea typeface="Cambria Math" charset="0"/>
                                  <a:cs typeface="Cambria Math" charset="0"/>
                                </a:rPr>
                                <m:t>†</m:t>
                              </m:r>
                            </m:sup>
                          </m:sSubSup>
                          <m:sSub>
                            <m:sSubPr>
                              <m:ctrlPr>
                                <a:rPr lang="en-US" sz="1800" i="1" dirty="0">
                                  <a:latin typeface="Cambria Math" charset="0"/>
                                </a:rPr>
                              </m:ctrlPr>
                            </m:sSubPr>
                            <m:e>
                              <m:r>
                                <a:rPr lang="en-US" sz="1800" i="1" dirty="0">
                                  <a:latin typeface="Cambria Math" charset="0"/>
                                </a:rPr>
                                <m:t>𝑓</m:t>
                              </m:r>
                            </m:e>
                            <m:sub>
                              <m:r>
                                <a:rPr lang="en-US" sz="1800" i="1" dirty="0">
                                  <a:latin typeface="Cambria Math" charset="0"/>
                                </a:rPr>
                                <m:t>𝑖</m:t>
                              </m:r>
                              <m:r>
                                <a:rPr lang="en-US" sz="1800" i="1" dirty="0">
                                  <a:latin typeface="Cambria Math" charset="0"/>
                                </a:rPr>
                                <m:t>𝛼</m:t>
                              </m:r>
                            </m:sub>
                          </m:sSub>
                        </m:e>
                      </m:nary>
                      <m:r>
                        <a:rPr lang="en-US" sz="1800" b="0" i="1" dirty="0" smtClean="0">
                          <a:latin typeface="Cambria Math" charset="0"/>
                        </a:rPr>
                        <m:t>=1</m:t>
                      </m:r>
                    </m:oMath>
                  </m:oMathPara>
                </a14:m>
                <a:endParaRPr lang="en-US" sz="1800" dirty="0">
                  <a:latin typeface="Cambria Math" charset="0"/>
                </a:endParaRPr>
              </a:p>
              <a:p>
                <a:pPr>
                  <a:lnSpc>
                    <a:spcPct val="110000"/>
                  </a:lnSpc>
                  <a:spcBef>
                    <a:spcPts val="0"/>
                  </a:spcBef>
                  <a:buFont typeface="Wingdings" charset="2"/>
                  <a:buChar char="§"/>
                  <a:defRPr/>
                </a:pPr>
                <a:endParaRPr lang="en-US" sz="1800" dirty="0">
                  <a:solidFill>
                    <a:schemeClr val="tx1">
                      <a:lumMod val="85000"/>
                      <a:lumOff val="15000"/>
                    </a:schemeClr>
                  </a:solidFill>
                </a:endParaRPr>
              </a:p>
            </p:txBody>
          </p:sp>
        </mc:Choice>
        <mc:Fallback>
          <p:sp>
            <p:nvSpPr>
              <p:cNvPr id="3" name="Content Placeholder 2">
                <a:extLst>
                  <a:ext uri="{FF2B5EF4-FFF2-40B4-BE49-F238E27FC236}">
                    <a16:creationId xmlns:a16="http://schemas.microsoft.com/office/drawing/2014/main" xmlns=""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7989" y="1975417"/>
                <a:ext cx="10658917" cy="4815939"/>
              </a:xfrm>
              <a:blipFill rotWithShape="0">
                <a:blip r:embed="rId2"/>
                <a:stretch>
                  <a:fillRect l="-343"/>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Mean-field theory</a:t>
            </a:r>
            <a:endParaRPr lang="en-US" sz="3200" dirty="0">
              <a:solidFill>
                <a:schemeClr val="tx1">
                  <a:lumMod val="65000"/>
                  <a:lumOff val="35000"/>
                </a:schemeClr>
              </a:solidFill>
              <a:latin typeface="+mj-lt"/>
            </a:endParaRPr>
          </a:p>
        </p:txBody>
      </p:sp>
      <p:sp>
        <p:nvSpPr>
          <p:cNvPr id="13"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p>
        </p:txBody>
      </p:sp>
      <p:cxnSp>
        <p:nvCxnSpPr>
          <p:cNvPr id="14" name="Straight Connector 13">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angle 7"/>
              <p:cNvSpPr/>
              <p:nvPr/>
            </p:nvSpPr>
            <p:spPr>
              <a:xfrm>
                <a:off x="1136035" y="3737774"/>
                <a:ext cx="9850315" cy="79829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b="0" i="1" smtClean="0">
                          <a:latin typeface="Cambria Math" charset="0"/>
                        </a:rPr>
                        <m:t>𝐻</m:t>
                      </m:r>
                      <m:r>
                        <a:rPr lang="en-US" i="1" smtClean="0">
                          <a:latin typeface="Cambria Math" charset="0"/>
                        </a:rPr>
                        <m:t>=</m:t>
                      </m:r>
                      <m:r>
                        <a:rPr lang="en-US" b="0" i="1" smtClean="0">
                          <a:latin typeface="Cambria Math" charset="0"/>
                        </a:rPr>
                        <m:t>−</m:t>
                      </m:r>
                      <m:nary>
                        <m:naryPr>
                          <m:chr m:val="∑"/>
                          <m:supHide m:val="on"/>
                          <m:ctrlPr>
                            <a:rPr lang="en-US" b="0" i="1" smtClean="0">
                              <a:latin typeface="Cambria Math" charset="0"/>
                            </a:rPr>
                          </m:ctrlPr>
                        </m:naryPr>
                        <m:sub>
                          <m:d>
                            <m:dPr>
                              <m:begChr m:val="〈"/>
                              <m:endChr m:val="〉"/>
                              <m:ctrlPr>
                                <a:rPr lang="en-US" b="0" i="1" smtClean="0">
                                  <a:latin typeface="Cambria Math" charset="0"/>
                                </a:rPr>
                              </m:ctrlPr>
                            </m:dPr>
                            <m:e>
                              <m:r>
                                <a:rPr lang="en-US" b="0" i="1" smtClean="0">
                                  <a:latin typeface="Cambria Math" charset="0"/>
                                </a:rPr>
                                <m:t>𝑖</m:t>
                              </m:r>
                              <m:r>
                                <a:rPr lang="en-US" b="0" i="1" smtClean="0">
                                  <a:latin typeface="Cambria Math" charset="0"/>
                                </a:rPr>
                                <m:t>,</m:t>
                              </m:r>
                              <m:r>
                                <a:rPr lang="en-US" b="0" i="1" smtClean="0">
                                  <a:latin typeface="Cambria Math" charset="0"/>
                                </a:rPr>
                                <m:t>𝑗</m:t>
                              </m:r>
                            </m:e>
                          </m:d>
                          <m:r>
                            <a:rPr lang="en-US" b="0" i="1" smtClean="0">
                              <a:latin typeface="Cambria Math" charset="0"/>
                            </a:rPr>
                            <m:t>,</m:t>
                          </m:r>
                          <m:r>
                            <a:rPr lang="en-US" b="0" i="1" smtClean="0">
                              <a:latin typeface="Cambria Math" charset="0"/>
                            </a:rPr>
                            <m:t>𝛼</m:t>
                          </m:r>
                        </m:sub>
                        <m:sup/>
                        <m:e>
                          <m:d>
                            <m:dPr>
                              <m:ctrlPr>
                                <a:rPr lang="en-US" b="0" i="1" smtClean="0">
                                  <a:latin typeface="Cambria Math" charset="0"/>
                                </a:rPr>
                              </m:ctrlPr>
                            </m:dPr>
                            <m:e>
                              <m:sSubSup>
                                <m:sSubSupPr>
                                  <m:ctrlPr>
                                    <a:rPr lang="en-US" b="0" i="1" smtClean="0">
                                      <a:latin typeface="Cambria Math" charset="0"/>
                                    </a:rPr>
                                  </m:ctrlPr>
                                </m:sSubSupPr>
                                <m:e>
                                  <m:r>
                                    <a:rPr lang="en-US" b="0" i="1" smtClean="0">
                                      <a:latin typeface="Cambria Math" charset="0"/>
                                    </a:rPr>
                                    <m:t>𝜒</m:t>
                                  </m:r>
                                </m:e>
                                <m:sub>
                                  <m:r>
                                    <a:rPr lang="en-US" b="0" i="1" smtClean="0">
                                      <a:latin typeface="Cambria Math" charset="0"/>
                                    </a:rPr>
                                    <m:t>𝑖𝑗</m:t>
                                  </m:r>
                                </m:sub>
                                <m:sup>
                                  <m:r>
                                    <a:rPr lang="en-US" b="0" i="1" smtClean="0">
                                      <a:latin typeface="Cambria Math" charset="0"/>
                                    </a:rPr>
                                    <m:t>𝑁𝑁</m:t>
                                  </m:r>
                                </m:sup>
                              </m:sSubSup>
                              <m:sSubSup>
                                <m:sSubSupPr>
                                  <m:ctrlPr>
                                    <a:rPr lang="en-US" i="1" dirty="0">
                                      <a:solidFill>
                                        <a:schemeClr val="tx1">
                                          <a:lumMod val="85000"/>
                                          <a:lumOff val="15000"/>
                                        </a:schemeClr>
                                      </a:solidFill>
                                      <a:latin typeface="Cambria Math" charset="0"/>
                                    </a:rPr>
                                  </m:ctrlPr>
                                </m:sSubSupPr>
                                <m:e>
                                  <m:r>
                                    <a:rPr lang="en-US" i="1" dirty="0">
                                      <a:solidFill>
                                        <a:schemeClr val="tx1">
                                          <a:lumMod val="85000"/>
                                          <a:lumOff val="15000"/>
                                        </a:schemeClr>
                                      </a:solidFill>
                                      <a:latin typeface="Cambria Math" charset="0"/>
                                    </a:rPr>
                                    <m:t>𝑓</m:t>
                                  </m:r>
                                </m:e>
                                <m:sub>
                                  <m:r>
                                    <a:rPr lang="en-US" i="1" dirty="0">
                                      <a:solidFill>
                                        <a:schemeClr val="tx1">
                                          <a:lumMod val="85000"/>
                                          <a:lumOff val="15000"/>
                                        </a:schemeClr>
                                      </a:solidFill>
                                      <a:latin typeface="Cambria Math" charset="0"/>
                                    </a:rPr>
                                    <m:t>𝑖</m:t>
                                  </m:r>
                                  <m:r>
                                    <a:rPr lang="en-US" i="1" dirty="0">
                                      <a:solidFill>
                                        <a:schemeClr val="tx1">
                                          <a:lumMod val="85000"/>
                                          <a:lumOff val="15000"/>
                                        </a:schemeClr>
                                      </a:solidFill>
                                      <a:latin typeface="Cambria Math" charset="0"/>
                                    </a:rPr>
                                    <m:t>𝛼</m:t>
                                  </m:r>
                                </m:sub>
                                <m:sup>
                                  <m:r>
                                    <a:rPr lang="sk-SK" i="1" dirty="0">
                                      <a:solidFill>
                                        <a:schemeClr val="tx1">
                                          <a:lumMod val="85000"/>
                                          <a:lumOff val="15000"/>
                                        </a:schemeClr>
                                      </a:solidFill>
                                      <a:latin typeface="Cambria Math" charset="0"/>
                                      <a:ea typeface="Cambria Math" charset="0"/>
                                      <a:cs typeface="Cambria Math" charset="0"/>
                                    </a:rPr>
                                    <m:t>†</m:t>
                                  </m:r>
                                </m:sup>
                              </m:sSubSup>
                              <m:sSub>
                                <m:sSubPr>
                                  <m:ctrlPr>
                                    <a:rPr lang="en-US" i="1" dirty="0">
                                      <a:solidFill>
                                        <a:schemeClr val="tx1">
                                          <a:lumMod val="85000"/>
                                          <a:lumOff val="15000"/>
                                        </a:schemeClr>
                                      </a:solidFill>
                                      <a:latin typeface="Cambria Math" charset="0"/>
                                    </a:rPr>
                                  </m:ctrlPr>
                                </m:sSubPr>
                                <m:e>
                                  <m:r>
                                    <a:rPr lang="en-US" i="1" dirty="0">
                                      <a:solidFill>
                                        <a:schemeClr val="tx1">
                                          <a:lumMod val="85000"/>
                                          <a:lumOff val="15000"/>
                                        </a:schemeClr>
                                      </a:solidFill>
                                      <a:latin typeface="Cambria Math" charset="0"/>
                                    </a:rPr>
                                    <m:t>𝑓</m:t>
                                  </m:r>
                                </m:e>
                                <m:sub>
                                  <m:r>
                                    <a:rPr lang="en-US" i="1" dirty="0">
                                      <a:solidFill>
                                        <a:schemeClr val="tx1">
                                          <a:lumMod val="85000"/>
                                          <a:lumOff val="15000"/>
                                        </a:schemeClr>
                                      </a:solidFill>
                                      <a:latin typeface="Cambria Math" charset="0"/>
                                    </a:rPr>
                                    <m:t>𝑗</m:t>
                                  </m:r>
                                  <m:r>
                                    <a:rPr lang="en-US" b="0" i="1" dirty="0" smtClean="0">
                                      <a:solidFill>
                                        <a:schemeClr val="tx1">
                                          <a:lumMod val="85000"/>
                                          <a:lumOff val="15000"/>
                                        </a:schemeClr>
                                      </a:solidFill>
                                      <a:latin typeface="Cambria Math" charset="0"/>
                                    </a:rPr>
                                    <m:t>𝛼</m:t>
                                  </m:r>
                                </m:sub>
                              </m:sSub>
                              <m:r>
                                <a:rPr lang="en-US" i="1" dirty="0">
                                  <a:solidFill>
                                    <a:schemeClr val="tx1">
                                      <a:lumMod val="85000"/>
                                      <a:lumOff val="15000"/>
                                    </a:schemeClr>
                                  </a:solidFill>
                                  <a:latin typeface="Cambria Math" charset="0"/>
                                </a:rPr>
                                <m:t>+</m:t>
                              </m:r>
                              <m:r>
                                <a:rPr lang="en-US" i="1" dirty="0">
                                  <a:solidFill>
                                    <a:schemeClr val="tx1">
                                      <a:lumMod val="85000"/>
                                      <a:lumOff val="15000"/>
                                    </a:schemeClr>
                                  </a:solidFill>
                                  <a:latin typeface="Cambria Math" charset="0"/>
                                </a:rPr>
                                <m:t>h</m:t>
                              </m:r>
                              <m:r>
                                <a:rPr lang="en-US" i="1" dirty="0">
                                  <a:solidFill>
                                    <a:schemeClr val="tx1">
                                      <a:lumMod val="85000"/>
                                      <a:lumOff val="15000"/>
                                    </a:schemeClr>
                                  </a:solidFill>
                                  <a:latin typeface="Cambria Math" charset="0"/>
                                </a:rPr>
                                <m:t>.</m:t>
                              </m:r>
                              <m:r>
                                <a:rPr lang="en-US" i="1" dirty="0">
                                  <a:solidFill>
                                    <a:schemeClr val="tx1">
                                      <a:lumMod val="85000"/>
                                      <a:lumOff val="15000"/>
                                    </a:schemeClr>
                                  </a:solidFill>
                                  <a:latin typeface="Cambria Math" charset="0"/>
                                </a:rPr>
                                <m:t>𝑐</m:t>
                              </m:r>
                              <m:r>
                                <a:rPr lang="en-US" i="1" dirty="0">
                                  <a:solidFill>
                                    <a:schemeClr val="tx1">
                                      <a:lumMod val="85000"/>
                                      <a:lumOff val="15000"/>
                                    </a:schemeClr>
                                  </a:solidFill>
                                  <a:latin typeface="Cambria Math" charset="0"/>
                                </a:rPr>
                                <m:t>.+</m:t>
                              </m:r>
                              <m:r>
                                <a:rPr lang="en-US" b="0" i="1" dirty="0" smtClean="0">
                                  <a:solidFill>
                                    <a:schemeClr val="tx1">
                                      <a:lumMod val="85000"/>
                                      <a:lumOff val="15000"/>
                                    </a:schemeClr>
                                  </a:solidFill>
                                  <a:latin typeface="Cambria Math" charset="0"/>
                                </a:rPr>
                                <m:t>𝑁𝑁𝑁</m:t>
                              </m:r>
                            </m:e>
                          </m:d>
                          <m:r>
                            <a:rPr lang="en-US" b="0" i="1" dirty="0" smtClean="0">
                              <a:solidFill>
                                <a:schemeClr val="tx1">
                                  <a:lumMod val="85000"/>
                                  <a:lumOff val="15000"/>
                                </a:schemeClr>
                              </a:solidFill>
                              <a:latin typeface="Cambria Math" charset="0"/>
                            </a:rPr>
                            <m:t>+</m:t>
                          </m:r>
                          <m:f>
                            <m:fPr>
                              <m:ctrlPr>
                                <a:rPr lang="en-US" b="0" i="1" dirty="0" smtClean="0">
                                  <a:solidFill>
                                    <a:schemeClr val="tx1">
                                      <a:lumMod val="85000"/>
                                      <a:lumOff val="15000"/>
                                    </a:schemeClr>
                                  </a:solidFill>
                                  <a:latin typeface="Cambria Math" charset="0"/>
                                </a:rPr>
                              </m:ctrlPr>
                            </m:fPr>
                            <m:num>
                              <m:r>
                                <a:rPr lang="en-US" b="0" i="1" dirty="0" smtClean="0">
                                  <a:solidFill>
                                    <a:schemeClr val="tx1">
                                      <a:lumMod val="85000"/>
                                      <a:lumOff val="15000"/>
                                    </a:schemeClr>
                                  </a:solidFill>
                                  <a:latin typeface="Cambria Math" charset="0"/>
                                </a:rPr>
                                <m:t>1</m:t>
                              </m:r>
                            </m:num>
                            <m:den>
                              <m:r>
                                <a:rPr lang="en-US" b="0" i="1" dirty="0" smtClean="0">
                                  <a:solidFill>
                                    <a:schemeClr val="tx1">
                                      <a:lumMod val="85000"/>
                                      <a:lumOff val="15000"/>
                                    </a:schemeClr>
                                  </a:solidFill>
                                  <a:latin typeface="Cambria Math" charset="0"/>
                                </a:rPr>
                                <m:t>2</m:t>
                              </m:r>
                            </m:den>
                          </m:f>
                          <m:nary>
                            <m:naryPr>
                              <m:chr m:val="∑"/>
                              <m:supHide m:val="on"/>
                              <m:ctrlPr>
                                <a:rPr lang="en-US" b="0" i="1" dirty="0" smtClean="0">
                                  <a:solidFill>
                                    <a:schemeClr val="tx1">
                                      <a:lumMod val="85000"/>
                                      <a:lumOff val="15000"/>
                                    </a:schemeClr>
                                  </a:solidFill>
                                  <a:latin typeface="Cambria Math" charset="0"/>
                                </a:rPr>
                              </m:ctrlPr>
                            </m:naryPr>
                            <m:sub>
                              <m:r>
                                <a:rPr lang="en-US" b="0" i="1" dirty="0" smtClean="0">
                                  <a:solidFill>
                                    <a:schemeClr val="tx1">
                                      <a:lumMod val="85000"/>
                                      <a:lumOff val="15000"/>
                                    </a:schemeClr>
                                  </a:solidFill>
                                  <a:latin typeface="Cambria Math" charset="0"/>
                                </a:rPr>
                                <m:t>𝑖</m:t>
                              </m:r>
                              <m:r>
                                <a:rPr lang="en-US" b="0" i="1" dirty="0" smtClean="0">
                                  <a:solidFill>
                                    <a:schemeClr val="tx1">
                                      <a:lumMod val="85000"/>
                                      <a:lumOff val="15000"/>
                                    </a:schemeClr>
                                  </a:solidFill>
                                  <a:latin typeface="Cambria Math" charset="0"/>
                                </a:rPr>
                                <m:t>,</m:t>
                              </m:r>
                              <m:r>
                                <a:rPr lang="en-US" b="0" i="1" dirty="0" smtClean="0">
                                  <a:solidFill>
                                    <a:schemeClr val="tx1">
                                      <a:lumMod val="85000"/>
                                      <a:lumOff val="15000"/>
                                    </a:schemeClr>
                                  </a:solidFill>
                                  <a:latin typeface="Cambria Math" charset="0"/>
                                </a:rPr>
                                <m:t>𝛼</m:t>
                              </m:r>
                              <m:r>
                                <a:rPr lang="en-US" b="0" i="1" dirty="0" smtClean="0">
                                  <a:solidFill>
                                    <a:schemeClr val="tx1">
                                      <a:lumMod val="85000"/>
                                      <a:lumOff val="15000"/>
                                    </a:schemeClr>
                                  </a:solidFill>
                                  <a:latin typeface="Cambria Math" charset="0"/>
                                </a:rPr>
                                <m:t>,</m:t>
                              </m:r>
                              <m:r>
                                <a:rPr lang="en-US" b="0" i="1" dirty="0" smtClean="0">
                                  <a:solidFill>
                                    <a:schemeClr val="tx1">
                                      <a:lumMod val="85000"/>
                                      <a:lumOff val="15000"/>
                                    </a:schemeClr>
                                  </a:solidFill>
                                  <a:latin typeface="Cambria Math" charset="0"/>
                                </a:rPr>
                                <m:t>𝛽</m:t>
                              </m:r>
                            </m:sub>
                            <m:sup/>
                            <m:e>
                              <m:sSub>
                                <m:sSubPr>
                                  <m:ctrlPr>
                                    <a:rPr lang="en-US" b="0" i="1" dirty="0" smtClean="0">
                                      <a:solidFill>
                                        <a:schemeClr val="tx1">
                                          <a:lumMod val="85000"/>
                                          <a:lumOff val="15000"/>
                                        </a:schemeClr>
                                      </a:solidFill>
                                      <a:latin typeface="Cambria Math" charset="0"/>
                                    </a:rPr>
                                  </m:ctrlPr>
                                </m:sSubPr>
                                <m:e>
                                  <m:acc>
                                    <m:accPr>
                                      <m:chr m:val="⃗"/>
                                      <m:ctrlPr>
                                        <a:rPr lang="en-US" b="0" i="1" dirty="0" smtClean="0">
                                          <a:solidFill>
                                            <a:schemeClr val="tx1">
                                              <a:lumMod val="85000"/>
                                              <a:lumOff val="15000"/>
                                            </a:schemeClr>
                                          </a:solidFill>
                                          <a:latin typeface="Cambria Math" charset="0"/>
                                        </a:rPr>
                                      </m:ctrlPr>
                                    </m:accPr>
                                    <m:e>
                                      <m:r>
                                        <a:rPr lang="en-US" b="0" i="1" dirty="0" smtClean="0">
                                          <a:solidFill>
                                            <a:schemeClr val="tx1">
                                              <a:lumMod val="85000"/>
                                              <a:lumOff val="15000"/>
                                            </a:schemeClr>
                                          </a:solidFill>
                                          <a:latin typeface="Cambria Math" charset="0"/>
                                        </a:rPr>
                                        <m:t>𝐵</m:t>
                                      </m:r>
                                    </m:e>
                                  </m:acc>
                                </m:e>
                                <m:sub>
                                  <m:r>
                                    <a:rPr lang="en-US" b="0" i="1" dirty="0" smtClean="0">
                                      <a:solidFill>
                                        <a:schemeClr val="tx1">
                                          <a:lumMod val="85000"/>
                                          <a:lumOff val="15000"/>
                                        </a:schemeClr>
                                      </a:solidFill>
                                      <a:latin typeface="Cambria Math" charset="0"/>
                                    </a:rPr>
                                    <m:t>𝑖</m:t>
                                  </m:r>
                                </m:sub>
                              </m:sSub>
                              <m:r>
                                <a:rPr lang="en-US" b="0" i="1" dirty="0" smtClean="0">
                                  <a:solidFill>
                                    <a:schemeClr val="tx1">
                                      <a:lumMod val="85000"/>
                                      <a:lumOff val="15000"/>
                                    </a:schemeClr>
                                  </a:solidFill>
                                  <a:latin typeface="Cambria Math" charset="0"/>
                                </a:rPr>
                                <m:t>.</m:t>
                              </m:r>
                              <m:sSubSup>
                                <m:sSubSupPr>
                                  <m:ctrlPr>
                                    <a:rPr lang="en-US" i="1" dirty="0">
                                      <a:solidFill>
                                        <a:schemeClr val="tx1">
                                          <a:lumMod val="85000"/>
                                          <a:lumOff val="15000"/>
                                        </a:schemeClr>
                                      </a:solidFill>
                                      <a:latin typeface="Cambria Math" charset="0"/>
                                    </a:rPr>
                                  </m:ctrlPr>
                                </m:sSubSupPr>
                                <m:e>
                                  <m:r>
                                    <a:rPr lang="en-US" i="1" dirty="0">
                                      <a:solidFill>
                                        <a:schemeClr val="tx1">
                                          <a:lumMod val="85000"/>
                                          <a:lumOff val="15000"/>
                                        </a:schemeClr>
                                      </a:solidFill>
                                      <a:latin typeface="Cambria Math" charset="0"/>
                                    </a:rPr>
                                    <m:t>𝑓</m:t>
                                  </m:r>
                                </m:e>
                                <m:sub>
                                  <m:r>
                                    <a:rPr lang="en-US" i="1" dirty="0">
                                      <a:solidFill>
                                        <a:schemeClr val="tx1">
                                          <a:lumMod val="85000"/>
                                          <a:lumOff val="15000"/>
                                        </a:schemeClr>
                                      </a:solidFill>
                                      <a:latin typeface="Cambria Math" charset="0"/>
                                    </a:rPr>
                                    <m:t>𝑖</m:t>
                                  </m:r>
                                  <m:r>
                                    <a:rPr lang="en-US" i="1" dirty="0">
                                      <a:solidFill>
                                        <a:schemeClr val="tx1">
                                          <a:lumMod val="85000"/>
                                          <a:lumOff val="15000"/>
                                        </a:schemeClr>
                                      </a:solidFill>
                                      <a:latin typeface="Cambria Math" charset="0"/>
                                    </a:rPr>
                                    <m:t>𝛼</m:t>
                                  </m:r>
                                </m:sub>
                                <m:sup>
                                  <m:r>
                                    <a:rPr lang="sk-SK" i="1" dirty="0">
                                      <a:solidFill>
                                        <a:schemeClr val="tx1">
                                          <a:lumMod val="85000"/>
                                          <a:lumOff val="15000"/>
                                        </a:schemeClr>
                                      </a:solidFill>
                                      <a:latin typeface="Cambria Math" charset="0"/>
                                      <a:ea typeface="Cambria Math" charset="0"/>
                                      <a:cs typeface="Cambria Math" charset="0"/>
                                    </a:rPr>
                                    <m:t>†</m:t>
                                  </m:r>
                                </m:sup>
                              </m:sSubSup>
                              <m:sSub>
                                <m:sSubPr>
                                  <m:ctrlPr>
                                    <a:rPr lang="en-US" i="1" dirty="0">
                                      <a:solidFill>
                                        <a:schemeClr val="tx1">
                                          <a:lumMod val="85000"/>
                                          <a:lumOff val="15000"/>
                                        </a:schemeClr>
                                      </a:solidFill>
                                      <a:latin typeface="Cambria Math" charset="0"/>
                                    </a:rPr>
                                  </m:ctrlPr>
                                </m:sSubPr>
                                <m:e>
                                  <m:acc>
                                    <m:accPr>
                                      <m:chr m:val="⃗"/>
                                      <m:ctrlPr>
                                        <a:rPr lang="en-US" i="1" dirty="0">
                                          <a:solidFill>
                                            <a:schemeClr val="tx1">
                                              <a:lumMod val="85000"/>
                                              <a:lumOff val="15000"/>
                                            </a:schemeClr>
                                          </a:solidFill>
                                          <a:latin typeface="Cambria Math" charset="0"/>
                                        </a:rPr>
                                      </m:ctrlPr>
                                    </m:accPr>
                                    <m:e>
                                      <m:r>
                                        <a:rPr lang="en-US" i="1" dirty="0">
                                          <a:solidFill>
                                            <a:schemeClr val="tx1">
                                              <a:lumMod val="85000"/>
                                              <a:lumOff val="15000"/>
                                            </a:schemeClr>
                                          </a:solidFill>
                                          <a:latin typeface="Cambria Math" charset="0"/>
                                        </a:rPr>
                                        <m:t>𝜎</m:t>
                                      </m:r>
                                    </m:e>
                                  </m:acc>
                                </m:e>
                                <m:sub>
                                  <m:r>
                                    <a:rPr lang="en-US" i="1" dirty="0">
                                      <a:solidFill>
                                        <a:schemeClr val="tx1">
                                          <a:lumMod val="85000"/>
                                          <a:lumOff val="15000"/>
                                        </a:schemeClr>
                                      </a:solidFill>
                                      <a:latin typeface="Cambria Math" charset="0"/>
                                    </a:rPr>
                                    <m:t>𝛼</m:t>
                                  </m:r>
                                  <m:r>
                                    <a:rPr lang="en-US" i="1" dirty="0">
                                      <a:solidFill>
                                        <a:schemeClr val="tx1">
                                          <a:lumMod val="85000"/>
                                          <a:lumOff val="15000"/>
                                        </a:schemeClr>
                                      </a:solidFill>
                                      <a:latin typeface="Cambria Math" charset="0"/>
                                    </a:rPr>
                                    <m:t>,</m:t>
                                  </m:r>
                                  <m:r>
                                    <a:rPr lang="en-US" i="1" dirty="0">
                                      <a:solidFill>
                                        <a:schemeClr val="tx1">
                                          <a:lumMod val="85000"/>
                                          <a:lumOff val="15000"/>
                                        </a:schemeClr>
                                      </a:solidFill>
                                      <a:latin typeface="Cambria Math" charset="0"/>
                                    </a:rPr>
                                    <m:t>𝛽</m:t>
                                  </m:r>
                                </m:sub>
                              </m:sSub>
                              <m:sSub>
                                <m:sSubPr>
                                  <m:ctrlPr>
                                    <a:rPr lang="en-US" i="1" dirty="0">
                                      <a:solidFill>
                                        <a:schemeClr val="tx1">
                                          <a:lumMod val="85000"/>
                                          <a:lumOff val="15000"/>
                                        </a:schemeClr>
                                      </a:solidFill>
                                      <a:latin typeface="Cambria Math" charset="0"/>
                                    </a:rPr>
                                  </m:ctrlPr>
                                </m:sSubPr>
                                <m:e>
                                  <m:r>
                                    <a:rPr lang="en-US" i="1" dirty="0">
                                      <a:solidFill>
                                        <a:schemeClr val="tx1">
                                          <a:lumMod val="85000"/>
                                          <a:lumOff val="15000"/>
                                        </a:schemeClr>
                                      </a:solidFill>
                                      <a:latin typeface="Cambria Math" charset="0"/>
                                    </a:rPr>
                                    <m:t>𝑓</m:t>
                                  </m:r>
                                </m:e>
                                <m:sub>
                                  <m:r>
                                    <a:rPr lang="en-US" i="1" dirty="0">
                                      <a:solidFill>
                                        <a:schemeClr val="tx1">
                                          <a:lumMod val="85000"/>
                                          <a:lumOff val="15000"/>
                                        </a:schemeClr>
                                      </a:solidFill>
                                      <a:latin typeface="Cambria Math" charset="0"/>
                                    </a:rPr>
                                    <m:t>𝑖</m:t>
                                  </m:r>
                                  <m:r>
                                    <a:rPr lang="en-US" i="1" dirty="0">
                                      <a:solidFill>
                                        <a:schemeClr val="tx1">
                                          <a:lumMod val="85000"/>
                                          <a:lumOff val="15000"/>
                                        </a:schemeClr>
                                      </a:solidFill>
                                      <a:latin typeface="Cambria Math" charset="0"/>
                                    </a:rPr>
                                    <m:t>𝛽</m:t>
                                  </m:r>
                                </m:sub>
                              </m:sSub>
                            </m:e>
                          </m:nary>
                        </m:e>
                      </m:nary>
                    </m:oMath>
                  </m:oMathPara>
                </a14:m>
                <a:endParaRPr lang="en-US" i="1" dirty="0">
                  <a:latin typeface="Cambria Math" charset="0"/>
                </a:endParaRPr>
              </a:p>
            </p:txBody>
          </p:sp>
        </mc:Choice>
        <mc:Fallback>
          <p:sp>
            <p:nvSpPr>
              <p:cNvPr id="8" name="Rectangle 7"/>
              <p:cNvSpPr>
                <a:spLocks noRot="1" noChangeAspect="1" noMove="1" noResize="1" noEditPoints="1" noAdjustHandles="1" noChangeArrowheads="1" noChangeShapeType="1" noTextEdit="1"/>
              </p:cNvSpPr>
              <p:nvPr/>
            </p:nvSpPr>
            <p:spPr>
              <a:xfrm>
                <a:off x="1136035" y="3737774"/>
                <a:ext cx="9850315" cy="79829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7868903" y="5941418"/>
                <a:ext cx="3754316" cy="760465"/>
              </a:xfrm>
              <a:prstGeom prst="rect">
                <a:avLst/>
              </a:prstGeom>
              <a:noFill/>
            </p:spPr>
            <p:txBody>
              <a:bodyPr wrap="square" rtlCol="0">
                <a:spAutoFit/>
              </a:bodyPr>
              <a:lstStyle/>
              <a:p>
                <a14:m>
                  <m:oMath xmlns:m="http://schemas.openxmlformats.org/officeDocument/2006/math">
                    <m:r>
                      <a:rPr lang="en-US" b="0" i="1" smtClean="0">
                        <a:solidFill>
                          <a:schemeClr val="tx1">
                            <a:lumMod val="85000"/>
                            <a:lumOff val="15000"/>
                          </a:schemeClr>
                        </a:solidFill>
                        <a:latin typeface="Cambria Math" charset="0"/>
                      </a:rPr>
                      <m:t>𝑥</m:t>
                    </m:r>
                    <m:r>
                      <a:rPr lang="en-US" b="0" i="1" smtClean="0">
                        <a:solidFill>
                          <a:schemeClr val="tx1">
                            <a:lumMod val="85000"/>
                            <a:lumOff val="15000"/>
                          </a:schemeClr>
                        </a:solidFill>
                        <a:latin typeface="Cambria Math" charset="0"/>
                      </a:rPr>
                      <m:t>=</m:t>
                    </m:r>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charset="0"/>
                          </a:rPr>
                          <m:t>1</m:t>
                        </m:r>
                      </m:num>
                      <m:den>
                        <m:r>
                          <a:rPr lang="en-US" b="0" i="1" smtClean="0">
                            <a:solidFill>
                              <a:schemeClr val="tx1">
                                <a:lumMod val="85000"/>
                                <a:lumOff val="15000"/>
                              </a:schemeClr>
                            </a:solidFill>
                            <a:latin typeface="Cambria Math" charset="0"/>
                          </a:rPr>
                          <m:t>2</m:t>
                        </m:r>
                      </m:den>
                    </m:f>
                  </m:oMath>
                </a14:m>
                <a:r>
                  <a:rPr lang="en-US" dirty="0" smtClean="0">
                    <a:solidFill>
                      <a:schemeClr val="tx1">
                        <a:lumMod val="85000"/>
                        <a:lumOff val="15000"/>
                      </a:schemeClr>
                    </a:solidFill>
                  </a:rPr>
                  <a:t> , corresponds to unconstrained </a:t>
                </a:r>
                <a:r>
                  <a:rPr lang="en-US" dirty="0" err="1" smtClean="0">
                    <a:solidFill>
                      <a:schemeClr val="tx1">
                        <a:lumMod val="85000"/>
                        <a:lumOff val="15000"/>
                      </a:schemeClr>
                    </a:solidFill>
                  </a:rPr>
                  <a:t>Hartree</a:t>
                </a:r>
                <a:r>
                  <a:rPr lang="en-US" dirty="0" smtClean="0">
                    <a:solidFill>
                      <a:schemeClr val="tx1">
                        <a:lumMod val="85000"/>
                        <a:lumOff val="15000"/>
                      </a:schemeClr>
                    </a:solidFill>
                  </a:rPr>
                  <a:t> approximation</a:t>
                </a:r>
                <a:endParaRPr lang="en-US" dirty="0">
                  <a:solidFill>
                    <a:schemeClr val="tx1">
                      <a:lumMod val="85000"/>
                      <a:lumOff val="15000"/>
                    </a:schemeClr>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7868903" y="5941418"/>
                <a:ext cx="3754316" cy="760465"/>
              </a:xfrm>
              <a:prstGeom prst="rect">
                <a:avLst/>
              </a:prstGeom>
              <a:blipFill rotWithShape="0">
                <a:blip r:embed="rId4"/>
                <a:stretch>
                  <a:fillRect l="-1461" b="-12903"/>
                </a:stretch>
              </a:blipFill>
            </p:spPr>
            <p:txBody>
              <a:bodyPr/>
              <a:lstStyle/>
              <a:p>
                <a:r>
                  <a:rPr lang="en-US">
                    <a:noFill/>
                  </a:rPr>
                  <a:t> </a:t>
                </a:r>
              </a:p>
            </p:txBody>
          </p:sp>
        </mc:Fallback>
      </mc:AlternateContent>
    </p:spTree>
    <p:extLst>
      <p:ext uri="{BB962C8B-B14F-4D97-AF65-F5344CB8AC3E}">
        <p14:creationId xmlns:p14="http://schemas.microsoft.com/office/powerpoint/2010/main" val="876890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Structure factor </a:t>
                </a:r>
                <a14:m>
                  <m:oMath xmlns:m="http://schemas.openxmlformats.org/officeDocument/2006/math">
                    <m:r>
                      <a:rPr lang="en-US" sz="2400" b="0" i="1" smtClean="0">
                        <a:solidFill>
                          <a:schemeClr val="tx1">
                            <a:lumMod val="85000"/>
                            <a:lumOff val="15000"/>
                          </a:schemeClr>
                        </a:solidFill>
                        <a:latin typeface="Cambria Math" charset="0"/>
                      </a:rPr>
                      <m:t>𝜒</m:t>
                    </m:r>
                    <m:d>
                      <m:dPr>
                        <m:ctrlPr>
                          <a:rPr lang="en-US" sz="2400" b="0" i="1" smtClean="0">
                            <a:solidFill>
                              <a:schemeClr val="tx1">
                                <a:lumMod val="85000"/>
                                <a:lumOff val="15000"/>
                              </a:schemeClr>
                            </a:solidFill>
                            <a:latin typeface="Cambria Math" charset="0"/>
                          </a:rPr>
                        </m:ctrlPr>
                      </m:dPr>
                      <m:e>
                        <m:r>
                          <a:rPr lang="en-US" sz="2400" b="0" i="1" smtClean="0">
                            <a:solidFill>
                              <a:schemeClr val="tx1">
                                <a:lumMod val="85000"/>
                                <a:lumOff val="15000"/>
                              </a:schemeClr>
                            </a:solidFill>
                            <a:latin typeface="Cambria Math" charset="0"/>
                          </a:rPr>
                          <m:t>𝑄</m:t>
                        </m:r>
                      </m:e>
                    </m:d>
                    <m:r>
                      <a:rPr lang="en-US" sz="2400" b="0" i="1" smtClean="0">
                        <a:solidFill>
                          <a:schemeClr val="tx1">
                            <a:lumMod val="85000"/>
                            <a:lumOff val="15000"/>
                          </a:schemeClr>
                        </a:solidFill>
                        <a:latin typeface="Cambria Math" charset="0"/>
                      </a:rPr>
                      <m:t>/</m:t>
                    </m:r>
                    <m:sSup>
                      <m:sSupPr>
                        <m:ctrlPr>
                          <a:rPr lang="en-US" sz="2400" b="0" i="1" smtClean="0">
                            <a:solidFill>
                              <a:schemeClr val="tx1">
                                <a:lumMod val="85000"/>
                                <a:lumOff val="15000"/>
                              </a:schemeClr>
                            </a:solidFill>
                            <a:latin typeface="Cambria Math" charset="0"/>
                          </a:rPr>
                        </m:ctrlPr>
                      </m:sSupPr>
                      <m:e>
                        <m:r>
                          <a:rPr lang="en-US" sz="2400" b="0" i="1" smtClean="0">
                            <a:solidFill>
                              <a:schemeClr val="tx1">
                                <a:lumMod val="85000"/>
                                <a:lumOff val="15000"/>
                              </a:schemeClr>
                            </a:solidFill>
                            <a:latin typeface="Cambria Math" charset="0"/>
                          </a:rPr>
                          <m:t>𝐿</m:t>
                        </m:r>
                      </m:e>
                      <m:sup>
                        <m:r>
                          <a:rPr lang="en-US" sz="2400" b="0" i="1" smtClean="0">
                            <a:solidFill>
                              <a:schemeClr val="tx1">
                                <a:lumMod val="85000"/>
                                <a:lumOff val="15000"/>
                              </a:schemeClr>
                            </a:solidFill>
                            <a:latin typeface="Cambria Math" charset="0"/>
                          </a:rPr>
                          <m:t>2</m:t>
                        </m:r>
                      </m:sup>
                    </m:sSup>
                  </m:oMath>
                </a14:m>
                <a:endParaRPr lang="en-US" sz="2400"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812" t="-666"/>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Amplifying quantum effects</a:t>
            </a:r>
            <a:endParaRPr lang="en-US" sz="3200" dirty="0">
              <a:solidFill>
                <a:schemeClr val="tx1">
                  <a:lumMod val="65000"/>
                  <a:lumOff val="35000"/>
                </a:schemeClr>
              </a:solidFill>
              <a:latin typeface="+mj-lt"/>
            </a:endParaRPr>
          </a:p>
        </p:txBody>
      </p:sp>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990" y="2730378"/>
            <a:ext cx="3884341" cy="3884341"/>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825" y="2768380"/>
            <a:ext cx="3884341" cy="388434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7659" y="2768380"/>
            <a:ext cx="3884341" cy="3884341"/>
          </a:xfrm>
          <a:prstGeom prst="rect">
            <a:avLst/>
          </a:prstGeom>
        </p:spPr>
      </p:pic>
    </p:spTree>
    <p:extLst>
      <p:ext uri="{BB962C8B-B14F-4D97-AF65-F5344CB8AC3E}">
        <p14:creationId xmlns:p14="http://schemas.microsoft.com/office/powerpoint/2010/main" val="1501263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Dynamic structure factor </a:t>
                </a:r>
                <a14:m>
                  <m:oMath xmlns:m="http://schemas.openxmlformats.org/officeDocument/2006/math">
                    <m:r>
                      <a:rPr lang="en-US" sz="2400" b="0" i="1" smtClean="0">
                        <a:solidFill>
                          <a:schemeClr val="tx1">
                            <a:lumMod val="85000"/>
                            <a:lumOff val="15000"/>
                          </a:schemeClr>
                        </a:solidFill>
                        <a:latin typeface="Cambria Math" charset="0"/>
                      </a:rPr>
                      <m:t>𝜒</m:t>
                    </m:r>
                    <m:d>
                      <m:dPr>
                        <m:ctrlPr>
                          <a:rPr lang="en-US" sz="2400" b="0" i="1" smtClean="0">
                            <a:solidFill>
                              <a:schemeClr val="tx1">
                                <a:lumMod val="85000"/>
                                <a:lumOff val="15000"/>
                              </a:schemeClr>
                            </a:solidFill>
                            <a:latin typeface="Cambria Math" charset="0"/>
                          </a:rPr>
                        </m:ctrlPr>
                      </m:dPr>
                      <m:e>
                        <m:r>
                          <a:rPr lang="en-US" sz="2400" b="0" i="1" smtClean="0">
                            <a:solidFill>
                              <a:schemeClr val="tx1">
                                <a:lumMod val="85000"/>
                                <a:lumOff val="15000"/>
                              </a:schemeClr>
                            </a:solidFill>
                            <a:latin typeface="Cambria Math" charset="0"/>
                          </a:rPr>
                          <m:t>𝜔</m:t>
                        </m:r>
                        <m:r>
                          <a:rPr lang="en-US" sz="2400" b="0" i="1" smtClean="0">
                            <a:solidFill>
                              <a:schemeClr val="tx1">
                                <a:lumMod val="85000"/>
                                <a:lumOff val="15000"/>
                              </a:schemeClr>
                            </a:solidFill>
                            <a:latin typeface="Cambria Math" charset="0"/>
                          </a:rPr>
                          <m:t>, </m:t>
                        </m:r>
                        <m:r>
                          <a:rPr lang="en-US" sz="2400" b="0" i="1" smtClean="0">
                            <a:solidFill>
                              <a:schemeClr val="tx1">
                                <a:lumMod val="85000"/>
                                <a:lumOff val="15000"/>
                              </a:schemeClr>
                            </a:solidFill>
                            <a:latin typeface="Cambria Math" charset="0"/>
                          </a:rPr>
                          <m:t>𝑄</m:t>
                        </m:r>
                      </m:e>
                    </m:d>
                  </m:oMath>
                </a14:m>
                <a:endParaRPr lang="en-US" sz="2400" dirty="0">
                  <a:solidFill>
                    <a:schemeClr val="tx1">
                      <a:lumMod val="85000"/>
                      <a:lumOff val="15000"/>
                    </a:schemeClr>
                  </a:solidFill>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812" t="-666"/>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Disordered </a:t>
            </a:r>
            <a:r>
              <a:rPr lang="en-US" sz="3200" dirty="0" err="1" smtClean="0">
                <a:solidFill>
                  <a:schemeClr val="tx1">
                    <a:lumMod val="65000"/>
                    <a:lumOff val="35000"/>
                  </a:schemeClr>
                </a:solidFill>
                <a:latin typeface="+mj-lt"/>
              </a:rPr>
              <a:t>magnon</a:t>
            </a:r>
            <a:r>
              <a:rPr lang="en-US" sz="3200" dirty="0" smtClean="0">
                <a:solidFill>
                  <a:schemeClr val="tx1">
                    <a:lumMod val="65000"/>
                    <a:lumOff val="35000"/>
                  </a:schemeClr>
                </a:solidFill>
                <a:latin typeface="+mj-lt"/>
              </a:rPr>
              <a:t> modes</a:t>
            </a:r>
            <a:endParaRPr lang="en-US" sz="3200" dirty="0">
              <a:solidFill>
                <a:schemeClr val="tx1">
                  <a:lumMod val="65000"/>
                  <a:lumOff val="35000"/>
                </a:schemeClr>
              </a:solidFill>
              <a:latin typeface="+mj-lt"/>
            </a:endParaRPr>
          </a:p>
        </p:txBody>
      </p:sp>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407724" y="2730378"/>
            <a:ext cx="2744872" cy="3884341"/>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5142559" y="2768380"/>
            <a:ext cx="2744872" cy="388434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8877393" y="2768380"/>
            <a:ext cx="2744872" cy="3884341"/>
          </a:xfrm>
          <a:prstGeom prst="rect">
            <a:avLst/>
          </a:prstGeom>
        </p:spPr>
      </p:pic>
    </p:spTree>
    <p:extLst>
      <p:ext uri="{BB962C8B-B14F-4D97-AF65-F5344CB8AC3E}">
        <p14:creationId xmlns:p14="http://schemas.microsoft.com/office/powerpoint/2010/main" val="2039115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mc="http://schemas.openxmlformats.org/markup-compatibility/2006" xmlns:a14="http://schemas.microsoft.com/office/drawing/2010/main"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Valence bonds at higher disorder</a:t>
            </a:r>
            <a:endParaRPr lang="en-US" sz="2400" dirty="0">
              <a:solidFill>
                <a:schemeClr val="tx1">
                  <a:lumMod val="85000"/>
                  <a:lumOff val="15000"/>
                </a:schemeClr>
              </a:solidFill>
            </a:endParaRPr>
          </a:p>
        </p:txBody>
      </p:sp>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Composite glass</a:t>
            </a:r>
            <a:endParaRPr lang="en-US" sz="3200" dirty="0">
              <a:solidFill>
                <a:schemeClr val="tx1">
                  <a:lumMod val="65000"/>
                  <a:lumOff val="35000"/>
                </a:schemeClr>
              </a:solidFill>
              <a:latin typeface="+mj-lt"/>
            </a:endParaRPr>
          </a:p>
        </p:txBody>
      </p:sp>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680" y="2665141"/>
            <a:ext cx="5493080" cy="411981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015073" y="1654216"/>
            <a:ext cx="4248833" cy="6012635"/>
          </a:xfrm>
          <a:prstGeom prst="rect">
            <a:avLst/>
          </a:prstGeom>
        </p:spPr>
      </p:pic>
    </p:spTree>
    <p:extLst>
      <p:ext uri="{BB962C8B-B14F-4D97-AF65-F5344CB8AC3E}">
        <p14:creationId xmlns:p14="http://schemas.microsoft.com/office/powerpoint/2010/main" val="1890749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mc="http://schemas.openxmlformats.org/markup-compatibility/2006" xmlns:a14="http://schemas.microsoft.com/office/drawing/2010/main"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Valence bonds at higher disorder</a:t>
            </a:r>
            <a:endParaRPr lang="en-US" sz="2400" dirty="0">
              <a:solidFill>
                <a:schemeClr val="tx1">
                  <a:lumMod val="85000"/>
                  <a:lumOff val="15000"/>
                </a:schemeClr>
              </a:solidFill>
            </a:endParaRPr>
          </a:p>
        </p:txBody>
      </p:sp>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Composite glass</a:t>
            </a:r>
            <a:endParaRPr lang="en-US" sz="3200" dirty="0">
              <a:solidFill>
                <a:schemeClr val="tx1">
                  <a:lumMod val="65000"/>
                  <a:lumOff val="35000"/>
                </a:schemeClr>
              </a:solidFill>
              <a:latin typeface="+mj-lt"/>
            </a:endParaRPr>
          </a:p>
        </p:txBody>
      </p:sp>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680" y="2665141"/>
            <a:ext cx="5493080" cy="411981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015073" y="1654216"/>
            <a:ext cx="4248833" cy="6012634"/>
          </a:xfrm>
          <a:prstGeom prst="rect">
            <a:avLst/>
          </a:prstGeom>
        </p:spPr>
      </p:pic>
    </p:spTree>
    <p:extLst>
      <p:ext uri="{BB962C8B-B14F-4D97-AF65-F5344CB8AC3E}">
        <p14:creationId xmlns:p14="http://schemas.microsoft.com/office/powerpoint/2010/main" val="1907831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mc="http://schemas.openxmlformats.org/markup-compatibility/2006" xmlns:a14="http://schemas.microsoft.com/office/drawing/2010/main"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Valence bonds at higher disorder</a:t>
            </a:r>
            <a:endParaRPr lang="en-US" sz="2400" dirty="0">
              <a:solidFill>
                <a:schemeClr val="tx1">
                  <a:lumMod val="85000"/>
                  <a:lumOff val="15000"/>
                </a:schemeClr>
              </a:solidFill>
            </a:endParaRPr>
          </a:p>
        </p:txBody>
      </p:sp>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Composite glass</a:t>
            </a:r>
            <a:endParaRPr lang="en-US" sz="3200" dirty="0">
              <a:solidFill>
                <a:schemeClr val="tx1">
                  <a:lumMod val="65000"/>
                  <a:lumOff val="35000"/>
                </a:schemeClr>
              </a:solidFill>
              <a:latin typeface="+mj-lt"/>
            </a:endParaRPr>
          </a:p>
        </p:txBody>
      </p:sp>
      <p:sp>
        <p:nvSpPr>
          <p:cNvPr id="9"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a:solidFill>
                  <a:schemeClr val="tx1">
                    <a:lumMod val="65000"/>
                    <a:lumOff val="35000"/>
                  </a:schemeClr>
                </a:solidFill>
              </a:rPr>
              <a:t>Disordered triangular lattice Heisenberg model</a:t>
            </a:r>
            <a:endParaRPr lang="x-none" sz="3600" dirty="0"/>
          </a:p>
        </p:txBody>
      </p:sp>
      <p:cxnSp>
        <p:nvCxnSpPr>
          <p:cNvPr id="10" name="Straight Connector 9">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680" y="2665141"/>
            <a:ext cx="5493080" cy="411981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015073" y="1654216"/>
            <a:ext cx="4248833" cy="6012634"/>
          </a:xfrm>
          <a:prstGeom prst="rect">
            <a:avLst/>
          </a:prstGeom>
        </p:spPr>
      </p:pic>
    </p:spTree>
    <p:extLst>
      <p:ext uri="{BB962C8B-B14F-4D97-AF65-F5344CB8AC3E}">
        <p14:creationId xmlns:p14="http://schemas.microsoft.com/office/powerpoint/2010/main" val="1686076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2402" y="2233978"/>
            <a:ext cx="4097700" cy="3586249"/>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7057853" y="5936350"/>
                <a:ext cx="4767581" cy="461473"/>
              </a:xfrm>
              <a:prstGeom prst="rect">
                <a:avLst/>
              </a:prstGeom>
              <a:noFill/>
            </p:spPr>
            <p:txBody>
              <a:bodyPr wrap="square" rtlCol="0">
                <a:spAutoFit/>
              </a:bodyPr>
              <a:lstStyle/>
              <a:p>
                <a:r>
                  <a:rPr lang="en-US" dirty="0" smtClean="0">
                    <a:solidFill>
                      <a:schemeClr val="tx1">
                        <a:lumMod val="85000"/>
                        <a:lumOff val="15000"/>
                      </a:schemeClr>
                    </a:solidFill>
                  </a:rPr>
                  <a:t>Thermal conductivity, </a:t>
                </a:r>
                <a14:m>
                  <m:oMath xmlns:m="http://schemas.openxmlformats.org/officeDocument/2006/math">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charset="0"/>
                          </a:rPr>
                          <m:t>𝜅</m:t>
                        </m:r>
                      </m:num>
                      <m:den>
                        <m:r>
                          <a:rPr lang="en-US" b="0" i="1" smtClean="0">
                            <a:solidFill>
                              <a:schemeClr val="tx1">
                                <a:lumMod val="85000"/>
                                <a:lumOff val="15000"/>
                              </a:schemeClr>
                            </a:solidFill>
                            <a:latin typeface="Cambria Math" charset="0"/>
                          </a:rPr>
                          <m:t>𝑇</m:t>
                        </m:r>
                      </m:den>
                    </m:f>
                    <m:r>
                      <a:rPr lang="en-US" b="0" i="1" smtClean="0">
                        <a:solidFill>
                          <a:schemeClr val="tx1">
                            <a:lumMod val="85000"/>
                            <a:lumOff val="15000"/>
                          </a:schemeClr>
                        </a:solidFill>
                        <a:latin typeface="Cambria Math" charset="0"/>
                      </a:rPr>
                      <m:t>=</m:t>
                    </m:r>
                    <m:f>
                      <m:fPr>
                        <m:ctrlPr>
                          <a:rPr lang="en-US" b="0" i="1" smtClean="0">
                            <a:solidFill>
                              <a:schemeClr val="tx1">
                                <a:lumMod val="85000"/>
                                <a:lumOff val="15000"/>
                              </a:schemeClr>
                            </a:solidFill>
                            <a:latin typeface="Cambria Math" charset="0"/>
                          </a:rPr>
                        </m:ctrlPr>
                      </m:fPr>
                      <m:num>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𝜅</m:t>
                            </m:r>
                          </m:e>
                          <m:sub>
                            <m:r>
                              <a:rPr lang="en-US" b="0" i="1" smtClean="0">
                                <a:solidFill>
                                  <a:schemeClr val="tx1">
                                    <a:lumMod val="85000"/>
                                    <a:lumOff val="15000"/>
                                  </a:schemeClr>
                                </a:solidFill>
                                <a:latin typeface="Cambria Math" charset="0"/>
                              </a:rPr>
                              <m:t>0</m:t>
                            </m:r>
                          </m:sub>
                        </m:sSub>
                      </m:num>
                      <m:den>
                        <m:r>
                          <a:rPr lang="en-US" b="0" i="1" smtClean="0">
                            <a:solidFill>
                              <a:schemeClr val="tx1">
                                <a:lumMod val="85000"/>
                                <a:lumOff val="15000"/>
                              </a:schemeClr>
                            </a:solidFill>
                            <a:latin typeface="Cambria Math" charset="0"/>
                          </a:rPr>
                          <m:t>𝑇</m:t>
                        </m:r>
                      </m:den>
                    </m:f>
                    <m:r>
                      <a:rPr lang="en-US" b="0" i="1" smtClean="0">
                        <a:solidFill>
                          <a:schemeClr val="tx1">
                            <a:lumMod val="85000"/>
                            <a:lumOff val="15000"/>
                          </a:schemeClr>
                        </a:solidFill>
                        <a:latin typeface="Cambria Math" charset="0"/>
                      </a:rPr>
                      <m:t>+</m:t>
                    </m:r>
                    <m:r>
                      <a:rPr lang="en-US" b="0" i="1" smtClean="0">
                        <a:solidFill>
                          <a:schemeClr val="tx1">
                            <a:lumMod val="85000"/>
                            <a:lumOff val="15000"/>
                          </a:schemeClr>
                        </a:solidFill>
                        <a:latin typeface="Cambria Math" charset="0"/>
                      </a:rPr>
                      <m:t>𝑛</m:t>
                    </m:r>
                    <m:r>
                      <a:rPr lang="en-US" b="0" i="1" smtClean="0">
                        <a:solidFill>
                          <a:schemeClr val="tx1">
                            <a:lumMod val="85000"/>
                            <a:lumOff val="15000"/>
                          </a:schemeClr>
                        </a:solidFill>
                        <a:latin typeface="Cambria Math" charset="0"/>
                      </a:rPr>
                      <m:t> </m:t>
                    </m:r>
                    <m:sSup>
                      <m:sSupPr>
                        <m:ctrlPr>
                          <a:rPr lang="en-US" b="0" i="1" smtClean="0">
                            <a:solidFill>
                              <a:schemeClr val="tx1">
                                <a:lumMod val="85000"/>
                                <a:lumOff val="15000"/>
                              </a:schemeClr>
                            </a:solidFill>
                            <a:latin typeface="Cambria Math" charset="0"/>
                          </a:rPr>
                        </m:ctrlPr>
                      </m:sSupPr>
                      <m:e>
                        <m:r>
                          <a:rPr lang="en-US" b="0" i="1" smtClean="0">
                            <a:solidFill>
                              <a:schemeClr val="tx1">
                                <a:lumMod val="85000"/>
                                <a:lumOff val="15000"/>
                              </a:schemeClr>
                            </a:solidFill>
                            <a:latin typeface="Cambria Math" charset="0"/>
                          </a:rPr>
                          <m:t>𝑇</m:t>
                        </m:r>
                      </m:e>
                      <m:sup>
                        <m:r>
                          <a:rPr lang="en-US" b="0" i="1" smtClean="0">
                            <a:solidFill>
                              <a:schemeClr val="tx1">
                                <a:lumMod val="85000"/>
                                <a:lumOff val="15000"/>
                              </a:schemeClr>
                            </a:solidFill>
                            <a:latin typeface="Cambria Math" charset="0"/>
                          </a:rPr>
                          <m:t>𝛽</m:t>
                        </m:r>
                        <m:r>
                          <a:rPr lang="en-US" b="0" i="1" smtClean="0">
                            <a:solidFill>
                              <a:schemeClr val="tx1">
                                <a:lumMod val="85000"/>
                                <a:lumOff val="15000"/>
                              </a:schemeClr>
                            </a:solidFill>
                            <a:latin typeface="Cambria Math" charset="0"/>
                          </a:rPr>
                          <m:t>−1</m:t>
                        </m:r>
                      </m:sup>
                    </m:sSup>
                  </m:oMath>
                </a14:m>
                <a:endParaRPr lang="en-US" dirty="0">
                  <a:solidFill>
                    <a:schemeClr val="tx1">
                      <a:lumMod val="85000"/>
                      <a:lumOff val="15000"/>
                    </a:schemeClr>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057853" y="5936350"/>
                <a:ext cx="4767581" cy="461473"/>
              </a:xfrm>
              <a:prstGeom prst="rect">
                <a:avLst/>
              </a:prstGeom>
              <a:blipFill rotWithShape="0">
                <a:blip r:embed="rId5"/>
                <a:stretch>
                  <a:fillRect l="-1151" t="-69737" b="-84211"/>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9415" y="2236665"/>
            <a:ext cx="5669289" cy="3614933"/>
          </a:xfrm>
          <a:prstGeom prst="rect">
            <a:avLst/>
          </a:prstGeo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Spin-glass signature in </a:t>
                </a:r>
                <a14:m>
                  <m:oMath xmlns:m="http://schemas.openxmlformats.org/officeDocument/2006/math">
                    <m:r>
                      <a:rPr lang="en-US" sz="3200" b="0" i="1" smtClean="0">
                        <a:solidFill>
                          <a:schemeClr val="tx1">
                            <a:lumMod val="65000"/>
                            <a:lumOff val="35000"/>
                          </a:schemeClr>
                        </a:solidFill>
                        <a:latin typeface="Cambria Math" charset="0"/>
                      </a:rPr>
                      <m:t>𝑌𝑏𝑍𝑛𝐺𝑎</m:t>
                    </m:r>
                    <m:sSub>
                      <m:sSubPr>
                        <m:ctrlPr>
                          <a:rPr lang="en-US" sz="3200" b="0" i="1" smtClean="0">
                            <a:solidFill>
                              <a:schemeClr val="tx1">
                                <a:lumMod val="65000"/>
                                <a:lumOff val="35000"/>
                              </a:schemeClr>
                            </a:solidFill>
                            <a:latin typeface="Cambria Math" charset="0"/>
                          </a:rPr>
                        </m:ctrlPr>
                      </m:sSubPr>
                      <m:e>
                        <m:r>
                          <a:rPr lang="en-US" sz="3200" b="0" i="1" smtClean="0">
                            <a:solidFill>
                              <a:schemeClr val="tx1">
                                <a:lumMod val="65000"/>
                                <a:lumOff val="35000"/>
                              </a:schemeClr>
                            </a:solidFill>
                            <a:latin typeface="Cambria Math" charset="0"/>
                          </a:rPr>
                          <m:t>𝑂</m:t>
                        </m:r>
                      </m:e>
                      <m:sub>
                        <m:r>
                          <a:rPr lang="en-US" sz="3200" b="0" i="1" smtClean="0">
                            <a:solidFill>
                              <a:schemeClr val="tx1">
                                <a:lumMod val="65000"/>
                                <a:lumOff val="35000"/>
                              </a:schemeClr>
                            </a:solidFill>
                            <a:latin typeface="Cambria Math" charset="0"/>
                          </a:rPr>
                          <m:t>4</m:t>
                        </m:r>
                      </m:sub>
                    </m:sSub>
                  </m:oMath>
                </a14:m>
                <a:endParaRPr lang="en-US" sz="3200" dirty="0">
                  <a:solidFill>
                    <a:schemeClr val="tx1">
                      <a:lumMod val="65000"/>
                      <a:lumOff val="35000"/>
                    </a:schemeClr>
                  </a:solidFill>
                  <a:latin typeface="+mj-lt"/>
                </a:endParaRPr>
              </a:p>
            </p:txBody>
          </p:sp>
        </mc:Choice>
        <mc:Fallback>
          <p:sp>
            <p:nvSpPr>
              <p:cNvPr id="12" name="TextBox 11">
                <a:extLst>
                  <a:ext uri="{FF2B5EF4-FFF2-40B4-BE49-F238E27FC236}">
                    <a16:creationId xmlns:a16="http://schemas.microsoft.com/office/drawing/2014/main" xmlns="" xmlns:a14="http://schemas.microsoft.com/office/drawing/2010/main" id="{979A644E-6B4B-499D-9FBC-BF6B6AFF17DB}"/>
                  </a:ext>
                </a:extLst>
              </p:cNvPr>
              <p:cNvSpPr txBox="1">
                <a:spLocks noRot="1" noChangeAspect="1" noMove="1" noResize="1" noEditPoints="1" noAdjustHandles="1" noChangeArrowheads="1" noChangeShapeType="1" noTextEdit="1"/>
              </p:cNvSpPr>
              <p:nvPr/>
            </p:nvSpPr>
            <p:spPr>
              <a:xfrm>
                <a:off x="837990" y="1281596"/>
                <a:ext cx="8455913" cy="584775"/>
              </a:xfrm>
              <a:prstGeom prst="rect">
                <a:avLst/>
              </a:prstGeom>
              <a:blipFill rotWithShape="0">
                <a:blip r:embed="rId7"/>
                <a:stretch>
                  <a:fillRect l="-1801" t="-12500" b="-34375"/>
                </a:stretch>
              </a:blipFill>
            </p:spPr>
            <p:txBody>
              <a:bodyPr/>
              <a:lstStyle/>
              <a:p>
                <a:r>
                  <a:rPr lang="en-US">
                    <a:noFill/>
                  </a:rPr>
                  <a:t> </a:t>
                </a:r>
              </a:p>
            </p:txBody>
          </p:sp>
        </mc:Fallback>
      </mc:AlternateContent>
      <p:sp>
        <p:nvSpPr>
          <p:cNvPr id="14"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Experiments on triangular lattice</a:t>
            </a:r>
            <a:endParaRPr lang="x-none" sz="3600" dirty="0"/>
          </a:p>
        </p:txBody>
      </p:sp>
      <p:cxnSp>
        <p:nvCxnSpPr>
          <p:cNvPr id="15" name="Straight Connector 1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24242" y="6012261"/>
            <a:ext cx="1703515" cy="369332"/>
          </a:xfrm>
          <a:prstGeom prst="rect">
            <a:avLst/>
          </a:prstGeom>
          <a:noFill/>
        </p:spPr>
        <p:txBody>
          <a:bodyPr wrap="square" rtlCol="0">
            <a:spAutoFit/>
          </a:bodyPr>
          <a:lstStyle/>
          <a:p>
            <a:r>
              <a:rPr lang="en-US" dirty="0" err="1" smtClean="0">
                <a:solidFill>
                  <a:schemeClr val="tx1">
                    <a:lumMod val="85000"/>
                    <a:lumOff val="15000"/>
                  </a:schemeClr>
                </a:solidFill>
              </a:rPr>
              <a:t>Magnon</a:t>
            </a:r>
            <a:r>
              <a:rPr lang="en-US" dirty="0" smtClean="0">
                <a:solidFill>
                  <a:schemeClr val="tx1">
                    <a:lumMod val="85000"/>
                    <a:lumOff val="15000"/>
                  </a:schemeClr>
                </a:solidFill>
              </a:rPr>
              <a:t> modes</a:t>
            </a:r>
            <a:endParaRPr lang="en-US" dirty="0">
              <a:solidFill>
                <a:schemeClr val="tx1">
                  <a:lumMod val="85000"/>
                  <a:lumOff val="15000"/>
                </a:schemeClr>
              </a:solidFill>
            </a:endParaRPr>
          </a:p>
        </p:txBody>
      </p:sp>
      <p:sp>
        <p:nvSpPr>
          <p:cNvPr id="18" name="TextBox 17"/>
          <p:cNvSpPr txBox="1"/>
          <p:nvPr/>
        </p:nvSpPr>
        <p:spPr>
          <a:xfrm>
            <a:off x="4363782" y="6360350"/>
            <a:ext cx="2694071" cy="307777"/>
          </a:xfrm>
          <a:prstGeom prst="rect">
            <a:avLst/>
          </a:prstGeom>
          <a:noFill/>
        </p:spPr>
        <p:txBody>
          <a:bodyPr wrap="none" rtlCol="0">
            <a:spAutoFit/>
          </a:bodyPr>
          <a:lstStyle/>
          <a:p>
            <a:r>
              <a:rPr lang="it-IT" sz="1400" dirty="0" smtClean="0">
                <a:solidFill>
                  <a:schemeClr val="accent2">
                    <a:lumMod val="50000"/>
                  </a:schemeClr>
                </a:solidFill>
              </a:rPr>
              <a:t>Ma et. al, arxiv:1709.00256 (2017)</a:t>
            </a:r>
            <a:endParaRPr lang="it-IT" sz="1400" dirty="0">
              <a:solidFill>
                <a:schemeClr val="accent2">
                  <a:lumMod val="50000"/>
                </a:schemeClr>
              </a:solidFill>
            </a:endParaRPr>
          </a:p>
        </p:txBody>
      </p:sp>
    </p:spTree>
    <p:extLst>
      <p:ext uri="{BB962C8B-B14F-4D97-AF65-F5344CB8AC3E}">
        <p14:creationId xmlns:p14="http://schemas.microsoft.com/office/powerpoint/2010/main" val="177105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02DC6DB-79AC-40CC-9EA0-71B012856EA7}"/>
                  </a:ext>
                </a:extLst>
              </p:cNvPr>
              <p:cNvSpPr>
                <a:spLocks noGrp="1"/>
              </p:cNvSpPr>
              <p:nvPr>
                <p:ph idx="1"/>
              </p:nvPr>
            </p:nvSpPr>
            <p:spPr>
              <a:xfrm>
                <a:off x="838200" y="2036603"/>
                <a:ext cx="10515600" cy="4578116"/>
              </a:xfrm>
            </p:spPr>
            <p:txBody>
              <a:bodyPr>
                <a:normAutofit/>
              </a:bodyPr>
              <a:lstStyle/>
              <a:p>
                <a:pPr marL="0" marR="0" lvl="0" indent="0" defTabSz="914400" eaLnBrk="1" fontAlgn="auto" latinLnBrk="0" hangingPunct="1">
                  <a:lnSpc>
                    <a:spcPct val="110000"/>
                  </a:lnSpc>
                  <a:spcBef>
                    <a:spcPts val="0"/>
                  </a:spcBef>
                  <a:spcAft>
                    <a:spcPts val="0"/>
                  </a:spcAft>
                  <a:buClrTx/>
                  <a:buSzTx/>
                  <a:buFont typeface="Wingdings" panose="05000000000000000000" pitchFamily="2" charset="2"/>
                  <a:buNone/>
                  <a:tabLst/>
                  <a:defRPr/>
                </a:pPr>
                <a:endParaRPr lang="en-US" sz="2400" dirty="0" smtClean="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r>
                  <a:rPr lang="en-US" sz="2400" dirty="0" smtClean="0">
                    <a:solidFill>
                      <a:schemeClr val="tx1">
                        <a:lumMod val="85000"/>
                        <a:lumOff val="15000"/>
                      </a:schemeClr>
                    </a:solidFill>
                  </a:rPr>
                  <a:t>Very small non-phonon contribution </a:t>
                </a:r>
                <a14:m>
                  <m:oMath xmlns:m="http://schemas.openxmlformats.org/officeDocument/2006/math">
                    <m:f>
                      <m:fPr>
                        <m:ctrlPr>
                          <a:rPr lang="en-US" sz="2400" b="0" i="1" smtClean="0">
                            <a:solidFill>
                              <a:schemeClr val="tx1">
                                <a:lumMod val="85000"/>
                                <a:lumOff val="15000"/>
                              </a:schemeClr>
                            </a:solidFill>
                            <a:latin typeface="Cambria Math" charset="0"/>
                          </a:rPr>
                        </m:ctrlPr>
                      </m:fPr>
                      <m:num>
                        <m:sSub>
                          <m:sSubPr>
                            <m:ctrlPr>
                              <a:rPr lang="en-US" sz="2400" b="0" i="1" smtClean="0">
                                <a:solidFill>
                                  <a:schemeClr val="tx1">
                                    <a:lumMod val="85000"/>
                                    <a:lumOff val="15000"/>
                                  </a:schemeClr>
                                </a:solidFill>
                                <a:latin typeface="Cambria Math" charset="0"/>
                              </a:rPr>
                            </m:ctrlPr>
                          </m:sSubPr>
                          <m:e>
                            <m:r>
                              <a:rPr lang="en-US" sz="2400" b="0" i="1" smtClean="0">
                                <a:solidFill>
                                  <a:schemeClr val="tx1">
                                    <a:lumMod val="85000"/>
                                    <a:lumOff val="15000"/>
                                  </a:schemeClr>
                                </a:solidFill>
                                <a:latin typeface="Cambria Math" charset="0"/>
                              </a:rPr>
                              <m:t>𝜅</m:t>
                            </m:r>
                          </m:e>
                          <m:sub>
                            <m:r>
                              <a:rPr lang="en-US" sz="2400" b="0" i="1" smtClean="0">
                                <a:solidFill>
                                  <a:schemeClr val="tx1">
                                    <a:lumMod val="85000"/>
                                    <a:lumOff val="15000"/>
                                  </a:schemeClr>
                                </a:solidFill>
                                <a:latin typeface="Cambria Math" charset="0"/>
                              </a:rPr>
                              <m:t>0</m:t>
                            </m:r>
                          </m:sub>
                        </m:sSub>
                      </m:num>
                      <m:den>
                        <m:r>
                          <a:rPr lang="en-US" sz="2400" b="0" i="1" smtClean="0">
                            <a:solidFill>
                              <a:schemeClr val="tx1">
                                <a:lumMod val="85000"/>
                                <a:lumOff val="15000"/>
                              </a:schemeClr>
                            </a:solidFill>
                            <a:latin typeface="Cambria Math" charset="0"/>
                          </a:rPr>
                          <m:t>𝑇</m:t>
                        </m:r>
                      </m:den>
                    </m:f>
                  </m:oMath>
                </a14:m>
                <a:endParaRPr lang="en-US" sz="2400" dirty="0" smtClean="0">
                  <a:solidFill>
                    <a:schemeClr val="tx1">
                      <a:lumMod val="85000"/>
                      <a:lumOff val="15000"/>
                    </a:schemeClr>
                  </a:solidFill>
                </a:endParaRPr>
              </a:p>
              <a:p>
                <a:pPr marR="0" lvl="0" defTabSz="914400" eaLnBrk="1" fontAlgn="auto" latinLnBrk="0" hangingPunct="1">
                  <a:lnSpc>
                    <a:spcPct val="110000"/>
                  </a:lnSpc>
                  <a:spcBef>
                    <a:spcPts val="0"/>
                  </a:spcBef>
                  <a:spcAft>
                    <a:spcPts val="0"/>
                  </a:spcAft>
                  <a:buClrTx/>
                  <a:buSzTx/>
                  <a:buFont typeface="Wingdings" charset="2"/>
                  <a:buChar char="§"/>
                  <a:tabLst/>
                  <a:defRPr/>
                </a:pPr>
                <a:endParaRPr lang="en-US" sz="2400" dirty="0">
                  <a:solidFill>
                    <a:schemeClr val="tx1">
                      <a:lumMod val="85000"/>
                      <a:lumOff val="15000"/>
                    </a:schemeClr>
                  </a:solidFill>
                </a:endParaRPr>
              </a:p>
              <a:p>
                <a:pPr>
                  <a:lnSpc>
                    <a:spcPct val="110000"/>
                  </a:lnSpc>
                  <a:spcBef>
                    <a:spcPts val="0"/>
                  </a:spcBef>
                  <a:buFont typeface="Wingdings" charset="2"/>
                  <a:buChar char="§"/>
                  <a:defRPr/>
                </a:pPr>
                <a:r>
                  <a:rPr lang="en-US" sz="2400" dirty="0" smtClean="0">
                    <a:solidFill>
                      <a:schemeClr val="tx1">
                        <a:lumMod val="85000"/>
                        <a:lumOff val="15000"/>
                      </a:schemeClr>
                    </a:solidFill>
                  </a:rPr>
                  <a:t>1000 times smaller than QSL candidate</a:t>
                </a:r>
                <a:r>
                  <a:rPr lang="en-US" sz="2400" dirty="0">
                    <a:solidFill>
                      <a:schemeClr val="tx1">
                        <a:lumMod val="85000"/>
                        <a:lumOff val="15000"/>
                      </a:schemeClr>
                    </a:solidFill>
                  </a:rPr>
                  <a:t> </a:t>
                </a:r>
              </a:p>
              <a:p>
                <a:pPr marL="0" indent="0">
                  <a:lnSpc>
                    <a:spcPct val="110000"/>
                  </a:lnSpc>
                  <a:spcBef>
                    <a:spcPts val="0"/>
                  </a:spcBef>
                  <a:buNone/>
                  <a:defRPr/>
                </a:pPr>
                <a14:m>
                  <m:oMathPara xmlns:m="http://schemas.openxmlformats.org/officeDocument/2006/math">
                    <m:oMathParaPr>
                      <m:jc m:val="left"/>
                    </m:oMathParaPr>
                    <m:oMath xmlns:m="http://schemas.openxmlformats.org/officeDocument/2006/math">
                      <m:r>
                        <a:rPr lang="en-US" sz="2400" b="0" i="1" smtClean="0">
                          <a:solidFill>
                            <a:schemeClr val="tx1">
                              <a:lumMod val="85000"/>
                              <a:lumOff val="15000"/>
                            </a:schemeClr>
                          </a:solidFill>
                          <a:latin typeface="Cambria Math" charset="0"/>
                        </a:rPr>
                        <m:t>𝐸𝑡𝑀</m:t>
                      </m:r>
                      <m:sSub>
                        <m:sSubPr>
                          <m:ctrlPr>
                            <a:rPr lang="en-US" sz="2400" b="0" i="1" smtClean="0">
                              <a:solidFill>
                                <a:schemeClr val="tx1">
                                  <a:lumMod val="85000"/>
                                  <a:lumOff val="15000"/>
                                </a:schemeClr>
                              </a:solidFill>
                              <a:latin typeface="Cambria Math" charset="0"/>
                            </a:rPr>
                          </m:ctrlPr>
                        </m:sSubPr>
                        <m:e>
                          <m:r>
                            <a:rPr lang="en-US" sz="2400" b="0" i="1" smtClean="0">
                              <a:solidFill>
                                <a:schemeClr val="tx1">
                                  <a:lumMod val="85000"/>
                                  <a:lumOff val="15000"/>
                                </a:schemeClr>
                              </a:solidFill>
                              <a:latin typeface="Cambria Math" charset="0"/>
                            </a:rPr>
                            <m:t>𝑒</m:t>
                          </m:r>
                        </m:e>
                        <m:sub>
                          <m:r>
                            <a:rPr lang="en-US" sz="2400" b="0" i="1" smtClean="0">
                              <a:solidFill>
                                <a:schemeClr val="tx1">
                                  <a:lumMod val="85000"/>
                                  <a:lumOff val="15000"/>
                                </a:schemeClr>
                              </a:solidFill>
                              <a:latin typeface="Cambria Math" charset="0"/>
                            </a:rPr>
                            <m:t>3</m:t>
                          </m:r>
                        </m:sub>
                      </m:sSub>
                      <m:r>
                        <a:rPr lang="en-US" sz="2400" b="0" i="1" smtClean="0">
                          <a:solidFill>
                            <a:schemeClr val="tx1">
                              <a:lumMod val="85000"/>
                              <a:lumOff val="15000"/>
                            </a:schemeClr>
                          </a:solidFill>
                          <a:latin typeface="Cambria Math" charset="0"/>
                        </a:rPr>
                        <m:t>𝑆𝑏</m:t>
                      </m:r>
                      <m:r>
                        <a:rPr lang="en-US" sz="2400" b="0" i="1" smtClean="0">
                          <a:solidFill>
                            <a:schemeClr val="tx1">
                              <a:lumMod val="85000"/>
                              <a:lumOff val="15000"/>
                            </a:schemeClr>
                          </a:solidFill>
                          <a:latin typeface="Cambria Math" charset="0"/>
                        </a:rPr>
                        <m:t>[</m:t>
                      </m:r>
                      <m:r>
                        <a:rPr lang="en-US" sz="2400" b="0" i="1" smtClean="0">
                          <a:solidFill>
                            <a:schemeClr val="tx1">
                              <a:lumMod val="85000"/>
                              <a:lumOff val="15000"/>
                            </a:schemeClr>
                          </a:solidFill>
                          <a:latin typeface="Cambria Math" charset="0"/>
                        </a:rPr>
                        <m:t>𝑃𝑑</m:t>
                      </m:r>
                      <m:sSub>
                        <m:sSubPr>
                          <m:ctrlPr>
                            <a:rPr lang="en-US" sz="2400" b="0" i="1" smtClean="0">
                              <a:solidFill>
                                <a:schemeClr val="tx1">
                                  <a:lumMod val="85000"/>
                                  <a:lumOff val="15000"/>
                                </a:schemeClr>
                              </a:solidFill>
                              <a:latin typeface="Cambria Math" charset="0"/>
                            </a:rPr>
                          </m:ctrlPr>
                        </m:sSubPr>
                        <m:e>
                          <m:d>
                            <m:dPr>
                              <m:ctrlPr>
                                <a:rPr lang="en-US" sz="2400" b="0" i="1" smtClean="0">
                                  <a:solidFill>
                                    <a:schemeClr val="tx1">
                                      <a:lumMod val="85000"/>
                                      <a:lumOff val="15000"/>
                                    </a:schemeClr>
                                  </a:solidFill>
                                  <a:latin typeface="Cambria Math" charset="0"/>
                                </a:rPr>
                              </m:ctrlPr>
                            </m:dPr>
                            <m:e>
                              <m:r>
                                <a:rPr lang="en-US" sz="2400" b="0" i="1" smtClean="0">
                                  <a:solidFill>
                                    <a:schemeClr val="tx1">
                                      <a:lumMod val="85000"/>
                                      <a:lumOff val="15000"/>
                                    </a:schemeClr>
                                  </a:solidFill>
                                  <a:latin typeface="Cambria Math" charset="0"/>
                                </a:rPr>
                                <m:t>𝑑𝑚𝑖𝑡</m:t>
                              </m:r>
                            </m:e>
                          </m:d>
                        </m:e>
                        <m:sub>
                          <m:r>
                            <a:rPr lang="en-US" sz="2400" b="0" i="1" smtClean="0">
                              <a:solidFill>
                                <a:schemeClr val="tx1">
                                  <a:lumMod val="85000"/>
                                  <a:lumOff val="15000"/>
                                </a:schemeClr>
                              </a:solidFill>
                              <a:latin typeface="Cambria Math" charset="0"/>
                            </a:rPr>
                            <m:t>2</m:t>
                          </m:r>
                        </m:sub>
                      </m:sSub>
                      <m:r>
                        <a:rPr lang="en-US" sz="2400" b="0" i="1" smtClean="0">
                          <a:solidFill>
                            <a:schemeClr val="tx1">
                              <a:lumMod val="85000"/>
                              <a:lumOff val="15000"/>
                            </a:schemeClr>
                          </a:solidFill>
                          <a:latin typeface="Cambria Math" charset="0"/>
                        </a:rPr>
                        <m:t>]</m:t>
                      </m:r>
                    </m:oMath>
                  </m:oMathPara>
                </a14:m>
                <a:endParaRPr lang="en-US" sz="2400" dirty="0" smtClean="0">
                  <a:solidFill>
                    <a:schemeClr val="tx1">
                      <a:lumMod val="85000"/>
                      <a:lumOff val="15000"/>
                    </a:schemeClr>
                  </a:solidFill>
                </a:endParaRPr>
              </a:p>
              <a:p>
                <a:pPr marL="0" indent="0">
                  <a:lnSpc>
                    <a:spcPct val="110000"/>
                  </a:lnSpc>
                  <a:spcBef>
                    <a:spcPts val="0"/>
                  </a:spcBef>
                  <a:buNone/>
                  <a:defRPr/>
                </a:pPr>
                <a:endParaRPr lang="en-US" sz="2400" dirty="0">
                  <a:solidFill>
                    <a:schemeClr val="tx1">
                      <a:lumMod val="85000"/>
                      <a:lumOff val="15000"/>
                    </a:schemeClr>
                  </a:solidFill>
                </a:endParaRPr>
              </a:p>
              <a:p>
                <a:pPr>
                  <a:lnSpc>
                    <a:spcPct val="110000"/>
                  </a:lnSpc>
                  <a:spcBef>
                    <a:spcPts val="0"/>
                  </a:spcBef>
                  <a:buFont typeface="Wingdings" charset="2"/>
                  <a:buChar char="§"/>
                  <a:defRPr/>
                </a:pPr>
                <a:r>
                  <a:rPr lang="en-US" sz="2400" dirty="0" smtClean="0">
                    <a:solidFill>
                      <a:schemeClr val="tx1">
                        <a:lumMod val="85000"/>
                        <a:lumOff val="15000"/>
                      </a:schemeClr>
                    </a:solidFill>
                  </a:rPr>
                  <a:t>It is postulated that disorder induced spin</a:t>
                </a:r>
              </a:p>
              <a:p>
                <a:pPr marL="0" indent="0">
                  <a:lnSpc>
                    <a:spcPct val="110000"/>
                  </a:lnSpc>
                  <a:spcBef>
                    <a:spcPts val="0"/>
                  </a:spcBef>
                  <a:buNone/>
                  <a:defRPr/>
                </a:pPr>
                <a:r>
                  <a:rPr lang="en-US" sz="2400" dirty="0" smtClean="0">
                    <a:solidFill>
                      <a:schemeClr val="tx1">
                        <a:lumMod val="85000"/>
                        <a:lumOff val="15000"/>
                      </a:schemeClr>
                    </a:solidFill>
                  </a:rPr>
                  <a:t>Glass signature might explain this behavior.</a:t>
                </a:r>
              </a:p>
            </p:txBody>
          </p:sp>
        </mc:Choice>
        <mc:Fallback xmlns="">
          <p:sp>
            <p:nvSpPr>
              <p:cNvPr id="3" name="Content Placeholder 2">
                <a:extLst>
                  <a:ext uri="{FF2B5EF4-FFF2-40B4-BE49-F238E27FC236}">
                    <a16:creationId xmlns="" xmlns:a16="http://schemas.microsoft.com/office/drawing/2014/main" xmlns:a14="http://schemas.microsoft.com/office/drawing/2010/main" id="{B02DC6DB-79AC-40CC-9EA0-71B012856EA7}"/>
                  </a:ext>
                </a:extLst>
              </p:cNvPr>
              <p:cNvSpPr>
                <a:spLocks noGrp="1" noRot="1" noChangeAspect="1" noMove="1" noResize="1" noEditPoints="1" noAdjustHandles="1" noChangeArrowheads="1" noChangeShapeType="1" noTextEdit="1"/>
              </p:cNvSpPr>
              <p:nvPr>
                <p:ph idx="1"/>
              </p:nvPr>
            </p:nvSpPr>
            <p:spPr>
              <a:xfrm>
                <a:off x="838200" y="2036603"/>
                <a:ext cx="10515600" cy="4578116"/>
              </a:xfrm>
              <a:blipFill rotWithShape="0">
                <a:blip r:embed="rId2"/>
                <a:stretch>
                  <a:fillRect l="-928"/>
                </a:stretch>
              </a:blipFill>
            </p:spPr>
            <p:txBody>
              <a:bodyPr/>
              <a:lstStyle/>
              <a:p>
                <a:r>
                  <a:rPr lang="en-US">
                    <a:noFill/>
                  </a:rPr>
                  <a:t> </a:t>
                </a:r>
              </a:p>
            </p:txBody>
          </p:sp>
        </mc:Fallback>
      </mc:AlternateContent>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2402" y="2233978"/>
            <a:ext cx="4097700" cy="3586249"/>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7057853" y="5936350"/>
                <a:ext cx="4767581" cy="461473"/>
              </a:xfrm>
              <a:prstGeom prst="rect">
                <a:avLst/>
              </a:prstGeom>
              <a:noFill/>
            </p:spPr>
            <p:txBody>
              <a:bodyPr wrap="square" rtlCol="0">
                <a:spAutoFit/>
              </a:bodyPr>
              <a:lstStyle/>
              <a:p>
                <a:r>
                  <a:rPr lang="en-US" dirty="0" smtClean="0">
                    <a:solidFill>
                      <a:schemeClr val="tx1">
                        <a:lumMod val="85000"/>
                        <a:lumOff val="15000"/>
                      </a:schemeClr>
                    </a:solidFill>
                  </a:rPr>
                  <a:t>Thermal conductivity, </a:t>
                </a:r>
                <a14:m>
                  <m:oMath xmlns:m="http://schemas.openxmlformats.org/officeDocument/2006/math">
                    <m:f>
                      <m:fPr>
                        <m:ctrlPr>
                          <a:rPr lang="en-US" b="0" i="1" smtClean="0">
                            <a:solidFill>
                              <a:schemeClr val="tx1">
                                <a:lumMod val="85000"/>
                                <a:lumOff val="15000"/>
                              </a:schemeClr>
                            </a:solidFill>
                            <a:latin typeface="Cambria Math" charset="0"/>
                          </a:rPr>
                        </m:ctrlPr>
                      </m:fPr>
                      <m:num>
                        <m:r>
                          <a:rPr lang="en-US" b="0" i="1" smtClean="0">
                            <a:solidFill>
                              <a:schemeClr val="tx1">
                                <a:lumMod val="85000"/>
                                <a:lumOff val="15000"/>
                              </a:schemeClr>
                            </a:solidFill>
                            <a:latin typeface="Cambria Math" charset="0"/>
                          </a:rPr>
                          <m:t>𝜅</m:t>
                        </m:r>
                      </m:num>
                      <m:den>
                        <m:r>
                          <a:rPr lang="en-US" b="0" i="1" smtClean="0">
                            <a:solidFill>
                              <a:schemeClr val="tx1">
                                <a:lumMod val="85000"/>
                                <a:lumOff val="15000"/>
                              </a:schemeClr>
                            </a:solidFill>
                            <a:latin typeface="Cambria Math" charset="0"/>
                          </a:rPr>
                          <m:t>𝑇</m:t>
                        </m:r>
                      </m:den>
                    </m:f>
                    <m:r>
                      <a:rPr lang="en-US" b="0" i="1" smtClean="0">
                        <a:solidFill>
                          <a:schemeClr val="tx1">
                            <a:lumMod val="85000"/>
                            <a:lumOff val="15000"/>
                          </a:schemeClr>
                        </a:solidFill>
                        <a:latin typeface="Cambria Math" charset="0"/>
                      </a:rPr>
                      <m:t>=</m:t>
                    </m:r>
                    <m:f>
                      <m:fPr>
                        <m:ctrlPr>
                          <a:rPr lang="en-US" b="0" i="1" smtClean="0">
                            <a:solidFill>
                              <a:schemeClr val="tx1">
                                <a:lumMod val="85000"/>
                                <a:lumOff val="15000"/>
                              </a:schemeClr>
                            </a:solidFill>
                            <a:latin typeface="Cambria Math" charset="0"/>
                          </a:rPr>
                        </m:ctrlPr>
                      </m:fPr>
                      <m:num>
                        <m:sSub>
                          <m:sSubPr>
                            <m:ctrlPr>
                              <a:rPr lang="en-US" b="0" i="1" smtClean="0">
                                <a:solidFill>
                                  <a:schemeClr val="tx1">
                                    <a:lumMod val="85000"/>
                                    <a:lumOff val="15000"/>
                                  </a:schemeClr>
                                </a:solidFill>
                                <a:latin typeface="Cambria Math" charset="0"/>
                              </a:rPr>
                            </m:ctrlPr>
                          </m:sSubPr>
                          <m:e>
                            <m:r>
                              <a:rPr lang="en-US" b="0" i="1" smtClean="0">
                                <a:solidFill>
                                  <a:schemeClr val="tx1">
                                    <a:lumMod val="85000"/>
                                    <a:lumOff val="15000"/>
                                  </a:schemeClr>
                                </a:solidFill>
                                <a:latin typeface="Cambria Math" charset="0"/>
                              </a:rPr>
                              <m:t>𝜅</m:t>
                            </m:r>
                          </m:e>
                          <m:sub>
                            <m:r>
                              <a:rPr lang="en-US" b="0" i="1" smtClean="0">
                                <a:solidFill>
                                  <a:schemeClr val="tx1">
                                    <a:lumMod val="85000"/>
                                    <a:lumOff val="15000"/>
                                  </a:schemeClr>
                                </a:solidFill>
                                <a:latin typeface="Cambria Math" charset="0"/>
                              </a:rPr>
                              <m:t>0</m:t>
                            </m:r>
                          </m:sub>
                        </m:sSub>
                      </m:num>
                      <m:den>
                        <m:r>
                          <a:rPr lang="en-US" b="0" i="1" smtClean="0">
                            <a:solidFill>
                              <a:schemeClr val="tx1">
                                <a:lumMod val="85000"/>
                                <a:lumOff val="15000"/>
                              </a:schemeClr>
                            </a:solidFill>
                            <a:latin typeface="Cambria Math" charset="0"/>
                          </a:rPr>
                          <m:t>𝑇</m:t>
                        </m:r>
                      </m:den>
                    </m:f>
                    <m:r>
                      <a:rPr lang="en-US" b="0" i="1" smtClean="0">
                        <a:solidFill>
                          <a:schemeClr val="tx1">
                            <a:lumMod val="85000"/>
                            <a:lumOff val="15000"/>
                          </a:schemeClr>
                        </a:solidFill>
                        <a:latin typeface="Cambria Math" charset="0"/>
                      </a:rPr>
                      <m:t>+</m:t>
                    </m:r>
                    <m:r>
                      <a:rPr lang="en-US" b="0" i="1" smtClean="0">
                        <a:solidFill>
                          <a:schemeClr val="tx1">
                            <a:lumMod val="85000"/>
                            <a:lumOff val="15000"/>
                          </a:schemeClr>
                        </a:solidFill>
                        <a:latin typeface="Cambria Math" charset="0"/>
                      </a:rPr>
                      <m:t>𝑛</m:t>
                    </m:r>
                    <m:r>
                      <a:rPr lang="en-US" b="0" i="1" smtClean="0">
                        <a:solidFill>
                          <a:schemeClr val="tx1">
                            <a:lumMod val="85000"/>
                            <a:lumOff val="15000"/>
                          </a:schemeClr>
                        </a:solidFill>
                        <a:latin typeface="Cambria Math" charset="0"/>
                      </a:rPr>
                      <m:t> </m:t>
                    </m:r>
                    <m:sSup>
                      <m:sSupPr>
                        <m:ctrlPr>
                          <a:rPr lang="en-US" b="0" i="1" smtClean="0">
                            <a:solidFill>
                              <a:schemeClr val="tx1">
                                <a:lumMod val="85000"/>
                                <a:lumOff val="15000"/>
                              </a:schemeClr>
                            </a:solidFill>
                            <a:latin typeface="Cambria Math" charset="0"/>
                          </a:rPr>
                        </m:ctrlPr>
                      </m:sSupPr>
                      <m:e>
                        <m:r>
                          <a:rPr lang="en-US" b="0" i="1" smtClean="0">
                            <a:solidFill>
                              <a:schemeClr val="tx1">
                                <a:lumMod val="85000"/>
                                <a:lumOff val="15000"/>
                              </a:schemeClr>
                            </a:solidFill>
                            <a:latin typeface="Cambria Math" charset="0"/>
                          </a:rPr>
                          <m:t>𝑇</m:t>
                        </m:r>
                      </m:e>
                      <m:sup>
                        <m:r>
                          <a:rPr lang="en-US" b="0" i="1" smtClean="0">
                            <a:solidFill>
                              <a:schemeClr val="tx1">
                                <a:lumMod val="85000"/>
                                <a:lumOff val="15000"/>
                              </a:schemeClr>
                            </a:solidFill>
                            <a:latin typeface="Cambria Math" charset="0"/>
                          </a:rPr>
                          <m:t>𝛽</m:t>
                        </m:r>
                        <m:r>
                          <a:rPr lang="en-US" b="0" i="1" smtClean="0">
                            <a:solidFill>
                              <a:schemeClr val="tx1">
                                <a:lumMod val="85000"/>
                                <a:lumOff val="15000"/>
                              </a:schemeClr>
                            </a:solidFill>
                            <a:latin typeface="Cambria Math" charset="0"/>
                          </a:rPr>
                          <m:t>−1</m:t>
                        </m:r>
                      </m:sup>
                    </m:sSup>
                  </m:oMath>
                </a14:m>
                <a:endParaRPr lang="en-US" dirty="0">
                  <a:solidFill>
                    <a:schemeClr val="tx1">
                      <a:lumMod val="85000"/>
                      <a:lumOff val="15000"/>
                    </a:schemeClr>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057853" y="5936350"/>
                <a:ext cx="4767581" cy="461473"/>
              </a:xfrm>
              <a:prstGeom prst="rect">
                <a:avLst/>
              </a:prstGeom>
              <a:blipFill rotWithShape="0">
                <a:blip r:embed="rId5"/>
                <a:stretch>
                  <a:fillRect l="-1151" t="-69737" b="-84211"/>
                </a:stretch>
              </a:blipFill>
            </p:spPr>
            <p:txBody>
              <a:bodyPr/>
              <a:lstStyle/>
              <a:p>
                <a:r>
                  <a:rPr lang="en-US">
                    <a:noFill/>
                  </a:rPr>
                  <a:t> </a:t>
                </a:r>
              </a:p>
            </p:txBody>
          </p:sp>
        </mc:Fallback>
      </mc:AlternateContent>
      <p:sp>
        <p:nvSpPr>
          <p:cNvPr id="11" name="TextBox 10"/>
          <p:cNvSpPr txBox="1"/>
          <p:nvPr/>
        </p:nvSpPr>
        <p:spPr>
          <a:xfrm>
            <a:off x="2007220" y="2709746"/>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979A644E-6B4B-499D-9FBC-BF6B6AFF17DB}"/>
                  </a:ext>
                </a:extLst>
              </p:cNvPr>
              <p:cNvSpPr txBox="1"/>
              <p:nvPr/>
            </p:nvSpPr>
            <p:spPr>
              <a:xfrm>
                <a:off x="837990" y="1281596"/>
                <a:ext cx="8455913" cy="584775"/>
              </a:xfrm>
              <a:prstGeom prst="rect">
                <a:avLst/>
              </a:prstGeom>
              <a:noFill/>
            </p:spPr>
            <p:txBody>
              <a:bodyPr wrap="square" rtlCol="0">
                <a:spAutoFit/>
              </a:bodyPr>
              <a:lstStyle/>
              <a:p>
                <a:r>
                  <a:rPr lang="en-US" sz="3200" dirty="0" smtClean="0">
                    <a:solidFill>
                      <a:schemeClr val="tx1">
                        <a:lumMod val="65000"/>
                        <a:lumOff val="35000"/>
                      </a:schemeClr>
                    </a:solidFill>
                    <a:latin typeface="+mj-lt"/>
                  </a:rPr>
                  <a:t>Spin-glass signature in </a:t>
                </a:r>
                <a14:m>
                  <m:oMath xmlns:m="http://schemas.openxmlformats.org/officeDocument/2006/math">
                    <m:r>
                      <a:rPr lang="en-US" sz="3200" b="0" i="1" smtClean="0">
                        <a:solidFill>
                          <a:schemeClr val="tx1">
                            <a:lumMod val="65000"/>
                            <a:lumOff val="35000"/>
                          </a:schemeClr>
                        </a:solidFill>
                        <a:latin typeface="Cambria Math" charset="0"/>
                      </a:rPr>
                      <m:t>𝑌𝑏𝑍𝑛𝐺𝑎</m:t>
                    </m:r>
                    <m:sSub>
                      <m:sSubPr>
                        <m:ctrlPr>
                          <a:rPr lang="en-US" sz="3200" b="0" i="1" smtClean="0">
                            <a:solidFill>
                              <a:schemeClr val="tx1">
                                <a:lumMod val="65000"/>
                                <a:lumOff val="35000"/>
                              </a:schemeClr>
                            </a:solidFill>
                            <a:latin typeface="Cambria Math" charset="0"/>
                          </a:rPr>
                        </m:ctrlPr>
                      </m:sSubPr>
                      <m:e>
                        <m:r>
                          <a:rPr lang="en-US" sz="3200" b="0" i="1" smtClean="0">
                            <a:solidFill>
                              <a:schemeClr val="tx1">
                                <a:lumMod val="65000"/>
                                <a:lumOff val="35000"/>
                              </a:schemeClr>
                            </a:solidFill>
                            <a:latin typeface="Cambria Math" charset="0"/>
                          </a:rPr>
                          <m:t>𝑂</m:t>
                        </m:r>
                      </m:e>
                      <m:sub>
                        <m:r>
                          <a:rPr lang="en-US" sz="3200" b="0" i="1" smtClean="0">
                            <a:solidFill>
                              <a:schemeClr val="tx1">
                                <a:lumMod val="65000"/>
                                <a:lumOff val="35000"/>
                              </a:schemeClr>
                            </a:solidFill>
                            <a:latin typeface="Cambria Math" charset="0"/>
                          </a:rPr>
                          <m:t>4</m:t>
                        </m:r>
                      </m:sub>
                    </m:sSub>
                  </m:oMath>
                </a14:m>
                <a:endParaRPr lang="en-US" sz="3200" dirty="0">
                  <a:solidFill>
                    <a:schemeClr val="tx1">
                      <a:lumMod val="65000"/>
                      <a:lumOff val="35000"/>
                    </a:schemeClr>
                  </a:solidFill>
                  <a:latin typeface="+mj-lt"/>
                </a:endParaRPr>
              </a:p>
            </p:txBody>
          </p:sp>
        </mc:Choice>
        <mc:Fallback xmlns="">
          <p:sp>
            <p:nvSpPr>
              <p:cNvPr id="12" name="TextBox 11">
                <a:extLst>
                  <a:ext uri="{FF2B5EF4-FFF2-40B4-BE49-F238E27FC236}">
                    <a16:creationId xmlns="" xmlns:a16="http://schemas.microsoft.com/office/drawing/2014/main" id="{979A644E-6B4B-499D-9FBC-BF6B6AFF17DB}"/>
                  </a:ext>
                </a:extLst>
              </p:cNvPr>
              <p:cNvSpPr txBox="1">
                <a:spLocks noRot="1" noChangeAspect="1" noMove="1" noResize="1" noEditPoints="1" noAdjustHandles="1" noChangeArrowheads="1" noChangeShapeType="1" noTextEdit="1"/>
              </p:cNvSpPr>
              <p:nvPr/>
            </p:nvSpPr>
            <p:spPr>
              <a:xfrm>
                <a:off x="837990" y="1281596"/>
                <a:ext cx="8455913" cy="584775"/>
              </a:xfrm>
              <a:prstGeom prst="rect">
                <a:avLst/>
              </a:prstGeom>
              <a:blipFill rotWithShape="0">
                <a:blip r:embed="rId6"/>
                <a:stretch>
                  <a:fillRect l="-1801" t="-12500" b="-34375"/>
                </a:stretch>
              </a:blipFill>
            </p:spPr>
            <p:txBody>
              <a:bodyPr/>
              <a:lstStyle/>
              <a:p>
                <a:r>
                  <a:rPr lang="en-US">
                    <a:noFill/>
                  </a:rPr>
                  <a:t> </a:t>
                </a:r>
              </a:p>
            </p:txBody>
          </p:sp>
        </mc:Fallback>
      </mc:AlternateContent>
      <p:sp>
        <p:nvSpPr>
          <p:cNvPr id="14" name="Title 1">
            <a:extLst>
              <a:ext uri="{FF2B5EF4-FFF2-40B4-BE49-F238E27FC236}">
                <a16:creationId xmlns:a16="http://schemas.microsoft.com/office/drawing/2014/main" xmlns="" id="{5F125C44-7ECF-4972-8CDB-951A823B7D0D}"/>
              </a:ext>
            </a:extLst>
          </p:cNvPr>
          <p:cNvSpPr>
            <a:spLocks noGrp="1"/>
          </p:cNvSpPr>
          <p:nvPr>
            <p:ph type="title"/>
          </p:nvPr>
        </p:nvSpPr>
        <p:spPr>
          <a:xfrm>
            <a:off x="803393" y="130906"/>
            <a:ext cx="10515600" cy="1041644"/>
          </a:xfrm>
        </p:spPr>
        <p:txBody>
          <a:bodyPr>
            <a:normAutofit/>
          </a:bodyPr>
          <a:lstStyle/>
          <a:p>
            <a:r>
              <a:rPr lang="en-US" sz="3600" dirty="0" smtClean="0"/>
              <a:t>Experiments on triangular lattice</a:t>
            </a:r>
            <a:endParaRPr lang="x-none" sz="3600" dirty="0"/>
          </a:p>
        </p:txBody>
      </p:sp>
      <p:cxnSp>
        <p:nvCxnSpPr>
          <p:cNvPr id="15" name="Straight Connector 14">
            <a:extLst>
              <a:ext uri="{FF2B5EF4-FFF2-40B4-BE49-F238E27FC236}">
                <a16:creationId xmlns:a16="http://schemas.microsoft.com/office/drawing/2014/main" xmlns="" id="{6CAEF362-8551-4FD9-841C-E82C58FA5029}"/>
              </a:ext>
            </a:extLst>
          </p:cNvPr>
          <p:cNvCxnSpPr>
            <a:cxnSpLocks/>
          </p:cNvCxnSpPr>
          <p:nvPr/>
        </p:nvCxnSpPr>
        <p:spPr>
          <a:xfrm>
            <a:off x="937680" y="1134593"/>
            <a:ext cx="10413023" cy="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363782" y="6360350"/>
            <a:ext cx="2694071" cy="307777"/>
          </a:xfrm>
          <a:prstGeom prst="rect">
            <a:avLst/>
          </a:prstGeom>
          <a:noFill/>
        </p:spPr>
        <p:txBody>
          <a:bodyPr wrap="none" rtlCol="0">
            <a:spAutoFit/>
          </a:bodyPr>
          <a:lstStyle/>
          <a:p>
            <a:r>
              <a:rPr lang="it-IT" sz="1400" dirty="0" smtClean="0">
                <a:solidFill>
                  <a:schemeClr val="accent2">
                    <a:lumMod val="50000"/>
                  </a:schemeClr>
                </a:solidFill>
              </a:rPr>
              <a:t>Ma et. al, arxiv:1709.00256 (2017)</a:t>
            </a:r>
            <a:endParaRPr lang="it-IT" sz="1400" dirty="0">
              <a:solidFill>
                <a:schemeClr val="accent2">
                  <a:lumMod val="50000"/>
                </a:schemeClr>
              </a:solidFill>
            </a:endParaRPr>
          </a:p>
        </p:txBody>
      </p:sp>
    </p:spTree>
    <p:extLst>
      <p:ext uri="{BB962C8B-B14F-4D97-AF65-F5344CB8AC3E}">
        <p14:creationId xmlns:p14="http://schemas.microsoft.com/office/powerpoint/2010/main" val="1024902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841598"/>
            <a:ext cx="9144000" cy="1180633"/>
          </a:xfrm>
        </p:spPr>
        <p:txBody>
          <a:bodyPr>
            <a:normAutofit/>
          </a:bodyPr>
          <a:lstStyle/>
          <a:p>
            <a:pPr algn="l"/>
            <a:r>
              <a:rPr lang="en-US" sz="4000" dirty="0" smtClean="0">
                <a:solidFill>
                  <a:schemeClr val="accent2">
                    <a:lumMod val="50000"/>
                  </a:schemeClr>
                </a:solidFill>
              </a:rPr>
              <a:t>Summary</a:t>
            </a:r>
            <a:endParaRPr lang="x-none" sz="4000" dirty="0">
              <a:solidFill>
                <a:schemeClr val="accent2">
                  <a:lumMod val="50000"/>
                </a:schemeClr>
              </a:solidFill>
            </a:endParaRPr>
          </a:p>
        </p:txBody>
      </p:sp>
      <p:sp>
        <p:nvSpPr>
          <p:cNvPr id="3" name="Subtitle 2">
            <a:extLst>
              <a:ext uri="{FF2B5EF4-FFF2-40B4-BE49-F238E27FC236}">
                <a16:creationId xmlns:a16="http://schemas.microsoft.com/office/drawing/2014/main" xmlns="" id="{E6A136C9-D2F5-484F-BF66-3D4A180EA4B8}"/>
              </a:ext>
            </a:extLst>
          </p:cNvPr>
          <p:cNvSpPr>
            <a:spLocks noGrp="1"/>
          </p:cNvSpPr>
          <p:nvPr>
            <p:ph type="subTitle" idx="1"/>
          </p:nvPr>
        </p:nvSpPr>
        <p:spPr>
          <a:xfrm>
            <a:off x="1538653" y="2793144"/>
            <a:ext cx="9350257" cy="3458187"/>
          </a:xfrm>
        </p:spPr>
        <p:txBody>
          <a:bodyPr>
            <a:noAutofit/>
          </a:bodyPr>
          <a:lstStyle/>
          <a:p>
            <a:pPr marL="342900" indent="-342900" algn="l">
              <a:lnSpc>
                <a:spcPct val="100000"/>
              </a:lnSpc>
              <a:buFont typeface="Wingdings" charset="2"/>
              <a:buChar char="§"/>
            </a:pPr>
            <a:r>
              <a:rPr lang="en-US" dirty="0" smtClean="0">
                <a:solidFill>
                  <a:schemeClr val="tx1">
                    <a:lumMod val="65000"/>
                    <a:lumOff val="35000"/>
                  </a:schemeClr>
                </a:solidFill>
              </a:rPr>
              <a:t>Random bond disorder destroys order in non-collinear magnets below or at the critical dimension 2.</a:t>
            </a:r>
          </a:p>
          <a:p>
            <a:pPr marL="342900" indent="-342900" algn="l">
              <a:lnSpc>
                <a:spcPct val="100000"/>
              </a:lnSpc>
              <a:buFont typeface="Wingdings" charset="2"/>
              <a:buChar char="§"/>
            </a:pPr>
            <a:endParaRPr lang="en-US" dirty="0">
              <a:solidFill>
                <a:schemeClr val="tx1">
                  <a:lumMod val="65000"/>
                  <a:lumOff val="35000"/>
                </a:schemeClr>
              </a:solidFill>
            </a:endParaRPr>
          </a:p>
          <a:p>
            <a:pPr marL="342900" indent="-342900" algn="l">
              <a:lnSpc>
                <a:spcPct val="100000"/>
              </a:lnSpc>
              <a:buFont typeface="Wingdings" charset="2"/>
              <a:buChar char="§"/>
            </a:pPr>
            <a:r>
              <a:rPr lang="en-US" dirty="0" smtClean="0">
                <a:solidFill>
                  <a:schemeClr val="tx1">
                    <a:lumMod val="65000"/>
                    <a:lumOff val="35000"/>
                  </a:schemeClr>
                </a:solidFill>
              </a:rPr>
              <a:t>However, relatively large domain sizes at the critical dimension creates a semblance of an ordered phase.</a:t>
            </a:r>
          </a:p>
          <a:p>
            <a:pPr marL="342900" indent="-342900" algn="l">
              <a:lnSpc>
                <a:spcPct val="100000"/>
              </a:lnSpc>
              <a:buFont typeface="Wingdings" charset="2"/>
              <a:buChar char="§"/>
            </a:pPr>
            <a:endParaRPr lang="en-US" dirty="0">
              <a:solidFill>
                <a:schemeClr val="tx1">
                  <a:lumMod val="65000"/>
                  <a:lumOff val="35000"/>
                </a:schemeClr>
              </a:solidFill>
            </a:endParaRPr>
          </a:p>
          <a:p>
            <a:pPr marL="342900" indent="-342900" algn="l">
              <a:lnSpc>
                <a:spcPct val="100000"/>
              </a:lnSpc>
              <a:buFont typeface="Wingdings" charset="2"/>
              <a:buChar char="§"/>
            </a:pPr>
            <a:r>
              <a:rPr lang="en-US" dirty="0" smtClean="0">
                <a:solidFill>
                  <a:schemeClr val="tx1">
                    <a:lumMod val="65000"/>
                    <a:lumOff val="35000"/>
                  </a:schemeClr>
                </a:solidFill>
              </a:rPr>
              <a:t>Quantum fluctuation makes the effect of disorder more pronounced.</a:t>
            </a:r>
          </a:p>
          <a:p>
            <a:pPr marL="342900" indent="-342900" algn="l">
              <a:lnSpc>
                <a:spcPct val="100000"/>
              </a:lnSpc>
              <a:buFont typeface="Wingdings" charset="2"/>
              <a:buChar char="§"/>
            </a:pPr>
            <a:endParaRPr lang="en-US" dirty="0">
              <a:solidFill>
                <a:schemeClr val="tx1">
                  <a:lumMod val="65000"/>
                  <a:lumOff val="35000"/>
                </a:schemeClr>
              </a:solidFill>
            </a:endParaRPr>
          </a:p>
        </p:txBody>
      </p:sp>
      <p:cxnSp>
        <p:nvCxnSpPr>
          <p:cNvPr id="7" name="Straight Connector 6">
            <a:extLst>
              <a:ext uri="{FF2B5EF4-FFF2-40B4-BE49-F238E27FC236}">
                <a16:creationId xmlns:a16="http://schemas.microsoft.com/office/drawing/2014/main" xmlns="" id="{F645B3AE-7BD3-414D-8C84-8BAC6069E752}"/>
              </a:ext>
            </a:extLst>
          </p:cNvPr>
          <p:cNvCxnSpPr>
            <a:cxnSpLocks/>
          </p:cNvCxnSpPr>
          <p:nvPr/>
        </p:nvCxnSpPr>
        <p:spPr>
          <a:xfrm>
            <a:off x="1635367" y="2183300"/>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660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31FA8A-5905-49D8-9C37-E8A2243AA842}"/>
              </a:ext>
            </a:extLst>
          </p:cNvPr>
          <p:cNvSpPr>
            <a:spLocks noGrp="1"/>
          </p:cNvSpPr>
          <p:nvPr>
            <p:ph type="ctrTitle"/>
          </p:nvPr>
        </p:nvSpPr>
        <p:spPr>
          <a:xfrm>
            <a:off x="1538653" y="2029844"/>
            <a:ext cx="9144000" cy="2268414"/>
          </a:xfrm>
        </p:spPr>
        <p:txBody>
          <a:bodyPr>
            <a:normAutofit/>
          </a:bodyPr>
          <a:lstStyle/>
          <a:p>
            <a:pPr algn="l"/>
            <a:r>
              <a:rPr lang="en-US" sz="4000" dirty="0" smtClean="0">
                <a:solidFill>
                  <a:schemeClr val="accent2">
                    <a:lumMod val="50000"/>
                  </a:schemeClr>
                </a:solidFill>
              </a:rPr>
              <a:t>Thank you!</a:t>
            </a:r>
            <a:endParaRPr lang="x-none" sz="4000" dirty="0">
              <a:solidFill>
                <a:schemeClr val="accent2">
                  <a:lumMod val="50000"/>
                </a:schemeClr>
              </a:solidFill>
            </a:endParaRPr>
          </a:p>
        </p:txBody>
      </p:sp>
      <p:cxnSp>
        <p:nvCxnSpPr>
          <p:cNvPr id="7" name="Straight Connector 6">
            <a:extLst>
              <a:ext uri="{FF2B5EF4-FFF2-40B4-BE49-F238E27FC236}">
                <a16:creationId xmlns:a16="http://schemas.microsoft.com/office/drawing/2014/main" xmlns="" id="{F645B3AE-7BD3-414D-8C84-8BAC6069E752}"/>
              </a:ext>
            </a:extLst>
          </p:cNvPr>
          <p:cNvCxnSpPr>
            <a:cxnSpLocks/>
          </p:cNvCxnSpPr>
          <p:nvPr/>
        </p:nvCxnSpPr>
        <p:spPr>
          <a:xfrm>
            <a:off x="1538653" y="4670023"/>
            <a:ext cx="925354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18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1910</TotalTime>
  <Words>1119</Words>
  <Application>Microsoft Macintosh PowerPoint</Application>
  <PresentationFormat>Widescreen</PresentationFormat>
  <Paragraphs>392</Paragraphs>
  <Slides>38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Calibri</vt:lpstr>
      <vt:lpstr>Calibri Light</vt:lpstr>
      <vt:lpstr>Cambria Math</vt:lpstr>
      <vt:lpstr>Courier New</vt:lpstr>
      <vt:lpstr>Wingdings</vt:lpstr>
      <vt:lpstr>Arial</vt:lpstr>
      <vt:lpstr>Office Theme</vt:lpstr>
      <vt:lpstr>Quenched Bond Disorder in Non-Collinear Magnets</vt:lpstr>
      <vt:lpstr>Content</vt:lpstr>
      <vt:lpstr>Quenched Disorder: Random Fields</vt:lpstr>
      <vt:lpstr>Random fields and the Imry-Ma criterion</vt:lpstr>
      <vt:lpstr>Random fields and the Imry-Ma criterion</vt:lpstr>
      <vt:lpstr>Random fields and the Imry-Ma criterion</vt:lpstr>
      <vt:lpstr>Random fields and the Imry-Ma criterion</vt:lpstr>
      <vt:lpstr>Random fields and the Imry-Ma criterion</vt:lpstr>
      <vt:lpstr>Random fields and the Imry-Ma criterion</vt:lpstr>
      <vt:lpstr>Quenched Disorder: Random Couplings</vt:lpstr>
      <vt:lpstr>Single bond impurity</vt:lpstr>
      <vt:lpstr>Single bond impurity</vt:lpstr>
      <vt:lpstr>Single bond impurity</vt:lpstr>
      <vt:lpstr>Single bond impurity</vt:lpstr>
      <vt:lpstr>Concentration of bond impurity</vt:lpstr>
      <vt:lpstr>Quenched Disorder: Random Couplings</vt:lpstr>
      <vt:lpstr>Incommensurability domains</vt:lpstr>
      <vt:lpstr>Incommensurability domains</vt:lpstr>
      <vt:lpstr>Incommensurability domains at d=2</vt:lpstr>
      <vt:lpstr>Incommensurability domains at d=2</vt:lpstr>
      <vt:lpstr>Incommensurability domains at d=2</vt:lpstr>
      <vt:lpstr>Properties at the critical dimension d_c=2</vt:lpstr>
      <vt:lpstr>Properties at the critical dimension d_c=2</vt:lpstr>
      <vt:lpstr>Beyond 2D</vt:lpstr>
      <vt:lpstr>Beyond 2D</vt:lpstr>
      <vt:lpstr>An example</vt:lpstr>
      <vt:lpstr>Disordered triangular lattice Heisenberg model</vt:lpstr>
      <vt:lpstr>Disordered triangular lattice Heisenberg model</vt:lpstr>
      <vt:lpstr>Disordered triangular lattice Heisenberg model</vt:lpstr>
      <vt:lpstr>Disordered triangular lattice Heisenberg model</vt:lpstr>
      <vt:lpstr>Disordered triangular lattice Heisenberg model</vt:lpstr>
      <vt:lpstr>Disordered triangular lattice Heisenberg model</vt:lpstr>
      <vt:lpstr>Disordered triangular lattice Heisenberg model</vt:lpstr>
      <vt:lpstr>Disordered triangular lattice Heisenberg model</vt:lpstr>
      <vt:lpstr>Experiments on triangular lattice</vt:lpstr>
      <vt:lpstr>Experiments on triangular lattice</vt:lpstr>
      <vt:lpstr>Summary</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Quenched Bond Disorder in Non-Collinear Magnets</dc:title>
  <dc:creator>Santanu Dey</dc:creator>
  <cp:lastModifiedBy>Microsoft Office User</cp:lastModifiedBy>
  <cp:revision>332</cp:revision>
  <cp:lastPrinted>2018-01-05T13:40:25Z</cp:lastPrinted>
  <dcterms:created xsi:type="dcterms:W3CDTF">2017-12-30T15:09:56Z</dcterms:created>
  <dcterms:modified xsi:type="dcterms:W3CDTF">2018-01-05T13:42:44Z</dcterms:modified>
</cp:coreProperties>
</file>