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60" r:id="rId3"/>
    <p:sldId id="272" r:id="rId4"/>
    <p:sldId id="261" r:id="rId5"/>
    <p:sldId id="262" r:id="rId6"/>
    <p:sldId id="264" r:id="rId7"/>
    <p:sldId id="286" r:id="rId8"/>
    <p:sldId id="265" r:id="rId9"/>
    <p:sldId id="266" r:id="rId10"/>
    <p:sldId id="273" r:id="rId11"/>
    <p:sldId id="267" r:id="rId12"/>
    <p:sldId id="268" r:id="rId13"/>
    <p:sldId id="269" r:id="rId14"/>
    <p:sldId id="270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microsoft.com/office/2015/10/relationships/revisionInfo" Target="revisionInfo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4T13:41:07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4T13:41:17.8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4T13:41:37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27:26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>4518 1723,'-2'3</inkml:trace>
  <inkml:trace contextRef="#ctx0" brushRef="#br0">4516 1726,'-1'1</inkml:trace>
  <inkml:trace contextRef="#ctx0" brushRef="#br0" timeOffset="16708.0284">4492 1756,'-4'5</inkml:trace>
  <inkml:trace contextRef="#ctx0" brushRef="#br0" timeOffset="16709.0284">4487 1762,'-1'1</inkml:trace>
  <inkml:trace contextRef="#ctx0" brushRef="#br0" timeOffset="16706.0284">4386 1883,'-4'5</inkml:trace>
  <inkml:trace contextRef="#ctx0" brushRef="#br0" timeOffset="16707.0284">4381 1889,'-6'7</inkml:trace>
  <inkml:trace contextRef="#ctx0" brushRef="#br0">4358 1914,'-12'12</inkml:trace>
  <inkml:trace contextRef="#ctx0" brushRef="#br0" timeOffset="18127.773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8128.773">5082 876,'-9'18</inkml:trace>
  <inkml:trace contextRef="#ctx0" brushRef="#br0" timeOffset="18126.773">5069 904,'-8'16</inkml:trace>
  <inkml:trace contextRef="#ctx0" brushRef="#br0" timeOffset="18123.773">5041 957,'-5'9</inkml:trace>
  <inkml:trace contextRef="#ctx0" brushRef="#br0" timeOffset="18108.9607">5034 971,'-7'9</inkml:trace>
  <inkml:trace contextRef="#ctx0" brushRef="#br0" timeOffset="18107.9607">5027 981,'-17'25,"-10"15,3 0,20-34</inkml:trace>
  <inkml:trace contextRef="#ctx0" brushRef="#br0">4869 1225,'-1'1,"-14"16</inkml:trace>
  <inkml:trace contextRef="#ctx0" brushRef="#br0">4851 1245,'-2'3</inkml:trace>
  <inkml:trace contextRef="#ctx0" brushRef="#br0">4843 1254,'-17'22,"-4"4,4 1,5-3,-2-2,3 2,9-21</inkml:trace>
  <inkml:trace contextRef="#ctx0" brushRef="#br0">4526 1720,'2'-4</inkml:trace>
  <inkml:trace contextRef="#ctx0" brushRef="#br0">4547 1691,'1'-1</inkml:trace>
  <inkml:trace contextRef="#ctx0" brushRef="#br0" timeOffset="16656.9779">4552 1686,'6'-7</inkml:trace>
  <inkml:trace contextRef="#ctx0" brushRef="#br0" timeOffset="16655.9779">4563 1674,'1'-1</inkml:trace>
  <inkml:trace contextRef="#ctx0" brushRef="#br0">4589 1647,'1'-1</inkml:trace>
  <inkml:trace contextRef="#ctx0" brushRef="#br0" timeOffset="16654.9779">4602 1634,'2'-2</inkml:trace>
  <inkml:trace contextRef="#ctx0" brushRef="#br0">4834 1317,'4'-6,"5"-6</inkml:trace>
  <inkml:trace contextRef="#ctx0" brushRef="#br0">4860 1280,'0'0</inkml:trace>
  <inkml:trace contextRef="#ctx0" brushRef="#br0">4863 1276,'4'-6</inkml:trace>
  <inkml:trace contextRef="#ctx0" brushRef="#br0" timeOffset="1614.2639">4871 1265,'4'-6</inkml:trace>
  <inkml:trace contextRef="#ctx0" brushRef="#br0" timeOffset="1613.2639">4876 1257,'1'-1</inkml:trace>
  <inkml:trace contextRef="#ctx0" brushRef="#br0">4986 1080,'-1'0,"-2"2</inkml:trace>
  <inkml:trace contextRef="#ctx0" brushRef="#br0">4585 1647,'5'-6</inkml:trace>
  <inkml:trace contextRef="#ctx0" brushRef="#br0">4595 1634,'7'-9,"-5"6</inkml:trace>
  <inkml:trace contextRef="#ctx0" brushRef="#br0">4614 1608,'3'-3</inkml:trace>
  <inkml:trace contextRef="#ctx0" brushRef="#br0" timeOffset="1596.4177">4628 1589,'9'-13</inkml:trace>
  <inkml:trace contextRef="#ctx0" brushRef="#br0" timeOffset="1597.4177">4638 1575,'1'-2,"5"-6</inkml:trace>
  <inkml:trace contextRef="#ctx0" brushRef="#br0">4650 1558,'0'0</inkml:trace>
  <inkml:trace contextRef="#ctx0" brushRef="#br0">4658 1548,'0'-1,"2"-2</inkml:trace>
  <inkml:trace contextRef="#ctx0" brushRef="#br0">4665 1538,'8'-13</inkml:trace>
  <inkml:trace contextRef="#ctx0" brushRef="#br0">4686 1509,'9'-13,"3"-3</inkml:trace>
  <inkml:trace contextRef="#ctx0" brushRef="#br0">4721 1463,'9'-11</inkml:trace>
  <inkml:trace contextRef="#ctx0" brushRef="#br0">4743 1436,'4'-5</inkml:trace>
  <inkml:trace contextRef="#ctx0" brushRef="#br0">4751 1426,'3'-4,"-1"2</inkml:trace>
  <inkml:trace contextRef="#ctx0" brushRef="#br0">4809 1343,'0'0</inkml:trace>
  <inkml:trace contextRef="#ctx0" brushRef="#br0">4822 1320,'6'-11,"5"-12,1 1,0-1,2 1,1 1,1-1,1-1,0 0,-11 15</inkml:trace>
  <inkml:trace contextRef="#ctx0" brushRef="#br0">4955 1112,'4'-6,"-3"5</inkml:trace>
  <inkml:trace contextRef="#ctx0" brushRef="#br0">4963 1101,'4'-5</inkml:trace>
  <inkml:trace contextRef="#ctx0" brushRef="#br0">4978 1082,'8'-10</inkml:trace>
  <inkml:trace contextRef="#ctx0" brushRef="#br0" timeOffset="18060.284">5034 979,'-1'1</inkml:trace>
  <inkml:trace contextRef="#ctx0" brushRef="#br0" timeOffset="18059.284">5027 988,'-19'24,"-4"6,0 2,2-1,0 0,0 0,1 0,0-1,2 0,0-1,0 0,1-1,0 0,5-10</inkml:trace>
  <inkml:trace contextRef="#ctx0" brushRef="#br0">4756 1394,'-2'3,"-15"22,0 0,0-1,1-1,-1-1,0-1,2 0,0 1,1-1,-1-1,0 0,10-14</inkml:trace>
  <inkml:trace contextRef="#ctx0" brushRef="#br0">4564 1659,'-16'19,"5"-6</inkml:trace>
  <inkml:trace contextRef="#ctx0" brushRef="#br0">4528 1702,'-9'11,"-1"3</inkml:trace>
  <inkml:trace contextRef="#ctx0" brushRef="#br0">4492 1753,'-7'10</inkml:trace>
  <inkml:trace contextRef="#ctx0" brushRef="#br0">4826 1320,'8'-13,"3"-8,-9 18</inkml:trace>
  <inkml:trace contextRef="#ctx0" brushRef="#br0">4849 1280,'8'-14,"5"-6,-1 1,-6 10</inkml:trace>
  <inkml:trace contextRef="#ctx0" brushRef="#br0">4888 1218,'7'-10,"-5"7</inkml:trace>
  <inkml:trace contextRef="#ctx0" brushRef="#br0">4900 1201,'8'-12,"6"-9,-13 20</inkml:trace>
  <inkml:trace contextRef="#ctx0" brushRef="#br0">4930 1157,'4'-6</inkml:trace>
  <inkml:trace contextRef="#ctx0" brushRef="#br0">4938 1145,'10'-16</inkml:trace>
  <inkml:trace contextRef="#ctx0" brushRef="#br0">4958 1112,'2'-4</inkml:trace>
  <inkml:trace contextRef="#ctx0" brushRef="#br0">4965 1101,'1'-3,"0"1</inkml:trace>
  <inkml:trace contextRef="#ctx0" brushRef="#br0">4975 1082,'5'-9,"1"0</inkml:trace>
  <inkml:trace contextRef="#ctx0" brushRef="#br0">4993 1052,'1'-1</inkml:trace>
  <inkml:trace contextRef="#ctx0" brushRef="#br0">5002 1039,'7'-12</inkml:trace>
  <inkml:trace contextRef="#ctx0" brushRef="#br0" timeOffset="18027.4464">5163 781,'5'-7</inkml:trace>
  <inkml:trace contextRef="#ctx0" brushRef="#br0" timeOffset="18026.4464">5171 770,'6'-9,"1"-1,1 1,-7 7</inkml:trace>
  <inkml:trace contextRef="#ctx0" brushRef="#br0" timeOffset="18024.4464">5198 735,'1'-1</inkml:trace>
  <inkml:trace contextRef="#ctx0" brushRef="#br0" timeOffset="5914.1926">4444 1806,'0'0,"0"0,0 0,0 0,0 0,0 0</inkml:trace>
  <inkml:trace contextRef="#ctx0" brushRef="#br0" timeOffset="7167.8098">4484 1780,'0'0,"0"0,0 0,0 0,0 0,0 0,0 0,0 0</inkml:trace>
  <inkml:trace contextRef="#ctx0" brushRef="#br0" timeOffset="16464.9067">4273 1978,'0'0,"0"0,0 0,-4 1,0 2,-1 0,2 0,0-2,3 1,2-1,2-2,2-2,3-1,1-1,4-2,0-3,2-1,-12 8</inkml:trace>
  <inkml:trace contextRef="#ctx0" brushRef="#br0" timeOffset="16465.9067">4337 1945,'9'-7</inkml:trace>
  <inkml:trace contextRef="#ctx0" brushRef="#br0" timeOffset="16463.9067">4363 1924,'10'-9</inkml:trace>
  <inkml:trace contextRef="#ctx0" brushRef="#br0" timeOffset="16461.9067">4512 1761,'6'-9</inkml:trace>
  <inkml:trace contextRef="#ctx0" brushRef="#br0" timeOffset="16459.9067">4542 1717,'9'-13,"-2"3</inkml:trace>
  <inkml:trace contextRef="#ctx0" brushRef="#br0" timeOffset="16457.9067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39262.8874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55282.5027">4749 1747,'-1'0,"-1"0,1 0,0 0,-1-5,0-4,0-6,1-3,1-4,1-1,1-4,-1-2,0-2,0-2,0 0,-1 0,-1 0,-1 7,0 7,1 7,0 5</inkml:trace>
  <inkml:trace contextRef="#ctx0" brushRef="#br0" timeOffset="66974.0671">5556 7607,'-1'-1,"-1"0,1-1,0 1,0 0,1 1,-1 0,1-1,0 6,0 2,0 1,0 1,0 1,2-1,-1 0,1 0,-1-1,-1 0,1 0,-1 0,0 0,0-1,0-1,0 1,1-1,1 1,0 0,1 0,-1 1,0 0,-1 1,-1 2,0 0,-2-1,1-2,-1-3,2-2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17:41:1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7:19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7-12-30T20:18:21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8-01-01T21:06:22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4551 1677,'-10'14</inkml:trace>
  <inkml:trace contextRef="#ctx0" brushRef="#br0" timeOffset="1">4528 1709,'-8'11</inkml:trace>
  <inkml:trace contextRef="#ctx0" brushRef="#br0" timeOffset="2">4518 1723,'-2'3</inkml:trace>
  <inkml:trace contextRef="#ctx0" brushRef="#br0" timeOffset="3">4516 1726,'-1'1</inkml:trace>
  <inkml:trace contextRef="#ctx0" brushRef="#br0" timeOffset="4">4492 1756,'-4'5</inkml:trace>
  <inkml:trace contextRef="#ctx0" brushRef="#br0" timeOffset="5">4487 1762,'-1'1</inkml:trace>
  <inkml:trace contextRef="#ctx0" brushRef="#br0" timeOffset="6">4386 1883,'-4'5</inkml:trace>
  <inkml:trace contextRef="#ctx0" brushRef="#br0" timeOffset="7">4381 1889,'-6'7</inkml:trace>
  <inkml:trace contextRef="#ctx0" brushRef="#br0" timeOffset="8">4358 1914,'-12'12</inkml:trace>
  <inkml:trace contextRef="#ctx0" brushRef="#br0" timeOffset="9">4339 1933,'-52'53,"-37"21,3-8,-1-10,4-8,6-3,4-2,0-5,1-2,-3-3,-5-1,0-6,-2-2,3 0,-2-4,2-1,-1-2,-8 0,-6 3,-2-1,-1 0,0 8,-5 5,-1 8,-5 7,-4 7,-6 4,3 9,3 4,6 0,5-7,3-3,2-2,7-5,9-1,6 1,0 1,2 3,3 2,2 7,-4 8,0 1,2 5,1 9,2 6,1 7,7 9,7 10,3 7,3 8,4 7,4 6,3 4,2 3,1 6,5 2,8 0,7-1,10-3,6-1,7-7,6-8,12-7,11-7,9-3,7-2,4-7,3-8,6-6,2-5,10-4,7-8,10-2,9-5,8-6,0-6,2-2,1-4,9-5,2-4,1-4,6-6,-1-6,5-2,4-9,-1-3,-4-6,1-5,4-11,3-6,3-7,3-7,7-6,3-10,0-4,-1-6,-2-7,-1-5,-7-3,-8-4,-2 5,2 2,-3 4,1 0,-2 5,1 4,-2 10,-3 10,-10 4,-9 10,-5 7,1 4,-3 1,0 6,-2 1,1 4,-1 6,-4-2,2-3,-2 1,-2-2,-8-3,-10-5,-3-2,-5-7,6-4,5-5,8-7,5-10,5-11,7-9,6-8,3-9,-3-4,0-7,-5-6,-5 1,-5-2,0-9,-1-3,-1-2,-9 0,-3-5,-7-1,-6 1,-6-3,-5 1,-2-4,-2 1,0-2,-1-4,-5-4,-6-4,-13-1,-6-2,-9-6,-3-2,-4-6,-6 1,3-4,-3-4,4 1,-1-1,-2-2,2 2,0 5,-3 5,-8 4,-4 4,-7 7,-2-3,-4-1,-5-6,1-2,0 0,-4-4,3 0,0 2,-2 8,-2 10,-3 14,-7 3,-2 2,-1 3,-5 0,-5 2,-11 5,-6 1,-2 6,-1 0,1 3,1 4,1 4,0-1,2 5,0 3,-5 2,-1 6,-6 2,-5 4,-1 0,4 3,-1-1,1 1,-2 5,-3-3,-4 1,-3 8,-3 5,-1 2,-7 6,-2 6,1 6,-5 5,1 4,1 1,3 1,3 0,1 0,2 5,1 2,0-1,0-1,6 3,7 1,6-2,1 3,1 5,-2 0,1 3,2 3,2-2,4 1,1-4,1 2,7 2,2 3,5-2,0 5,4-2,-2 1,3 6,-2-2,1-2,4 1,3 1,4-1,7 2,3 0,6 0,0 0,-1 1,3-6,3-2,0 1,-3 1,0 7,-1-3,12-17</inkml:trace>
  <inkml:trace contextRef="#ctx0" brushRef="#br0" timeOffset="10">5082 876,'-9'18</inkml:trace>
  <inkml:trace contextRef="#ctx0" brushRef="#br0" timeOffset="11">5069 904,'-8'16</inkml:trace>
  <inkml:trace contextRef="#ctx0" brushRef="#br0" timeOffset="12">5041 957,'-5'9</inkml:trace>
  <inkml:trace contextRef="#ctx0" brushRef="#br0" timeOffset="13">5034 971,'-7'9</inkml:trace>
  <inkml:trace contextRef="#ctx0" brushRef="#br0" timeOffset="14">5027 981,'-17'25,"-10"15,3 0,20-34</inkml:trace>
  <inkml:trace contextRef="#ctx0" brushRef="#br0" timeOffset="15">4869 1225,'-1'1,"-14"16</inkml:trace>
  <inkml:trace contextRef="#ctx0" brushRef="#br0" timeOffset="16">4851 1245,'-2'3</inkml:trace>
  <inkml:trace contextRef="#ctx0" brushRef="#br0" timeOffset="17">4843 1254,'-17'22,"-4"4,4 1,5-3,-2-2,3 2,9-21</inkml:trace>
  <inkml:trace contextRef="#ctx0" brushRef="#br0" timeOffset="18">4526 1720,'2'-4</inkml:trace>
  <inkml:trace contextRef="#ctx0" brushRef="#br0" timeOffset="19">4547 1691,'1'-1</inkml:trace>
  <inkml:trace contextRef="#ctx0" brushRef="#br0" timeOffset="20">4552 1686,'6'-7</inkml:trace>
  <inkml:trace contextRef="#ctx0" brushRef="#br0" timeOffset="21">4563 1674,'1'-1</inkml:trace>
  <inkml:trace contextRef="#ctx0" brushRef="#br0" timeOffset="22">4589 1647,'1'-1</inkml:trace>
  <inkml:trace contextRef="#ctx0" brushRef="#br0" timeOffset="23">4602 1634,'2'-2</inkml:trace>
  <inkml:trace contextRef="#ctx0" brushRef="#br0" timeOffset="24">4834 1317,'4'-6,"5"-6</inkml:trace>
  <inkml:trace contextRef="#ctx0" brushRef="#br0" timeOffset="25">4860 1280,'0'0</inkml:trace>
  <inkml:trace contextRef="#ctx0" brushRef="#br0" timeOffset="26">4863 1276,'4'-6</inkml:trace>
  <inkml:trace contextRef="#ctx0" brushRef="#br0" timeOffset="27">4871 1265,'4'-6</inkml:trace>
  <inkml:trace contextRef="#ctx0" brushRef="#br0" timeOffset="28">4876 1257,'1'-1</inkml:trace>
  <inkml:trace contextRef="#ctx0" brushRef="#br0" timeOffset="29">4986 1080,'-1'0,"-2"2</inkml:trace>
  <inkml:trace contextRef="#ctx0" brushRef="#br0" timeOffset="30">4585 1647,'5'-6</inkml:trace>
  <inkml:trace contextRef="#ctx0" brushRef="#br0" timeOffset="31">4595 1634,'7'-9,"-5"6</inkml:trace>
  <inkml:trace contextRef="#ctx0" brushRef="#br0" timeOffset="32">4614 1608,'3'-3</inkml:trace>
  <inkml:trace contextRef="#ctx0" brushRef="#br0" timeOffset="33">4628 1589,'9'-13</inkml:trace>
  <inkml:trace contextRef="#ctx0" brushRef="#br0" timeOffset="34">4638 1575,'1'-2,"5"-6</inkml:trace>
  <inkml:trace contextRef="#ctx0" brushRef="#br0" timeOffset="35">4650 1558,'0'0</inkml:trace>
  <inkml:trace contextRef="#ctx0" brushRef="#br0" timeOffset="36">4658 1548,'0'-1,"2"-2</inkml:trace>
  <inkml:trace contextRef="#ctx0" brushRef="#br0" timeOffset="37">4665 1538,'8'-13</inkml:trace>
  <inkml:trace contextRef="#ctx0" brushRef="#br0" timeOffset="38">4686 1509,'9'-13,"3"-3</inkml:trace>
  <inkml:trace contextRef="#ctx0" brushRef="#br0" timeOffset="39">4721 1463,'9'-11</inkml:trace>
  <inkml:trace contextRef="#ctx0" brushRef="#br0" timeOffset="40">4743 1436,'4'-5</inkml:trace>
  <inkml:trace contextRef="#ctx0" brushRef="#br0" timeOffset="41">4751 1426,'3'-4,"-1"2</inkml:trace>
  <inkml:trace contextRef="#ctx0" brushRef="#br0" timeOffset="42">4809 1343,'0'0</inkml:trace>
  <inkml:trace contextRef="#ctx0" brushRef="#br0" timeOffset="43">4822 1320,'6'-11,"5"-12,1 1,0-1,2 1,1 1,1-1,1-1,0 0,-11 15</inkml:trace>
  <inkml:trace contextRef="#ctx0" brushRef="#br0" timeOffset="44">4955 1112,'4'-6,"-3"5</inkml:trace>
  <inkml:trace contextRef="#ctx0" brushRef="#br0" timeOffset="45">4963 1101,'4'-5</inkml:trace>
  <inkml:trace contextRef="#ctx0" brushRef="#br0" timeOffset="46">4978 1082,'8'-10</inkml:trace>
  <inkml:trace contextRef="#ctx0" brushRef="#br0" timeOffset="47">5034 979,'-1'1</inkml:trace>
  <inkml:trace contextRef="#ctx0" brushRef="#br0" timeOffset="48">5027 988,'-19'24,"-4"6,0 2,2-1,0 0,0 0,1 0,0-1,2 0,0-1,0 0,1-1,0 0,5-10</inkml:trace>
  <inkml:trace contextRef="#ctx0" brushRef="#br0" timeOffset="49">4756 1394,'-2'3,"-15"22,0 0,0-1,1-1,-1-1,0-1,2 0,0 1,1-1,-1-1,0 0,10-14</inkml:trace>
  <inkml:trace contextRef="#ctx0" brushRef="#br0" timeOffset="50">4564 1659,'-16'19,"5"-6</inkml:trace>
  <inkml:trace contextRef="#ctx0" brushRef="#br0" timeOffset="51">4528 1702,'-9'11,"-1"3</inkml:trace>
  <inkml:trace contextRef="#ctx0" brushRef="#br0" timeOffset="52">4492 1753,'-7'10</inkml:trace>
  <inkml:trace contextRef="#ctx0" brushRef="#br0" timeOffset="53">4826 1320,'8'-13,"3"-8,-9 18</inkml:trace>
  <inkml:trace contextRef="#ctx0" brushRef="#br0" timeOffset="54">4849 1280,'8'-14,"5"-6,-1 1,-6 10</inkml:trace>
  <inkml:trace contextRef="#ctx0" brushRef="#br0" timeOffset="55">4888 1218,'7'-10,"-5"7</inkml:trace>
  <inkml:trace contextRef="#ctx0" brushRef="#br0" timeOffset="56">4900 1201,'8'-12,"6"-9,-13 20</inkml:trace>
  <inkml:trace contextRef="#ctx0" brushRef="#br0" timeOffset="57">4930 1157,'4'-6</inkml:trace>
  <inkml:trace contextRef="#ctx0" brushRef="#br0" timeOffset="58">4938 1145,'10'-16</inkml:trace>
  <inkml:trace contextRef="#ctx0" brushRef="#br0" timeOffset="59">4958 1112,'2'-4</inkml:trace>
  <inkml:trace contextRef="#ctx0" brushRef="#br0" timeOffset="60">4965 1101,'1'-3,"0"1</inkml:trace>
  <inkml:trace contextRef="#ctx0" brushRef="#br0" timeOffset="61">4975 1082,'5'-9,"1"0</inkml:trace>
  <inkml:trace contextRef="#ctx0" brushRef="#br0" timeOffset="62">4993 1052,'1'-1</inkml:trace>
  <inkml:trace contextRef="#ctx0" brushRef="#br0" timeOffset="63">5002 1039,'7'-12</inkml:trace>
  <inkml:trace contextRef="#ctx0" brushRef="#br0" timeOffset="64">5163 781,'5'-7</inkml:trace>
  <inkml:trace contextRef="#ctx0" brushRef="#br0" timeOffset="65">5171 770,'6'-9,"1"-1,1 1,-7 7</inkml:trace>
  <inkml:trace contextRef="#ctx0" brushRef="#br0" timeOffset="66">5198 735,'1'-1</inkml:trace>
  <inkml:trace contextRef="#ctx0" brushRef="#br0" timeOffset="67">4444 1806,'0'0,"0"0,0 0,0 0,0 0,0 0</inkml:trace>
  <inkml:trace contextRef="#ctx0" brushRef="#br0" timeOffset="68">4484 1780,'0'0,"0"0,0 0,0 0,0 0,0 0,0 0,0 0</inkml:trace>
  <inkml:trace contextRef="#ctx0" brushRef="#br0" timeOffset="69">4273 1978,'0'0,"0"0,0 0,-4 1,0 2,-1 0,2 0,0-2,3 1,2-1,2-2,2-2,3-1,1-1,4-2,0-3,2-1,-12 8</inkml:trace>
  <inkml:trace contextRef="#ctx0" brushRef="#br0" timeOffset="70">4337 1945,'9'-7</inkml:trace>
  <inkml:trace contextRef="#ctx0" brushRef="#br0" timeOffset="71">4363 1924,'10'-9</inkml:trace>
  <inkml:trace contextRef="#ctx0" brushRef="#br0" timeOffset="72">4512 1761,'6'-9</inkml:trace>
  <inkml:trace contextRef="#ctx0" brushRef="#br0" timeOffset="73">4542 1717,'9'-13,"-2"3</inkml:trace>
  <inkml:trace contextRef="#ctx0" brushRef="#br0" timeOffset="74">4578 1664,'14'-20,"6"-8,-1 1,0 2,-1-1,-1 1,0 2,0 2,-3 4,-2 3,-2 4,-2 3,-5 3,-2 4,-2 0,-3 3,-1 1,-1 1,-1 1,0 0,0 1,-2 1,0 1,-2 0,-1 3,-2 3,-2 4,-2 5,-5 3,-3 4,-2 3,-2 4,-1 0,-1 1,-1 0,0-1,4-2,3-5,5-4,4-5,4-5,3-2,3-5,2 0,2-2</inkml:trace>
  <inkml:trace contextRef="#ctx0" brushRef="#br0" timeOffset="75">4749 1633,'0'0,"0"0,0 0,0 0,0 0,0 0,0 0,0 0,0 14,0 14,0 7,0 7,-4 6,-3 4,-3 2,-1 2,1 1,-1-1,0 5,-2 2,1 3,2 5,3 5,3 3,2 3,-3-4,-2-1,2-4,1 0,1 1,1-2,1-5,1-3,5-4,1-7,5-8,5-7,9-6,6-2,6-8,1-2,0-4,2-1,0-3,-4 2,3 3,-1-2,-2-3,1 1,1 3,-3 4,-2 2,-2 3,-2 7,-1 1,0 2,-5 2,-2 1,0-2,-3-2,-1 3,-2 3,-4 6,-5 3,3 4,-1 1,-2 2,-2 0,4 0,-5 0,-3 0,-1-1,-1 1,0-1,1 5,-5 2,-1-1,1-1,-4-2,1 0,-4-2,1 0,-2 4,0 1,-1 4,-3 6,2 0,-2 1,-2-1,3 1,-1-3,-2 2,2-2,0 1,3-2,-1 2,2-2,4-3,-1-3,1-3,2-2,3-6,2-2,6-1,3-3,0 0,4-3,0 1,3 2,0-1,2-4,-2 1,-3-3,-3 3,2-1,0-3,2 1,0 4,-2 0,2 2,4-2,-1 1,2-2,3-3,-1-3,0-3,2-3,3-5,-3-3,-1 0,-2-4,-1-4,-2 0,1-3,-2 3,-3-2,-4 3,-2-2,-3 2,0-1,-1-3,-1-3</inkml:trace>
  <inkml:trace contextRef="#ctx0" brushRef="#br0" timeOffset="76">4749 1747,'-1'0,"-1"0,1 0,0 0,-1-5,0-4,0-6,1-3,1-4,1-1,1-4,-1-2,0-2,0-2,0 0,-1 0,-1 0,-1 7,0 7,1 7,0 5</inkml:trace>
  <inkml:trace contextRef="#ctx0" brushRef="#br0" timeOffset="77">5556 7607,'-1'-1,"-1"0,1-1,0 1,0 0,1 1,-1 0,1-1,0 6,0 2,0 1,0 1,0 1,2-1,-1 0,1 0,-1-1,-1 0,1 0,-1 0,0 0,0-1,0-1,0 1,1-1,1 1,0 0,1 0,-1 1,0 0,-1 1,-1 2,0 0,-2-1,1-2,-1-3,2-2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FBE938-785C-4940-BE00-5BC60C070EFF}" type="datetimeFigureOut">
              <a:rPr lang="en-US" smtClean="0"/>
              <a:t>1/4/18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B83A6-E777-D54C-9954-D88660D3A4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36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F46FAA3-1522-47CE-AE5E-83B08EDDF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70921F06-3EE9-4B26-A276-295DF756D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196D102-A62D-479E-B867-29308A24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0EFE8CB-A717-4008-B7A6-8B266DD2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011396-60CB-4D89-BE39-E23D390F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4207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7DA403-3E94-4617-A2E1-34CE7C635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x-non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25E362B-934F-4060-AB42-732603207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x-non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6371B31-1840-4C25-93F6-179FABDD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2C77E51-954A-4125-950D-B8CCC4C7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5FD49BF-D987-4B0E-9262-E7207729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24240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0828EE-AE31-4A28-A890-CFDC5B11E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DB32E06-82AB-44F1-9E24-9ED2E60E1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3EC13B6-885B-4B78-A7B1-537B8EA90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2241439-65AE-4E8A-81FD-74D2B9F63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4B4D3DD-6C85-4891-8EF2-91840624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57674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8C9FEB-8A68-4F2E-A904-2F861315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7E7AE05-5261-4D14-9D1A-08C858CC3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0AFA557C-6116-4401-96E9-4CC465C86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7059F40-EA09-4F32-8FEB-3B145C34B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25EED2F-3273-4CD8-A7E1-11AE8C898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3590B97-EE07-4BF1-8301-D1BC071C3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45722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9437617-17DC-4F3C-9C5D-897BC026A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9CA2678-AC50-41DA-AB8E-6B83C66D1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3BCC35A4-623D-4752-A1AE-2070E59202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B1EA2481-0B6F-4B7F-8560-8F1925AFE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277C0BE-07F2-4157-A646-1DB0F58213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BA401D9-F480-47C1-8F73-E070D6B1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12841643-EF07-4CE0-9694-EA2717CD6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BE4CF00-4444-4523-806F-545CBAFED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70205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6012B7-9800-488D-BA99-B4DF03238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E895F6D-7C5D-4006-A87B-349F44FE5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EE9607D6-D2DB-4C6E-B0FB-E076F247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504D8E5F-B697-46C5-8228-3A586DD0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9743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29472874-26BB-4331-84F8-071BD7D61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5C966F2-71E2-4793-8917-465D4A45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96B79BC-4A74-432F-B59E-FA4AA2BBF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4948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46DDF8B-6807-48E0-B8FC-165161D4B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8BB1988-54DD-4432-A27F-744CF342E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AA27D5B-9AD5-4C38-B91B-965A5CB25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41A8AFF9-C2E8-4A42-8618-FF22F2B2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35A4815-B5D4-4391-8831-3233C14C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B609176-D43D-45B2-95A7-8DC485EC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4408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4CAA46-8A16-43F5-9CB9-A34FABC99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E9B75DB-E0B0-4339-A619-74AEB332D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9E99C73-0D3B-44E9-B11B-58B9B7BEA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F7543-36CF-455E-9A97-9FF9B7627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B1ECC21-DDB0-4FFB-8D2B-8C7FEC28C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E0AB910-2886-4E19-9C81-191FC437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4174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4A084CD-1E8C-4A7E-B437-7E442B87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BE12E93-6ADF-476D-8363-879360D4B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7634495-0665-4650-BA00-BA04BB50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5AAA44A-AB8E-4CC5-9C77-1D34F59C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A0F3B30-9EEB-4DA6-9A2A-3473F1909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3129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B4A5D253-0E45-4209-83AA-2CFB0B043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0C0C01A5-51A9-4206-AEFF-2E52A31C6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A502940-9535-4027-9E9B-846BF615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EFB5E2F-6D85-4F02-B0E3-0FF19D94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762145E-5186-41B0-B073-35607700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5826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F83135C8-BB37-45CA-9A36-54FD7FC94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8DFCCC3-0F14-4657-A999-0ABE6D16D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445300A-C008-4003-AC71-6CF4CE37C8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77EC4-EC0D-4F28-8F13-53533F30B7B6}" type="datetimeFigureOut">
              <a:rPr lang="x-none" smtClean="0"/>
              <a:t>1/4/18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6F5623A-A12A-4417-AA2E-9B60BB847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EAC9A77-3937-4AF3-96BA-9B9C6A9C92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CF9D4-B403-4ED6-BA34-CB166153BD67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59933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ustomXml" Target="../ink/ink1.xml"/><Relationship Id="rId6" Type="http://schemas.openxmlformats.org/officeDocument/2006/relationships/image" Target="../media/image4.png"/><Relationship Id="rId7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4" Type="http://schemas.openxmlformats.org/officeDocument/2006/relationships/image" Target="../media/image210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customXml" Target="../ink/ink4.xml"/><Relationship Id="rId9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4" Type="http://schemas.openxmlformats.org/officeDocument/2006/relationships/image" Target="../media/image4.png"/><Relationship Id="rId5" Type="http://schemas.openxmlformats.org/officeDocument/2006/relationships/customXml" Target="../ink/ink6.xml"/><Relationship Id="rId6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ustomXml" Target="../ink/ink7.xml"/><Relationship Id="rId3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customXml" Target="../ink/ink8.xml"/><Relationship Id="rId5" Type="http://schemas.openxmlformats.org/officeDocument/2006/relationships/image" Target="../media/image110.png"/><Relationship Id="rId6" Type="http://schemas.openxmlformats.org/officeDocument/2006/relationships/customXml" Target="../ink/ink9.xml"/><Relationship Id="rId7" Type="http://schemas.openxmlformats.org/officeDocument/2006/relationships/image" Target="../media/image120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1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11" Type="http://schemas.openxmlformats.org/officeDocument/2006/relationships/image" Target="../media/image37.png"/><Relationship Id="rId12" Type="http://schemas.openxmlformats.org/officeDocument/2006/relationships/image" Target="../media/image30.png"/><Relationship Id="rId13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9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4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9.png"/><Relationship Id="rId3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4" Type="http://schemas.openxmlformats.org/officeDocument/2006/relationships/image" Target="../media/image54.png"/><Relationship Id="rId5" Type="http://schemas.openxmlformats.org/officeDocument/2006/relationships/image" Target="../media/image63.png"/><Relationship Id="rId6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615095"/>
            <a:ext cx="9440411" cy="226841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Bond Disorder in </a:t>
            </a:r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Non-Collinear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Magnets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Santanu Dey</a:t>
            </a:r>
          </a:p>
          <a:p>
            <a:pPr algn="l"/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Technische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Universität Dresden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xmlns="" id="{0DC655DA-9C82-4575-97A3-8057E2A71008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914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Content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140360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fields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Random fields and the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-Ma criterion.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Separate 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lower critical 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dimension for discrete and continuous symmetry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Quenched disorder: Random couplings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Bond disorder in frustrated non-collinear magnets.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Rigid in-commensurability domains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 example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Disordered 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triangular lattice Heisenberg 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antiferromagnetic.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 smtClean="0"/>
              <a:t>Experiments on related systems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143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Fields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3" y="3813053"/>
            <a:ext cx="9144000" cy="56180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20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/>
              <a:t>Random fields </a:t>
            </a:r>
            <a:r>
              <a:rPr lang="en-US" sz="3600" dirty="0" smtClean="0"/>
              <a:t>and the </a:t>
            </a:r>
            <a:r>
              <a:rPr lang="en-US" sz="3600" dirty="0" err="1" smtClean="0"/>
              <a:t>Imry</a:t>
            </a:r>
            <a:r>
              <a:rPr lang="en-US" sz="3600" dirty="0" smtClean="0"/>
              <a:t>-Ma criterion</a:t>
            </a:r>
            <a:endParaRPr lang="x-none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 marL="1371600" lvl="3" indent="0">
                  <a:buNone/>
                </a:pPr>
                <a:r>
                  <a:rPr lang="en-US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absence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random fields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</a:t>
                </a: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</a:t>
                </a:r>
                <a:r>
                  <a:rPr lang="en-US" sz="2000" b="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</m:e>
                    </m:nary>
                  </m:oMath>
                </a14:m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 smtClean="0"/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Due to </a:t>
                </a:r>
                <a:r>
                  <a:rPr lang="en-US" sz="2000" dirty="0" err="1" smtClean="0"/>
                  <a:t>Ising</a:t>
                </a:r>
                <a:r>
                  <a:rPr lang="en-US" sz="2000" dirty="0" smtClean="0"/>
                  <a:t> symmetry no energy</a:t>
                </a: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change in the bulk.</a:t>
                </a:r>
              </a:p>
              <a:p>
                <a:pPr marL="1371600" lvl="3" indent="0">
                  <a:buNone/>
                </a:pPr>
                <a:endParaRPr lang="en-US" sz="2000" dirty="0"/>
              </a:p>
              <a:p>
                <a:pPr marL="1371600" lvl="3" indent="0">
                  <a:buNone/>
                </a:pPr>
                <a:endParaRPr lang="en-US" sz="2000" dirty="0" smtClean="0"/>
              </a:p>
              <a:p>
                <a:pPr marL="1371600" lvl="3" indent="0">
                  <a:buNone/>
                </a:pPr>
                <a:endParaRPr lang="en-US" sz="2000" dirty="0"/>
              </a:p>
              <a:p>
                <a:pPr marL="1371600" lvl="3" indent="0">
                  <a:buNone/>
                </a:pPr>
                <a:endParaRPr lang="en-US" sz="2000" dirty="0" smtClean="0"/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But a finite energy cost at</a:t>
                </a:r>
              </a:p>
              <a:p>
                <a:pPr marL="1371600" lvl="3" indent="0">
                  <a:buNone/>
                </a:pPr>
                <a:r>
                  <a:rPr lang="en-US" sz="2000" dirty="0" smtClean="0"/>
                  <a:t>			the surface of the domain</a:t>
                </a: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wall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t="-3976" b="-2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7672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A </a:t>
            </a:r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simple picture with </a:t>
            </a:r>
            <a:r>
              <a:rPr lang="en-US" sz="3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Ising</a:t>
            </a:r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spins:</a:t>
            </a:r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xmlns="" id="{EB20183C-82A6-4293-8B99-C5B6F040B72C}"/>
              </a:ext>
            </a:extLst>
          </p:cNvPr>
          <p:cNvSpPr/>
          <p:nvPr/>
        </p:nvSpPr>
        <p:spPr>
          <a:xfrm>
            <a:off x="4986146" y="457556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xmlns="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073851" y="6190748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851" y="6190748"/>
                <a:ext cx="2140683" cy="402867"/>
              </a:xfrm>
              <a:prstGeom prst="rect">
                <a:avLst/>
              </a:prstGeom>
              <a:blipFill rotWithShape="0"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xmlns="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986146" y="3914743"/>
                <a:ext cx="21406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6146" y="3914743"/>
                <a:ext cx="2140683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xmlns="" id="{97771BAB-D58B-4263-8C32-E841ECD1E17B}"/>
                  </a:ext>
                </a:extLst>
              </p14:cNvPr>
              <p14:cNvContentPartPr/>
              <p14:nvPr/>
            </p14:nvContentPartPr>
            <p14:xfrm>
              <a:off x="797456" y="2425247"/>
              <a:ext cx="3687840" cy="30826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97771BAB-D58B-4263-8C32-E841ECD1E17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8456" y="2416247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64" name="Arrow: Up 57">
            <a:extLst>
              <a:ext uri="{FF2B5EF4-FFF2-40B4-BE49-F238E27FC236}">
                <a16:creationId xmlns:a16="http://schemas.microsoft.com/office/drawing/2014/main" xmlns="" id="{2FF3984E-711F-4105-B95E-A9A2D638487F}"/>
              </a:ext>
            </a:extLst>
          </p:cNvPr>
          <p:cNvSpPr/>
          <p:nvPr/>
        </p:nvSpPr>
        <p:spPr>
          <a:xfrm>
            <a:off x="1405346" y="417439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5" name="Arrow: Up 64">
            <a:extLst>
              <a:ext uri="{FF2B5EF4-FFF2-40B4-BE49-F238E27FC236}">
                <a16:creationId xmlns:a16="http://schemas.microsoft.com/office/drawing/2014/main" xmlns="" id="{6BFFCD81-F949-447A-9FC9-DF88BD70E345}"/>
              </a:ext>
            </a:extLst>
          </p:cNvPr>
          <p:cNvSpPr/>
          <p:nvPr/>
        </p:nvSpPr>
        <p:spPr>
          <a:xfrm>
            <a:off x="1697667" y="39263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6" name="Arrow: Up 65">
            <a:extLst>
              <a:ext uri="{FF2B5EF4-FFF2-40B4-BE49-F238E27FC236}">
                <a16:creationId xmlns:a16="http://schemas.microsoft.com/office/drawing/2014/main" xmlns="" id="{7EA4C78D-BBD3-4473-B424-587F794FACF0}"/>
              </a:ext>
            </a:extLst>
          </p:cNvPr>
          <p:cNvSpPr/>
          <p:nvPr/>
        </p:nvSpPr>
        <p:spPr>
          <a:xfrm>
            <a:off x="2013236" y="426470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7" name="Arrow: Up 66">
            <a:extLst>
              <a:ext uri="{FF2B5EF4-FFF2-40B4-BE49-F238E27FC236}">
                <a16:creationId xmlns:a16="http://schemas.microsoft.com/office/drawing/2014/main" xmlns="" id="{5211C9B3-90B9-4631-A80A-82C7B392F580}"/>
              </a:ext>
            </a:extLst>
          </p:cNvPr>
          <p:cNvSpPr/>
          <p:nvPr/>
        </p:nvSpPr>
        <p:spPr>
          <a:xfrm>
            <a:off x="1697667" y="469462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8" name="Arrow: Up 67">
            <a:extLst>
              <a:ext uri="{FF2B5EF4-FFF2-40B4-BE49-F238E27FC236}">
                <a16:creationId xmlns:a16="http://schemas.microsoft.com/office/drawing/2014/main" xmlns="" id="{17A866B3-5F14-458E-94AD-26019B9F9B7D}"/>
              </a:ext>
            </a:extLst>
          </p:cNvPr>
          <p:cNvSpPr/>
          <p:nvPr/>
        </p:nvSpPr>
        <p:spPr>
          <a:xfrm>
            <a:off x="1090371" y="465345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68">
            <a:extLst>
              <a:ext uri="{FF2B5EF4-FFF2-40B4-BE49-F238E27FC236}">
                <a16:creationId xmlns:a16="http://schemas.microsoft.com/office/drawing/2014/main" xmlns="" id="{6533292F-F228-4759-A51D-42E5BB51D450}"/>
              </a:ext>
            </a:extLst>
          </p:cNvPr>
          <p:cNvSpPr/>
          <p:nvPr/>
        </p:nvSpPr>
        <p:spPr>
          <a:xfrm>
            <a:off x="2282463" y="351074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0" name="Arrow: Up 69">
            <a:extLst>
              <a:ext uri="{FF2B5EF4-FFF2-40B4-BE49-F238E27FC236}">
                <a16:creationId xmlns:a16="http://schemas.microsoft.com/office/drawing/2014/main" xmlns="" id="{C625576E-B3B9-4A44-947F-B44ABADC4D22}"/>
              </a:ext>
            </a:extLst>
          </p:cNvPr>
          <p:cNvSpPr/>
          <p:nvPr/>
        </p:nvSpPr>
        <p:spPr>
          <a:xfrm>
            <a:off x="2484185" y="40568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1" name="Arrow: Up 70">
            <a:extLst>
              <a:ext uri="{FF2B5EF4-FFF2-40B4-BE49-F238E27FC236}">
                <a16:creationId xmlns:a16="http://schemas.microsoft.com/office/drawing/2014/main" xmlns="" id="{7B54DDFD-8801-4492-BAA3-B3054121AA5E}"/>
              </a:ext>
            </a:extLst>
          </p:cNvPr>
          <p:cNvSpPr/>
          <p:nvPr/>
        </p:nvSpPr>
        <p:spPr>
          <a:xfrm>
            <a:off x="2332899" y="466298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2" name="Arrow: Up 71">
            <a:extLst>
              <a:ext uri="{FF2B5EF4-FFF2-40B4-BE49-F238E27FC236}">
                <a16:creationId xmlns:a16="http://schemas.microsoft.com/office/drawing/2014/main" xmlns="" id="{F5B64205-5683-4979-8527-406AAAA0CBF2}"/>
              </a:ext>
            </a:extLst>
          </p:cNvPr>
          <p:cNvSpPr/>
          <p:nvPr/>
        </p:nvSpPr>
        <p:spPr>
          <a:xfrm>
            <a:off x="1912386" y="349300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3" name="Arrow: Up 72">
            <a:extLst>
              <a:ext uri="{FF2B5EF4-FFF2-40B4-BE49-F238E27FC236}">
                <a16:creationId xmlns:a16="http://schemas.microsoft.com/office/drawing/2014/main" xmlns="" id="{C8DCD650-0C34-4D6F-B938-131426C237D5}"/>
              </a:ext>
            </a:extLst>
          </p:cNvPr>
          <p:cNvSpPr/>
          <p:nvPr/>
        </p:nvSpPr>
        <p:spPr>
          <a:xfrm>
            <a:off x="2058392" y="50519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4" name="Arrow: Up 73">
            <a:extLst>
              <a:ext uri="{FF2B5EF4-FFF2-40B4-BE49-F238E27FC236}">
                <a16:creationId xmlns:a16="http://schemas.microsoft.com/office/drawing/2014/main" xmlns="" id="{2B021BF5-3BB1-4D1B-84BE-F85BB54E6066}"/>
              </a:ext>
            </a:extLst>
          </p:cNvPr>
          <p:cNvSpPr/>
          <p:nvPr/>
        </p:nvSpPr>
        <p:spPr>
          <a:xfrm>
            <a:off x="1383286" y="49024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5" name="Arrow: Up 93">
            <a:extLst>
              <a:ext uri="{FF2B5EF4-FFF2-40B4-BE49-F238E27FC236}">
                <a16:creationId xmlns:a16="http://schemas.microsoft.com/office/drawing/2014/main" xmlns="" id="{A7AA328E-A917-4F92-A3C8-B5EC49E727AC}"/>
              </a:ext>
            </a:extLst>
          </p:cNvPr>
          <p:cNvSpPr/>
          <p:nvPr/>
        </p:nvSpPr>
        <p:spPr>
          <a:xfrm>
            <a:off x="1098761" y="394595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6" name="Arrow: Up 94">
            <a:extLst>
              <a:ext uri="{FF2B5EF4-FFF2-40B4-BE49-F238E27FC236}">
                <a16:creationId xmlns:a16="http://schemas.microsoft.com/office/drawing/2014/main" xmlns="" id="{FC69F0A4-2A01-4795-9307-01E0E0A7FF17}"/>
              </a:ext>
            </a:extLst>
          </p:cNvPr>
          <p:cNvSpPr/>
          <p:nvPr/>
        </p:nvSpPr>
        <p:spPr>
          <a:xfrm>
            <a:off x="2661401" y="31081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7" name="Arrow: Up 95">
            <a:extLst>
              <a:ext uri="{FF2B5EF4-FFF2-40B4-BE49-F238E27FC236}">
                <a16:creationId xmlns:a16="http://schemas.microsoft.com/office/drawing/2014/main" xmlns="" id="{FE3CEC23-C6A1-4875-A9D0-FDAA89C9668E}"/>
              </a:ext>
            </a:extLst>
          </p:cNvPr>
          <p:cNvSpPr/>
          <p:nvPr/>
        </p:nvSpPr>
        <p:spPr>
          <a:xfrm>
            <a:off x="2922592" y="382222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8" name="Arrow: Up 96">
            <a:extLst>
              <a:ext uri="{FF2B5EF4-FFF2-40B4-BE49-F238E27FC236}">
                <a16:creationId xmlns:a16="http://schemas.microsoft.com/office/drawing/2014/main" xmlns="" id="{36A72173-DE9C-47D8-90C1-F779F5C7107E}"/>
              </a:ext>
            </a:extLst>
          </p:cNvPr>
          <p:cNvSpPr/>
          <p:nvPr/>
        </p:nvSpPr>
        <p:spPr>
          <a:xfrm>
            <a:off x="2996541" y="26263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9" name="Arrow: Up 97">
            <a:extLst>
              <a:ext uri="{FF2B5EF4-FFF2-40B4-BE49-F238E27FC236}">
                <a16:creationId xmlns:a16="http://schemas.microsoft.com/office/drawing/2014/main" xmlns="" id="{6FC215B2-2463-4E8F-92CF-5AEF66A93445}"/>
              </a:ext>
            </a:extLst>
          </p:cNvPr>
          <p:cNvSpPr/>
          <p:nvPr/>
        </p:nvSpPr>
        <p:spPr>
          <a:xfrm>
            <a:off x="3280642" y="316528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0" name="Arrow: Up 98">
            <a:extLst>
              <a:ext uri="{FF2B5EF4-FFF2-40B4-BE49-F238E27FC236}">
                <a16:creationId xmlns:a16="http://schemas.microsoft.com/office/drawing/2014/main" xmlns="" id="{69081293-8914-422C-BC95-EF0FED5FC437}"/>
              </a:ext>
            </a:extLst>
          </p:cNvPr>
          <p:cNvSpPr/>
          <p:nvPr/>
        </p:nvSpPr>
        <p:spPr>
          <a:xfrm>
            <a:off x="3406064" y="249841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1" name="Arrow: Up 99">
            <a:extLst>
              <a:ext uri="{FF2B5EF4-FFF2-40B4-BE49-F238E27FC236}">
                <a16:creationId xmlns:a16="http://schemas.microsoft.com/office/drawing/2014/main" xmlns="" id="{9F645E89-DC20-4F13-9488-423081A476DB}"/>
              </a:ext>
            </a:extLst>
          </p:cNvPr>
          <p:cNvSpPr/>
          <p:nvPr/>
        </p:nvSpPr>
        <p:spPr>
          <a:xfrm>
            <a:off x="3345230" y="38564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2" name="Arrow: Up 100">
            <a:extLst>
              <a:ext uri="{FF2B5EF4-FFF2-40B4-BE49-F238E27FC236}">
                <a16:creationId xmlns:a16="http://schemas.microsoft.com/office/drawing/2014/main" xmlns="" id="{5AEEC21C-A27C-447A-A421-A61A0FE9CB28}"/>
              </a:ext>
            </a:extLst>
          </p:cNvPr>
          <p:cNvSpPr/>
          <p:nvPr/>
        </p:nvSpPr>
        <p:spPr>
          <a:xfrm>
            <a:off x="3815017" y="280151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3" name="Arrow: Up 101">
            <a:extLst>
              <a:ext uri="{FF2B5EF4-FFF2-40B4-BE49-F238E27FC236}">
                <a16:creationId xmlns:a16="http://schemas.microsoft.com/office/drawing/2014/main" xmlns="" id="{84B0DBC9-B60E-4A0F-BC4C-2994C1F769B3}"/>
              </a:ext>
            </a:extLst>
          </p:cNvPr>
          <p:cNvSpPr/>
          <p:nvPr/>
        </p:nvSpPr>
        <p:spPr>
          <a:xfrm>
            <a:off x="3496376" y="465345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7" name="Arrow: Up 102">
            <a:extLst>
              <a:ext uri="{FF2B5EF4-FFF2-40B4-BE49-F238E27FC236}">
                <a16:creationId xmlns:a16="http://schemas.microsoft.com/office/drawing/2014/main" xmlns="" id="{412A6657-C05D-4BA9-A074-12B8C79F4BA7}"/>
              </a:ext>
            </a:extLst>
          </p:cNvPr>
          <p:cNvSpPr/>
          <p:nvPr/>
        </p:nvSpPr>
        <p:spPr>
          <a:xfrm>
            <a:off x="2832803" y="46493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0" name="Arrow: Up 103">
            <a:extLst>
              <a:ext uri="{FF2B5EF4-FFF2-40B4-BE49-F238E27FC236}">
                <a16:creationId xmlns:a16="http://schemas.microsoft.com/office/drawing/2014/main" xmlns="" id="{AE9034D6-4304-40E9-A17E-A7D718A8143D}"/>
              </a:ext>
            </a:extLst>
          </p:cNvPr>
          <p:cNvSpPr/>
          <p:nvPr/>
        </p:nvSpPr>
        <p:spPr>
          <a:xfrm>
            <a:off x="3786276" y="344082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1" name="Arrow: Up 104">
            <a:extLst>
              <a:ext uri="{FF2B5EF4-FFF2-40B4-BE49-F238E27FC236}">
                <a16:creationId xmlns:a16="http://schemas.microsoft.com/office/drawing/2014/main" xmlns="" id="{265785A4-17AC-4526-859E-D81D5F40F3E9}"/>
              </a:ext>
            </a:extLst>
          </p:cNvPr>
          <p:cNvSpPr/>
          <p:nvPr/>
        </p:nvSpPr>
        <p:spPr>
          <a:xfrm>
            <a:off x="4191564" y="327932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2" name="Arrow: Up 105">
            <a:extLst>
              <a:ext uri="{FF2B5EF4-FFF2-40B4-BE49-F238E27FC236}">
                <a16:creationId xmlns:a16="http://schemas.microsoft.com/office/drawing/2014/main" xmlns="" id="{FCC75C35-2930-4CFF-BC01-5B31F2518EC3}"/>
              </a:ext>
            </a:extLst>
          </p:cNvPr>
          <p:cNvSpPr/>
          <p:nvPr/>
        </p:nvSpPr>
        <p:spPr>
          <a:xfrm>
            <a:off x="4048982" y="395295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3" name="Arrow: Up 107">
            <a:extLst>
              <a:ext uri="{FF2B5EF4-FFF2-40B4-BE49-F238E27FC236}">
                <a16:creationId xmlns:a16="http://schemas.microsoft.com/office/drawing/2014/main" xmlns="" id="{5853CF76-3B79-4C6C-8D2B-1F63A85BA664}"/>
              </a:ext>
            </a:extLst>
          </p:cNvPr>
          <p:cNvSpPr/>
          <p:nvPr/>
        </p:nvSpPr>
        <p:spPr>
          <a:xfrm>
            <a:off x="3702980" y="423784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4" name="Arrow: Up 108">
            <a:extLst>
              <a:ext uri="{FF2B5EF4-FFF2-40B4-BE49-F238E27FC236}">
                <a16:creationId xmlns:a16="http://schemas.microsoft.com/office/drawing/2014/main" xmlns="" id="{F68D9020-86F0-4012-BE4D-B95C71AB746D}"/>
              </a:ext>
            </a:extLst>
          </p:cNvPr>
          <p:cNvSpPr/>
          <p:nvPr/>
        </p:nvSpPr>
        <p:spPr>
          <a:xfrm>
            <a:off x="3131557" y="450796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xmlns="" id="{1A69842A-636F-4219-99B9-10133EDDD055}"/>
                  </a:ext>
                </a:extLst>
              </p14:cNvPr>
              <p14:cNvContentPartPr/>
              <p14:nvPr/>
            </p14:nvContentPartPr>
            <p14:xfrm>
              <a:off x="8190837" y="2206893"/>
              <a:ext cx="3687840" cy="308268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A69842A-636F-4219-99B9-10133EDDD05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81837" y="219789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46" name="Arrow: Up 110">
            <a:extLst>
              <a:ext uri="{FF2B5EF4-FFF2-40B4-BE49-F238E27FC236}">
                <a16:creationId xmlns:a16="http://schemas.microsoft.com/office/drawing/2014/main" xmlns="" id="{738492BE-6664-4115-AF95-9CAF0B0BD45D}"/>
              </a:ext>
            </a:extLst>
          </p:cNvPr>
          <p:cNvSpPr/>
          <p:nvPr/>
        </p:nvSpPr>
        <p:spPr>
          <a:xfrm>
            <a:off x="8798727" y="39560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7" name="Arrow: Up 111">
            <a:extLst>
              <a:ext uri="{FF2B5EF4-FFF2-40B4-BE49-F238E27FC236}">
                <a16:creationId xmlns:a16="http://schemas.microsoft.com/office/drawing/2014/main" xmlns="" id="{D0C69F45-DE95-48B8-A5BC-92FBA339B664}"/>
              </a:ext>
            </a:extLst>
          </p:cNvPr>
          <p:cNvSpPr/>
          <p:nvPr/>
        </p:nvSpPr>
        <p:spPr>
          <a:xfrm>
            <a:off x="9091048" y="370800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8" name="Arrow: Up 112">
            <a:extLst>
              <a:ext uri="{FF2B5EF4-FFF2-40B4-BE49-F238E27FC236}">
                <a16:creationId xmlns:a16="http://schemas.microsoft.com/office/drawing/2014/main" xmlns="" id="{FC28C6C9-7844-428A-9F0A-F0C8C1B6B679}"/>
              </a:ext>
            </a:extLst>
          </p:cNvPr>
          <p:cNvSpPr/>
          <p:nvPr/>
        </p:nvSpPr>
        <p:spPr>
          <a:xfrm>
            <a:off x="9406617" y="40463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9" name="Arrow: Up 113">
            <a:extLst>
              <a:ext uri="{FF2B5EF4-FFF2-40B4-BE49-F238E27FC236}">
                <a16:creationId xmlns:a16="http://schemas.microsoft.com/office/drawing/2014/main" xmlns="" id="{F48582DC-98FF-4BBB-A1BB-99BD1106CDDB}"/>
              </a:ext>
            </a:extLst>
          </p:cNvPr>
          <p:cNvSpPr/>
          <p:nvPr/>
        </p:nvSpPr>
        <p:spPr>
          <a:xfrm>
            <a:off x="9091048" y="447627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0" name="Arrow: Up 114">
            <a:extLst>
              <a:ext uri="{FF2B5EF4-FFF2-40B4-BE49-F238E27FC236}">
                <a16:creationId xmlns:a16="http://schemas.microsoft.com/office/drawing/2014/main" xmlns="" id="{BD6411CF-E1AE-42E4-B798-DEE2E61C8653}"/>
              </a:ext>
            </a:extLst>
          </p:cNvPr>
          <p:cNvSpPr/>
          <p:nvPr/>
        </p:nvSpPr>
        <p:spPr>
          <a:xfrm>
            <a:off x="8483752" y="44350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1" name="Arrow: Up 115">
            <a:extLst>
              <a:ext uri="{FF2B5EF4-FFF2-40B4-BE49-F238E27FC236}">
                <a16:creationId xmlns:a16="http://schemas.microsoft.com/office/drawing/2014/main" xmlns="" id="{AE44546A-9CBC-427E-8155-E6FFC93BA7BC}"/>
              </a:ext>
            </a:extLst>
          </p:cNvPr>
          <p:cNvSpPr/>
          <p:nvPr/>
        </p:nvSpPr>
        <p:spPr>
          <a:xfrm>
            <a:off x="9675844" y="329238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2" name="Arrow: Up 116">
            <a:extLst>
              <a:ext uri="{FF2B5EF4-FFF2-40B4-BE49-F238E27FC236}">
                <a16:creationId xmlns:a16="http://schemas.microsoft.com/office/drawing/2014/main" xmlns="" id="{DC5CDFE4-37A8-4FB6-8AA4-4AF02F1F1B11}"/>
              </a:ext>
            </a:extLst>
          </p:cNvPr>
          <p:cNvSpPr/>
          <p:nvPr/>
        </p:nvSpPr>
        <p:spPr>
          <a:xfrm>
            <a:off x="9877566" y="383854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3" name="Arrow: Up 117">
            <a:extLst>
              <a:ext uri="{FF2B5EF4-FFF2-40B4-BE49-F238E27FC236}">
                <a16:creationId xmlns:a16="http://schemas.microsoft.com/office/drawing/2014/main" xmlns="" id="{D0F29C16-F0AB-4D1C-9668-63F2FFD5D13C}"/>
              </a:ext>
            </a:extLst>
          </p:cNvPr>
          <p:cNvSpPr/>
          <p:nvPr/>
        </p:nvSpPr>
        <p:spPr>
          <a:xfrm>
            <a:off x="9726280" y="444462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4" name="Arrow: Up 118">
            <a:extLst>
              <a:ext uri="{FF2B5EF4-FFF2-40B4-BE49-F238E27FC236}">
                <a16:creationId xmlns:a16="http://schemas.microsoft.com/office/drawing/2014/main" xmlns="" id="{202EE75C-8EF8-40E1-9B18-F0EC8E1445A0}"/>
              </a:ext>
            </a:extLst>
          </p:cNvPr>
          <p:cNvSpPr/>
          <p:nvPr/>
        </p:nvSpPr>
        <p:spPr>
          <a:xfrm>
            <a:off x="9305767" y="327464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5" name="Arrow: Up 119">
            <a:extLst>
              <a:ext uri="{FF2B5EF4-FFF2-40B4-BE49-F238E27FC236}">
                <a16:creationId xmlns:a16="http://schemas.microsoft.com/office/drawing/2014/main" xmlns="" id="{7B6A40F5-4D6A-44A7-B828-03E6AB8F1700}"/>
              </a:ext>
            </a:extLst>
          </p:cNvPr>
          <p:cNvSpPr/>
          <p:nvPr/>
        </p:nvSpPr>
        <p:spPr>
          <a:xfrm>
            <a:off x="9451773" y="48335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6" name="Arrow: Up 120">
            <a:extLst>
              <a:ext uri="{FF2B5EF4-FFF2-40B4-BE49-F238E27FC236}">
                <a16:creationId xmlns:a16="http://schemas.microsoft.com/office/drawing/2014/main" xmlns="" id="{8C96379A-A3BB-47AA-8DB3-B36FD6F312E9}"/>
              </a:ext>
            </a:extLst>
          </p:cNvPr>
          <p:cNvSpPr/>
          <p:nvPr/>
        </p:nvSpPr>
        <p:spPr>
          <a:xfrm>
            <a:off x="8776667" y="468408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7" name="Arrow: Up 121">
            <a:extLst>
              <a:ext uri="{FF2B5EF4-FFF2-40B4-BE49-F238E27FC236}">
                <a16:creationId xmlns:a16="http://schemas.microsoft.com/office/drawing/2014/main" xmlns="" id="{C284C0BB-CAF8-4ED9-9B43-2B688B65F331}"/>
              </a:ext>
            </a:extLst>
          </p:cNvPr>
          <p:cNvSpPr/>
          <p:nvPr/>
        </p:nvSpPr>
        <p:spPr>
          <a:xfrm>
            <a:off x="8492142" y="372759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8" name="Arrow: Up 122">
            <a:extLst>
              <a:ext uri="{FF2B5EF4-FFF2-40B4-BE49-F238E27FC236}">
                <a16:creationId xmlns:a16="http://schemas.microsoft.com/office/drawing/2014/main" xmlns="" id="{C8E8F6E2-1744-457F-9A0A-9610F3218DA2}"/>
              </a:ext>
            </a:extLst>
          </p:cNvPr>
          <p:cNvSpPr/>
          <p:nvPr/>
        </p:nvSpPr>
        <p:spPr>
          <a:xfrm rot="10800000">
            <a:off x="10055273" y="292704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9" name="Arrow: Up 123">
            <a:extLst>
              <a:ext uri="{FF2B5EF4-FFF2-40B4-BE49-F238E27FC236}">
                <a16:creationId xmlns:a16="http://schemas.microsoft.com/office/drawing/2014/main" xmlns="" id="{60C3ED97-FDBD-4354-A27A-4F75CCDF2421}"/>
              </a:ext>
            </a:extLst>
          </p:cNvPr>
          <p:cNvSpPr/>
          <p:nvPr/>
        </p:nvSpPr>
        <p:spPr>
          <a:xfrm rot="10800000">
            <a:off x="10315839" y="360941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0" name="Arrow: Up 124">
            <a:extLst>
              <a:ext uri="{FF2B5EF4-FFF2-40B4-BE49-F238E27FC236}">
                <a16:creationId xmlns:a16="http://schemas.microsoft.com/office/drawing/2014/main" xmlns="" id="{2A9B9A13-ADC0-4961-9C5C-06CCC5FC2F53}"/>
              </a:ext>
            </a:extLst>
          </p:cNvPr>
          <p:cNvSpPr/>
          <p:nvPr/>
        </p:nvSpPr>
        <p:spPr>
          <a:xfrm rot="10800000">
            <a:off x="10360995" y="242163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1" name="Arrow: Up 125">
            <a:extLst>
              <a:ext uri="{FF2B5EF4-FFF2-40B4-BE49-F238E27FC236}">
                <a16:creationId xmlns:a16="http://schemas.microsoft.com/office/drawing/2014/main" xmlns="" id="{94A621BC-5358-47E1-BADA-96951D68E391}"/>
              </a:ext>
            </a:extLst>
          </p:cNvPr>
          <p:cNvSpPr/>
          <p:nvPr/>
        </p:nvSpPr>
        <p:spPr>
          <a:xfrm rot="10800000">
            <a:off x="10674023" y="294692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2" name="Arrow: Up 126">
            <a:extLst>
              <a:ext uri="{FF2B5EF4-FFF2-40B4-BE49-F238E27FC236}">
                <a16:creationId xmlns:a16="http://schemas.microsoft.com/office/drawing/2014/main" xmlns="" id="{ABD504C6-D6C9-439A-A5F0-30FD600A4037}"/>
              </a:ext>
            </a:extLst>
          </p:cNvPr>
          <p:cNvSpPr/>
          <p:nvPr/>
        </p:nvSpPr>
        <p:spPr>
          <a:xfrm rot="10800000">
            <a:off x="10799445" y="228006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3" name="Arrow: Up 127">
            <a:extLst>
              <a:ext uri="{FF2B5EF4-FFF2-40B4-BE49-F238E27FC236}">
                <a16:creationId xmlns:a16="http://schemas.microsoft.com/office/drawing/2014/main" xmlns="" id="{B85E7EA0-1E82-42C9-B062-46371515AF92}"/>
              </a:ext>
            </a:extLst>
          </p:cNvPr>
          <p:cNvSpPr/>
          <p:nvPr/>
        </p:nvSpPr>
        <p:spPr>
          <a:xfrm rot="10800000">
            <a:off x="10738611" y="363807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4" name="Arrow: Up 128">
            <a:extLst>
              <a:ext uri="{FF2B5EF4-FFF2-40B4-BE49-F238E27FC236}">
                <a16:creationId xmlns:a16="http://schemas.microsoft.com/office/drawing/2014/main" xmlns="" id="{40C537BF-8B4B-490C-B87C-AB1CAA09E01A}"/>
              </a:ext>
            </a:extLst>
          </p:cNvPr>
          <p:cNvSpPr/>
          <p:nvPr/>
        </p:nvSpPr>
        <p:spPr>
          <a:xfrm rot="10800000">
            <a:off x="11208398" y="25831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5" name="Arrow: Up 129">
            <a:extLst>
              <a:ext uri="{FF2B5EF4-FFF2-40B4-BE49-F238E27FC236}">
                <a16:creationId xmlns:a16="http://schemas.microsoft.com/office/drawing/2014/main" xmlns="" id="{2A3CB386-DE06-42D4-9932-1395F9D3E036}"/>
              </a:ext>
            </a:extLst>
          </p:cNvPr>
          <p:cNvSpPr/>
          <p:nvPr/>
        </p:nvSpPr>
        <p:spPr>
          <a:xfrm rot="10800000">
            <a:off x="10889757" y="443509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6" name="Arrow: Up 130">
            <a:extLst>
              <a:ext uri="{FF2B5EF4-FFF2-40B4-BE49-F238E27FC236}">
                <a16:creationId xmlns:a16="http://schemas.microsoft.com/office/drawing/2014/main" xmlns="" id="{279DF280-BAF8-4AAA-B09C-FEE9B6AE1F8B}"/>
              </a:ext>
            </a:extLst>
          </p:cNvPr>
          <p:cNvSpPr/>
          <p:nvPr/>
        </p:nvSpPr>
        <p:spPr>
          <a:xfrm rot="10800000">
            <a:off x="10250431" y="44582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7" name="Arrow: Up 131">
            <a:extLst>
              <a:ext uri="{FF2B5EF4-FFF2-40B4-BE49-F238E27FC236}">
                <a16:creationId xmlns:a16="http://schemas.microsoft.com/office/drawing/2014/main" xmlns="" id="{27AF68F8-0320-4AFF-8919-64790764E012}"/>
              </a:ext>
            </a:extLst>
          </p:cNvPr>
          <p:cNvSpPr/>
          <p:nvPr/>
        </p:nvSpPr>
        <p:spPr>
          <a:xfrm rot="10800000">
            <a:off x="11179657" y="32224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8" name="Arrow: Up 132">
            <a:extLst>
              <a:ext uri="{FF2B5EF4-FFF2-40B4-BE49-F238E27FC236}">
                <a16:creationId xmlns:a16="http://schemas.microsoft.com/office/drawing/2014/main" xmlns="" id="{3FC58D31-6BA7-4FAB-A35F-343448BC334E}"/>
              </a:ext>
            </a:extLst>
          </p:cNvPr>
          <p:cNvSpPr/>
          <p:nvPr/>
        </p:nvSpPr>
        <p:spPr>
          <a:xfrm rot="10800000">
            <a:off x="11584945" y="306097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69" name="Arrow: Up 133">
            <a:extLst>
              <a:ext uri="{FF2B5EF4-FFF2-40B4-BE49-F238E27FC236}">
                <a16:creationId xmlns:a16="http://schemas.microsoft.com/office/drawing/2014/main" xmlns="" id="{523C96AD-B81D-4416-A3C6-75A3522A721B}"/>
              </a:ext>
            </a:extLst>
          </p:cNvPr>
          <p:cNvSpPr/>
          <p:nvPr/>
        </p:nvSpPr>
        <p:spPr>
          <a:xfrm rot="10800000">
            <a:off x="11442363" y="373459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0" name="Arrow: Up 134">
            <a:extLst>
              <a:ext uri="{FF2B5EF4-FFF2-40B4-BE49-F238E27FC236}">
                <a16:creationId xmlns:a16="http://schemas.microsoft.com/office/drawing/2014/main" xmlns="" id="{BF5A75CC-E408-4729-8BB1-D081ACDA2276}"/>
              </a:ext>
            </a:extLst>
          </p:cNvPr>
          <p:cNvSpPr/>
          <p:nvPr/>
        </p:nvSpPr>
        <p:spPr>
          <a:xfrm rot="10800000">
            <a:off x="11096361" y="401948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1" name="Arrow: Up 135">
            <a:extLst>
              <a:ext uri="{FF2B5EF4-FFF2-40B4-BE49-F238E27FC236}">
                <a16:creationId xmlns:a16="http://schemas.microsoft.com/office/drawing/2014/main" xmlns="" id="{25A6FB02-8DE6-4FC8-9868-B3BC6DD2F3F7}"/>
              </a:ext>
            </a:extLst>
          </p:cNvPr>
          <p:cNvSpPr/>
          <p:nvPr/>
        </p:nvSpPr>
        <p:spPr>
          <a:xfrm rot="10800000">
            <a:off x="10524938" y="42896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46094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/>
              <a:lstStyle/>
              <a:p>
                <a:pPr marL="1371600" lvl="3" indent="0">
                  <a:buNone/>
                </a:pPr>
                <a:r>
                  <a:rPr lang="en-US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</a:t>
                </a:r>
                <a:r>
                  <a:rPr lang="en-US" sz="2000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presence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of </a:t>
                </a:r>
                <a:r>
                  <a:rPr lang="en-US" sz="2000" dirty="0">
                    <a:solidFill>
                      <a:srgbClr val="FF0000"/>
                    </a:solidFill>
                  </a:rPr>
                  <a:t>random fields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</a:t>
                </a: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</m:e>
                    </m:nary>
                  </m:oMath>
                </a14:m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</a:t>
                </a: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but this time the bulk energy 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is affected.</a:t>
                </a:r>
              </a:p>
              <a:p>
                <a:pPr marL="1371600" lvl="3" indent="0">
                  <a:buNone/>
                </a:pPr>
                <a:endParaRPr lang="en-US" sz="2000" dirty="0"/>
              </a:p>
              <a:p>
                <a:pPr marL="1371600" lvl="3" indent="0">
                  <a:buNone/>
                </a:pPr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/>
              </a:p>
              <a:p>
                <a:pPr marL="1371600" lvl="3" indent="0">
                  <a:buNone/>
                </a:pPr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/>
              </a:p>
              <a:p>
                <a:pPr marL="1371600" lvl="3" indent="0">
                  <a:buNone/>
                </a:pPr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</a:t>
                </a:r>
                <a:r>
                  <a:rPr lang="en-US" sz="2000" dirty="0"/>
                  <a:t>	</a:t>
                </a:r>
                <a:r>
                  <a:rPr lang="en-US" sz="2000" dirty="0" smtClean="0"/>
                  <a:t>The energy cost is the same</a:t>
                </a: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t="-3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xmlns="" id="{1A69842A-636F-4219-99B9-10133EDDD055}"/>
                  </a:ext>
                </a:extLst>
              </p14:cNvPr>
              <p14:cNvContentPartPr/>
              <p14:nvPr/>
            </p14:nvContentPartPr>
            <p14:xfrm>
              <a:off x="7565268" y="3336236"/>
              <a:ext cx="3687840" cy="30826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56268" y="3327596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xmlns="" id="{738492BE-6664-4115-AF95-9CAF0B0BD45D}"/>
              </a:ext>
            </a:extLst>
          </p:cNvPr>
          <p:cNvSpPr/>
          <p:nvPr/>
        </p:nvSpPr>
        <p:spPr>
          <a:xfrm>
            <a:off x="8173158" y="50853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xmlns="" id="{D0C69F45-DE95-48B8-A5BC-92FBA339B664}"/>
              </a:ext>
            </a:extLst>
          </p:cNvPr>
          <p:cNvSpPr/>
          <p:nvPr/>
        </p:nvSpPr>
        <p:spPr>
          <a:xfrm>
            <a:off x="8465479" y="48373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xmlns="" id="{FC28C6C9-7844-428A-9F0A-F0C8C1B6B679}"/>
              </a:ext>
            </a:extLst>
          </p:cNvPr>
          <p:cNvSpPr/>
          <p:nvPr/>
        </p:nvSpPr>
        <p:spPr>
          <a:xfrm>
            <a:off x="8781048" y="517569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xmlns="" id="{F48582DC-98FF-4BBB-A1BB-99BD1106CDDB}"/>
              </a:ext>
            </a:extLst>
          </p:cNvPr>
          <p:cNvSpPr/>
          <p:nvPr/>
        </p:nvSpPr>
        <p:spPr>
          <a:xfrm>
            <a:off x="8465479" y="5605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xmlns="" id="{BD6411CF-E1AE-42E4-B798-DEE2E61C8653}"/>
              </a:ext>
            </a:extLst>
          </p:cNvPr>
          <p:cNvSpPr/>
          <p:nvPr/>
        </p:nvSpPr>
        <p:spPr>
          <a:xfrm>
            <a:off x="7858183" y="556444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xmlns="" id="{AE44546A-9CBC-427E-8155-E6FFC93BA7BC}"/>
              </a:ext>
            </a:extLst>
          </p:cNvPr>
          <p:cNvSpPr/>
          <p:nvPr/>
        </p:nvSpPr>
        <p:spPr>
          <a:xfrm>
            <a:off x="9050275" y="44217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xmlns="" id="{DC5CDFE4-37A8-4FB6-8AA4-4AF02F1F1B11}"/>
              </a:ext>
            </a:extLst>
          </p:cNvPr>
          <p:cNvSpPr/>
          <p:nvPr/>
        </p:nvSpPr>
        <p:spPr>
          <a:xfrm>
            <a:off x="9251997" y="49678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xmlns="" id="{D0F29C16-F0AB-4D1C-9668-63F2FFD5D13C}"/>
              </a:ext>
            </a:extLst>
          </p:cNvPr>
          <p:cNvSpPr/>
          <p:nvPr/>
        </p:nvSpPr>
        <p:spPr>
          <a:xfrm>
            <a:off x="9100711" y="557397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xmlns="" id="{202EE75C-8EF8-40E1-9B18-F0EC8E1445A0}"/>
              </a:ext>
            </a:extLst>
          </p:cNvPr>
          <p:cNvSpPr/>
          <p:nvPr/>
        </p:nvSpPr>
        <p:spPr>
          <a:xfrm>
            <a:off x="8680198" y="44039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xmlns="" id="{7B6A40F5-4D6A-44A7-B828-03E6AB8F1700}"/>
              </a:ext>
            </a:extLst>
          </p:cNvPr>
          <p:cNvSpPr/>
          <p:nvPr/>
        </p:nvSpPr>
        <p:spPr>
          <a:xfrm>
            <a:off x="8826204" y="59629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xmlns="" id="{8C96379A-A3BB-47AA-8DB3-B36FD6F312E9}"/>
              </a:ext>
            </a:extLst>
          </p:cNvPr>
          <p:cNvSpPr/>
          <p:nvPr/>
        </p:nvSpPr>
        <p:spPr>
          <a:xfrm>
            <a:off x="8151098" y="58134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xmlns="" id="{C284C0BB-CAF8-4ED9-9B43-2B688B65F331}"/>
              </a:ext>
            </a:extLst>
          </p:cNvPr>
          <p:cNvSpPr/>
          <p:nvPr/>
        </p:nvSpPr>
        <p:spPr>
          <a:xfrm>
            <a:off x="7866573" y="48569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xmlns="" id="{C8E8F6E2-1744-457F-9A0A-9610F3218DA2}"/>
              </a:ext>
            </a:extLst>
          </p:cNvPr>
          <p:cNvSpPr/>
          <p:nvPr/>
        </p:nvSpPr>
        <p:spPr>
          <a:xfrm rot="10800000">
            <a:off x="9429704" y="405638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xmlns="" id="{60C3ED97-FDBD-4354-A27A-4F75CCDF2421}"/>
              </a:ext>
            </a:extLst>
          </p:cNvPr>
          <p:cNvSpPr/>
          <p:nvPr/>
        </p:nvSpPr>
        <p:spPr>
          <a:xfrm rot="10800000">
            <a:off x="9690270" y="473875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xmlns="" id="{2A9B9A13-ADC0-4961-9C5C-06CCC5FC2F53}"/>
              </a:ext>
            </a:extLst>
          </p:cNvPr>
          <p:cNvSpPr/>
          <p:nvPr/>
        </p:nvSpPr>
        <p:spPr>
          <a:xfrm rot="10800000">
            <a:off x="9735426" y="355097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xmlns="" id="{ABD504C6-D6C9-439A-A5F0-30FD600A4037}"/>
              </a:ext>
            </a:extLst>
          </p:cNvPr>
          <p:cNvSpPr/>
          <p:nvPr/>
        </p:nvSpPr>
        <p:spPr>
          <a:xfrm rot="10800000">
            <a:off x="10173876" y="34094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xmlns="" id="{B85E7EA0-1E82-42C9-B062-46371515AF92}"/>
              </a:ext>
            </a:extLst>
          </p:cNvPr>
          <p:cNvSpPr/>
          <p:nvPr/>
        </p:nvSpPr>
        <p:spPr>
          <a:xfrm rot="10800000">
            <a:off x="10034003" y="4297712"/>
            <a:ext cx="213526" cy="713479"/>
          </a:xfrm>
          <a:prstGeom prst="upArrow">
            <a:avLst/>
          </a:prstGeom>
          <a:solidFill>
            <a:schemeClr val="accent1"/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xmlns="" id="{40C537BF-8B4B-490C-B87C-AB1CAA09E01A}"/>
              </a:ext>
            </a:extLst>
          </p:cNvPr>
          <p:cNvSpPr/>
          <p:nvPr/>
        </p:nvSpPr>
        <p:spPr>
          <a:xfrm rot="10800000">
            <a:off x="10582829" y="371250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xmlns="" id="{2A3CB386-DE06-42D4-9932-1395F9D3E036}"/>
              </a:ext>
            </a:extLst>
          </p:cNvPr>
          <p:cNvSpPr/>
          <p:nvPr/>
        </p:nvSpPr>
        <p:spPr>
          <a:xfrm rot="10800000">
            <a:off x="10264188" y="556444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xmlns="" id="{279DF280-BAF8-4AAA-B09C-FEE9B6AE1F8B}"/>
              </a:ext>
            </a:extLst>
          </p:cNvPr>
          <p:cNvSpPr/>
          <p:nvPr/>
        </p:nvSpPr>
        <p:spPr>
          <a:xfrm rot="10800000">
            <a:off x="9624862" y="55876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xmlns="" id="{27AF68F8-0320-4AFF-8919-64790764E012}"/>
              </a:ext>
            </a:extLst>
          </p:cNvPr>
          <p:cNvSpPr/>
          <p:nvPr/>
        </p:nvSpPr>
        <p:spPr>
          <a:xfrm rot="10800000">
            <a:off x="10554088" y="435180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xmlns="" id="{3FC58D31-6BA7-4FAB-A35F-343448BC334E}"/>
              </a:ext>
            </a:extLst>
          </p:cNvPr>
          <p:cNvSpPr/>
          <p:nvPr/>
        </p:nvSpPr>
        <p:spPr>
          <a:xfrm rot="10800000">
            <a:off x="10959376" y="419031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xmlns="" id="{523C96AD-B81D-4416-A3C6-75A3522A721B}"/>
              </a:ext>
            </a:extLst>
          </p:cNvPr>
          <p:cNvSpPr/>
          <p:nvPr/>
        </p:nvSpPr>
        <p:spPr>
          <a:xfrm rot="10800000">
            <a:off x="10816794" y="48639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xmlns="" id="{BF5A75CC-E408-4729-8BB1-D081ACDA2276}"/>
              </a:ext>
            </a:extLst>
          </p:cNvPr>
          <p:cNvSpPr/>
          <p:nvPr/>
        </p:nvSpPr>
        <p:spPr>
          <a:xfrm rot="10800000">
            <a:off x="10470792" y="514883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xmlns="" id="{25A6FB02-8DE6-4FC8-9868-B3BC6DD2F3F7}"/>
              </a:ext>
            </a:extLst>
          </p:cNvPr>
          <p:cNvSpPr/>
          <p:nvPr/>
        </p:nvSpPr>
        <p:spPr>
          <a:xfrm rot="10800000">
            <a:off x="9899369" y="541895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7" name="Arrow: Striped Right 136">
            <a:extLst>
              <a:ext uri="{FF2B5EF4-FFF2-40B4-BE49-F238E27FC236}">
                <a16:creationId xmlns:a16="http://schemas.microsoft.com/office/drawing/2014/main" xmlns="" id="{EB20183C-82A6-4293-8B99-C5B6F040B72C}"/>
              </a:ext>
            </a:extLst>
          </p:cNvPr>
          <p:cNvSpPr/>
          <p:nvPr/>
        </p:nvSpPr>
        <p:spPr>
          <a:xfrm>
            <a:off x="4969237" y="4981525"/>
            <a:ext cx="2245297" cy="143670"/>
          </a:xfrm>
          <a:prstGeom prst="stripedRightArrow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xmlns="" id="{01786E26-9625-4544-A0A5-11D0345CDE2A}"/>
                  </a:ext>
                </a:extLst>
              </p:cNvPr>
              <p:cNvSpPr txBox="1"/>
              <p:nvPr/>
            </p:nvSpPr>
            <p:spPr>
              <a:xfrm>
                <a:off x="5029868" y="5901891"/>
                <a:ext cx="2140683" cy="402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01786E26-9625-4544-A0A5-11D0345CD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868" y="5901891"/>
                <a:ext cx="2140683" cy="402867"/>
              </a:xfrm>
              <a:prstGeom prst="rect">
                <a:avLst/>
              </a:prstGeom>
              <a:blipFill rotWithShape="0">
                <a:blip r:embed="rId5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xmlns="" id="{40FF956C-F5D0-4904-8A7C-469BBED30572}"/>
                  </a:ext>
                </a:extLst>
              </p:cNvPr>
              <p:cNvSpPr txBox="1"/>
              <p:nvPr/>
            </p:nvSpPr>
            <p:spPr>
              <a:xfrm>
                <a:off x="4471422" y="3409683"/>
                <a:ext cx="4547977" cy="21495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charset="0"/>
                              <a:ea typeface="Cambria Math" panose="02040503050406030204" pitchFamily="18" charset="0"/>
                            </a:rPr>
                            <m:t>Δ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bSup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charset="0"/>
                          <a:ea typeface="Cambria Math" panose="02040503050406030204" pitchFamily="18" charset="0"/>
                        </a:rPr>
                        <m:t>&lt; |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  <m:r>
                        <a:rPr lang="en-US" b="0" i="1" smtClean="0">
                          <a:latin typeface="Cambria Math" charset="0"/>
                          <a:ea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b="0" dirty="0" smtClean="0">
                  <a:ea typeface="Cambria Math" panose="02040503050406030204" pitchFamily="18" charset="0"/>
                </a:endParaRPr>
              </a:p>
              <a:p>
                <a:pPr/>
                <a:r>
                  <a:rPr lang="en-US" dirty="0">
                    <a:ea typeface="Cambria Math" panose="02040503050406030204" pitchFamily="18" charset="0"/>
                  </a:rPr>
                  <a:t>	A</a:t>
                </a:r>
                <a:r>
                  <a:rPr lang="en-US" dirty="0" smtClean="0">
                    <a:ea typeface="Cambria Math" panose="02040503050406030204" pitchFamily="18" charset="0"/>
                  </a:rPr>
                  <a:t> typical value for</a:t>
                </a:r>
              </a:p>
              <a:p>
                <a:pPr/>
                <a:r>
                  <a:rPr lang="en-US" b="0" dirty="0">
                    <a:ea typeface="Cambria Math" panose="02040503050406030204" pitchFamily="18" charset="0"/>
                  </a:rPr>
                  <a:t>	</a:t>
                </a:r>
                <a:r>
                  <a:rPr lang="en-US" b="0" dirty="0" smtClean="0">
                    <a:ea typeface="Cambria Math" panose="02040503050406030204" pitchFamily="18" charset="0"/>
                  </a:rPr>
                  <a:t>possible energy gain.</a:t>
                </a:r>
              </a:p>
              <a:p>
                <a:pPr/>
                <a:endParaRPr lang="en-US" b="0" dirty="0" smtClean="0">
                  <a:ea typeface="Cambria Math" panose="02040503050406030204" pitchFamily="18" charset="0"/>
                </a:endParaRPr>
              </a:p>
              <a:p>
                <a:pPr/>
                <a:r>
                  <a:rPr lang="en-US" dirty="0">
                    <a:ea typeface="Cambria Math" panose="02040503050406030204" pitchFamily="18" charset="0"/>
                  </a:rPr>
                  <a:t/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x-none" dirty="0"/>
              </a:p>
            </p:txBody>
          </p:sp>
        </mc:Choice>
        <mc:Fallback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0FF956C-F5D0-4904-8A7C-469BBED30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1422" y="3409683"/>
                <a:ext cx="4547977" cy="2149563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10211710" y="4405634"/>
                <a:ext cx="369781" cy="375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h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1710" y="4405634"/>
                <a:ext cx="369781" cy="375424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/>
              <a:t>Random fields and the </a:t>
            </a:r>
            <a:r>
              <a:rPr lang="en-US" sz="3600" dirty="0" err="1"/>
              <a:t>Imry</a:t>
            </a:r>
            <a:r>
              <a:rPr lang="en-US" sz="3600" dirty="0"/>
              <a:t>-Ma criterion</a:t>
            </a:r>
            <a:endParaRPr lang="x-none" sz="3600" dirty="0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7672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A </a:t>
            </a:r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simple picture with </a:t>
            </a:r>
            <a:r>
              <a:rPr lang="en-US" sz="3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Ising</a:t>
            </a:r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spins: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xmlns="" id="{97771BAB-D58B-4263-8C32-E841ECD1E17B}"/>
                  </a:ext>
                </a:extLst>
              </p14:cNvPr>
              <p14:cNvContentPartPr/>
              <p14:nvPr/>
            </p14:nvContentPartPr>
            <p14:xfrm>
              <a:off x="797456" y="2425247"/>
              <a:ext cx="3687840" cy="30826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97771BAB-D58B-4263-8C32-E841ECD1E17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88456" y="2416247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82" name="Arrow: Up 57">
            <a:extLst>
              <a:ext uri="{FF2B5EF4-FFF2-40B4-BE49-F238E27FC236}">
                <a16:creationId xmlns:a16="http://schemas.microsoft.com/office/drawing/2014/main" xmlns="" id="{2FF3984E-711F-4105-B95E-A9A2D638487F}"/>
              </a:ext>
            </a:extLst>
          </p:cNvPr>
          <p:cNvSpPr/>
          <p:nvPr/>
        </p:nvSpPr>
        <p:spPr>
          <a:xfrm>
            <a:off x="1405346" y="417439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3" name="Arrow: Up 64">
            <a:extLst>
              <a:ext uri="{FF2B5EF4-FFF2-40B4-BE49-F238E27FC236}">
                <a16:creationId xmlns:a16="http://schemas.microsoft.com/office/drawing/2014/main" xmlns="" id="{6BFFCD81-F949-447A-9FC9-DF88BD70E345}"/>
              </a:ext>
            </a:extLst>
          </p:cNvPr>
          <p:cNvSpPr/>
          <p:nvPr/>
        </p:nvSpPr>
        <p:spPr>
          <a:xfrm>
            <a:off x="1697667" y="39263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4" name="Arrow: Up 65">
            <a:extLst>
              <a:ext uri="{FF2B5EF4-FFF2-40B4-BE49-F238E27FC236}">
                <a16:creationId xmlns:a16="http://schemas.microsoft.com/office/drawing/2014/main" xmlns="" id="{7EA4C78D-BBD3-4473-B424-587F794FACF0}"/>
              </a:ext>
            </a:extLst>
          </p:cNvPr>
          <p:cNvSpPr/>
          <p:nvPr/>
        </p:nvSpPr>
        <p:spPr>
          <a:xfrm>
            <a:off x="2013236" y="426470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5" name="Arrow: Up 66">
            <a:extLst>
              <a:ext uri="{FF2B5EF4-FFF2-40B4-BE49-F238E27FC236}">
                <a16:creationId xmlns:a16="http://schemas.microsoft.com/office/drawing/2014/main" xmlns="" id="{5211C9B3-90B9-4631-A80A-82C7B392F580}"/>
              </a:ext>
            </a:extLst>
          </p:cNvPr>
          <p:cNvSpPr/>
          <p:nvPr/>
        </p:nvSpPr>
        <p:spPr>
          <a:xfrm>
            <a:off x="1697667" y="469462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6" name="Arrow: Up 67">
            <a:extLst>
              <a:ext uri="{FF2B5EF4-FFF2-40B4-BE49-F238E27FC236}">
                <a16:creationId xmlns:a16="http://schemas.microsoft.com/office/drawing/2014/main" xmlns="" id="{17A866B3-5F14-458E-94AD-26019B9F9B7D}"/>
              </a:ext>
            </a:extLst>
          </p:cNvPr>
          <p:cNvSpPr/>
          <p:nvPr/>
        </p:nvSpPr>
        <p:spPr>
          <a:xfrm>
            <a:off x="1090371" y="465345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7" name="Arrow: Up 68">
            <a:extLst>
              <a:ext uri="{FF2B5EF4-FFF2-40B4-BE49-F238E27FC236}">
                <a16:creationId xmlns:a16="http://schemas.microsoft.com/office/drawing/2014/main" xmlns="" id="{6533292F-F228-4759-A51D-42E5BB51D450}"/>
              </a:ext>
            </a:extLst>
          </p:cNvPr>
          <p:cNvSpPr/>
          <p:nvPr/>
        </p:nvSpPr>
        <p:spPr>
          <a:xfrm>
            <a:off x="2282463" y="351074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8" name="Arrow: Up 69">
            <a:extLst>
              <a:ext uri="{FF2B5EF4-FFF2-40B4-BE49-F238E27FC236}">
                <a16:creationId xmlns:a16="http://schemas.microsoft.com/office/drawing/2014/main" xmlns="" id="{C625576E-B3B9-4A44-947F-B44ABADC4D22}"/>
              </a:ext>
            </a:extLst>
          </p:cNvPr>
          <p:cNvSpPr/>
          <p:nvPr/>
        </p:nvSpPr>
        <p:spPr>
          <a:xfrm>
            <a:off x="2484185" y="40568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89" name="Arrow: Up 70">
            <a:extLst>
              <a:ext uri="{FF2B5EF4-FFF2-40B4-BE49-F238E27FC236}">
                <a16:creationId xmlns:a16="http://schemas.microsoft.com/office/drawing/2014/main" xmlns="" id="{7B54DDFD-8801-4492-BAA3-B3054121AA5E}"/>
              </a:ext>
            </a:extLst>
          </p:cNvPr>
          <p:cNvSpPr/>
          <p:nvPr/>
        </p:nvSpPr>
        <p:spPr>
          <a:xfrm>
            <a:off x="2332899" y="466298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0" name="Arrow: Up 71">
            <a:extLst>
              <a:ext uri="{FF2B5EF4-FFF2-40B4-BE49-F238E27FC236}">
                <a16:creationId xmlns:a16="http://schemas.microsoft.com/office/drawing/2014/main" xmlns="" id="{F5B64205-5683-4979-8527-406AAAA0CBF2}"/>
              </a:ext>
            </a:extLst>
          </p:cNvPr>
          <p:cNvSpPr/>
          <p:nvPr/>
        </p:nvSpPr>
        <p:spPr>
          <a:xfrm>
            <a:off x="1912386" y="349300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1" name="Arrow: Up 72">
            <a:extLst>
              <a:ext uri="{FF2B5EF4-FFF2-40B4-BE49-F238E27FC236}">
                <a16:creationId xmlns:a16="http://schemas.microsoft.com/office/drawing/2014/main" xmlns="" id="{C8DCD650-0C34-4D6F-B938-131426C237D5}"/>
              </a:ext>
            </a:extLst>
          </p:cNvPr>
          <p:cNvSpPr/>
          <p:nvPr/>
        </p:nvSpPr>
        <p:spPr>
          <a:xfrm>
            <a:off x="2058392" y="50519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2" name="Arrow: Up 73">
            <a:extLst>
              <a:ext uri="{FF2B5EF4-FFF2-40B4-BE49-F238E27FC236}">
                <a16:creationId xmlns:a16="http://schemas.microsoft.com/office/drawing/2014/main" xmlns="" id="{2B021BF5-3BB1-4D1B-84BE-F85BB54E6066}"/>
              </a:ext>
            </a:extLst>
          </p:cNvPr>
          <p:cNvSpPr/>
          <p:nvPr/>
        </p:nvSpPr>
        <p:spPr>
          <a:xfrm>
            <a:off x="1383286" y="49024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3" name="Arrow: Up 93">
            <a:extLst>
              <a:ext uri="{FF2B5EF4-FFF2-40B4-BE49-F238E27FC236}">
                <a16:creationId xmlns:a16="http://schemas.microsoft.com/office/drawing/2014/main" xmlns="" id="{A7AA328E-A917-4F92-A3C8-B5EC49E727AC}"/>
              </a:ext>
            </a:extLst>
          </p:cNvPr>
          <p:cNvSpPr/>
          <p:nvPr/>
        </p:nvSpPr>
        <p:spPr>
          <a:xfrm>
            <a:off x="1098761" y="394595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7" name="Arrow: Up 94">
            <a:extLst>
              <a:ext uri="{FF2B5EF4-FFF2-40B4-BE49-F238E27FC236}">
                <a16:creationId xmlns:a16="http://schemas.microsoft.com/office/drawing/2014/main" xmlns="" id="{FC69F0A4-2A01-4795-9307-01E0E0A7FF17}"/>
              </a:ext>
            </a:extLst>
          </p:cNvPr>
          <p:cNvSpPr/>
          <p:nvPr/>
        </p:nvSpPr>
        <p:spPr>
          <a:xfrm>
            <a:off x="2661401" y="31081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0" name="Arrow: Up 95">
            <a:extLst>
              <a:ext uri="{FF2B5EF4-FFF2-40B4-BE49-F238E27FC236}">
                <a16:creationId xmlns:a16="http://schemas.microsoft.com/office/drawing/2014/main" xmlns="" id="{FE3CEC23-C6A1-4875-A9D0-FDAA89C9668E}"/>
              </a:ext>
            </a:extLst>
          </p:cNvPr>
          <p:cNvSpPr/>
          <p:nvPr/>
        </p:nvSpPr>
        <p:spPr>
          <a:xfrm>
            <a:off x="2922592" y="382222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1" name="Arrow: Up 96">
            <a:extLst>
              <a:ext uri="{FF2B5EF4-FFF2-40B4-BE49-F238E27FC236}">
                <a16:creationId xmlns:a16="http://schemas.microsoft.com/office/drawing/2014/main" xmlns="" id="{36A72173-DE9C-47D8-90C1-F779F5C7107E}"/>
              </a:ext>
            </a:extLst>
          </p:cNvPr>
          <p:cNvSpPr/>
          <p:nvPr/>
        </p:nvSpPr>
        <p:spPr>
          <a:xfrm>
            <a:off x="2996541" y="26263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2" name="Arrow: Up 97">
            <a:extLst>
              <a:ext uri="{FF2B5EF4-FFF2-40B4-BE49-F238E27FC236}">
                <a16:creationId xmlns:a16="http://schemas.microsoft.com/office/drawing/2014/main" xmlns="" id="{6FC215B2-2463-4E8F-92CF-5AEF66A93445}"/>
              </a:ext>
            </a:extLst>
          </p:cNvPr>
          <p:cNvSpPr/>
          <p:nvPr/>
        </p:nvSpPr>
        <p:spPr>
          <a:xfrm>
            <a:off x="3280642" y="316528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3" name="Arrow: Up 98">
            <a:extLst>
              <a:ext uri="{FF2B5EF4-FFF2-40B4-BE49-F238E27FC236}">
                <a16:creationId xmlns:a16="http://schemas.microsoft.com/office/drawing/2014/main" xmlns="" id="{69081293-8914-422C-BC95-EF0FED5FC437}"/>
              </a:ext>
            </a:extLst>
          </p:cNvPr>
          <p:cNvSpPr/>
          <p:nvPr/>
        </p:nvSpPr>
        <p:spPr>
          <a:xfrm>
            <a:off x="3406064" y="249841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4" name="Arrow: Up 99">
            <a:extLst>
              <a:ext uri="{FF2B5EF4-FFF2-40B4-BE49-F238E27FC236}">
                <a16:creationId xmlns:a16="http://schemas.microsoft.com/office/drawing/2014/main" xmlns="" id="{9F645E89-DC20-4F13-9488-423081A476DB}"/>
              </a:ext>
            </a:extLst>
          </p:cNvPr>
          <p:cNvSpPr/>
          <p:nvPr/>
        </p:nvSpPr>
        <p:spPr>
          <a:xfrm>
            <a:off x="3345230" y="38564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5" name="Arrow: Up 100">
            <a:extLst>
              <a:ext uri="{FF2B5EF4-FFF2-40B4-BE49-F238E27FC236}">
                <a16:creationId xmlns:a16="http://schemas.microsoft.com/office/drawing/2014/main" xmlns="" id="{5AEEC21C-A27C-447A-A421-A61A0FE9CB28}"/>
              </a:ext>
            </a:extLst>
          </p:cNvPr>
          <p:cNvSpPr/>
          <p:nvPr/>
        </p:nvSpPr>
        <p:spPr>
          <a:xfrm>
            <a:off x="3815017" y="280151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6" name="Arrow: Up 101">
            <a:extLst>
              <a:ext uri="{FF2B5EF4-FFF2-40B4-BE49-F238E27FC236}">
                <a16:creationId xmlns:a16="http://schemas.microsoft.com/office/drawing/2014/main" xmlns="" id="{84B0DBC9-B60E-4A0F-BC4C-2994C1F769B3}"/>
              </a:ext>
            </a:extLst>
          </p:cNvPr>
          <p:cNvSpPr/>
          <p:nvPr/>
        </p:nvSpPr>
        <p:spPr>
          <a:xfrm>
            <a:off x="3496376" y="465345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7" name="Arrow: Up 102">
            <a:extLst>
              <a:ext uri="{FF2B5EF4-FFF2-40B4-BE49-F238E27FC236}">
                <a16:creationId xmlns:a16="http://schemas.microsoft.com/office/drawing/2014/main" xmlns="" id="{412A6657-C05D-4BA9-A074-12B8C79F4BA7}"/>
              </a:ext>
            </a:extLst>
          </p:cNvPr>
          <p:cNvSpPr/>
          <p:nvPr/>
        </p:nvSpPr>
        <p:spPr>
          <a:xfrm>
            <a:off x="2832803" y="46493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8" name="Arrow: Up 103">
            <a:extLst>
              <a:ext uri="{FF2B5EF4-FFF2-40B4-BE49-F238E27FC236}">
                <a16:creationId xmlns:a16="http://schemas.microsoft.com/office/drawing/2014/main" xmlns="" id="{AE9034D6-4304-40E9-A17E-A7D718A8143D}"/>
              </a:ext>
            </a:extLst>
          </p:cNvPr>
          <p:cNvSpPr/>
          <p:nvPr/>
        </p:nvSpPr>
        <p:spPr>
          <a:xfrm>
            <a:off x="3786276" y="344082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49" name="Arrow: Up 104">
            <a:extLst>
              <a:ext uri="{FF2B5EF4-FFF2-40B4-BE49-F238E27FC236}">
                <a16:creationId xmlns:a16="http://schemas.microsoft.com/office/drawing/2014/main" xmlns="" id="{265785A4-17AC-4526-859E-D81D5F40F3E9}"/>
              </a:ext>
            </a:extLst>
          </p:cNvPr>
          <p:cNvSpPr/>
          <p:nvPr/>
        </p:nvSpPr>
        <p:spPr>
          <a:xfrm>
            <a:off x="4191564" y="327932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0" name="Arrow: Up 105">
            <a:extLst>
              <a:ext uri="{FF2B5EF4-FFF2-40B4-BE49-F238E27FC236}">
                <a16:creationId xmlns:a16="http://schemas.microsoft.com/office/drawing/2014/main" xmlns="" id="{FCC75C35-2930-4CFF-BC01-5B31F2518EC3}"/>
              </a:ext>
            </a:extLst>
          </p:cNvPr>
          <p:cNvSpPr/>
          <p:nvPr/>
        </p:nvSpPr>
        <p:spPr>
          <a:xfrm>
            <a:off x="4048982" y="395295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1" name="Arrow: Up 107">
            <a:extLst>
              <a:ext uri="{FF2B5EF4-FFF2-40B4-BE49-F238E27FC236}">
                <a16:creationId xmlns:a16="http://schemas.microsoft.com/office/drawing/2014/main" xmlns="" id="{5853CF76-3B79-4C6C-8D2B-1F63A85BA664}"/>
              </a:ext>
            </a:extLst>
          </p:cNvPr>
          <p:cNvSpPr/>
          <p:nvPr/>
        </p:nvSpPr>
        <p:spPr>
          <a:xfrm>
            <a:off x="3702980" y="423784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2" name="Arrow: Up 108">
            <a:extLst>
              <a:ext uri="{FF2B5EF4-FFF2-40B4-BE49-F238E27FC236}">
                <a16:creationId xmlns:a16="http://schemas.microsoft.com/office/drawing/2014/main" xmlns="" id="{F68D9020-86F0-4012-BE4D-B95C71AB746D}"/>
              </a:ext>
            </a:extLst>
          </p:cNvPr>
          <p:cNvSpPr/>
          <p:nvPr/>
        </p:nvSpPr>
        <p:spPr>
          <a:xfrm>
            <a:off x="3131557" y="450796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8344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2"/>
                <a:ext cx="10515600" cy="4598373"/>
              </a:xfrm>
            </p:spPr>
            <p:txBody>
              <a:bodyPr>
                <a:normAutofit/>
              </a:bodyPr>
              <a:lstStyle/>
              <a:p>
                <a:pPr marL="1371600" lvl="3" indent="0">
                  <a:buNone/>
                </a:pPr>
                <a:r>
                  <a:rPr lang="en-US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</a:t>
                </a:r>
                <a:r>
                  <a:rPr lang="en-US" sz="2000" dirty="0"/>
                  <a:t>In </a:t>
                </a:r>
                <a:r>
                  <a:rPr lang="en-US" sz="2000" dirty="0"/>
                  <a:t>the </a:t>
                </a:r>
                <a:r>
                  <a:rPr lang="en-US" sz="2000" u="sng" dirty="0"/>
                  <a:t>presence</a:t>
                </a:r>
                <a:r>
                  <a:rPr lang="en-US" sz="2000" dirty="0"/>
                  <a:t> of </a:t>
                </a:r>
                <a:r>
                  <a:rPr lang="en-US" sz="2000" dirty="0">
                    <a:solidFill>
                      <a:srgbClr val="FF0000"/>
                    </a:solidFill>
                  </a:rPr>
                  <a:t>random fields</a:t>
                </a:r>
                <a:r>
                  <a:rPr lang="en-US" sz="2000" dirty="0"/>
                  <a:t>,</a:t>
                </a:r>
                <a:endParaRPr lang="en-US" sz="2000" dirty="0"/>
              </a:p>
              <a:p>
                <a:pPr marL="1371600" lvl="3" indent="0">
                  <a:buNone/>
                </a:pPr>
                <a:r>
                  <a:rPr lang="en-US" sz="2000" dirty="0"/>
                  <a:t>			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i="1"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</m:e>
                    </m:nary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charset="0"/>
                              </a:rPr>
                              <m:t>𝑍</m:t>
                            </m:r>
                          </m:sup>
                        </m:sSubSup>
                      </m:e>
                    </m:nary>
                  </m:oMath>
                </a14:m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long range order is destroyed if,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</a:t>
                </a:r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This makes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𝑑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=2</m:t>
                    </m:r>
                  </m:oMath>
                </a14:m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the lower</a:t>
                </a: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critical dimension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discrete </a:t>
                </a:r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symmetries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2"/>
                <a:ext cx="10515600" cy="4598373"/>
              </a:xfrm>
              <a:blipFill rotWithShape="0">
                <a:blip r:embed="rId2"/>
                <a:stretch>
                  <a:fillRect t="-3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xmlns="" id="{97771BAB-D58B-4263-8C32-E841ECD1E17B}"/>
                  </a:ext>
                </a:extLst>
              </p14:cNvPr>
              <p14:cNvContentPartPr/>
              <p14:nvPr/>
            </p14:nvContentPartPr>
            <p14:xfrm>
              <a:off x="797456" y="2425247"/>
              <a:ext cx="3687840" cy="308268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97771BAB-D58B-4263-8C32-E841ECD1E17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8456" y="2416247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Arrow: Up 57">
            <a:extLst>
              <a:ext uri="{FF2B5EF4-FFF2-40B4-BE49-F238E27FC236}">
                <a16:creationId xmlns:a16="http://schemas.microsoft.com/office/drawing/2014/main" xmlns="" id="{2FF3984E-711F-4105-B95E-A9A2D638487F}"/>
              </a:ext>
            </a:extLst>
          </p:cNvPr>
          <p:cNvSpPr/>
          <p:nvPr/>
        </p:nvSpPr>
        <p:spPr>
          <a:xfrm>
            <a:off x="1405346" y="417439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5" name="Arrow: Up 64">
            <a:extLst>
              <a:ext uri="{FF2B5EF4-FFF2-40B4-BE49-F238E27FC236}">
                <a16:creationId xmlns:a16="http://schemas.microsoft.com/office/drawing/2014/main" xmlns="" id="{6BFFCD81-F949-447A-9FC9-DF88BD70E345}"/>
              </a:ext>
            </a:extLst>
          </p:cNvPr>
          <p:cNvSpPr/>
          <p:nvPr/>
        </p:nvSpPr>
        <p:spPr>
          <a:xfrm>
            <a:off x="1697667" y="39263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6" name="Arrow: Up 65">
            <a:extLst>
              <a:ext uri="{FF2B5EF4-FFF2-40B4-BE49-F238E27FC236}">
                <a16:creationId xmlns:a16="http://schemas.microsoft.com/office/drawing/2014/main" xmlns="" id="{7EA4C78D-BBD3-4473-B424-587F794FACF0}"/>
              </a:ext>
            </a:extLst>
          </p:cNvPr>
          <p:cNvSpPr/>
          <p:nvPr/>
        </p:nvSpPr>
        <p:spPr>
          <a:xfrm>
            <a:off x="2013236" y="426470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7" name="Arrow: Up 66">
            <a:extLst>
              <a:ext uri="{FF2B5EF4-FFF2-40B4-BE49-F238E27FC236}">
                <a16:creationId xmlns:a16="http://schemas.microsoft.com/office/drawing/2014/main" xmlns="" id="{5211C9B3-90B9-4631-A80A-82C7B392F580}"/>
              </a:ext>
            </a:extLst>
          </p:cNvPr>
          <p:cNvSpPr/>
          <p:nvPr/>
        </p:nvSpPr>
        <p:spPr>
          <a:xfrm>
            <a:off x="1697667" y="469462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8" name="Arrow: Up 67">
            <a:extLst>
              <a:ext uri="{FF2B5EF4-FFF2-40B4-BE49-F238E27FC236}">
                <a16:creationId xmlns:a16="http://schemas.microsoft.com/office/drawing/2014/main" xmlns="" id="{17A866B3-5F14-458E-94AD-26019B9F9B7D}"/>
              </a:ext>
            </a:extLst>
          </p:cNvPr>
          <p:cNvSpPr/>
          <p:nvPr/>
        </p:nvSpPr>
        <p:spPr>
          <a:xfrm>
            <a:off x="1090371" y="465345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9" name="Arrow: Up 68">
            <a:extLst>
              <a:ext uri="{FF2B5EF4-FFF2-40B4-BE49-F238E27FC236}">
                <a16:creationId xmlns:a16="http://schemas.microsoft.com/office/drawing/2014/main" xmlns="" id="{6533292F-F228-4759-A51D-42E5BB51D450}"/>
              </a:ext>
            </a:extLst>
          </p:cNvPr>
          <p:cNvSpPr/>
          <p:nvPr/>
        </p:nvSpPr>
        <p:spPr>
          <a:xfrm>
            <a:off x="2282463" y="351074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0" name="Arrow: Up 69">
            <a:extLst>
              <a:ext uri="{FF2B5EF4-FFF2-40B4-BE49-F238E27FC236}">
                <a16:creationId xmlns:a16="http://schemas.microsoft.com/office/drawing/2014/main" xmlns="" id="{C625576E-B3B9-4A44-947F-B44ABADC4D22}"/>
              </a:ext>
            </a:extLst>
          </p:cNvPr>
          <p:cNvSpPr/>
          <p:nvPr/>
        </p:nvSpPr>
        <p:spPr>
          <a:xfrm>
            <a:off x="2484185" y="40568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1" name="Arrow: Up 70">
            <a:extLst>
              <a:ext uri="{FF2B5EF4-FFF2-40B4-BE49-F238E27FC236}">
                <a16:creationId xmlns:a16="http://schemas.microsoft.com/office/drawing/2014/main" xmlns="" id="{7B54DDFD-8801-4492-BAA3-B3054121AA5E}"/>
              </a:ext>
            </a:extLst>
          </p:cNvPr>
          <p:cNvSpPr/>
          <p:nvPr/>
        </p:nvSpPr>
        <p:spPr>
          <a:xfrm>
            <a:off x="2332899" y="466298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2" name="Arrow: Up 71">
            <a:extLst>
              <a:ext uri="{FF2B5EF4-FFF2-40B4-BE49-F238E27FC236}">
                <a16:creationId xmlns:a16="http://schemas.microsoft.com/office/drawing/2014/main" xmlns="" id="{F5B64205-5683-4979-8527-406AAAA0CBF2}"/>
              </a:ext>
            </a:extLst>
          </p:cNvPr>
          <p:cNvSpPr/>
          <p:nvPr/>
        </p:nvSpPr>
        <p:spPr>
          <a:xfrm>
            <a:off x="1912386" y="349300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3" name="Arrow: Up 72">
            <a:extLst>
              <a:ext uri="{FF2B5EF4-FFF2-40B4-BE49-F238E27FC236}">
                <a16:creationId xmlns:a16="http://schemas.microsoft.com/office/drawing/2014/main" xmlns="" id="{C8DCD650-0C34-4D6F-B938-131426C237D5}"/>
              </a:ext>
            </a:extLst>
          </p:cNvPr>
          <p:cNvSpPr/>
          <p:nvPr/>
        </p:nvSpPr>
        <p:spPr>
          <a:xfrm>
            <a:off x="2058392" y="505194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4" name="Arrow: Up 73">
            <a:extLst>
              <a:ext uri="{FF2B5EF4-FFF2-40B4-BE49-F238E27FC236}">
                <a16:creationId xmlns:a16="http://schemas.microsoft.com/office/drawing/2014/main" xmlns="" id="{2B021BF5-3BB1-4D1B-84BE-F85BB54E6066}"/>
              </a:ext>
            </a:extLst>
          </p:cNvPr>
          <p:cNvSpPr/>
          <p:nvPr/>
        </p:nvSpPr>
        <p:spPr>
          <a:xfrm>
            <a:off x="1383286" y="49024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4" name="Arrow: Up 93">
            <a:extLst>
              <a:ext uri="{FF2B5EF4-FFF2-40B4-BE49-F238E27FC236}">
                <a16:creationId xmlns:a16="http://schemas.microsoft.com/office/drawing/2014/main" xmlns="" id="{A7AA328E-A917-4F92-A3C8-B5EC49E727AC}"/>
              </a:ext>
            </a:extLst>
          </p:cNvPr>
          <p:cNvSpPr/>
          <p:nvPr/>
        </p:nvSpPr>
        <p:spPr>
          <a:xfrm>
            <a:off x="1098761" y="394595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5" name="Arrow: Up 94">
            <a:extLst>
              <a:ext uri="{FF2B5EF4-FFF2-40B4-BE49-F238E27FC236}">
                <a16:creationId xmlns:a16="http://schemas.microsoft.com/office/drawing/2014/main" xmlns="" id="{FC69F0A4-2A01-4795-9307-01E0E0A7FF17}"/>
              </a:ext>
            </a:extLst>
          </p:cNvPr>
          <p:cNvSpPr/>
          <p:nvPr/>
        </p:nvSpPr>
        <p:spPr>
          <a:xfrm>
            <a:off x="2661401" y="31081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6" name="Arrow: Up 95">
            <a:extLst>
              <a:ext uri="{FF2B5EF4-FFF2-40B4-BE49-F238E27FC236}">
                <a16:creationId xmlns:a16="http://schemas.microsoft.com/office/drawing/2014/main" xmlns="" id="{FE3CEC23-C6A1-4875-A9D0-FDAA89C9668E}"/>
              </a:ext>
            </a:extLst>
          </p:cNvPr>
          <p:cNvSpPr/>
          <p:nvPr/>
        </p:nvSpPr>
        <p:spPr>
          <a:xfrm>
            <a:off x="2922592" y="382222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7" name="Arrow: Up 96">
            <a:extLst>
              <a:ext uri="{FF2B5EF4-FFF2-40B4-BE49-F238E27FC236}">
                <a16:creationId xmlns:a16="http://schemas.microsoft.com/office/drawing/2014/main" xmlns="" id="{36A72173-DE9C-47D8-90C1-F779F5C7107E}"/>
              </a:ext>
            </a:extLst>
          </p:cNvPr>
          <p:cNvSpPr/>
          <p:nvPr/>
        </p:nvSpPr>
        <p:spPr>
          <a:xfrm>
            <a:off x="2996541" y="26263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8" name="Arrow: Up 97">
            <a:extLst>
              <a:ext uri="{FF2B5EF4-FFF2-40B4-BE49-F238E27FC236}">
                <a16:creationId xmlns:a16="http://schemas.microsoft.com/office/drawing/2014/main" xmlns="" id="{6FC215B2-2463-4E8F-92CF-5AEF66A93445}"/>
              </a:ext>
            </a:extLst>
          </p:cNvPr>
          <p:cNvSpPr/>
          <p:nvPr/>
        </p:nvSpPr>
        <p:spPr>
          <a:xfrm>
            <a:off x="3280642" y="316528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99" name="Arrow: Up 98">
            <a:extLst>
              <a:ext uri="{FF2B5EF4-FFF2-40B4-BE49-F238E27FC236}">
                <a16:creationId xmlns:a16="http://schemas.microsoft.com/office/drawing/2014/main" xmlns="" id="{69081293-8914-422C-BC95-EF0FED5FC437}"/>
              </a:ext>
            </a:extLst>
          </p:cNvPr>
          <p:cNvSpPr/>
          <p:nvPr/>
        </p:nvSpPr>
        <p:spPr>
          <a:xfrm>
            <a:off x="3406064" y="249841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xmlns="" id="{9F645E89-DC20-4F13-9488-423081A476DB}"/>
              </a:ext>
            </a:extLst>
          </p:cNvPr>
          <p:cNvSpPr/>
          <p:nvPr/>
        </p:nvSpPr>
        <p:spPr>
          <a:xfrm>
            <a:off x="3345230" y="38564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1" name="Arrow: Up 100">
            <a:extLst>
              <a:ext uri="{FF2B5EF4-FFF2-40B4-BE49-F238E27FC236}">
                <a16:creationId xmlns:a16="http://schemas.microsoft.com/office/drawing/2014/main" xmlns="" id="{5AEEC21C-A27C-447A-A421-A61A0FE9CB28}"/>
              </a:ext>
            </a:extLst>
          </p:cNvPr>
          <p:cNvSpPr/>
          <p:nvPr/>
        </p:nvSpPr>
        <p:spPr>
          <a:xfrm>
            <a:off x="3815017" y="280151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2" name="Arrow: Up 101">
            <a:extLst>
              <a:ext uri="{FF2B5EF4-FFF2-40B4-BE49-F238E27FC236}">
                <a16:creationId xmlns:a16="http://schemas.microsoft.com/office/drawing/2014/main" xmlns="" id="{84B0DBC9-B60E-4A0F-BC4C-2994C1F769B3}"/>
              </a:ext>
            </a:extLst>
          </p:cNvPr>
          <p:cNvSpPr/>
          <p:nvPr/>
        </p:nvSpPr>
        <p:spPr>
          <a:xfrm>
            <a:off x="3496376" y="465345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xmlns="" id="{412A6657-C05D-4BA9-A074-12B8C79F4BA7}"/>
              </a:ext>
            </a:extLst>
          </p:cNvPr>
          <p:cNvSpPr/>
          <p:nvPr/>
        </p:nvSpPr>
        <p:spPr>
          <a:xfrm>
            <a:off x="2832803" y="46493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4" name="Arrow: Up 103">
            <a:extLst>
              <a:ext uri="{FF2B5EF4-FFF2-40B4-BE49-F238E27FC236}">
                <a16:creationId xmlns:a16="http://schemas.microsoft.com/office/drawing/2014/main" xmlns="" id="{AE9034D6-4304-40E9-A17E-A7D718A8143D}"/>
              </a:ext>
            </a:extLst>
          </p:cNvPr>
          <p:cNvSpPr/>
          <p:nvPr/>
        </p:nvSpPr>
        <p:spPr>
          <a:xfrm>
            <a:off x="3786276" y="344082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5" name="Arrow: Up 104">
            <a:extLst>
              <a:ext uri="{FF2B5EF4-FFF2-40B4-BE49-F238E27FC236}">
                <a16:creationId xmlns:a16="http://schemas.microsoft.com/office/drawing/2014/main" xmlns="" id="{265785A4-17AC-4526-859E-D81D5F40F3E9}"/>
              </a:ext>
            </a:extLst>
          </p:cNvPr>
          <p:cNvSpPr/>
          <p:nvPr/>
        </p:nvSpPr>
        <p:spPr>
          <a:xfrm>
            <a:off x="4191564" y="327932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6" name="Arrow: Up 105">
            <a:extLst>
              <a:ext uri="{FF2B5EF4-FFF2-40B4-BE49-F238E27FC236}">
                <a16:creationId xmlns:a16="http://schemas.microsoft.com/office/drawing/2014/main" xmlns="" id="{FCC75C35-2930-4CFF-BC01-5B31F2518EC3}"/>
              </a:ext>
            </a:extLst>
          </p:cNvPr>
          <p:cNvSpPr/>
          <p:nvPr/>
        </p:nvSpPr>
        <p:spPr>
          <a:xfrm>
            <a:off x="4048982" y="395295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8" name="Arrow: Up 107">
            <a:extLst>
              <a:ext uri="{FF2B5EF4-FFF2-40B4-BE49-F238E27FC236}">
                <a16:creationId xmlns:a16="http://schemas.microsoft.com/office/drawing/2014/main" xmlns="" id="{5853CF76-3B79-4C6C-8D2B-1F63A85BA664}"/>
              </a:ext>
            </a:extLst>
          </p:cNvPr>
          <p:cNvSpPr/>
          <p:nvPr/>
        </p:nvSpPr>
        <p:spPr>
          <a:xfrm>
            <a:off x="3702980" y="423784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09" name="Arrow: Up 108">
            <a:extLst>
              <a:ext uri="{FF2B5EF4-FFF2-40B4-BE49-F238E27FC236}">
                <a16:creationId xmlns:a16="http://schemas.microsoft.com/office/drawing/2014/main" xmlns="" id="{F68D9020-86F0-4012-BE4D-B95C71AB746D}"/>
              </a:ext>
            </a:extLst>
          </p:cNvPr>
          <p:cNvSpPr/>
          <p:nvPr/>
        </p:nvSpPr>
        <p:spPr>
          <a:xfrm>
            <a:off x="3131557" y="450796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xmlns="" id="{1A69842A-636F-4219-99B9-10133EDDD055}"/>
                  </a:ext>
                </a:extLst>
              </p14:cNvPr>
              <p14:cNvContentPartPr/>
              <p14:nvPr/>
            </p14:nvContentPartPr>
            <p14:xfrm>
              <a:off x="8190837" y="2206893"/>
              <a:ext cx="3687840" cy="308268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A69842A-636F-4219-99B9-10133EDDD0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81837" y="2197893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xmlns="" id="{738492BE-6664-4115-AF95-9CAF0B0BD45D}"/>
              </a:ext>
            </a:extLst>
          </p:cNvPr>
          <p:cNvSpPr/>
          <p:nvPr/>
        </p:nvSpPr>
        <p:spPr>
          <a:xfrm>
            <a:off x="8798727" y="39560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xmlns="" id="{D0C69F45-DE95-48B8-A5BC-92FBA339B664}"/>
              </a:ext>
            </a:extLst>
          </p:cNvPr>
          <p:cNvSpPr/>
          <p:nvPr/>
        </p:nvSpPr>
        <p:spPr>
          <a:xfrm>
            <a:off x="9091048" y="370800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xmlns="" id="{FC28C6C9-7844-428A-9F0A-F0C8C1B6B679}"/>
              </a:ext>
            </a:extLst>
          </p:cNvPr>
          <p:cNvSpPr/>
          <p:nvPr/>
        </p:nvSpPr>
        <p:spPr>
          <a:xfrm>
            <a:off x="9406617" y="40463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xmlns="" id="{F48582DC-98FF-4BBB-A1BB-99BD1106CDDB}"/>
              </a:ext>
            </a:extLst>
          </p:cNvPr>
          <p:cNvSpPr/>
          <p:nvPr/>
        </p:nvSpPr>
        <p:spPr>
          <a:xfrm>
            <a:off x="9091048" y="447627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xmlns="" id="{BD6411CF-E1AE-42E4-B798-DEE2E61C8653}"/>
              </a:ext>
            </a:extLst>
          </p:cNvPr>
          <p:cNvSpPr/>
          <p:nvPr/>
        </p:nvSpPr>
        <p:spPr>
          <a:xfrm>
            <a:off x="8483752" y="443509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xmlns="" id="{AE44546A-9CBC-427E-8155-E6FFC93BA7BC}"/>
              </a:ext>
            </a:extLst>
          </p:cNvPr>
          <p:cNvSpPr/>
          <p:nvPr/>
        </p:nvSpPr>
        <p:spPr>
          <a:xfrm>
            <a:off x="9675844" y="329238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xmlns="" id="{DC5CDFE4-37A8-4FB6-8AA4-4AF02F1F1B11}"/>
              </a:ext>
            </a:extLst>
          </p:cNvPr>
          <p:cNvSpPr/>
          <p:nvPr/>
        </p:nvSpPr>
        <p:spPr>
          <a:xfrm>
            <a:off x="9877566" y="383854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xmlns="" id="{D0F29C16-F0AB-4D1C-9668-63F2FFD5D13C}"/>
              </a:ext>
            </a:extLst>
          </p:cNvPr>
          <p:cNvSpPr/>
          <p:nvPr/>
        </p:nvSpPr>
        <p:spPr>
          <a:xfrm>
            <a:off x="9726280" y="444462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xmlns="" id="{202EE75C-8EF8-40E1-9B18-F0EC8E1445A0}"/>
              </a:ext>
            </a:extLst>
          </p:cNvPr>
          <p:cNvSpPr/>
          <p:nvPr/>
        </p:nvSpPr>
        <p:spPr>
          <a:xfrm>
            <a:off x="9305767" y="327464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xmlns="" id="{7B6A40F5-4D6A-44A7-B828-03E6AB8F1700}"/>
              </a:ext>
            </a:extLst>
          </p:cNvPr>
          <p:cNvSpPr/>
          <p:nvPr/>
        </p:nvSpPr>
        <p:spPr>
          <a:xfrm>
            <a:off x="9451773" y="483359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xmlns="" id="{8C96379A-A3BB-47AA-8DB3-B36FD6F312E9}"/>
              </a:ext>
            </a:extLst>
          </p:cNvPr>
          <p:cNvSpPr/>
          <p:nvPr/>
        </p:nvSpPr>
        <p:spPr>
          <a:xfrm>
            <a:off x="8776667" y="468408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xmlns="" id="{C284C0BB-CAF8-4ED9-9B43-2B688B65F331}"/>
              </a:ext>
            </a:extLst>
          </p:cNvPr>
          <p:cNvSpPr/>
          <p:nvPr/>
        </p:nvSpPr>
        <p:spPr>
          <a:xfrm>
            <a:off x="8492142" y="372759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xmlns="" id="{C8E8F6E2-1744-457F-9A0A-9610F3218DA2}"/>
              </a:ext>
            </a:extLst>
          </p:cNvPr>
          <p:cNvSpPr/>
          <p:nvPr/>
        </p:nvSpPr>
        <p:spPr>
          <a:xfrm rot="10800000">
            <a:off x="10055273" y="292704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xmlns="" id="{60C3ED97-FDBD-4354-A27A-4F75CCDF2421}"/>
              </a:ext>
            </a:extLst>
          </p:cNvPr>
          <p:cNvSpPr/>
          <p:nvPr/>
        </p:nvSpPr>
        <p:spPr>
          <a:xfrm rot="10800000">
            <a:off x="10315839" y="360941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xmlns="" id="{2A9B9A13-ADC0-4961-9C5C-06CCC5FC2F53}"/>
              </a:ext>
            </a:extLst>
          </p:cNvPr>
          <p:cNvSpPr/>
          <p:nvPr/>
        </p:nvSpPr>
        <p:spPr>
          <a:xfrm rot="10800000">
            <a:off x="10360995" y="242163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xmlns="" id="{94A621BC-5358-47E1-BADA-96951D68E391}"/>
              </a:ext>
            </a:extLst>
          </p:cNvPr>
          <p:cNvSpPr/>
          <p:nvPr/>
        </p:nvSpPr>
        <p:spPr>
          <a:xfrm rot="10800000">
            <a:off x="10674023" y="294692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xmlns="" id="{ABD504C6-D6C9-439A-A5F0-30FD600A4037}"/>
              </a:ext>
            </a:extLst>
          </p:cNvPr>
          <p:cNvSpPr/>
          <p:nvPr/>
        </p:nvSpPr>
        <p:spPr>
          <a:xfrm rot="10800000">
            <a:off x="10799445" y="228006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xmlns="" id="{B85E7EA0-1E82-42C9-B062-46371515AF92}"/>
              </a:ext>
            </a:extLst>
          </p:cNvPr>
          <p:cNvSpPr/>
          <p:nvPr/>
        </p:nvSpPr>
        <p:spPr>
          <a:xfrm rot="10800000">
            <a:off x="10738611" y="363807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xmlns="" id="{40C537BF-8B4B-490C-B87C-AB1CAA09E01A}"/>
              </a:ext>
            </a:extLst>
          </p:cNvPr>
          <p:cNvSpPr/>
          <p:nvPr/>
        </p:nvSpPr>
        <p:spPr>
          <a:xfrm rot="10800000">
            <a:off x="11208398" y="25831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xmlns="" id="{2A3CB386-DE06-42D4-9932-1395F9D3E036}"/>
              </a:ext>
            </a:extLst>
          </p:cNvPr>
          <p:cNvSpPr/>
          <p:nvPr/>
        </p:nvSpPr>
        <p:spPr>
          <a:xfrm rot="10800000">
            <a:off x="10889757" y="443509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xmlns="" id="{279DF280-BAF8-4AAA-B09C-FEE9B6AE1F8B}"/>
              </a:ext>
            </a:extLst>
          </p:cNvPr>
          <p:cNvSpPr/>
          <p:nvPr/>
        </p:nvSpPr>
        <p:spPr>
          <a:xfrm rot="10800000">
            <a:off x="10250431" y="44582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xmlns="" id="{27AF68F8-0320-4AFF-8919-64790764E012}"/>
              </a:ext>
            </a:extLst>
          </p:cNvPr>
          <p:cNvSpPr/>
          <p:nvPr/>
        </p:nvSpPr>
        <p:spPr>
          <a:xfrm rot="10800000">
            <a:off x="11179657" y="32224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xmlns="" id="{3FC58D31-6BA7-4FAB-A35F-343448BC334E}"/>
              </a:ext>
            </a:extLst>
          </p:cNvPr>
          <p:cNvSpPr/>
          <p:nvPr/>
        </p:nvSpPr>
        <p:spPr>
          <a:xfrm rot="10800000">
            <a:off x="11584945" y="3060972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xmlns="" id="{523C96AD-B81D-4416-A3C6-75A3522A721B}"/>
              </a:ext>
            </a:extLst>
          </p:cNvPr>
          <p:cNvSpPr/>
          <p:nvPr/>
        </p:nvSpPr>
        <p:spPr>
          <a:xfrm rot="10800000">
            <a:off x="11442363" y="373459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xmlns="" id="{BF5A75CC-E408-4729-8BB1-D081ACDA2276}"/>
              </a:ext>
            </a:extLst>
          </p:cNvPr>
          <p:cNvSpPr/>
          <p:nvPr/>
        </p:nvSpPr>
        <p:spPr>
          <a:xfrm rot="10800000">
            <a:off x="11096361" y="401948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xmlns="" id="{25A6FB02-8DE6-4FC8-9868-B3BC6DD2F3F7}"/>
              </a:ext>
            </a:extLst>
          </p:cNvPr>
          <p:cNvSpPr/>
          <p:nvPr/>
        </p:nvSpPr>
        <p:spPr>
          <a:xfrm rot="10800000">
            <a:off x="10524938" y="42896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xmlns="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285437" y="3526013"/>
                <a:ext cx="2140683" cy="15677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⟹</m:t>
                      </m:r>
                      <m:r>
                        <a:rPr lang="en-US" b="0" i="1" smtClean="0">
                          <a:latin typeface="Cambria Math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⟹</m:t>
                      </m:r>
                      <m:r>
                        <a:rPr lang="en-US" b="0" i="1" smtClean="0">
                          <a:latin typeface="Cambria Math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r>
                  <a:rPr lang="en-US" dirty="0">
                    <a:ea typeface="Cambria Math" panose="02040503050406030204" pitchFamily="18" charset="0"/>
                  </a:rPr>
                  <a:t/>
                </a:r>
                <a:br>
                  <a:rPr lang="en-US" dirty="0">
                    <a:ea typeface="Cambria Math" panose="02040503050406030204" pitchFamily="18" charset="0"/>
                  </a:rPr>
                </a:br>
                <a:endParaRPr lang="x-none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437" y="3526013"/>
                <a:ext cx="2140683" cy="15677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6A4D84A-1A13-485C-9AE3-D0C4103BA756}"/>
              </a:ext>
            </a:extLst>
          </p:cNvPr>
          <p:cNvSpPr txBox="1"/>
          <p:nvPr/>
        </p:nvSpPr>
        <p:spPr>
          <a:xfrm>
            <a:off x="9542085" y="5289765"/>
            <a:ext cx="1493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Favoured</a:t>
            </a:r>
            <a:r>
              <a:rPr lang="en-US" sz="2400" dirty="0"/>
              <a:t>!</a:t>
            </a:r>
            <a:endParaRPr lang="x-none" sz="24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xmlns="" id="{C143E3E0-E5AF-4DCA-8D45-ABF1F63F708D}"/>
              </a:ext>
            </a:extLst>
          </p:cNvPr>
          <p:cNvSpPr/>
          <p:nvPr/>
        </p:nvSpPr>
        <p:spPr>
          <a:xfrm>
            <a:off x="5755217" y="5463554"/>
            <a:ext cx="657835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3" name="TextBox 62"/>
          <p:cNvSpPr txBox="1"/>
          <p:nvPr/>
        </p:nvSpPr>
        <p:spPr>
          <a:xfrm>
            <a:off x="7419654" y="6105226"/>
            <a:ext cx="47938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Y.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S.-k. Ma, Phys. Rev.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Lett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35, 1399 (1975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G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Grinstein and Shang-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keng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Ma, Phys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Rev.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Lett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 49,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685 (1982)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1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/>
              <a:t>Random fields and the </a:t>
            </a:r>
            <a:r>
              <a:rPr lang="en-US" sz="3600" dirty="0" err="1"/>
              <a:t>Imry</a:t>
            </a:r>
            <a:r>
              <a:rPr lang="en-US" sz="3600" dirty="0"/>
              <a:t>-Ma criterion</a:t>
            </a:r>
            <a:endParaRPr lang="x-none" sz="3600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7672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A </a:t>
            </a:r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simple picture with </a:t>
            </a:r>
            <a:r>
              <a:rPr lang="en-US" sz="3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Ising</a:t>
            </a:r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spins:</a:t>
            </a:r>
          </a:p>
        </p:txBody>
      </p:sp>
    </p:spTree>
    <p:extLst>
      <p:ext uri="{BB962C8B-B14F-4D97-AF65-F5344CB8AC3E}">
        <p14:creationId xmlns:p14="http://schemas.microsoft.com/office/powerpoint/2010/main" val="1040824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xmlns:a14="http://schemas.microsoft.com/office/drawing/2010/main" xmlns:mc="http://schemas.openxmlformats.org/markup-compatibility/2006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2"/>
            <a:ext cx="10515600" cy="4598373"/>
          </a:xfrm>
        </p:spPr>
        <p:txBody>
          <a:bodyPr>
            <a:normAutofit/>
          </a:bodyPr>
          <a:lstStyle/>
          <a:p>
            <a:pPr marL="1371600" lvl="3" indent="0">
              <a:buNone/>
            </a:pPr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			</a:t>
            </a:r>
            <a:endParaRPr lang="en-US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xmlns="" id="{1A69842A-636F-4219-99B9-10133EDDD055}"/>
                  </a:ext>
                </a:extLst>
              </p14:cNvPr>
              <p14:cNvContentPartPr/>
              <p14:nvPr/>
            </p14:nvContentPartPr>
            <p14:xfrm>
              <a:off x="837990" y="2380874"/>
              <a:ext cx="3687840" cy="308268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A69842A-636F-4219-99B9-10133EDDD0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8990" y="2371874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11" name="Arrow: Up 110">
            <a:extLst>
              <a:ext uri="{FF2B5EF4-FFF2-40B4-BE49-F238E27FC236}">
                <a16:creationId xmlns:a16="http://schemas.microsoft.com/office/drawing/2014/main" xmlns="" id="{738492BE-6664-4115-AF95-9CAF0B0BD45D}"/>
              </a:ext>
            </a:extLst>
          </p:cNvPr>
          <p:cNvSpPr/>
          <p:nvPr/>
        </p:nvSpPr>
        <p:spPr>
          <a:xfrm>
            <a:off x="1445880" y="413002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2" name="Arrow: Up 111">
            <a:extLst>
              <a:ext uri="{FF2B5EF4-FFF2-40B4-BE49-F238E27FC236}">
                <a16:creationId xmlns:a16="http://schemas.microsoft.com/office/drawing/2014/main" xmlns="" id="{D0C69F45-DE95-48B8-A5BC-92FBA339B664}"/>
              </a:ext>
            </a:extLst>
          </p:cNvPr>
          <p:cNvSpPr/>
          <p:nvPr/>
        </p:nvSpPr>
        <p:spPr>
          <a:xfrm>
            <a:off x="1738201" y="388198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3" name="Arrow: Up 112">
            <a:extLst>
              <a:ext uri="{FF2B5EF4-FFF2-40B4-BE49-F238E27FC236}">
                <a16:creationId xmlns:a16="http://schemas.microsoft.com/office/drawing/2014/main" xmlns="" id="{FC28C6C9-7844-428A-9F0A-F0C8C1B6B679}"/>
              </a:ext>
            </a:extLst>
          </p:cNvPr>
          <p:cNvSpPr/>
          <p:nvPr/>
        </p:nvSpPr>
        <p:spPr>
          <a:xfrm>
            <a:off x="2053770" y="4220332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4" name="Arrow: Up 113">
            <a:extLst>
              <a:ext uri="{FF2B5EF4-FFF2-40B4-BE49-F238E27FC236}">
                <a16:creationId xmlns:a16="http://schemas.microsoft.com/office/drawing/2014/main" xmlns="" id="{F48582DC-98FF-4BBB-A1BB-99BD1106CDDB}"/>
              </a:ext>
            </a:extLst>
          </p:cNvPr>
          <p:cNvSpPr/>
          <p:nvPr/>
        </p:nvSpPr>
        <p:spPr>
          <a:xfrm>
            <a:off x="1738201" y="46502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5" name="Arrow: Up 114">
            <a:extLst>
              <a:ext uri="{FF2B5EF4-FFF2-40B4-BE49-F238E27FC236}">
                <a16:creationId xmlns:a16="http://schemas.microsoft.com/office/drawing/2014/main" xmlns="" id="{BD6411CF-E1AE-42E4-B798-DEE2E61C8653}"/>
              </a:ext>
            </a:extLst>
          </p:cNvPr>
          <p:cNvSpPr/>
          <p:nvPr/>
        </p:nvSpPr>
        <p:spPr>
          <a:xfrm>
            <a:off x="1130905" y="460908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6" name="Arrow: Up 115">
            <a:extLst>
              <a:ext uri="{FF2B5EF4-FFF2-40B4-BE49-F238E27FC236}">
                <a16:creationId xmlns:a16="http://schemas.microsoft.com/office/drawing/2014/main" xmlns="" id="{AE44546A-9CBC-427E-8155-E6FFC93BA7BC}"/>
              </a:ext>
            </a:extLst>
          </p:cNvPr>
          <p:cNvSpPr/>
          <p:nvPr/>
        </p:nvSpPr>
        <p:spPr>
          <a:xfrm>
            <a:off x="2679001" y="310003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7" name="Arrow: Up 116">
            <a:extLst>
              <a:ext uri="{FF2B5EF4-FFF2-40B4-BE49-F238E27FC236}">
                <a16:creationId xmlns:a16="http://schemas.microsoft.com/office/drawing/2014/main" xmlns="" id="{DC5CDFE4-37A8-4FB6-8AA4-4AF02F1F1B11}"/>
              </a:ext>
            </a:extLst>
          </p:cNvPr>
          <p:cNvSpPr/>
          <p:nvPr/>
        </p:nvSpPr>
        <p:spPr>
          <a:xfrm>
            <a:off x="2524719" y="401252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8" name="Arrow: Up 117">
            <a:extLst>
              <a:ext uri="{FF2B5EF4-FFF2-40B4-BE49-F238E27FC236}">
                <a16:creationId xmlns:a16="http://schemas.microsoft.com/office/drawing/2014/main" xmlns="" id="{D0F29C16-F0AB-4D1C-9668-63F2FFD5D13C}"/>
              </a:ext>
            </a:extLst>
          </p:cNvPr>
          <p:cNvSpPr/>
          <p:nvPr/>
        </p:nvSpPr>
        <p:spPr>
          <a:xfrm>
            <a:off x="2841223" y="459195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19" name="Arrow: Up 118">
            <a:extLst>
              <a:ext uri="{FF2B5EF4-FFF2-40B4-BE49-F238E27FC236}">
                <a16:creationId xmlns:a16="http://schemas.microsoft.com/office/drawing/2014/main" xmlns="" id="{202EE75C-8EF8-40E1-9B18-F0EC8E1445A0}"/>
              </a:ext>
            </a:extLst>
          </p:cNvPr>
          <p:cNvSpPr/>
          <p:nvPr/>
        </p:nvSpPr>
        <p:spPr>
          <a:xfrm>
            <a:off x="1952920" y="344862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0" name="Arrow: Up 119">
            <a:extLst>
              <a:ext uri="{FF2B5EF4-FFF2-40B4-BE49-F238E27FC236}">
                <a16:creationId xmlns:a16="http://schemas.microsoft.com/office/drawing/2014/main" xmlns="" id="{7B6A40F5-4D6A-44A7-B828-03E6AB8F1700}"/>
              </a:ext>
            </a:extLst>
          </p:cNvPr>
          <p:cNvSpPr/>
          <p:nvPr/>
        </p:nvSpPr>
        <p:spPr>
          <a:xfrm>
            <a:off x="2098926" y="500757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xmlns="" id="{8C96379A-A3BB-47AA-8DB3-B36FD6F312E9}"/>
              </a:ext>
            </a:extLst>
          </p:cNvPr>
          <p:cNvSpPr/>
          <p:nvPr/>
        </p:nvSpPr>
        <p:spPr>
          <a:xfrm>
            <a:off x="1423820" y="485806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2" name="Arrow: Up 121">
            <a:extLst>
              <a:ext uri="{FF2B5EF4-FFF2-40B4-BE49-F238E27FC236}">
                <a16:creationId xmlns:a16="http://schemas.microsoft.com/office/drawing/2014/main" xmlns="" id="{C284C0BB-CAF8-4ED9-9B43-2B688B65F331}"/>
              </a:ext>
            </a:extLst>
          </p:cNvPr>
          <p:cNvSpPr/>
          <p:nvPr/>
        </p:nvSpPr>
        <p:spPr>
          <a:xfrm>
            <a:off x="1139295" y="390157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3" name="Arrow: Up 122">
            <a:extLst>
              <a:ext uri="{FF2B5EF4-FFF2-40B4-BE49-F238E27FC236}">
                <a16:creationId xmlns:a16="http://schemas.microsoft.com/office/drawing/2014/main" xmlns="" id="{C8E8F6E2-1744-457F-9A0A-9610F3218DA2}"/>
              </a:ext>
            </a:extLst>
          </p:cNvPr>
          <p:cNvSpPr/>
          <p:nvPr/>
        </p:nvSpPr>
        <p:spPr>
          <a:xfrm rot="10800000">
            <a:off x="2309127" y="344275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4" name="Arrow: Up 123">
            <a:extLst>
              <a:ext uri="{FF2B5EF4-FFF2-40B4-BE49-F238E27FC236}">
                <a16:creationId xmlns:a16="http://schemas.microsoft.com/office/drawing/2014/main" xmlns="" id="{60C3ED97-FDBD-4354-A27A-4F75CCDF2421}"/>
              </a:ext>
            </a:extLst>
          </p:cNvPr>
          <p:cNvSpPr/>
          <p:nvPr/>
        </p:nvSpPr>
        <p:spPr>
          <a:xfrm rot="10800000">
            <a:off x="2962992" y="378339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5" name="Arrow: Up 124">
            <a:extLst>
              <a:ext uri="{FF2B5EF4-FFF2-40B4-BE49-F238E27FC236}">
                <a16:creationId xmlns:a16="http://schemas.microsoft.com/office/drawing/2014/main" xmlns="" id="{2A9B9A13-ADC0-4961-9C5C-06CCC5FC2F53}"/>
              </a:ext>
            </a:extLst>
          </p:cNvPr>
          <p:cNvSpPr/>
          <p:nvPr/>
        </p:nvSpPr>
        <p:spPr>
          <a:xfrm rot="10800000">
            <a:off x="3008148" y="259561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6" name="Arrow: Up 125">
            <a:extLst>
              <a:ext uri="{FF2B5EF4-FFF2-40B4-BE49-F238E27FC236}">
                <a16:creationId xmlns:a16="http://schemas.microsoft.com/office/drawing/2014/main" xmlns="" id="{94A621BC-5358-47E1-BADA-96951D68E391}"/>
              </a:ext>
            </a:extLst>
          </p:cNvPr>
          <p:cNvSpPr/>
          <p:nvPr/>
        </p:nvSpPr>
        <p:spPr>
          <a:xfrm rot="10800000">
            <a:off x="3321176" y="312090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7" name="Arrow: Up 126">
            <a:extLst>
              <a:ext uri="{FF2B5EF4-FFF2-40B4-BE49-F238E27FC236}">
                <a16:creationId xmlns:a16="http://schemas.microsoft.com/office/drawing/2014/main" xmlns="" id="{ABD504C6-D6C9-439A-A5F0-30FD600A4037}"/>
              </a:ext>
            </a:extLst>
          </p:cNvPr>
          <p:cNvSpPr/>
          <p:nvPr/>
        </p:nvSpPr>
        <p:spPr>
          <a:xfrm rot="10800000">
            <a:off x="3446598" y="245404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8" name="Arrow: Up 127">
            <a:extLst>
              <a:ext uri="{FF2B5EF4-FFF2-40B4-BE49-F238E27FC236}">
                <a16:creationId xmlns:a16="http://schemas.microsoft.com/office/drawing/2014/main" xmlns="" id="{B85E7EA0-1E82-42C9-B062-46371515AF92}"/>
              </a:ext>
            </a:extLst>
          </p:cNvPr>
          <p:cNvSpPr/>
          <p:nvPr/>
        </p:nvSpPr>
        <p:spPr>
          <a:xfrm rot="10800000">
            <a:off x="3385764" y="381205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29" name="Arrow: Up 128">
            <a:extLst>
              <a:ext uri="{FF2B5EF4-FFF2-40B4-BE49-F238E27FC236}">
                <a16:creationId xmlns:a16="http://schemas.microsoft.com/office/drawing/2014/main" xmlns="" id="{40C537BF-8B4B-490C-B87C-AB1CAA09E01A}"/>
              </a:ext>
            </a:extLst>
          </p:cNvPr>
          <p:cNvSpPr/>
          <p:nvPr/>
        </p:nvSpPr>
        <p:spPr>
          <a:xfrm rot="10800000">
            <a:off x="3855551" y="2757139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0" name="Arrow: Up 129">
            <a:extLst>
              <a:ext uri="{FF2B5EF4-FFF2-40B4-BE49-F238E27FC236}">
                <a16:creationId xmlns:a16="http://schemas.microsoft.com/office/drawing/2014/main" xmlns="" id="{2A3CB386-DE06-42D4-9932-1395F9D3E036}"/>
              </a:ext>
            </a:extLst>
          </p:cNvPr>
          <p:cNvSpPr/>
          <p:nvPr/>
        </p:nvSpPr>
        <p:spPr>
          <a:xfrm rot="10800000">
            <a:off x="3536910" y="4609080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1" name="Arrow: Up 130">
            <a:extLst>
              <a:ext uri="{FF2B5EF4-FFF2-40B4-BE49-F238E27FC236}">
                <a16:creationId xmlns:a16="http://schemas.microsoft.com/office/drawing/2014/main" xmlns="" id="{279DF280-BAF8-4AAA-B09C-FEE9B6AE1F8B}"/>
              </a:ext>
            </a:extLst>
          </p:cNvPr>
          <p:cNvSpPr/>
          <p:nvPr/>
        </p:nvSpPr>
        <p:spPr>
          <a:xfrm rot="10800000">
            <a:off x="2472619" y="463594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2" name="Arrow: Up 131">
            <a:extLst>
              <a:ext uri="{FF2B5EF4-FFF2-40B4-BE49-F238E27FC236}">
                <a16:creationId xmlns:a16="http://schemas.microsoft.com/office/drawing/2014/main" xmlns="" id="{27AF68F8-0320-4AFF-8919-64790764E012}"/>
              </a:ext>
            </a:extLst>
          </p:cNvPr>
          <p:cNvSpPr/>
          <p:nvPr/>
        </p:nvSpPr>
        <p:spPr>
          <a:xfrm rot="10800000">
            <a:off x="3826810" y="339644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3" name="Arrow: Up 132">
            <a:extLst>
              <a:ext uri="{FF2B5EF4-FFF2-40B4-BE49-F238E27FC236}">
                <a16:creationId xmlns:a16="http://schemas.microsoft.com/office/drawing/2014/main" xmlns="" id="{3FC58D31-6BA7-4FAB-A35F-343448BC334E}"/>
              </a:ext>
            </a:extLst>
          </p:cNvPr>
          <p:cNvSpPr/>
          <p:nvPr/>
        </p:nvSpPr>
        <p:spPr>
          <a:xfrm rot="10800000">
            <a:off x="4232098" y="323495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4" name="Arrow: Up 133">
            <a:extLst>
              <a:ext uri="{FF2B5EF4-FFF2-40B4-BE49-F238E27FC236}">
                <a16:creationId xmlns:a16="http://schemas.microsoft.com/office/drawing/2014/main" xmlns="" id="{523C96AD-B81D-4416-A3C6-75A3522A721B}"/>
              </a:ext>
            </a:extLst>
          </p:cNvPr>
          <p:cNvSpPr/>
          <p:nvPr/>
        </p:nvSpPr>
        <p:spPr>
          <a:xfrm rot="10800000">
            <a:off x="4089516" y="390857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5" name="Arrow: Up 134">
            <a:extLst>
              <a:ext uri="{FF2B5EF4-FFF2-40B4-BE49-F238E27FC236}">
                <a16:creationId xmlns:a16="http://schemas.microsoft.com/office/drawing/2014/main" xmlns="" id="{BF5A75CC-E408-4729-8BB1-D081ACDA2276}"/>
              </a:ext>
            </a:extLst>
          </p:cNvPr>
          <p:cNvSpPr/>
          <p:nvPr/>
        </p:nvSpPr>
        <p:spPr>
          <a:xfrm rot="10800000">
            <a:off x="3743514" y="419346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36" name="Arrow: Up 135">
            <a:extLst>
              <a:ext uri="{FF2B5EF4-FFF2-40B4-BE49-F238E27FC236}">
                <a16:creationId xmlns:a16="http://schemas.microsoft.com/office/drawing/2014/main" xmlns="" id="{25A6FB02-8DE6-4FC8-9868-B3BC6DD2F3F7}"/>
              </a:ext>
            </a:extLst>
          </p:cNvPr>
          <p:cNvSpPr/>
          <p:nvPr/>
        </p:nvSpPr>
        <p:spPr>
          <a:xfrm rot="10800000">
            <a:off x="3172091" y="446358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3" name="TextBox 62"/>
          <p:cNvSpPr txBox="1"/>
          <p:nvPr/>
        </p:nvSpPr>
        <p:spPr>
          <a:xfrm>
            <a:off x="7163613" y="6327198"/>
            <a:ext cx="4793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G. Grinstein and Shang-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keng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Ma, Phys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Rev.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Lett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 49,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685 (1982)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5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/>
              <a:t>Random fields and the </a:t>
            </a:r>
            <a:r>
              <a:rPr lang="en-US" sz="3600" dirty="0" err="1"/>
              <a:t>Imry</a:t>
            </a:r>
            <a:r>
              <a:rPr lang="en-US" sz="3600" dirty="0"/>
              <a:t>-Ma criterion</a:t>
            </a:r>
            <a:endParaRPr lang="x-none" sz="3600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7672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Rough domain walls: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8925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 marL="1371600" lvl="3" indent="0">
                  <a:buNone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			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</a:t>
                </a:r>
                <a:r>
                  <a:rPr lang="en-US" sz="2000" dirty="0" smtClean="0">
                    <a:solidFill>
                      <a:srgbClr val="FF0000"/>
                    </a:solidFill>
                  </a:rPr>
                  <a:t>random field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Heisenberg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model for illustration,</a:t>
                </a:r>
              </a:p>
              <a:p>
                <a:pPr marL="1371600" lvl="3" indent="0">
                  <a:buNone/>
                </a:pP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	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⟨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b="0" i="1" smtClean="0">
                                    <a:solidFill>
                                      <a:srgbClr val="FF0000"/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endParaRPr lang="en-US" sz="2000" dirty="0" smtClean="0"/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Order parameter can smoothly vary</a:t>
                </a: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between domains, costing less </a:t>
                </a: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energy</a:t>
                </a: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/>
              </a:p>
              <a:p>
                <a:pPr marL="1371600" lvl="3" indent="0"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So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lower critical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dimension </a:t>
                </a:r>
                <a:endParaRPr lang="en-US" sz="20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		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continuous </a:t>
                </a: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symmetries </a:t>
                </a: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is</a:t>
                </a:r>
                <a:r>
                  <a:rPr lang="en-US" sz="2000" dirty="0" smtClean="0"/>
                  <a:t>,</a:t>
                </a: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t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xmlns="" id="{D965DC8C-5D24-4856-9EE5-683EA53FA046}"/>
                  </a:ext>
                </a:extLst>
              </p:cNvPr>
              <p:cNvSpPr txBox="1"/>
              <p:nvPr/>
            </p:nvSpPr>
            <p:spPr>
              <a:xfrm>
                <a:off x="5022290" y="4013537"/>
                <a:ext cx="2140683" cy="12661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𝑏𝑢𝑙𝑘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/2</m:t>
                          </m:r>
                        </m:sup>
                      </m:sSup>
                    </m:oMath>
                  </m:oMathPara>
                </a14:m>
                <a:endParaRPr lang="en-US" b="0" i="1" dirty="0" smtClean="0">
                  <a:latin typeface="Cambria Math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i="1">
                              <a:latin typeface="Cambria Math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965DC8C-5D24-4856-9EE5-683EA53F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290" y="4013537"/>
                <a:ext cx="2140683" cy="126618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xmlns="" id="{36D6A4EF-FF31-4D85-9EA7-011A1C2AED8F}"/>
                  </a:ext>
                </a:extLst>
              </p14:cNvPr>
              <p14:cNvContentPartPr/>
              <p14:nvPr/>
            </p14:nvContentPartPr>
            <p14:xfrm>
              <a:off x="7797290" y="2582352"/>
              <a:ext cx="3687840" cy="30826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36D6A4EF-FF31-4D85-9EA7-011A1C2AED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88290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72" name="Arrow: Up 171">
            <a:extLst>
              <a:ext uri="{FF2B5EF4-FFF2-40B4-BE49-F238E27FC236}">
                <a16:creationId xmlns:a16="http://schemas.microsoft.com/office/drawing/2014/main" xmlns="" id="{7A00A1F6-B35F-490B-974A-FF114A009BD6}"/>
              </a:ext>
            </a:extLst>
          </p:cNvPr>
          <p:cNvSpPr/>
          <p:nvPr/>
        </p:nvSpPr>
        <p:spPr>
          <a:xfrm rot="20239931">
            <a:off x="8405180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3" name="Arrow: Up 172">
            <a:extLst>
              <a:ext uri="{FF2B5EF4-FFF2-40B4-BE49-F238E27FC236}">
                <a16:creationId xmlns:a16="http://schemas.microsoft.com/office/drawing/2014/main" xmlns="" id="{0289087C-749D-4E87-92D5-400745279345}"/>
              </a:ext>
            </a:extLst>
          </p:cNvPr>
          <p:cNvSpPr/>
          <p:nvPr/>
        </p:nvSpPr>
        <p:spPr>
          <a:xfrm>
            <a:off x="8697501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4" name="Arrow: Up 173">
            <a:extLst>
              <a:ext uri="{FF2B5EF4-FFF2-40B4-BE49-F238E27FC236}">
                <a16:creationId xmlns:a16="http://schemas.microsoft.com/office/drawing/2014/main" xmlns="" id="{259E5CF2-2A4F-4FA0-ABA0-1AAC41D4F7DC}"/>
              </a:ext>
            </a:extLst>
          </p:cNvPr>
          <p:cNvSpPr/>
          <p:nvPr/>
        </p:nvSpPr>
        <p:spPr>
          <a:xfrm rot="1652651">
            <a:off x="9013070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5" name="Arrow: Up 174">
            <a:extLst>
              <a:ext uri="{FF2B5EF4-FFF2-40B4-BE49-F238E27FC236}">
                <a16:creationId xmlns:a16="http://schemas.microsoft.com/office/drawing/2014/main" xmlns="" id="{9D1E1B25-A72B-42AF-B258-9F0F547CD69D}"/>
              </a:ext>
            </a:extLst>
          </p:cNvPr>
          <p:cNvSpPr/>
          <p:nvPr/>
        </p:nvSpPr>
        <p:spPr>
          <a:xfrm>
            <a:off x="8697501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6" name="Arrow: Up 175">
            <a:extLst>
              <a:ext uri="{FF2B5EF4-FFF2-40B4-BE49-F238E27FC236}">
                <a16:creationId xmlns:a16="http://schemas.microsoft.com/office/drawing/2014/main" xmlns="" id="{92F6E157-F5EB-4F99-B992-1147F818CA87}"/>
              </a:ext>
            </a:extLst>
          </p:cNvPr>
          <p:cNvSpPr/>
          <p:nvPr/>
        </p:nvSpPr>
        <p:spPr>
          <a:xfrm rot="18694737">
            <a:off x="8090205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7" name="Arrow: Up 176">
            <a:extLst>
              <a:ext uri="{FF2B5EF4-FFF2-40B4-BE49-F238E27FC236}">
                <a16:creationId xmlns:a16="http://schemas.microsoft.com/office/drawing/2014/main" xmlns="" id="{911E6645-1E13-4124-9E3B-80E28040FF88}"/>
              </a:ext>
            </a:extLst>
          </p:cNvPr>
          <p:cNvSpPr/>
          <p:nvPr/>
        </p:nvSpPr>
        <p:spPr>
          <a:xfrm rot="2948130">
            <a:off x="9282297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8" name="Arrow: Up 177">
            <a:extLst>
              <a:ext uri="{FF2B5EF4-FFF2-40B4-BE49-F238E27FC236}">
                <a16:creationId xmlns:a16="http://schemas.microsoft.com/office/drawing/2014/main" xmlns="" id="{A269CDDD-DC29-42D7-B184-43B8006FB27C}"/>
              </a:ext>
            </a:extLst>
          </p:cNvPr>
          <p:cNvSpPr/>
          <p:nvPr/>
        </p:nvSpPr>
        <p:spPr>
          <a:xfrm rot="4365331">
            <a:off x="9484019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79" name="Arrow: Up 178">
            <a:extLst>
              <a:ext uri="{FF2B5EF4-FFF2-40B4-BE49-F238E27FC236}">
                <a16:creationId xmlns:a16="http://schemas.microsoft.com/office/drawing/2014/main" xmlns="" id="{5B2F95B1-D347-45E9-9912-7C63250EBFE7}"/>
              </a:ext>
            </a:extLst>
          </p:cNvPr>
          <p:cNvSpPr/>
          <p:nvPr/>
        </p:nvSpPr>
        <p:spPr>
          <a:xfrm rot="2948130">
            <a:off x="9332733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0" name="Arrow: Up 179">
            <a:extLst>
              <a:ext uri="{FF2B5EF4-FFF2-40B4-BE49-F238E27FC236}">
                <a16:creationId xmlns:a16="http://schemas.microsoft.com/office/drawing/2014/main" xmlns="" id="{5F227862-E333-4ACE-8ED7-ADE19EDC4AC8}"/>
              </a:ext>
            </a:extLst>
          </p:cNvPr>
          <p:cNvSpPr/>
          <p:nvPr/>
        </p:nvSpPr>
        <p:spPr>
          <a:xfrm rot="1652651">
            <a:off x="8912220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1" name="Arrow: Up 180">
            <a:extLst>
              <a:ext uri="{FF2B5EF4-FFF2-40B4-BE49-F238E27FC236}">
                <a16:creationId xmlns:a16="http://schemas.microsoft.com/office/drawing/2014/main" xmlns="" id="{DBF7DE61-57CE-4F74-A362-957FCB3EA43B}"/>
              </a:ext>
            </a:extLst>
          </p:cNvPr>
          <p:cNvSpPr/>
          <p:nvPr/>
        </p:nvSpPr>
        <p:spPr>
          <a:xfrm rot="1652651">
            <a:off x="9058226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2" name="Arrow: Up 181">
            <a:extLst>
              <a:ext uri="{FF2B5EF4-FFF2-40B4-BE49-F238E27FC236}">
                <a16:creationId xmlns:a16="http://schemas.microsoft.com/office/drawing/2014/main" xmlns="" id="{EB1B1431-E8F7-46E3-9CF0-3290E5AC1232}"/>
              </a:ext>
            </a:extLst>
          </p:cNvPr>
          <p:cNvSpPr/>
          <p:nvPr/>
        </p:nvSpPr>
        <p:spPr>
          <a:xfrm rot="20239931">
            <a:off x="8383120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3" name="Arrow: Up 182">
            <a:extLst>
              <a:ext uri="{FF2B5EF4-FFF2-40B4-BE49-F238E27FC236}">
                <a16:creationId xmlns:a16="http://schemas.microsoft.com/office/drawing/2014/main" xmlns="" id="{92AABBCD-C636-4E6D-9C37-1825097A83F3}"/>
              </a:ext>
            </a:extLst>
          </p:cNvPr>
          <p:cNvSpPr/>
          <p:nvPr/>
        </p:nvSpPr>
        <p:spPr>
          <a:xfrm rot="18694737">
            <a:off x="8098595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4" name="Arrow: Up 183">
            <a:extLst>
              <a:ext uri="{FF2B5EF4-FFF2-40B4-BE49-F238E27FC236}">
                <a16:creationId xmlns:a16="http://schemas.microsoft.com/office/drawing/2014/main" xmlns="" id="{7A2C6282-5845-472C-9F5F-7D0DD61D346D}"/>
              </a:ext>
            </a:extLst>
          </p:cNvPr>
          <p:cNvSpPr/>
          <p:nvPr/>
        </p:nvSpPr>
        <p:spPr>
          <a:xfrm rot="6011006">
            <a:off x="9661235" y="326530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5" name="Arrow: Up 184">
            <a:extLst>
              <a:ext uri="{FF2B5EF4-FFF2-40B4-BE49-F238E27FC236}">
                <a16:creationId xmlns:a16="http://schemas.microsoft.com/office/drawing/2014/main" xmlns="" id="{6FA07B1D-1721-47BD-81D9-0FFEBE03BEF1}"/>
              </a:ext>
            </a:extLst>
          </p:cNvPr>
          <p:cNvSpPr/>
          <p:nvPr/>
        </p:nvSpPr>
        <p:spPr>
          <a:xfrm rot="7843539">
            <a:off x="9922426" y="397933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6" name="Arrow: Up 185">
            <a:extLst>
              <a:ext uri="{FF2B5EF4-FFF2-40B4-BE49-F238E27FC236}">
                <a16:creationId xmlns:a16="http://schemas.microsoft.com/office/drawing/2014/main" xmlns="" id="{77BD0DA4-03B1-495F-A296-7F7986879698}"/>
              </a:ext>
            </a:extLst>
          </p:cNvPr>
          <p:cNvSpPr/>
          <p:nvPr/>
        </p:nvSpPr>
        <p:spPr>
          <a:xfrm rot="9646719">
            <a:off x="9996375" y="2783454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7" name="Arrow: Up 186">
            <a:extLst>
              <a:ext uri="{FF2B5EF4-FFF2-40B4-BE49-F238E27FC236}">
                <a16:creationId xmlns:a16="http://schemas.microsoft.com/office/drawing/2014/main" xmlns="" id="{DAFA45C3-3343-4B54-81AC-12260187CB24}"/>
              </a:ext>
            </a:extLst>
          </p:cNvPr>
          <p:cNvSpPr/>
          <p:nvPr/>
        </p:nvSpPr>
        <p:spPr>
          <a:xfrm rot="10553083">
            <a:off x="10280476" y="332238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8" name="Arrow: Up 187">
            <a:extLst>
              <a:ext uri="{FF2B5EF4-FFF2-40B4-BE49-F238E27FC236}">
                <a16:creationId xmlns:a16="http://schemas.microsoft.com/office/drawing/2014/main" xmlns="" id="{F7F94D42-128E-4AE7-B231-48227E63F211}"/>
              </a:ext>
            </a:extLst>
          </p:cNvPr>
          <p:cNvSpPr/>
          <p:nvPr/>
        </p:nvSpPr>
        <p:spPr>
          <a:xfrm rot="11394758">
            <a:off x="10405898" y="2655523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89" name="Arrow: Up 188">
            <a:extLst>
              <a:ext uri="{FF2B5EF4-FFF2-40B4-BE49-F238E27FC236}">
                <a16:creationId xmlns:a16="http://schemas.microsoft.com/office/drawing/2014/main" xmlns="" id="{A2283F56-B981-404D-B543-7070EA478622}"/>
              </a:ext>
            </a:extLst>
          </p:cNvPr>
          <p:cNvSpPr/>
          <p:nvPr/>
        </p:nvSpPr>
        <p:spPr>
          <a:xfrm rot="10800000">
            <a:off x="10345064" y="401353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0" name="Arrow: Up 189">
            <a:extLst>
              <a:ext uri="{FF2B5EF4-FFF2-40B4-BE49-F238E27FC236}">
                <a16:creationId xmlns:a16="http://schemas.microsoft.com/office/drawing/2014/main" xmlns="" id="{6E856711-A68B-48DC-964C-F54C5BB5819B}"/>
              </a:ext>
            </a:extLst>
          </p:cNvPr>
          <p:cNvSpPr/>
          <p:nvPr/>
        </p:nvSpPr>
        <p:spPr>
          <a:xfrm rot="13764822">
            <a:off x="10814851" y="2958617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1" name="Arrow: Up 190">
            <a:extLst>
              <a:ext uri="{FF2B5EF4-FFF2-40B4-BE49-F238E27FC236}">
                <a16:creationId xmlns:a16="http://schemas.microsoft.com/office/drawing/2014/main" xmlns="" id="{9A393E8D-667E-4EAC-AACB-2B7CE24DA815}"/>
              </a:ext>
            </a:extLst>
          </p:cNvPr>
          <p:cNvSpPr/>
          <p:nvPr/>
        </p:nvSpPr>
        <p:spPr>
          <a:xfrm rot="11394758">
            <a:off x="10496210" y="4810558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2" name="Arrow: Up 191">
            <a:extLst>
              <a:ext uri="{FF2B5EF4-FFF2-40B4-BE49-F238E27FC236}">
                <a16:creationId xmlns:a16="http://schemas.microsoft.com/office/drawing/2014/main" xmlns="" id="{1531D620-67C2-4769-BD11-53BE298A1820}"/>
              </a:ext>
            </a:extLst>
          </p:cNvPr>
          <p:cNvSpPr/>
          <p:nvPr/>
        </p:nvSpPr>
        <p:spPr>
          <a:xfrm rot="6011006">
            <a:off x="9832637" y="480645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3" name="Arrow: Up 192">
            <a:extLst>
              <a:ext uri="{FF2B5EF4-FFF2-40B4-BE49-F238E27FC236}">
                <a16:creationId xmlns:a16="http://schemas.microsoft.com/office/drawing/2014/main" xmlns="" id="{F77AB458-D97B-41D3-8E41-B40D13576495}"/>
              </a:ext>
            </a:extLst>
          </p:cNvPr>
          <p:cNvSpPr/>
          <p:nvPr/>
        </p:nvSpPr>
        <p:spPr>
          <a:xfrm rot="12863447">
            <a:off x="10786110" y="359792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4" name="Arrow: Up 193">
            <a:extLst>
              <a:ext uri="{FF2B5EF4-FFF2-40B4-BE49-F238E27FC236}">
                <a16:creationId xmlns:a16="http://schemas.microsoft.com/office/drawing/2014/main" xmlns="" id="{4C6194F1-8CFA-4F87-A5F3-EA7A243E2770}"/>
              </a:ext>
            </a:extLst>
          </p:cNvPr>
          <p:cNvSpPr/>
          <p:nvPr/>
        </p:nvSpPr>
        <p:spPr>
          <a:xfrm rot="15129603">
            <a:off x="11191398" y="3436431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5" name="Arrow: Up 194">
            <a:extLst>
              <a:ext uri="{FF2B5EF4-FFF2-40B4-BE49-F238E27FC236}">
                <a16:creationId xmlns:a16="http://schemas.microsoft.com/office/drawing/2014/main" xmlns="" id="{757981A6-A11C-4FF4-9B5C-2836AE1BC0FF}"/>
              </a:ext>
            </a:extLst>
          </p:cNvPr>
          <p:cNvSpPr/>
          <p:nvPr/>
        </p:nvSpPr>
        <p:spPr>
          <a:xfrm rot="14337860">
            <a:off x="11048816" y="4110055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6" name="Arrow: Up 195">
            <a:extLst>
              <a:ext uri="{FF2B5EF4-FFF2-40B4-BE49-F238E27FC236}">
                <a16:creationId xmlns:a16="http://schemas.microsoft.com/office/drawing/2014/main" xmlns="" id="{F42E860F-F24F-466C-81B6-C04A97AF7C5D}"/>
              </a:ext>
            </a:extLst>
          </p:cNvPr>
          <p:cNvSpPr/>
          <p:nvPr/>
        </p:nvSpPr>
        <p:spPr>
          <a:xfrm rot="12136792">
            <a:off x="10702814" y="439494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97" name="Arrow: Up 196">
            <a:extLst>
              <a:ext uri="{FF2B5EF4-FFF2-40B4-BE49-F238E27FC236}">
                <a16:creationId xmlns:a16="http://schemas.microsoft.com/office/drawing/2014/main" xmlns="" id="{D8889211-0877-4217-BE9C-EC08EF134009}"/>
              </a:ext>
            </a:extLst>
          </p:cNvPr>
          <p:cNvSpPr/>
          <p:nvPr/>
        </p:nvSpPr>
        <p:spPr>
          <a:xfrm rot="9646719">
            <a:off x="10131391" y="4665066"/>
            <a:ext cx="90312" cy="415612"/>
          </a:xfrm>
          <a:prstGeom prst="up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xmlns="" id="{3107E4B0-B4B5-4C1E-9282-A6AB7ABE25B5}"/>
                  </a:ext>
                </a:extLst>
              </p14:cNvPr>
              <p14:cNvContentPartPr/>
              <p14:nvPr/>
            </p14:nvContentPartPr>
            <p14:xfrm>
              <a:off x="792529" y="2582352"/>
              <a:ext cx="3687840" cy="30826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3107E4B0-B4B5-4C1E-9282-A6AB7ABE25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529" y="2573352"/>
                <a:ext cx="3705480" cy="3100320"/>
              </a:xfrm>
              <a:prstGeom prst="rect">
                <a:avLst/>
              </a:prstGeom>
            </p:spPr>
          </p:pic>
        </mc:Fallback>
      </mc:AlternateContent>
      <p:sp>
        <p:nvSpPr>
          <p:cNvPr id="199" name="Arrow: Up 198">
            <a:extLst>
              <a:ext uri="{FF2B5EF4-FFF2-40B4-BE49-F238E27FC236}">
                <a16:creationId xmlns:a16="http://schemas.microsoft.com/office/drawing/2014/main" xmlns="" id="{19835440-CE7F-4A43-96E0-50C503A9911B}"/>
              </a:ext>
            </a:extLst>
          </p:cNvPr>
          <p:cNvSpPr/>
          <p:nvPr/>
        </p:nvSpPr>
        <p:spPr>
          <a:xfrm>
            <a:off x="1400419" y="433149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0" name="Arrow: Up 199">
            <a:extLst>
              <a:ext uri="{FF2B5EF4-FFF2-40B4-BE49-F238E27FC236}">
                <a16:creationId xmlns:a16="http://schemas.microsoft.com/office/drawing/2014/main" xmlns="" id="{E43BCAEB-A3A1-4833-BE53-3E8ABB160FBF}"/>
              </a:ext>
            </a:extLst>
          </p:cNvPr>
          <p:cNvSpPr/>
          <p:nvPr/>
        </p:nvSpPr>
        <p:spPr>
          <a:xfrm>
            <a:off x="1692740" y="408346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1" name="Arrow: Up 200">
            <a:extLst>
              <a:ext uri="{FF2B5EF4-FFF2-40B4-BE49-F238E27FC236}">
                <a16:creationId xmlns:a16="http://schemas.microsoft.com/office/drawing/2014/main" xmlns="" id="{4D0E0FFC-5269-49F3-BB2B-3D56C4435E16}"/>
              </a:ext>
            </a:extLst>
          </p:cNvPr>
          <p:cNvSpPr/>
          <p:nvPr/>
        </p:nvSpPr>
        <p:spPr>
          <a:xfrm>
            <a:off x="2008309" y="4421810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2" name="Arrow: Up 201">
            <a:extLst>
              <a:ext uri="{FF2B5EF4-FFF2-40B4-BE49-F238E27FC236}">
                <a16:creationId xmlns:a16="http://schemas.microsoft.com/office/drawing/2014/main" xmlns="" id="{24B16612-2F22-460A-8FDB-B6624BD6B5C8}"/>
              </a:ext>
            </a:extLst>
          </p:cNvPr>
          <p:cNvSpPr/>
          <p:nvPr/>
        </p:nvSpPr>
        <p:spPr>
          <a:xfrm>
            <a:off x="1692740" y="485173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3" name="Arrow: Up 202">
            <a:extLst>
              <a:ext uri="{FF2B5EF4-FFF2-40B4-BE49-F238E27FC236}">
                <a16:creationId xmlns:a16="http://schemas.microsoft.com/office/drawing/2014/main" xmlns="" id="{0D150634-6EF1-4387-BD6E-A6B12C6F4882}"/>
              </a:ext>
            </a:extLst>
          </p:cNvPr>
          <p:cNvSpPr/>
          <p:nvPr/>
        </p:nvSpPr>
        <p:spPr>
          <a:xfrm>
            <a:off x="1085444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4" name="Arrow: Up 203">
            <a:extLst>
              <a:ext uri="{FF2B5EF4-FFF2-40B4-BE49-F238E27FC236}">
                <a16:creationId xmlns:a16="http://schemas.microsoft.com/office/drawing/2014/main" xmlns="" id="{DD881C27-3161-4D08-8A2D-C0E807CAEF93}"/>
              </a:ext>
            </a:extLst>
          </p:cNvPr>
          <p:cNvSpPr/>
          <p:nvPr/>
        </p:nvSpPr>
        <p:spPr>
          <a:xfrm>
            <a:off x="2277536" y="366784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5" name="Arrow: Up 204">
            <a:extLst>
              <a:ext uri="{FF2B5EF4-FFF2-40B4-BE49-F238E27FC236}">
                <a16:creationId xmlns:a16="http://schemas.microsoft.com/office/drawing/2014/main" xmlns="" id="{70B64ED2-7F2C-4EB7-8C75-B3090B1E5919}"/>
              </a:ext>
            </a:extLst>
          </p:cNvPr>
          <p:cNvSpPr/>
          <p:nvPr/>
        </p:nvSpPr>
        <p:spPr>
          <a:xfrm>
            <a:off x="2479258" y="42140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6" name="Arrow: Up 205">
            <a:extLst>
              <a:ext uri="{FF2B5EF4-FFF2-40B4-BE49-F238E27FC236}">
                <a16:creationId xmlns:a16="http://schemas.microsoft.com/office/drawing/2014/main" xmlns="" id="{6C8D7482-313B-425A-B2BD-3F9793F0FF90}"/>
              </a:ext>
            </a:extLst>
          </p:cNvPr>
          <p:cNvSpPr/>
          <p:nvPr/>
        </p:nvSpPr>
        <p:spPr>
          <a:xfrm>
            <a:off x="2327972" y="482008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7" name="Arrow: Up 206">
            <a:extLst>
              <a:ext uri="{FF2B5EF4-FFF2-40B4-BE49-F238E27FC236}">
                <a16:creationId xmlns:a16="http://schemas.microsoft.com/office/drawing/2014/main" xmlns="" id="{4DF9A63B-F05F-4FB9-83CA-DA393222D4A7}"/>
              </a:ext>
            </a:extLst>
          </p:cNvPr>
          <p:cNvSpPr/>
          <p:nvPr/>
        </p:nvSpPr>
        <p:spPr>
          <a:xfrm>
            <a:off x="1907459" y="365010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8" name="Arrow: Up 207">
            <a:extLst>
              <a:ext uri="{FF2B5EF4-FFF2-40B4-BE49-F238E27FC236}">
                <a16:creationId xmlns:a16="http://schemas.microsoft.com/office/drawing/2014/main" xmlns="" id="{E15D1B4C-3D5F-47A1-ACB1-4E0ACCE7B480}"/>
              </a:ext>
            </a:extLst>
          </p:cNvPr>
          <p:cNvSpPr/>
          <p:nvPr/>
        </p:nvSpPr>
        <p:spPr>
          <a:xfrm>
            <a:off x="2053465" y="520904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09" name="Arrow: Up 208">
            <a:extLst>
              <a:ext uri="{FF2B5EF4-FFF2-40B4-BE49-F238E27FC236}">
                <a16:creationId xmlns:a16="http://schemas.microsoft.com/office/drawing/2014/main" xmlns="" id="{61C25AD1-9510-40EB-88E6-E5C87112BC93}"/>
              </a:ext>
            </a:extLst>
          </p:cNvPr>
          <p:cNvSpPr/>
          <p:nvPr/>
        </p:nvSpPr>
        <p:spPr>
          <a:xfrm>
            <a:off x="1378359" y="5059539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0" name="Arrow: Up 209">
            <a:extLst>
              <a:ext uri="{FF2B5EF4-FFF2-40B4-BE49-F238E27FC236}">
                <a16:creationId xmlns:a16="http://schemas.microsoft.com/office/drawing/2014/main" xmlns="" id="{23E72D7E-838C-458F-815E-B60505B886B0}"/>
              </a:ext>
            </a:extLst>
          </p:cNvPr>
          <p:cNvSpPr/>
          <p:nvPr/>
        </p:nvSpPr>
        <p:spPr>
          <a:xfrm>
            <a:off x="1093834" y="4103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1" name="Arrow: Up 210">
            <a:extLst>
              <a:ext uri="{FF2B5EF4-FFF2-40B4-BE49-F238E27FC236}">
                <a16:creationId xmlns:a16="http://schemas.microsoft.com/office/drawing/2014/main" xmlns="" id="{493A5FDA-B1E5-4BE6-A1A3-95FE5C293407}"/>
              </a:ext>
            </a:extLst>
          </p:cNvPr>
          <p:cNvSpPr/>
          <p:nvPr/>
        </p:nvSpPr>
        <p:spPr>
          <a:xfrm>
            <a:off x="2656474" y="326530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2" name="Arrow: Up 211">
            <a:extLst>
              <a:ext uri="{FF2B5EF4-FFF2-40B4-BE49-F238E27FC236}">
                <a16:creationId xmlns:a16="http://schemas.microsoft.com/office/drawing/2014/main" xmlns="" id="{1D733A14-60A1-43AF-A297-3E4FC36FF3CC}"/>
              </a:ext>
            </a:extLst>
          </p:cNvPr>
          <p:cNvSpPr/>
          <p:nvPr/>
        </p:nvSpPr>
        <p:spPr>
          <a:xfrm>
            <a:off x="2917665" y="397933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3" name="Arrow: Up 212">
            <a:extLst>
              <a:ext uri="{FF2B5EF4-FFF2-40B4-BE49-F238E27FC236}">
                <a16:creationId xmlns:a16="http://schemas.microsoft.com/office/drawing/2014/main" xmlns="" id="{3FEA922B-A864-4E48-94A0-A5715F9C2B50}"/>
              </a:ext>
            </a:extLst>
          </p:cNvPr>
          <p:cNvSpPr/>
          <p:nvPr/>
        </p:nvSpPr>
        <p:spPr>
          <a:xfrm>
            <a:off x="2991614" y="2783454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4" name="Arrow: Up 213">
            <a:extLst>
              <a:ext uri="{FF2B5EF4-FFF2-40B4-BE49-F238E27FC236}">
                <a16:creationId xmlns:a16="http://schemas.microsoft.com/office/drawing/2014/main" xmlns="" id="{4DA60DA5-D6C9-4621-80ED-5F0CB99AE5C5}"/>
              </a:ext>
            </a:extLst>
          </p:cNvPr>
          <p:cNvSpPr/>
          <p:nvPr/>
        </p:nvSpPr>
        <p:spPr>
          <a:xfrm>
            <a:off x="3275715" y="332238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5" name="Arrow: Up 214">
            <a:extLst>
              <a:ext uri="{FF2B5EF4-FFF2-40B4-BE49-F238E27FC236}">
                <a16:creationId xmlns:a16="http://schemas.microsoft.com/office/drawing/2014/main" xmlns="" id="{551F37B9-FD7B-4D13-B2B4-495FEBDFC3D4}"/>
              </a:ext>
            </a:extLst>
          </p:cNvPr>
          <p:cNvSpPr/>
          <p:nvPr/>
        </p:nvSpPr>
        <p:spPr>
          <a:xfrm>
            <a:off x="3401137" y="2655523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6" name="Arrow: Up 215">
            <a:extLst>
              <a:ext uri="{FF2B5EF4-FFF2-40B4-BE49-F238E27FC236}">
                <a16:creationId xmlns:a16="http://schemas.microsoft.com/office/drawing/2014/main" xmlns="" id="{29DCDF69-031D-4E2E-A893-35B0DD306366}"/>
              </a:ext>
            </a:extLst>
          </p:cNvPr>
          <p:cNvSpPr/>
          <p:nvPr/>
        </p:nvSpPr>
        <p:spPr>
          <a:xfrm>
            <a:off x="3340303" y="401353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7" name="Arrow: Up 216">
            <a:extLst>
              <a:ext uri="{FF2B5EF4-FFF2-40B4-BE49-F238E27FC236}">
                <a16:creationId xmlns:a16="http://schemas.microsoft.com/office/drawing/2014/main" xmlns="" id="{398DDBA0-B5E7-4F78-A700-312C936BC3A0}"/>
              </a:ext>
            </a:extLst>
          </p:cNvPr>
          <p:cNvSpPr/>
          <p:nvPr/>
        </p:nvSpPr>
        <p:spPr>
          <a:xfrm>
            <a:off x="3810090" y="2958617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8" name="Arrow: Up 217">
            <a:extLst>
              <a:ext uri="{FF2B5EF4-FFF2-40B4-BE49-F238E27FC236}">
                <a16:creationId xmlns:a16="http://schemas.microsoft.com/office/drawing/2014/main" xmlns="" id="{97D0202C-20F9-4288-A2BC-6C7A541E7E1B}"/>
              </a:ext>
            </a:extLst>
          </p:cNvPr>
          <p:cNvSpPr/>
          <p:nvPr/>
        </p:nvSpPr>
        <p:spPr>
          <a:xfrm>
            <a:off x="3491449" y="4810558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19" name="Arrow: Up 218">
            <a:extLst>
              <a:ext uri="{FF2B5EF4-FFF2-40B4-BE49-F238E27FC236}">
                <a16:creationId xmlns:a16="http://schemas.microsoft.com/office/drawing/2014/main" xmlns="" id="{5D07C02D-D5DA-4AC4-97FC-80D6A35869E3}"/>
              </a:ext>
            </a:extLst>
          </p:cNvPr>
          <p:cNvSpPr/>
          <p:nvPr/>
        </p:nvSpPr>
        <p:spPr>
          <a:xfrm>
            <a:off x="2827876" y="480645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0" name="Arrow: Up 219">
            <a:extLst>
              <a:ext uri="{FF2B5EF4-FFF2-40B4-BE49-F238E27FC236}">
                <a16:creationId xmlns:a16="http://schemas.microsoft.com/office/drawing/2014/main" xmlns="" id="{204B3FDE-0C28-404D-9CC8-8B65FE8E3998}"/>
              </a:ext>
            </a:extLst>
          </p:cNvPr>
          <p:cNvSpPr/>
          <p:nvPr/>
        </p:nvSpPr>
        <p:spPr>
          <a:xfrm>
            <a:off x="3781349" y="359792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1" name="Arrow: Up 220">
            <a:extLst>
              <a:ext uri="{FF2B5EF4-FFF2-40B4-BE49-F238E27FC236}">
                <a16:creationId xmlns:a16="http://schemas.microsoft.com/office/drawing/2014/main" xmlns="" id="{984A964A-C1F3-4789-9E24-EAB591445624}"/>
              </a:ext>
            </a:extLst>
          </p:cNvPr>
          <p:cNvSpPr/>
          <p:nvPr/>
        </p:nvSpPr>
        <p:spPr>
          <a:xfrm>
            <a:off x="4186637" y="3436431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2" name="Arrow: Up 221">
            <a:extLst>
              <a:ext uri="{FF2B5EF4-FFF2-40B4-BE49-F238E27FC236}">
                <a16:creationId xmlns:a16="http://schemas.microsoft.com/office/drawing/2014/main" xmlns="" id="{B17D7CEB-8BD6-42CA-B5D6-B0E33B362D70}"/>
              </a:ext>
            </a:extLst>
          </p:cNvPr>
          <p:cNvSpPr/>
          <p:nvPr/>
        </p:nvSpPr>
        <p:spPr>
          <a:xfrm>
            <a:off x="4044055" y="4110055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3" name="Arrow: Up 222">
            <a:extLst>
              <a:ext uri="{FF2B5EF4-FFF2-40B4-BE49-F238E27FC236}">
                <a16:creationId xmlns:a16="http://schemas.microsoft.com/office/drawing/2014/main" xmlns="" id="{D0B3E02F-00B5-4551-89C6-AC904FE99C63}"/>
              </a:ext>
            </a:extLst>
          </p:cNvPr>
          <p:cNvSpPr/>
          <p:nvPr/>
        </p:nvSpPr>
        <p:spPr>
          <a:xfrm>
            <a:off x="3698053" y="439494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4" name="Arrow: Up 223">
            <a:extLst>
              <a:ext uri="{FF2B5EF4-FFF2-40B4-BE49-F238E27FC236}">
                <a16:creationId xmlns:a16="http://schemas.microsoft.com/office/drawing/2014/main" xmlns="" id="{60959F67-A618-4FC4-853A-48B973C2029C}"/>
              </a:ext>
            </a:extLst>
          </p:cNvPr>
          <p:cNvSpPr/>
          <p:nvPr/>
        </p:nvSpPr>
        <p:spPr>
          <a:xfrm>
            <a:off x="3126630" y="4665066"/>
            <a:ext cx="90312" cy="415612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xmlns="" id="{D963B5C6-0A5C-470F-B72B-AB4E772820FD}"/>
              </a:ext>
            </a:extLst>
          </p:cNvPr>
          <p:cNvCxnSpPr/>
          <p:nvPr/>
        </p:nvCxnSpPr>
        <p:spPr>
          <a:xfrm>
            <a:off x="8787813" y="5874327"/>
            <a:ext cx="1743496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8157488C-3C2D-48BC-AF17-F15F06042034}"/>
                  </a:ext>
                </a:extLst>
              </p:cNvPr>
              <p:cNvSpPr txBox="1"/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57488C-3C2D-48BC-AF17-F15F06042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1189" y="5912279"/>
                <a:ext cx="82841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xmlns="" id="{73352547-D96C-4C01-8859-3ED6B049CBE9}"/>
                  </a:ext>
                </a:extLst>
              </p:cNvPr>
              <p:cNvSpPr txBox="1"/>
              <p:nvPr/>
            </p:nvSpPr>
            <p:spPr>
              <a:xfrm>
                <a:off x="4413572" y="5843029"/>
                <a:ext cx="3488315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73352547-D96C-4C01-8859-3ED6B049C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3572" y="5843029"/>
                <a:ext cx="3488315" cy="50783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xmlns="" id="{5695D7A7-206C-404A-B47A-23CA351ED21D}"/>
                  </a:ext>
                </a:extLst>
              </p:cNvPr>
              <p:cNvSpPr txBox="1"/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=∫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695D7A7-206C-404A-B47A-23CA351ED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725" y="6201640"/>
                <a:ext cx="3370586" cy="408445"/>
              </a:xfrm>
              <a:prstGeom prst="rect">
                <a:avLst/>
              </a:prstGeom>
              <a:blipFill>
                <a:blip r:embed="rId10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Rectangle 64">
            <a:extLst>
              <a:ext uri="{FF2B5EF4-FFF2-40B4-BE49-F238E27FC236}">
                <a16:creationId xmlns:a16="http://schemas.microsoft.com/office/drawing/2014/main" xmlns="" id="{C143E3E0-E5AF-4DCA-8D45-ABF1F63F708D}"/>
              </a:ext>
            </a:extLst>
          </p:cNvPr>
          <p:cNvSpPr/>
          <p:nvPr/>
        </p:nvSpPr>
        <p:spPr>
          <a:xfrm>
            <a:off x="5828813" y="5959076"/>
            <a:ext cx="657835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6" name="TextBox 5"/>
          <p:cNvSpPr txBox="1"/>
          <p:nvPr/>
        </p:nvSpPr>
        <p:spPr>
          <a:xfrm>
            <a:off x="838200" y="6194095"/>
            <a:ext cx="39608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Y.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S.-k. Ma, Phys. Rev.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Lett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35, 1399 (1975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</p:txBody>
      </p:sp>
      <p:sp>
        <p:nvSpPr>
          <p:cNvPr id="68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/>
              <a:t>Random fields and the </a:t>
            </a:r>
            <a:r>
              <a:rPr lang="en-US" sz="3600" dirty="0" err="1"/>
              <a:t>Imry</a:t>
            </a:r>
            <a:r>
              <a:rPr lang="en-US" sz="3600" dirty="0"/>
              <a:t>-Ma criterion</a:t>
            </a:r>
            <a:endParaRPr lang="x-none" sz="3600" dirty="0"/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7672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For c</a:t>
            </a:r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ontinuous symmetries: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11424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 generic action couples the goldstone modes with the random fields. 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nary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∫</m:t>
                            </m:r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8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p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en-US" sz="1800" dirty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</m:e>
                    </m:nary>
                  </m:oMath>
                </a14:m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correlation function has a divergent contribution for even infinitesimal random field disorder,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acc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𝑎𝑏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        </a:t>
                </a:r>
                <a:r>
                  <a: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acc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p>
                        </m:sSup>
                      </m:e>
                    </m:nary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sSup>
                          <m:s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sSup>
                      <m:sSupPr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 rotWithShape="0">
                <a:blip r:embed="rId2"/>
                <a:stretch>
                  <a:fillRect l="-522" t="-1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xmlns="" id="{ACD19D01-67A3-4F12-BF16-8565326A2AC0}"/>
              </a:ext>
            </a:extLst>
          </p:cNvPr>
          <p:cNvSpPr/>
          <p:nvPr/>
        </p:nvSpPr>
        <p:spPr>
          <a:xfrm>
            <a:off x="6931428" y="3994536"/>
            <a:ext cx="1806633" cy="853442"/>
          </a:xfrm>
          <a:prstGeom prst="ellipse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xmlns="" id="{867855E2-1CF7-424A-AABB-916E2E505E50}"/>
              </a:ext>
            </a:extLst>
          </p:cNvPr>
          <p:cNvCxnSpPr>
            <a:cxnSpLocks/>
            <a:stCxn id="6" idx="3"/>
            <a:endCxn id="242" idx="3"/>
          </p:cNvCxnSpPr>
          <p:nvPr/>
        </p:nvCxnSpPr>
        <p:spPr>
          <a:xfrm rot="5400000">
            <a:off x="5649353" y="3861772"/>
            <a:ext cx="685428" cy="2407872"/>
          </a:xfrm>
          <a:prstGeom prst="curvedConnector2">
            <a:avLst/>
          </a:prstGeom>
          <a:ln w="127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xmlns="" id="{69B39AC0-7B6B-4797-ADFC-1E0691F0C8D5}"/>
                  </a:ext>
                </a:extLst>
              </p:cNvPr>
              <p:cNvSpPr txBox="1"/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Bare expectation value,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infrared divergent 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69B39AC0-7B6B-4797-ADFC-1E0691F0C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353" y="4850641"/>
                <a:ext cx="2611778" cy="1115562"/>
              </a:xfrm>
              <a:prstGeom prst="rect">
                <a:avLst/>
              </a:prstGeom>
              <a:blipFill>
                <a:blip r:embed="rId3"/>
                <a:stretch>
                  <a:fillRect l="-1869" t="-3279" b="-765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xmlns="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Hence, the lower critical dimension for random field systems with continuous symmetry is,</a:t>
                </a:r>
              </a:p>
              <a:p>
                <a:endParaRPr lang="en-US" b="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≤4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5068" y="4847978"/>
                <a:ext cx="2904401" cy="1754326"/>
              </a:xfrm>
              <a:prstGeom prst="rect">
                <a:avLst/>
              </a:prstGeom>
              <a:blipFill>
                <a:blip r:embed="rId4"/>
                <a:stretch>
                  <a:fillRect l="-1677" t="-17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:a16="http://schemas.microsoft.com/office/drawing/2014/main" xmlns="" id="{C143E3E0-E5AF-4DCA-8D45-ABF1F63F708D}"/>
              </a:ext>
            </a:extLst>
          </p:cNvPr>
          <p:cNvSpPr/>
          <p:nvPr/>
        </p:nvSpPr>
        <p:spPr>
          <a:xfrm>
            <a:off x="9241879" y="6208750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xmlns="" id="{372EAF64-5587-4A13-A714-4DF5609989B8}"/>
              </a:ext>
            </a:extLst>
          </p:cNvPr>
          <p:cNvSpPr txBox="1"/>
          <p:nvPr/>
        </p:nvSpPr>
        <p:spPr>
          <a:xfrm>
            <a:off x="1424005" y="6007235"/>
            <a:ext cx="443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Imry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Ma,PRL,1975;Aharony,SSC,1978)</a:t>
            </a:r>
            <a:endParaRPr lang="x-none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/>
              <a:t>Random fields and the </a:t>
            </a:r>
            <a:r>
              <a:rPr lang="en-US" sz="3600" dirty="0" err="1"/>
              <a:t>Imry</a:t>
            </a:r>
            <a:r>
              <a:rPr lang="en-US" sz="3600" dirty="0"/>
              <a:t>-Ma criterion</a:t>
            </a:r>
            <a:endParaRPr lang="x-none" sz="36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7672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Goldstone modes and infrared divergence: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5559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400591" cy="85960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Infrared divergence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xmlns="" id="{6883E9BE-4C98-4DB5-A647-E8664E3DC93C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26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2830"/>
            <a:ext cx="5383635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xmlns="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collinear magnet</a:t>
            </a:r>
          </a:p>
          <a:p>
            <a:pPr marL="1371600" lvl="3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xmlns="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xmlns="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:a16="http://schemas.microsoft.com/office/drawing/2014/main" xmlns="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CC843D4B-29EF-409B-94EF-80C3E6B2E2E6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C843D4B-29EF-409B-94EF-80C3E6B2E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Arrow: Up 77">
            <a:extLst>
              <a:ext uri="{FF2B5EF4-FFF2-40B4-BE49-F238E27FC236}">
                <a16:creationId xmlns:a16="http://schemas.microsoft.com/office/drawing/2014/main" xmlns="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78">
            <a:extLst>
              <a:ext uri="{FF2B5EF4-FFF2-40B4-BE49-F238E27FC236}">
                <a16:creationId xmlns:a16="http://schemas.microsoft.com/office/drawing/2014/main" xmlns="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xmlns="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:a16="http://schemas.microsoft.com/office/drawing/2014/main" xmlns="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xmlns="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xmlns="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xmlns="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xmlns="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xmlns="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xmlns="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xmlns="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5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Arrow: Up 161">
            <a:extLst>
              <a:ext uri="{FF2B5EF4-FFF2-40B4-BE49-F238E27FC236}">
                <a16:creationId xmlns:a16="http://schemas.microsoft.com/office/drawing/2014/main" xmlns="" id="{54815F19-5407-4B86-BC49-51462D25DCD3}"/>
              </a:ext>
            </a:extLst>
          </p:cNvPr>
          <p:cNvSpPr/>
          <p:nvPr/>
        </p:nvSpPr>
        <p:spPr>
          <a:xfrm>
            <a:off x="7385832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xmlns="" id="{C82471D5-F032-4D1E-8C6E-2682F96BD665}"/>
              </a:ext>
            </a:extLst>
          </p:cNvPr>
          <p:cNvCxnSpPr>
            <a:cxnSpLocks/>
          </p:cNvCxnSpPr>
          <p:nvPr/>
        </p:nvCxnSpPr>
        <p:spPr>
          <a:xfrm>
            <a:off x="7389757" y="3649574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xmlns="" id="{F3EB135E-03AB-489E-9ED6-8685737D2BCF}"/>
                  </a:ext>
                </a:extLst>
              </p:cNvPr>
              <p:cNvSpPr txBox="1"/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F3EB135E-03AB-489E-9ED6-8685737D2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267" y="3317993"/>
                <a:ext cx="641201" cy="369332"/>
              </a:xfrm>
              <a:prstGeom prst="rect">
                <a:avLst/>
              </a:prstGeom>
              <a:blipFill>
                <a:blip r:embed="rId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Arrow: Up 165">
            <a:extLst>
              <a:ext uri="{FF2B5EF4-FFF2-40B4-BE49-F238E27FC236}">
                <a16:creationId xmlns:a16="http://schemas.microsoft.com/office/drawing/2014/main" xmlns="" id="{F8BE2914-79A6-4809-8AA1-0A3D6E78A73C}"/>
              </a:ext>
            </a:extLst>
          </p:cNvPr>
          <p:cNvSpPr/>
          <p:nvPr/>
        </p:nvSpPr>
        <p:spPr>
          <a:xfrm rot="10800000">
            <a:off x="8992745" y="2828252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xmlns="" id="{78D9E330-A71A-47F0-92FB-AC58EB61BC73}"/>
              </a:ext>
            </a:extLst>
          </p:cNvPr>
          <p:cNvCxnSpPr>
            <a:cxnSpLocks/>
          </p:cNvCxnSpPr>
          <p:nvPr/>
        </p:nvCxnSpPr>
        <p:spPr>
          <a:xfrm flipV="1">
            <a:off x="6438084" y="3435870"/>
            <a:ext cx="0" cy="518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xmlns="" id="{5933B25E-F661-4B66-BAE3-C901A84CDF2A}"/>
              </a:ext>
            </a:extLst>
          </p:cNvPr>
          <p:cNvCxnSpPr>
            <a:cxnSpLocks/>
          </p:cNvCxnSpPr>
          <p:nvPr/>
        </p:nvCxnSpPr>
        <p:spPr>
          <a:xfrm>
            <a:off x="6438084" y="3961594"/>
            <a:ext cx="556055" cy="11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xmlns="" id="{1A2EC8A6-FEDD-4A70-9B23-6FE86D88528C}"/>
                  </a:ext>
                </a:extLst>
              </p:cNvPr>
              <p:cNvSpPr txBox="1"/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1A2EC8A6-FEDD-4A70-9B23-6FE86D88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530" y="3196723"/>
                <a:ext cx="137625" cy="215444"/>
              </a:xfrm>
              <a:prstGeom prst="rect">
                <a:avLst/>
              </a:prstGeom>
              <a:blipFill>
                <a:blip r:embed="rId7"/>
                <a:stretch>
                  <a:fillRect l="-18182" t="-8333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xmlns="" id="{1BDE252E-5809-4279-94CA-6E96B539D43F}"/>
                  </a:ext>
                </a:extLst>
              </p:cNvPr>
              <p:cNvSpPr txBox="1"/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BDE252E-5809-4279-94CA-6E96B539D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924" y="3865852"/>
                <a:ext cx="137625" cy="215444"/>
              </a:xfrm>
              <a:prstGeom prst="rect">
                <a:avLst/>
              </a:prstGeom>
              <a:blipFill>
                <a:blip r:embed="rId8"/>
                <a:stretch>
                  <a:fillRect l="-22727" t="-8333" r="-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xmlns="" id="{A93D577A-EBAE-4B08-9173-4C0F2C02F782}"/>
              </a:ext>
            </a:extLst>
          </p:cNvPr>
          <p:cNvCxnSpPr>
            <a:cxnSpLocks/>
          </p:cNvCxnSpPr>
          <p:nvPr/>
        </p:nvCxnSpPr>
        <p:spPr>
          <a:xfrm>
            <a:off x="9896428" y="3421404"/>
            <a:ext cx="15351" cy="659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xmlns="" id="{51A5074D-DFB1-4DFA-9A9E-73B0F724E598}"/>
              </a:ext>
            </a:extLst>
          </p:cNvPr>
          <p:cNvCxnSpPr>
            <a:cxnSpLocks/>
          </p:cNvCxnSpPr>
          <p:nvPr/>
        </p:nvCxnSpPr>
        <p:spPr>
          <a:xfrm flipH="1" flipV="1">
            <a:off x="9295723" y="3421404"/>
            <a:ext cx="598885" cy="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xmlns="" id="{1A252A61-9B8A-451C-9DFE-EB51C7632401}"/>
                  </a:ext>
                </a:extLst>
              </p:cNvPr>
              <p:cNvSpPr txBox="1"/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1A252A61-9B8A-451C-9DFE-EB51C7632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966" y="4081296"/>
                <a:ext cx="137625" cy="215444"/>
              </a:xfrm>
              <a:prstGeom prst="rect">
                <a:avLst/>
              </a:prstGeom>
              <a:blipFill>
                <a:blip r:embed="rId9"/>
                <a:stretch>
                  <a:fillRect l="-18182" t="-11429" r="-11363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xmlns="" id="{437282F6-6F23-4917-B0A1-1AB9F9DA3971}"/>
                  </a:ext>
                </a:extLst>
              </p:cNvPr>
              <p:cNvSpPr txBox="1"/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437282F6-6F23-4917-B0A1-1AB9F9DA3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6278" y="3304445"/>
                <a:ext cx="137625" cy="215444"/>
              </a:xfrm>
              <a:prstGeom prst="rect">
                <a:avLst/>
              </a:prstGeom>
              <a:blipFill>
                <a:blip r:embed="rId10"/>
                <a:stretch>
                  <a:fillRect l="-17391" t="-8571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xmlns="" id="{89DC91E5-2FA1-4299-A20E-792B66F161F0}"/>
                  </a:ext>
                </a:extLst>
              </p:cNvPr>
              <p:cNvSpPr txBox="1"/>
              <p:nvPr/>
            </p:nvSpPr>
            <p:spPr>
              <a:xfrm>
                <a:off x="6147288" y="5025272"/>
                <a:ext cx="5332347" cy="1492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There is no change in the bulk order in response to the bond impurity, hence the 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Hamiltonian 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is “virtually” unchanged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9DC91E5-2FA1-4299-A20E-792B66F16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7288" y="5025272"/>
                <a:ext cx="5332347" cy="1492460"/>
              </a:xfrm>
              <a:prstGeom prst="rect">
                <a:avLst/>
              </a:prstGeom>
              <a:blipFill rotWithShape="0">
                <a:blip r:embed="rId11"/>
                <a:stretch>
                  <a:fillRect l="-914" t="-2041" r="-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xmlns="" id="{ABA180AA-6E53-4B48-AD66-D0E076EE3BE6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A180AA-6E53-4B48-AD66-D0E076EE3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3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Single bond impurity</a:t>
            </a:r>
            <a:endParaRPr lang="x-none" sz="3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Non-trivial response for non-collinear magnets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xmlns="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937680" y="5025272"/>
                <a:ext cx="5085615" cy="15389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disorder, 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this is a perturbative correction to the 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“effective” bulk 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Hamiltonian,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680" y="5025272"/>
                <a:ext cx="5085615" cy="1538947"/>
              </a:xfrm>
              <a:prstGeom prst="rect">
                <a:avLst/>
              </a:prstGeom>
              <a:blipFill rotWithShape="0">
                <a:blip r:embed="rId14"/>
                <a:stretch>
                  <a:fillRect l="-1079" t="-1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029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042830"/>
            <a:ext cx="5185094" cy="414036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a non-collinear magnet</a:t>
            </a: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xmlns="" id="{1D64F189-8CCC-4E65-85DE-7BB8C3AC3D09}"/>
              </a:ext>
            </a:extLst>
          </p:cNvPr>
          <p:cNvSpPr txBox="1">
            <a:spLocks/>
          </p:cNvSpPr>
          <p:nvPr/>
        </p:nvSpPr>
        <p:spPr>
          <a:xfrm>
            <a:off x="6221835" y="2036603"/>
            <a:ext cx="5257800" cy="414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xmlns="" id="{7DCE5688-BB50-471B-B2E4-1FAD8CEE25F0}"/>
              </a:ext>
            </a:extLst>
          </p:cNvPr>
          <p:cNvSpPr/>
          <p:nvPr/>
        </p:nvSpPr>
        <p:spPr>
          <a:xfrm rot="2085685">
            <a:off x="2034599" y="2882166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xmlns="" id="{07CF10CF-84A6-43A0-A082-1A7F5EF0FD16}"/>
              </a:ext>
            </a:extLst>
          </p:cNvPr>
          <p:cNvCxnSpPr>
            <a:cxnSpLocks/>
          </p:cNvCxnSpPr>
          <p:nvPr/>
        </p:nvCxnSpPr>
        <p:spPr>
          <a:xfrm>
            <a:off x="2038524" y="3703488"/>
            <a:ext cx="16442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Arrow: Up 75">
            <a:extLst>
              <a:ext uri="{FF2B5EF4-FFF2-40B4-BE49-F238E27FC236}">
                <a16:creationId xmlns:a16="http://schemas.microsoft.com/office/drawing/2014/main" xmlns="" id="{50178F35-58BA-4F2C-AA31-B49C1C3D0745}"/>
              </a:ext>
            </a:extLst>
          </p:cNvPr>
          <p:cNvSpPr/>
          <p:nvPr/>
        </p:nvSpPr>
        <p:spPr>
          <a:xfrm>
            <a:off x="1989344" y="2921042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8" name="Arrow: Up 77">
            <a:extLst>
              <a:ext uri="{FF2B5EF4-FFF2-40B4-BE49-F238E27FC236}">
                <a16:creationId xmlns:a16="http://schemas.microsoft.com/office/drawing/2014/main" xmlns="" id="{DCA3BA35-E5E2-4610-BE11-C1D22F2200C0}"/>
              </a:ext>
            </a:extLst>
          </p:cNvPr>
          <p:cNvSpPr/>
          <p:nvPr/>
        </p:nvSpPr>
        <p:spPr>
          <a:xfrm rot="8597487">
            <a:off x="3599987" y="2842033"/>
            <a:ext cx="52379" cy="1599737"/>
          </a:xfrm>
          <a:prstGeom prst="up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79" name="Arrow: Up 78">
            <a:extLst>
              <a:ext uri="{FF2B5EF4-FFF2-40B4-BE49-F238E27FC236}">
                <a16:creationId xmlns:a16="http://schemas.microsoft.com/office/drawing/2014/main" xmlns="" id="{54B27E3A-510E-424A-A265-4FB9BC58D8E7}"/>
              </a:ext>
            </a:extLst>
          </p:cNvPr>
          <p:cNvSpPr/>
          <p:nvPr/>
        </p:nvSpPr>
        <p:spPr>
          <a:xfrm rot="10800000">
            <a:off x="3649906" y="2921041"/>
            <a:ext cx="98361" cy="1521983"/>
          </a:xfrm>
          <a:prstGeom prst="upArrow">
            <a:avLst/>
          </a:prstGeom>
          <a:noFill/>
          <a:ln w="63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xmlns="" id="{A4D84B0B-B4D0-4720-B988-1D5DF8F8A31E}"/>
              </a:ext>
            </a:extLst>
          </p:cNvPr>
          <p:cNvSpPr/>
          <p:nvPr/>
        </p:nvSpPr>
        <p:spPr>
          <a:xfrm rot="679148" flipH="1">
            <a:off x="2054061" y="2581046"/>
            <a:ext cx="558079" cy="213628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sp>
        <p:nvSpPr>
          <p:cNvPr id="80" name="Arrow: Curved Down 79">
            <a:extLst>
              <a:ext uri="{FF2B5EF4-FFF2-40B4-BE49-F238E27FC236}">
                <a16:creationId xmlns:a16="http://schemas.microsoft.com/office/drawing/2014/main" xmlns="" id="{819AA9E6-529C-4EE2-AB57-E3FF00D9C558}"/>
              </a:ext>
            </a:extLst>
          </p:cNvPr>
          <p:cNvSpPr/>
          <p:nvPr/>
        </p:nvSpPr>
        <p:spPr>
          <a:xfrm rot="20280577" flipH="1" flipV="1">
            <a:off x="3769444" y="4478648"/>
            <a:ext cx="519829" cy="214113"/>
          </a:xfrm>
          <a:prstGeom prst="curved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xmlns="" id="{E2C0B574-9EDD-4748-BC18-36830B0CBB23}"/>
              </a:ext>
            </a:extLst>
          </p:cNvPr>
          <p:cNvCxnSpPr>
            <a:cxnSpLocks/>
          </p:cNvCxnSpPr>
          <p:nvPr/>
        </p:nvCxnSpPr>
        <p:spPr>
          <a:xfrm flipV="1">
            <a:off x="1029297" y="3429000"/>
            <a:ext cx="327170" cy="425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xmlns="" id="{B5BD5AEF-0262-41E1-8600-E78BC697BD4F}"/>
              </a:ext>
            </a:extLst>
          </p:cNvPr>
          <p:cNvCxnSpPr>
            <a:cxnSpLocks/>
          </p:cNvCxnSpPr>
          <p:nvPr/>
        </p:nvCxnSpPr>
        <p:spPr>
          <a:xfrm>
            <a:off x="1029297" y="3846947"/>
            <a:ext cx="434823" cy="280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898DA535-066E-4BFB-B9FF-31EAAEEB0BCA}"/>
                  </a:ext>
                </a:extLst>
              </p:cNvPr>
              <p:cNvSpPr txBox="1"/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8DA535-066E-4BFB-B9FF-31EAAEEB0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81" y="3230967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xmlns="" id="{3475D768-1973-4E59-99F8-650D1E44EFAF}"/>
                  </a:ext>
                </a:extLst>
              </p:cNvPr>
              <p:cNvSpPr txBox="1"/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475D768-1973-4E59-99F8-650D1E44E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721" y="4020129"/>
                <a:ext cx="137625" cy="215444"/>
              </a:xfrm>
              <a:prstGeom prst="rect">
                <a:avLst/>
              </a:prstGeom>
              <a:blipFill>
                <a:blip r:embed="rId3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xmlns="" id="{DCA466F4-4A3D-4190-B733-77517C6D038B}"/>
              </a:ext>
            </a:extLst>
          </p:cNvPr>
          <p:cNvCxnSpPr>
            <a:cxnSpLocks/>
          </p:cNvCxnSpPr>
          <p:nvPr/>
        </p:nvCxnSpPr>
        <p:spPr>
          <a:xfrm>
            <a:off x="4545195" y="3475318"/>
            <a:ext cx="301569" cy="479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xmlns="" id="{943DB12E-E915-495D-8A86-D0AC1FB5D5D3}"/>
              </a:ext>
            </a:extLst>
          </p:cNvPr>
          <p:cNvCxnSpPr>
            <a:cxnSpLocks/>
          </p:cNvCxnSpPr>
          <p:nvPr/>
        </p:nvCxnSpPr>
        <p:spPr>
          <a:xfrm flipH="1">
            <a:off x="4144267" y="3475675"/>
            <a:ext cx="399108" cy="271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xmlns="" id="{9B73B01C-12A3-4162-A4A0-C6096F67501B}"/>
                  </a:ext>
                </a:extLst>
              </p:cNvPr>
              <p:cNvSpPr txBox="1"/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B73B01C-12A3-4162-A4A0-C6096F675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05" y="3980956"/>
                <a:ext cx="137625" cy="215444"/>
              </a:xfrm>
              <a:prstGeom prst="rect">
                <a:avLst/>
              </a:prstGeom>
              <a:blipFill>
                <a:blip r:embed="rId2"/>
                <a:stretch>
                  <a:fillRect l="-13043" t="-8571" r="-10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xmlns="" id="{A5499DE1-B6BD-439B-8A55-41D944383B80}"/>
                  </a:ext>
                </a:extLst>
              </p:cNvPr>
              <p:cNvSpPr txBox="1"/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1400" i="1" smtClean="0"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x-none" sz="14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5499DE1-B6BD-439B-8A55-41D944383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002" y="3695269"/>
                <a:ext cx="137625" cy="215444"/>
              </a:xfrm>
              <a:prstGeom prst="rect">
                <a:avLst/>
              </a:prstGeom>
              <a:blipFill>
                <a:blip r:embed="rId4"/>
                <a:stretch>
                  <a:fillRect l="-17391" t="-8333" r="-6521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xmlns="" id="{F3CA26D5-3704-4F66-A651-164F798F8060}"/>
                  </a:ext>
                </a:extLst>
              </p:cNvPr>
              <p:cNvSpPr txBox="1"/>
              <p:nvPr/>
            </p:nvSpPr>
            <p:spPr>
              <a:xfrm>
                <a:off x="937680" y="5025272"/>
                <a:ext cx="5085615" cy="15389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Frustration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is locally relieved. For infinitesimal 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disorder, 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this is a perturbative correction to the 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“effective” bulk 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Hamiltonian,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acc>
                        </m:sub>
                        <m:sup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3CA26D5-3704-4F66-A651-164F798F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680" y="5025272"/>
                <a:ext cx="5085615" cy="1538947"/>
              </a:xfrm>
              <a:prstGeom prst="rect">
                <a:avLst/>
              </a:prstGeom>
              <a:blipFill rotWithShape="0">
                <a:blip r:embed="rId5"/>
                <a:stretch>
                  <a:fillRect l="-1079" t="-1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xmlns="" id="{E9CC5D54-0080-4C21-9CB5-D40E074EEF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9143" y="2036603"/>
                <a:ext cx="5138822" cy="45136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linear response approximation this leads to finite expectation value of transverse spin fluctuation.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If we consider the Goldstone modes,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18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⃗"/>
                                <m:ctrlP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sub>
                          <m:sup>
                            <m:r>
                              <a:rPr lang="en-US" sz="18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</m:d>
                    <m:r>
                      <a:rPr lang="en-US" sz="18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, the response is dipolar,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2D, the real space response is also dipolar</a:t>
                </a:r>
              </a:p>
            </p:txBody>
          </p:sp>
        </mc:Choice>
        <mc:Fallback xmlns="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9CC5D54-0080-4C21-9CB5-D40E074E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143" y="2036603"/>
                <a:ext cx="5138822" cy="4513639"/>
              </a:xfrm>
              <a:prstGeom prst="rect">
                <a:avLst/>
              </a:prstGeom>
              <a:blipFill rotWithShape="0">
                <a:blip r:embed="rId6"/>
                <a:stretch>
                  <a:fillRect l="-830" t="-1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xmlns="" id="{4A5DDA08-7A1C-4299-8317-113F9D651360}"/>
                  </a:ext>
                </a:extLst>
              </p:cNvPr>
              <p:cNvSpPr txBox="1"/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1">
                                                  <a:lumMod val="85000"/>
                                                  <a:lumOff val="1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5DDA08-7A1C-4299-8317-113F9D651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387" y="2840258"/>
                <a:ext cx="3741950" cy="5821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xmlns="" id="{544851C4-C121-479C-8993-D23E0B5BFEEA}"/>
                  </a:ext>
                </a:extLst>
              </p:cNvPr>
              <p:cNvSpPr txBox="1"/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44851C4-C121-479C-8993-D23E0B5BF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626" y="3377149"/>
                <a:ext cx="3741950" cy="371064"/>
              </a:xfrm>
              <a:prstGeom prst="rect">
                <a:avLst/>
              </a:prstGeom>
              <a:blipFill>
                <a:blip r:embed="rId8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xmlns="" id="{3AC2280B-96A5-4F4F-9647-BC8469FA8AA8}"/>
                  </a:ext>
                </a:extLst>
              </p:cNvPr>
              <p:cNvSpPr txBox="1"/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.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</m:acc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C2280B-96A5-4F4F-9647-BC8469FA8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078" y="3741239"/>
                <a:ext cx="4718766" cy="5721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xmlns="" id="{1C91CD0E-8444-49E0-BF05-DFF3E5674584}"/>
                  </a:ext>
                </a:extLst>
              </p:cNvPr>
              <p:cNvSpPr txBox="1"/>
              <p:nvPr/>
            </p:nvSpPr>
            <p:spPr>
              <a:xfrm>
                <a:off x="7154082" y="5005089"/>
                <a:ext cx="2921096" cy="6891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 (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en-U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)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C91CD0E-8444-49E0-BF05-DFF3E5674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4082" y="5005089"/>
                <a:ext cx="2921096" cy="68916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xmlns="" id="{1B1B23B8-B407-498C-923E-F20AF5881157}"/>
                  </a:ext>
                </a:extLst>
              </p:cNvPr>
              <p:cNvSpPr txBox="1"/>
              <p:nvPr/>
            </p:nvSpPr>
            <p:spPr>
              <a:xfrm>
                <a:off x="7156968" y="5976227"/>
                <a:ext cx="2921096" cy="613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B1B23B8-B407-498C-923E-F20AF588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68" y="5976227"/>
                <a:ext cx="2921096" cy="61324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xmlns="" id="{D07F661C-8004-4D22-8269-80EDFF1AF054}"/>
                  </a:ext>
                </a:extLst>
              </p:cNvPr>
              <p:cNvSpPr txBox="1"/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b="0" i="1" smtClean="0"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07F661C-8004-4D22-8269-80EDFF1AF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839" y="3752823"/>
                <a:ext cx="699679" cy="369332"/>
              </a:xfrm>
              <a:prstGeom prst="rect">
                <a:avLst/>
              </a:prstGeom>
              <a:blipFill>
                <a:blip r:embed="rId12"/>
                <a:stretch>
                  <a:fillRect r="-2368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xmlns="" id="{E10E445E-5E05-4F78-AE27-F235C3E05E81}"/>
                  </a:ext>
                </a:extLst>
              </p:cNvPr>
              <p:cNvSpPr txBox="1"/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x-none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0E445E-5E05-4F78-AE27-F235C3E05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110" y="3302175"/>
                <a:ext cx="641201" cy="369332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Single bond impurity</a:t>
            </a:r>
            <a:endParaRPr lang="x-none" sz="36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Non-trivial response for non-collinear magnets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91453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Bond impurity: Dipolar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850" y="2036603"/>
                <a:ext cx="5383635" cy="4140360"/>
              </a:xfrm>
              <a:blipFill>
                <a:blip r:embed="rId2"/>
                <a:stretch>
                  <a:fillRect l="-1925" t="-324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xmlns="" id="{1D64F189-8CCC-4E65-85DE-7BB8C3AC3D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Vacancy: Octupolar response</a:t>
                </a: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§"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    </a:t>
                </a:r>
                <a:endParaRPr lang="en-US" sz="18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1D64F189-8CCC-4E65-85DE-7BB8C3AC3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835" y="2036602"/>
                <a:ext cx="5257800" cy="4657809"/>
              </a:xfrm>
              <a:prstGeom prst="rect">
                <a:avLst/>
              </a:prstGeom>
              <a:blipFill rotWithShape="0">
                <a:blip r:embed="rId3"/>
                <a:stretch>
                  <a:fillRect l="-2088" t="-2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27C707B6-51B3-4036-A46B-0D29A9A9A4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783" y="2762962"/>
            <a:ext cx="2249095" cy="23785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C9C5C4B7-34A4-48C1-A1DC-06A11ED8C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165" y="2762962"/>
            <a:ext cx="2424322" cy="23785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E60C39C8-1D7E-4E9C-8D78-A389E4BAD3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026" y="2930141"/>
            <a:ext cx="2157781" cy="215778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xmlns="" id="{283EC524-5C28-4BC8-A346-49D6A760C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622" y="2930141"/>
            <a:ext cx="2058011" cy="205801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Single bond impurity</a:t>
            </a:r>
            <a:endParaRPr lang="x-none" sz="36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Dipolar response in 2D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52462" y="6176963"/>
            <a:ext cx="36572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Alexander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Wollny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Lars Fritz, and Matthias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Vojta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Phys. Rev.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Lett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 107, 137204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(2011)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943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Bond impurity: Dipolar response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Transverse fluctuation is proportional to the strength of the bond impurity.</a:t>
                </a: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lvl="1"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disordered system, one expects the impurity magnitudes,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</m:sSub>
                  </m:oMath>
                </a14:m>
                <a:r>
                  <a:rPr lang="en-US" sz="18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to be uncorrelated.</a:t>
                </a:r>
                <a:endParaRPr 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140360"/>
              </a:xfrm>
              <a:blipFill>
                <a:blip r:embed="rId2"/>
                <a:stretch>
                  <a:fillRect l="-1043" t="-23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xmlns="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 integral diverges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Hence the lower critical dimension for bond disordered non-collinear magnets is,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766" y="4626166"/>
                <a:ext cx="5100427" cy="1754326"/>
              </a:xfrm>
              <a:prstGeom prst="rect">
                <a:avLst/>
              </a:prstGeom>
              <a:blipFill>
                <a:blip r:embed="rId3"/>
                <a:stretch>
                  <a:fillRect l="-717" t="-20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Rectangle 244">
            <a:extLst>
              <a:ext uri="{FF2B5EF4-FFF2-40B4-BE49-F238E27FC236}">
                <a16:creationId xmlns:a16="http://schemas.microsoft.com/office/drawing/2014/main" xmlns="" id="{C143E3E0-E5AF-4DCA-8D45-ABF1F63F708D}"/>
              </a:ext>
            </a:extLst>
          </p:cNvPr>
          <p:cNvSpPr/>
          <p:nvPr/>
        </p:nvSpPr>
        <p:spPr>
          <a:xfrm>
            <a:off x="8217590" y="60177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CE53D487-41DE-4E55-AC40-716497812C4B}"/>
                  </a:ext>
                </a:extLst>
              </p:cNvPr>
              <p:cNvSpPr txBox="1"/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sub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bSup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, for a distribution of bond impurities.</a:t>
                </a:r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53D487-41DE-4E55-AC40-716497812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789" y="3000315"/>
                <a:ext cx="7415868" cy="402482"/>
              </a:xfrm>
              <a:prstGeom prst="rect">
                <a:avLst/>
              </a:prstGeom>
              <a:blipFill>
                <a:blip r:embed="rId4"/>
                <a:stretch>
                  <a:fillRect t="-104545" b="-16818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xmlns="" id="{D5F5CF77-369F-46EF-8F28-41FBAA86F3FF}"/>
                  </a:ext>
                </a:extLst>
              </p:cNvPr>
              <p:cNvSpPr txBox="1"/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  <m:r>
                              <a:rPr lang="en-US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(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− </m:t>
                    </m:r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endParaRPr lang="x-none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F5CF77-369F-46EF-8F28-41FBAA86F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276" y="3991085"/>
                <a:ext cx="2718033" cy="375424"/>
              </a:xfrm>
              <a:prstGeom prst="rect">
                <a:avLst/>
              </a:prstGeom>
              <a:blipFill>
                <a:blip r:embed="rId5"/>
                <a:stretch>
                  <a:fillRect t="-19672" b="-1475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76F0511A-6176-4E21-A3E6-223AC73965EE}"/>
                  </a:ext>
                </a:extLst>
              </p:cNvPr>
              <p:cNvSpPr txBox="1"/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This implies that the transverse correlation has a divergent contribution,</a:t>
                </a:r>
                <a:endParaRPr lang="en-US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naryPr>
                        <m:sub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subHide m:val="on"/>
                          <m:supHide m:val="on"/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b="0" i="1" dirty="0" smtClean="0">
                                          <a:solidFill>
                                            <a:schemeClr val="tx1">
                                              <a:lumMod val="85000"/>
                                              <a:lumOff val="1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  <m:sSubSup>
                            <m:sSubSup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∼∫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6F0511A-6176-4E21-A3E6-223AC739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443" y="4626166"/>
                <a:ext cx="4688080" cy="2034788"/>
              </a:xfrm>
              <a:prstGeom prst="rect">
                <a:avLst/>
              </a:prstGeom>
              <a:blipFill>
                <a:blip r:embed="rId6"/>
                <a:stretch>
                  <a:fillRect l="-1040" t="-1796" r="-22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Concentration of bond impurity</a:t>
            </a:r>
            <a:endParaRPr lang="x-none" sz="36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Infrared divergence driven by disorder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84231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83813" cy="92252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Lower critical dimension of disordered frustrated non-collinear magnets: Energetics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xmlns="" id="{ED567242-5A9E-41B9-B90C-625163F4C5F0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1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  <a:buFont typeface="Wingdings" charset="2"/>
              <a:buChar char="§"/>
            </a:pP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Our 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test syste</a:t>
            </a:r>
            <a:r>
              <a:rPr lang="en-US" dirty="0"/>
              <a:t>m: The triangular lattice Heisenberg model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Claim: In a system with random couplings, some rare regions emerge with a particular bond anisotropy orientation.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xmlns="" id="{94233CE1-06D0-4A9B-9F02-2781C8450F7D}"/>
                  </a:ext>
                </a:extLst>
              </p:cNvPr>
              <p:cNvSpPr txBox="1"/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the “isotropic” limit the ground state has spiral order with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With bond anisotropy the order is described by an incommensurate ordering vector,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</m:e>
                    </m:d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94233CE1-06D0-4A9B-9F02-2781C845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71366"/>
                <a:ext cx="5100427" cy="2658677"/>
              </a:xfrm>
              <a:prstGeom prst="rect">
                <a:avLst/>
              </a:prstGeom>
              <a:blipFill>
                <a:blip r:embed="rId2"/>
                <a:stretch>
                  <a:fillRect l="-717" t="-1376" r="-17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A0E0AAD1-99C7-4545-9AFE-2E3D877EC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360" y="3071367"/>
            <a:ext cx="2520368" cy="24522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Incommensurability domains</a:t>
            </a:r>
            <a:endParaRPr lang="x-none" sz="36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Incommensurate order in non-collinear magnets</a:t>
            </a:r>
          </a:p>
        </p:txBody>
      </p:sp>
    </p:spTree>
    <p:extLst>
      <p:ext uri="{BB962C8B-B14F-4D97-AF65-F5344CB8AC3E}">
        <p14:creationId xmlns:p14="http://schemas.microsoft.com/office/powerpoint/2010/main" val="326130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Rare regions with particular bond anisotropy</a:t>
            </a: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: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CC008A3C-58BC-4D61-944C-BF5112E8FA0F}"/>
                  </a:ext>
                </a:extLst>
              </p:cNvPr>
              <p:cNvSpPr txBox="1"/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In a lattice there is a discrete number of possible bond anisotropy orientation.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They define a sharp domain wall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incommensurate ordering vectors follow the suit</a:t>
                </a: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r>
                  <a:rPr lang="en-US" dirty="0"/>
                  <a:t>The surface energy cost for such a domain formation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𝑠𝑢𝑟𝑓𝑎𝑐𝑒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−1 </m:t>
                        </m:r>
                      </m:sup>
                    </m:sSup>
                  </m:oMath>
                </a14:m>
                <a:r>
                  <a:rPr lang="en-US" dirty="0"/>
                  <a:t> , while the bulk energy gain is determined by the volume and the central limit theorem,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f>
                          <m:fPr>
                            <m:ctrlPr>
                              <a:rPr lang="en-US" b="0" i="1" smtClean="0"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dirty="0"/>
                  <a:t>. Hence the critical dimension is once again,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08A3C-58BC-4D61-944C-BF5112E8F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126" y="2663505"/>
                <a:ext cx="5553512" cy="4119333"/>
              </a:xfrm>
              <a:prstGeom prst="rect">
                <a:avLst/>
              </a:prstGeom>
              <a:blipFill>
                <a:blip r:embed="rId2"/>
                <a:stretch>
                  <a:fillRect l="-768" t="-888" r="-186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7BCC96B-FD2A-4B72-9856-1CFE89872D2C}"/>
              </a:ext>
            </a:extLst>
          </p:cNvPr>
          <p:cNvSpPr/>
          <p:nvPr/>
        </p:nvSpPr>
        <p:spPr>
          <a:xfrm>
            <a:off x="3419087" y="6093271"/>
            <a:ext cx="1030778" cy="361766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xmlns="" id="{56428F22-64A1-4831-90F8-03179D4FD98A}"/>
                  </a:ext>
                </a:extLst>
              </p14:cNvPr>
              <p14:cNvContentPartPr/>
              <p14:nvPr/>
            </p14:nvContentPartPr>
            <p14:xfrm>
              <a:off x="7380034" y="2821367"/>
              <a:ext cx="3687840" cy="3082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6428F22-64A1-4831-90F8-03179D4FD9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71034" y="2812367"/>
                <a:ext cx="3705480" cy="3100320"/>
              </a:xfrm>
              <a:prstGeom prst="rect">
                <a:avLst/>
              </a:prstGeom>
            </p:spPr>
          </p:pic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xmlns="" id="{57B1ACE0-4F89-4EE1-A7A0-8314534481A3}"/>
              </a:ext>
            </a:extLst>
          </p:cNvPr>
          <p:cNvCxnSpPr>
            <a:cxnSpLocks/>
          </p:cNvCxnSpPr>
          <p:nvPr/>
        </p:nvCxnSpPr>
        <p:spPr>
          <a:xfrm>
            <a:off x="7499758" y="4400026"/>
            <a:ext cx="1853967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xmlns="" id="{3ABBE17F-27C5-499F-92A9-C43ECF7E5AB7}"/>
              </a:ext>
            </a:extLst>
          </p:cNvPr>
          <p:cNvCxnSpPr>
            <a:cxnSpLocks/>
          </p:cNvCxnSpPr>
          <p:nvPr/>
        </p:nvCxnSpPr>
        <p:spPr>
          <a:xfrm>
            <a:off x="7415868" y="4682625"/>
            <a:ext cx="1904301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xmlns="" id="{1DF61E52-0E4B-4F3B-896C-10F78936261A}"/>
              </a:ext>
            </a:extLst>
          </p:cNvPr>
          <p:cNvCxnSpPr>
            <a:cxnSpLocks/>
          </p:cNvCxnSpPr>
          <p:nvPr/>
        </p:nvCxnSpPr>
        <p:spPr>
          <a:xfrm>
            <a:off x="7369987" y="4980265"/>
            <a:ext cx="1899848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xmlns="" id="{E72A4D8F-997B-488C-837A-7B35F2FCF71F}"/>
              </a:ext>
            </a:extLst>
          </p:cNvPr>
          <p:cNvCxnSpPr>
            <a:cxnSpLocks/>
          </p:cNvCxnSpPr>
          <p:nvPr/>
        </p:nvCxnSpPr>
        <p:spPr>
          <a:xfrm>
            <a:off x="7415868" y="5299047"/>
            <a:ext cx="1808086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8B7F1367-F36E-489E-A969-A6F187E76615}"/>
              </a:ext>
            </a:extLst>
          </p:cNvPr>
          <p:cNvCxnSpPr>
            <a:cxnSpLocks/>
          </p:cNvCxnSpPr>
          <p:nvPr/>
        </p:nvCxnSpPr>
        <p:spPr>
          <a:xfrm>
            <a:off x="7575259" y="5575883"/>
            <a:ext cx="1812022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3537C2EC-0320-4C33-BF8F-ECC02E6563E6}"/>
              </a:ext>
            </a:extLst>
          </p:cNvPr>
          <p:cNvCxnSpPr>
            <a:cxnSpLocks/>
          </p:cNvCxnSpPr>
          <p:nvPr/>
        </p:nvCxnSpPr>
        <p:spPr>
          <a:xfrm>
            <a:off x="7702492" y="4109208"/>
            <a:ext cx="1567343" cy="0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xmlns="" id="{6A6FF69A-1437-4878-B7A2-06EEB86FB29B}"/>
              </a:ext>
            </a:extLst>
          </p:cNvPr>
          <p:cNvCxnSpPr>
            <a:cxnSpLocks/>
          </p:cNvCxnSpPr>
          <p:nvPr/>
        </p:nvCxnSpPr>
        <p:spPr>
          <a:xfrm flipV="1">
            <a:off x="8235581" y="3815594"/>
            <a:ext cx="824529" cy="11016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xmlns="" id="{29F219F9-17F5-495D-A78A-CF8426FF3467}"/>
              </a:ext>
            </a:extLst>
          </p:cNvPr>
          <p:cNvCxnSpPr>
            <a:cxnSpLocks/>
          </p:cNvCxnSpPr>
          <p:nvPr/>
        </p:nvCxnSpPr>
        <p:spPr>
          <a:xfrm flipH="1" flipV="1">
            <a:off x="9353725" y="2965508"/>
            <a:ext cx="33556" cy="2642532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F720B8D1-910E-47A7-80CF-4D4278D13941}"/>
              </a:ext>
            </a:extLst>
          </p:cNvPr>
          <p:cNvCxnSpPr>
            <a:cxnSpLocks/>
          </p:cNvCxnSpPr>
          <p:nvPr/>
        </p:nvCxnSpPr>
        <p:spPr>
          <a:xfrm flipH="1" flipV="1">
            <a:off x="9623570" y="2881619"/>
            <a:ext cx="40547" cy="2726421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xmlns="" id="{B8768208-2E61-451C-AD67-6FBBF112BE0B}"/>
              </a:ext>
            </a:extLst>
          </p:cNvPr>
          <p:cNvCxnSpPr>
            <a:cxnSpLocks/>
          </p:cNvCxnSpPr>
          <p:nvPr/>
        </p:nvCxnSpPr>
        <p:spPr>
          <a:xfrm flipH="1" flipV="1">
            <a:off x="9921638" y="2821368"/>
            <a:ext cx="29802" cy="284539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xmlns="" id="{20A1DABD-44A6-406E-816B-D8E0B6C3B9EB}"/>
              </a:ext>
            </a:extLst>
          </p:cNvPr>
          <p:cNvCxnSpPr>
            <a:cxnSpLocks/>
          </p:cNvCxnSpPr>
          <p:nvPr/>
        </p:nvCxnSpPr>
        <p:spPr>
          <a:xfrm flipH="1" flipV="1">
            <a:off x="10187914" y="2821375"/>
            <a:ext cx="33554" cy="2786665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xmlns="" id="{7B1BABB4-6955-4153-94FB-D830F1049EE5}"/>
              </a:ext>
            </a:extLst>
          </p:cNvPr>
          <p:cNvCxnSpPr>
            <a:cxnSpLocks/>
          </p:cNvCxnSpPr>
          <p:nvPr/>
        </p:nvCxnSpPr>
        <p:spPr>
          <a:xfrm flipV="1">
            <a:off x="10492880" y="2932329"/>
            <a:ext cx="0" cy="2549877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xmlns="" id="{3B12C872-7581-47A5-89FF-CDEE8DFE331D}"/>
              </a:ext>
            </a:extLst>
          </p:cNvPr>
          <p:cNvCxnSpPr>
            <a:cxnSpLocks/>
          </p:cNvCxnSpPr>
          <p:nvPr/>
        </p:nvCxnSpPr>
        <p:spPr>
          <a:xfrm flipV="1">
            <a:off x="10787893" y="3192012"/>
            <a:ext cx="0" cy="1996579"/>
          </a:xfrm>
          <a:prstGeom prst="line">
            <a:avLst/>
          </a:prstGeom>
          <a:ln>
            <a:prstDash val="dash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Incommensurability domains</a:t>
            </a:r>
            <a:endParaRPr lang="x-none" sz="36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Sharp domain boundaries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11939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Magnitude of disorder determines the domain size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1" indent="0">
              <a:lnSpc>
                <a:spcPct val="110000"/>
              </a:lnSpc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CC008A3C-58BC-4D61-944C-BF5112E8FA0F}"/>
              </a:ext>
            </a:extLst>
          </p:cNvPr>
          <p:cNvSpPr txBox="1"/>
          <p:nvPr/>
        </p:nvSpPr>
        <p:spPr>
          <a:xfrm>
            <a:off x="1124125" y="2663505"/>
            <a:ext cx="819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Our test system once again: The disordered triangular lattice antiferromagnet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156D924-0C55-4D15-9A85-174682CC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66" y="3229571"/>
            <a:ext cx="3956757" cy="33851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5125CC0C-6684-4FBC-979A-E3BD550397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0846" y="3199696"/>
            <a:ext cx="3758106" cy="3444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xmlns="" id="{B7727D4E-5455-4039-8C20-0027B33BF58E}"/>
                  </a:ext>
                </a:extLst>
              </p:cNvPr>
              <p:cNvSpPr txBox="1"/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727D4E-5455-4039-8C20-0027B33BF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155" y="3199696"/>
                <a:ext cx="423899" cy="404791"/>
              </a:xfrm>
              <a:prstGeom prst="rect">
                <a:avLst/>
              </a:prstGeom>
              <a:blipFill>
                <a:blip r:embed="rId4"/>
                <a:stretch>
                  <a:fillRect t="-22727" r="-24286" b="-15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83B34F3E-6051-40F6-8AFA-565B0A96268A}"/>
                  </a:ext>
                </a:extLst>
              </p:cNvPr>
              <p:cNvSpPr txBox="1"/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3B34F3E-6051-40F6-8AFA-565B0A962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337" y="3169822"/>
                <a:ext cx="460382" cy="404791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2F2FB3EA-C8D6-46E8-BF4D-ACC64FC11FB9}"/>
              </a:ext>
            </a:extLst>
          </p:cNvPr>
          <p:cNvSpPr txBox="1"/>
          <p:nvPr/>
        </p:nvSpPr>
        <p:spPr>
          <a:xfrm>
            <a:off x="4997743" y="5751073"/>
            <a:ext cx="3156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Discrete domain formation and destruction of long range order.</a:t>
            </a:r>
            <a:endParaRPr lang="x-none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93" y="130906"/>
            <a:ext cx="10515600" cy="1041644"/>
          </a:xfrm>
        </p:spPr>
        <p:txBody>
          <a:bodyPr>
            <a:normAutofit/>
          </a:bodyPr>
          <a:lstStyle/>
          <a:p>
            <a:r>
              <a:rPr lang="en-US" sz="3600" dirty="0" smtClean="0"/>
              <a:t>Incommensurability domains</a:t>
            </a:r>
            <a:endParaRPr lang="x-none" sz="36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37680" y="1134593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7990" y="1281596"/>
            <a:ext cx="8455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Domain sizes</a:t>
            </a:r>
            <a:endParaRPr lang="en-US" sz="3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67098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 length grows exponentially with inverse disorder strength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bSup>
                        <m:sSub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unc>
                        <m:func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  Implication: For small distance resolution, an appearance of </a:t>
                </a:r>
                <a:r>
                  <a:rPr lang="en-US" sz="2400" u="sng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order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At finite temperature the system is thermally disordered with bare thermal 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correlation,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  <m:r>
                              <a:rPr lang="en-US" sz="24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. </m:t>
                            </m:r>
                            <m:acc>
                              <m:accPr>
                                <m:chr m:val="⃗"/>
                                <m:ctrlP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acc>
                          </m:sup>
                        </m:sSup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</m:e>
                    </m:nary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also diverging. The domination of quenched vs thermal disorder is determined by the ratio,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474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Quenched disorder: Random couplings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In a quasi-2D system with multiple 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layers, the </a:t>
                </a: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model essentially has an extra dimension. So, in such a system long range order is not broken as long as layer couplings are finite</a:t>
                </a: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For a model with SU(2) symmetry broken, if all the low energy modes get gapped out, say, with an energy scale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4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 In effect, long range order survives if,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≪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en-US" sz="24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400" b="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 emergent orders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90854"/>
                <a:ext cx="8591026" cy="461665"/>
              </a:xfrm>
              <a:prstGeom prst="rect">
                <a:avLst/>
              </a:prstGeom>
              <a:blipFill>
                <a:blip r:embed="rId3"/>
                <a:stretch>
                  <a:fillRect l="-1136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6924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accent2">
                    <a:lumMod val="50000"/>
                  </a:schemeClr>
                </a:solidFill>
              </a:rPr>
              <a:t>An example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Experiments and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microscopics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on disordered triangular lattice antiferromagnet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277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532298"/>
                <a:ext cx="8591026" cy="504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 smtClean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Experiments: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𝑌𝑏𝑍𝑛𝐺𝑎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charset="0"/>
                              </a:rPr>
                              <m:t>4</m:t>
                            </m:r>
                          </m:sub>
                        </m:sSub>
                      </m:e>
                      <m:sup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†</m:t>
                        </m:r>
                      </m:sup>
                    </m:sSup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32298"/>
                <a:ext cx="8591026" cy="504305"/>
              </a:xfrm>
              <a:prstGeom prst="rect">
                <a:avLst/>
              </a:prstGeom>
              <a:blipFill rotWithShape="0">
                <a:blip r:embed="rId2"/>
                <a:stretch>
                  <a:fillRect l="-1136" t="-1205" b="-265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4842964" y="6460035"/>
                <a:ext cx="2506071" cy="4361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charset="0"/>
                          </a:rPr>
                        </m:ctrlPr>
                      </m:sSupPr>
                      <m:e/>
                      <m:sup>
                        <m:r>
                          <a:rPr lang="sk-SK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Ma et. al, </a:t>
                </a:r>
                <a:r>
                  <a:rPr lang="en-US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arxiv</a:t>
                </a:r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2017</a:t>
                </a:r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964" y="6460035"/>
                <a:ext cx="2506071" cy="436145"/>
              </a:xfrm>
              <a:prstGeom prst="rect">
                <a:avLst/>
              </a:prstGeom>
              <a:blipFill rotWithShape="0">
                <a:blip r:embed="rId3"/>
                <a:stretch>
                  <a:fillRect b="-19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881" y="2233978"/>
            <a:ext cx="4104742" cy="35862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057853" y="5936350"/>
                <a:ext cx="4767581" cy="46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Thermal conductivity,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𝜅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den>
                    </m:f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den>
                    </m:f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𝛽</m:t>
                        </m:r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853" y="5936350"/>
                <a:ext cx="4767581" cy="461473"/>
              </a:xfrm>
              <a:prstGeom prst="rect">
                <a:avLst/>
              </a:prstGeom>
              <a:blipFill rotWithShape="0">
                <a:blip r:embed="rId5"/>
                <a:stretch>
                  <a:fillRect l="-1151" t="-69737" b="-8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415" y="2162131"/>
            <a:ext cx="5669289" cy="36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050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 fontScale="85000" lnSpcReduction="20000"/>
          </a:bodyPr>
          <a:lstStyle/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 general consensus is that disordered triangular lattice compound is spin-glass in nature.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“In this Letter, we report comprehensive measurements on a closely related system, YbZnGaO4. We show that the most natural conclusion, that is consistent with the micro- and macro-</a:t>
            </a:r>
            <a:r>
              <a:rPr lang="en-US" sz="2400" dirty="0" err="1"/>
              <a:t>scopic</a:t>
            </a:r>
            <a:r>
              <a:rPr lang="en-US" sz="2400" dirty="0"/>
              <a:t> data presented here is that the system is a spin glass. We believe disorder[5, 8, 11, 16, 17] and frustration[4, 5, 11, 18–22] to be largely responsible for this phase</a:t>
            </a:r>
            <a:r>
              <a:rPr lang="en-US" sz="2400" dirty="0" smtClean="0"/>
              <a:t>.. Ma et. al”</a:t>
            </a: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J. A. M. </a:t>
            </a:r>
            <a:r>
              <a:rPr lang="en-US" sz="2400" dirty="0" err="1"/>
              <a:t>Paddison</a:t>
            </a:r>
            <a:r>
              <a:rPr lang="en-US" sz="2400" dirty="0"/>
              <a:t>, M. </a:t>
            </a:r>
            <a:r>
              <a:rPr lang="en-US" sz="2400" dirty="0" err="1"/>
              <a:t>Daum</a:t>
            </a:r>
            <a:r>
              <a:rPr lang="en-US" sz="2400" dirty="0"/>
              <a:t>, Z. Dun, G. Ehlers, Y. Liu, M. B. Stone, H. Zhou, and M. </a:t>
            </a:r>
            <a:r>
              <a:rPr lang="en-US" sz="2400" dirty="0" err="1"/>
              <a:t>Mourigal</a:t>
            </a:r>
            <a:r>
              <a:rPr lang="en-US" sz="2400" dirty="0"/>
              <a:t>, Nature Phys. 13, 117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Y. Li, D. </a:t>
            </a:r>
            <a:r>
              <a:rPr lang="en-US" sz="2400" dirty="0" err="1"/>
              <a:t>Adroja</a:t>
            </a:r>
            <a:r>
              <a:rPr lang="en-US" sz="2400" dirty="0"/>
              <a:t>, R. I. </a:t>
            </a:r>
            <a:r>
              <a:rPr lang="en-US" sz="2400" dirty="0" err="1"/>
              <a:t>Bewley</a:t>
            </a:r>
            <a:r>
              <a:rPr lang="en-US" sz="2400" dirty="0"/>
              <a:t>, D. </a:t>
            </a:r>
            <a:r>
              <a:rPr lang="en-US" sz="2400" dirty="0" err="1"/>
              <a:t>Voneshen</a:t>
            </a:r>
            <a:r>
              <a:rPr lang="en-US" sz="2400" dirty="0"/>
              <a:t>, A. A. </a:t>
            </a:r>
            <a:r>
              <a:rPr lang="en-US" sz="2400" dirty="0" err="1"/>
              <a:t>Tsirlin</a:t>
            </a:r>
            <a:r>
              <a:rPr lang="en-US" sz="2400" dirty="0"/>
              <a:t>, P. </a:t>
            </a:r>
            <a:r>
              <a:rPr lang="en-US" sz="2400" dirty="0" err="1"/>
              <a:t>Gegenwart</a:t>
            </a:r>
            <a:r>
              <a:rPr lang="en-US" sz="2400" dirty="0"/>
              <a:t>, and Q. Zhang, Phys. Rev. Lett. 118, 107202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/>
              <a:t>X. Zhang, F. Mahmood, M. </a:t>
            </a:r>
            <a:r>
              <a:rPr lang="en-US" sz="2400" dirty="0" err="1"/>
              <a:t>Daum</a:t>
            </a:r>
            <a:r>
              <a:rPr lang="en-US" sz="2400" dirty="0"/>
              <a:t>, Z. Dun, J. A. M. </a:t>
            </a:r>
            <a:r>
              <a:rPr lang="en-US" sz="2400" dirty="0" err="1"/>
              <a:t>Paddison</a:t>
            </a:r>
            <a:r>
              <a:rPr lang="en-US" sz="2400" dirty="0"/>
              <a:t>, N. J. Laurita, T. Hong, H. Zhou, N. P. Armitage, and M. </a:t>
            </a:r>
            <a:r>
              <a:rPr lang="en-US" sz="2400" dirty="0" err="1"/>
              <a:t>Mourigal</a:t>
            </a:r>
            <a:r>
              <a:rPr lang="en-US" sz="2400" dirty="0"/>
              <a:t>, arXiv:1708.07503 (2017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400" dirty="0" smtClean="0"/>
              <a:t>L</a:t>
            </a:r>
            <a:r>
              <a:rPr lang="en-US" sz="2400" dirty="0"/>
              <a:t>. </a:t>
            </a:r>
            <a:r>
              <a:rPr lang="en-US" sz="2400" dirty="0" err="1"/>
              <a:t>Balents</a:t>
            </a:r>
            <a:r>
              <a:rPr lang="en-US" sz="2400" dirty="0"/>
              <a:t>, Nature 540, 534 (2016</a:t>
            </a:r>
            <a:r>
              <a:rPr lang="en-US" sz="2400" dirty="0" smtClean="0"/>
              <a:t>).</a:t>
            </a:r>
          </a:p>
          <a:p>
            <a:pPr lvl="0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nb-NO" sz="2400" dirty="0"/>
              <a:t>Z. Zhu, P. A. </a:t>
            </a:r>
            <a:r>
              <a:rPr lang="nb-NO" sz="2400" dirty="0" err="1"/>
              <a:t>Maksimov</a:t>
            </a:r>
            <a:r>
              <a:rPr lang="nb-NO" sz="2400" dirty="0"/>
              <a:t>, S. R. White, and A. L. </a:t>
            </a:r>
            <a:r>
              <a:rPr lang="nb-NO" sz="2400" dirty="0" err="1"/>
              <a:t>Chernyshev</a:t>
            </a:r>
            <a:r>
              <a:rPr lang="nb-NO" sz="2400" dirty="0"/>
              <a:t>, </a:t>
            </a:r>
            <a:r>
              <a:rPr lang="nb-NO" sz="2400" dirty="0" err="1"/>
              <a:t>Phys</a:t>
            </a:r>
            <a:r>
              <a:rPr lang="nb-NO" sz="2400" dirty="0"/>
              <a:t>. Rev. Lett. 119, 157201 (2017). [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979A644E-6B4B-499D-9FBC-BF6B6AFF17DB}"/>
                  </a:ext>
                </a:extLst>
              </p:cNvPr>
              <p:cNvSpPr txBox="1"/>
              <p:nvPr/>
            </p:nvSpPr>
            <p:spPr>
              <a:xfrm>
                <a:off x="838200" y="1532298"/>
                <a:ext cx="85910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 smtClean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Experiments: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charset="0"/>
                      </a:rPr>
                      <m:t>𝑌𝑏𝑀𝑔𝐺𝑎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𝑂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charset="0"/>
                          </a:rPr>
                          <m:t>4</m:t>
                        </m:r>
                      </m:sub>
                    </m:sSub>
                  </m:oMath>
                </a14:m>
                <a:endParaRPr lang="x-none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79A644E-6B4B-499D-9FBC-BF6B6AFF1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32298"/>
                <a:ext cx="8591026" cy="461665"/>
              </a:xfrm>
              <a:prstGeom prst="rect">
                <a:avLst/>
              </a:prstGeom>
              <a:blipFill rotWithShape="0">
                <a:blip r:embed="rId2"/>
                <a:stretch>
                  <a:fillRect l="-113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 rot="19550039">
            <a:off x="8095842" y="964668"/>
            <a:ext cx="23716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smtClean="0">
                <a:solidFill>
                  <a:srgbClr val="C00000"/>
                </a:solidFill>
              </a:rPr>
              <a:t>Elaborate</a:t>
            </a:r>
            <a:endParaRPr lang="en-US" sz="4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2928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2DC6DB-79AC-40CC-9EA0-71B012856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</p:spPr>
            <p:txBody>
              <a:bodyPr>
                <a:normAutofit/>
              </a:bodyPr>
              <a:lstStyle/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Disordered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Heisenberg model</a:t>
                </a: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 marR="0" lvl="0" defTabSz="91440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charset="2"/>
                  <a:buChar char="§"/>
                  <a:tabLst/>
                  <a:defRPr/>
                </a:pPr>
                <a:endParaRPr 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2DC6DB-79AC-40CC-9EA0-71B012856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36603"/>
                <a:ext cx="10515600" cy="4578116"/>
              </a:xfrm>
              <a:blipFill rotWithShape="0">
                <a:blip r:embed="rId2"/>
                <a:stretch>
                  <a:fillRect l="-812" t="-6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8200" y="1532298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Quantum fluctuations in the disordered Heisenberg model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40777" y="4704802"/>
            <a:ext cx="4776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/>
              <a:t>SWT</a:t>
            </a:r>
            <a:endParaRPr lang="en-US" dirty="0" smtClean="0"/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 smtClean="0"/>
              <a:t>Classical ground state with local minimization</a:t>
            </a:r>
          </a:p>
          <a:p>
            <a:pPr marL="342900" indent="-342900">
              <a:buAutoNum type="arabicPeriod"/>
            </a:pPr>
            <a:r>
              <a:rPr lang="en-US" dirty="0" smtClean="0"/>
              <a:t>SWT on top with angle correction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6576980" y="4704802"/>
            <a:ext cx="31293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Mean field theory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 smtClean="0"/>
              <a:t>Captures the singlet physics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7421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125C44-7ECF-4972-8CDB-951A823B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Disordered Triangular Lattice</a:t>
            </a:r>
            <a:endParaRPr lang="x-non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B02DC6DB-79AC-40CC-9EA0-71B012856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603"/>
            <a:ext cx="10515600" cy="4578116"/>
          </a:xfrm>
        </p:spPr>
        <p:txBody>
          <a:bodyPr>
            <a:normAutofit/>
          </a:bodyPr>
          <a:lstStyle/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Signature of disorder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/>
              <a:t>A comparison between the spin-wave spectrum and the experimental plot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Also comparison between BZ structure factor</a:t>
            </a:r>
          </a:p>
          <a:p>
            <a:pPr lvl="1">
              <a:lnSpc>
                <a:spcPct val="110000"/>
              </a:lnSpc>
              <a:spcBef>
                <a:spcPts val="0"/>
              </a:spcBef>
              <a:buFont typeface="Wingdings" charset="2"/>
              <a:buChar char="§"/>
            </a:pPr>
            <a:r>
              <a:rPr lang="en-US" sz="2000" dirty="0" smtClean="0"/>
              <a:t>Mobility edge?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Spin glass with singlet valleys: pictures from mean field theory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r>
              <a:rPr lang="en-US" sz="2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Qualitative phase diagram</a:t>
            </a: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 smtClean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R="0" lvl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2"/>
              <a:buChar char="§"/>
              <a:tabLst/>
              <a:defRPr/>
            </a:pP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xmlns="" id="{6CAEF362-8551-4FD9-841C-E82C58FA5029}"/>
              </a:ext>
            </a:extLst>
          </p:cNvPr>
          <p:cNvCxnSpPr>
            <a:cxnSpLocks/>
          </p:cNvCxnSpPr>
          <p:nvPr/>
        </p:nvCxnSpPr>
        <p:spPr>
          <a:xfrm>
            <a:off x="940777" y="1400542"/>
            <a:ext cx="10413023" cy="1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979A644E-6B4B-499D-9FBC-BF6B6AFF17DB}"/>
              </a:ext>
            </a:extLst>
          </p:cNvPr>
          <p:cNvSpPr txBox="1"/>
          <p:nvPr/>
        </p:nvSpPr>
        <p:spPr>
          <a:xfrm>
            <a:off x="838200" y="1532298"/>
            <a:ext cx="8591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Quantum fluctuations in the disordered Heisenberg model</a:t>
            </a:r>
            <a:endParaRPr lang="x-none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07220" y="27097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812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31FA8A-5905-49D8-9C37-E8A2243AA8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8653" y="841598"/>
            <a:ext cx="9144000" cy="2268414"/>
          </a:xfrm>
        </p:spPr>
        <p:txBody>
          <a:bodyPr>
            <a:normAutofit/>
          </a:bodyPr>
          <a:lstStyle/>
          <a:p>
            <a:pPr algn="l"/>
            <a:r>
              <a:rPr lang="en-US" sz="4000" dirty="0" smtClean="0">
                <a:solidFill>
                  <a:schemeClr val="accent2">
                    <a:lumMod val="50000"/>
                  </a:schemeClr>
                </a:solidFill>
              </a:rPr>
              <a:t>Thank you?</a:t>
            </a:r>
            <a:endParaRPr lang="x-none" sz="4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6A136C9-D2F5-484F-BF66-3D4A180EA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8652" y="3813052"/>
            <a:ext cx="9350257" cy="90994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Or a summary?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F645B3AE-7BD3-414D-8C84-8BAC6069E752}"/>
              </a:ext>
            </a:extLst>
          </p:cNvPr>
          <p:cNvCxnSpPr>
            <a:cxnSpLocks/>
          </p:cNvCxnSpPr>
          <p:nvPr/>
        </p:nvCxnSpPr>
        <p:spPr>
          <a:xfrm>
            <a:off x="1635368" y="3405431"/>
            <a:ext cx="9253542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660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1284</TotalTime>
  <Words>1175</Words>
  <Application>Microsoft Macintosh PowerPoint</Application>
  <PresentationFormat>Widescreen</PresentationFormat>
  <Paragraphs>287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Calibri</vt:lpstr>
      <vt:lpstr>Calibri Light</vt:lpstr>
      <vt:lpstr>Cambria Math</vt:lpstr>
      <vt:lpstr>Courier New</vt:lpstr>
      <vt:lpstr>Wingdings</vt:lpstr>
      <vt:lpstr>Arial</vt:lpstr>
      <vt:lpstr>Office Theme</vt:lpstr>
      <vt:lpstr>Quenched Bond Disorder in Non-Collinear Magnets</vt:lpstr>
      <vt:lpstr>Content</vt:lpstr>
      <vt:lpstr>Quenched Disorder: Random Fields</vt:lpstr>
      <vt:lpstr>Random fields and the Imry-Ma criterion</vt:lpstr>
      <vt:lpstr>Random fields and the Imry-Ma criterion</vt:lpstr>
      <vt:lpstr>Random fields and the Imry-Ma criterion</vt:lpstr>
      <vt:lpstr>Random fields and the Imry-Ma criterion</vt:lpstr>
      <vt:lpstr>Random fields and the Imry-Ma criterion</vt:lpstr>
      <vt:lpstr>Random fields and the Imry-Ma criterion</vt:lpstr>
      <vt:lpstr>Quenched Disorder: Random Couplings</vt:lpstr>
      <vt:lpstr>Single bond impurity</vt:lpstr>
      <vt:lpstr>Single bond impurity</vt:lpstr>
      <vt:lpstr>Single bond impurity</vt:lpstr>
      <vt:lpstr>Concentration of bond impurity</vt:lpstr>
      <vt:lpstr>Quenched Disorder: Random Couplings</vt:lpstr>
      <vt:lpstr>Incommensurability domains</vt:lpstr>
      <vt:lpstr>Incommensurability domains</vt:lpstr>
      <vt:lpstr>Incommensurability domains</vt:lpstr>
      <vt:lpstr>Quenched disorder: Random couplings</vt:lpstr>
      <vt:lpstr>Quenched disorder: Random couplings</vt:lpstr>
      <vt:lpstr>An example</vt:lpstr>
      <vt:lpstr>Disordered Triangular Lattice</vt:lpstr>
      <vt:lpstr>Disordered Triangular Lattice</vt:lpstr>
      <vt:lpstr>Disordered Triangular Lattice</vt:lpstr>
      <vt:lpstr>Disordered Triangular Lattice</vt:lpstr>
      <vt:lpstr>Thank you?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Quenched Bond Disorder in Non-Collinear Magnets</dc:title>
  <dc:creator>Santanu Dey</dc:creator>
  <cp:lastModifiedBy>Microsoft Office User</cp:lastModifiedBy>
  <cp:revision>170</cp:revision>
  <dcterms:created xsi:type="dcterms:W3CDTF">2017-12-30T15:09:56Z</dcterms:created>
  <dcterms:modified xsi:type="dcterms:W3CDTF">2018-01-04T15:21:53Z</dcterms:modified>
</cp:coreProperties>
</file>