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4" r:id="rId6"/>
    <p:sldId id="265" r:id="rId7"/>
    <p:sldId id="266" r:id="rId8"/>
    <p:sldId id="26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3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4">4871 1265,'4'-6</inkml:trace>
  <inkml:trace contextRef="#ctx0" brushRef="#br0" timeOffset="1613.264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4">4871 1265,'4'-6</inkml:trace>
  <inkml:trace contextRef="#ctx0" brushRef="#br0" timeOffset="1613.264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4">4871 1265,'4'-6</inkml:trace>
  <inkml:trace contextRef="#ctx0" brushRef="#br0" timeOffset="1613.264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7:19.05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8:21.800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4">4871 1265,'4'-6</inkml:trace>
  <inkml:trace contextRef="#ctx0" brushRef="#br0" timeOffset="1613.264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6FAA3-1522-47CE-AE5E-83B08EDD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921F06-3EE9-4B26-A276-295DF756D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6D102-A62D-479E-B867-29308A24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FE8CB-A717-4008-B7A6-8B266DD2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011396-60CB-4D89-BE39-E23D390F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207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DA403-3E94-4617-A2E1-34CE7C63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E362B-934F-4060-AB42-732603207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71B31-1840-4C25-93F6-179FABDD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77E51-954A-4125-950D-B8CCC4C7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D49BF-D987-4B0E-9262-E7207729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42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828EE-AE31-4A28-A890-CFDC5B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B32E06-82AB-44F1-9E24-9ED2E60E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C13B6-885B-4B78-A7B1-537B8EA90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1439-65AE-4E8A-81FD-74D2B9F63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4D3DD-6C85-4891-8EF2-91840624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7674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C9FEB-8A68-4F2E-A904-2F861315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7AE05-5261-4D14-9D1A-08C858CC3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A557C-6116-4401-96E9-4CC465C86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059F40-EA09-4F32-8FEB-3B145C34B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5EED2F-3273-4CD8-A7E1-11AE8C898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590B97-EE07-4BF1-8301-D1BC071C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5722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37617-17DC-4F3C-9C5D-897BC026A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A2678-AC50-41DA-AB8E-6B83C66D1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CC35A4-623D-4752-A1AE-2070E59202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A2481-0B6F-4B7F-8560-8F1925AFE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77C0BE-07F2-4157-A646-1DB0F58213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A401D9-F480-47C1-8F73-E070D6B1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841643-EF07-4CE0-9694-EA2717CD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E4CF00-4444-4523-806F-545CBAFED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0205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012B7-9800-488D-BA99-B4DF0323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895F6D-7C5D-4006-A87B-349F44FE5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9607D6-D2DB-4C6E-B0FB-E076F247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D8E5F-B697-46C5-8228-3A586DD0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9743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72874-26BB-4331-84F8-071BD7D61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C966F2-71E2-4793-8917-465D4A45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B79BC-4A74-432F-B59E-FA4AA2BB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4948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DDF8B-6807-48E0-B8FC-165161D4B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B1988-54DD-4432-A27F-744CF342E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27D5B-9AD5-4C38-B91B-965A5CB25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8AFF9-C2E8-4A42-8618-FF22F2B2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815-B5D4-4391-8831-3233C14C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609176-D43D-45B2-95A7-8DC485EC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40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CAA46-8A16-43F5-9CB9-A34FABC9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9B75DB-E0B0-4339-A619-74AEB332D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99C73-0D3B-44E9-B11B-58B9B7BEA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F7543-36CF-455E-9A97-9FF9B7627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CC21-DDB0-4FFB-8D2B-8C7FEC28C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0AB910-2886-4E19-9C81-191FC437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17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084CD-1E8C-4A7E-B437-7E442B87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E12E93-6ADF-476D-8363-879360D4B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34495-0665-4650-BA00-BA04BB5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AA44A-AB8E-4CC5-9C77-1D34F59C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F3B30-9EEB-4DA6-9A2A-3473F190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129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A5D253-0E45-4209-83AA-2CFB0B043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C01A5-51A9-4206-AEFF-2E52A31C6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02940-9535-4027-9E9B-846BF615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B5E2F-6D85-4F02-B0E3-0FF19D94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2145E-5186-41B0-B073-35607700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826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3135C8-BB37-45CA-9A36-54FD7FC94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FCCC3-0F14-4657-A999-0ABE6D16D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5300A-C008-4003-AC71-6CF4CE37C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77EC4-EC0D-4F28-8F13-53533F30B7B6}" type="datetimeFigureOut">
              <a:rPr lang="LID4096" smtClean="0"/>
              <a:t>12/31/2017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5623A-A12A-4417-AA2E-9B60BB847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C9A77-3937-4AF3-96BA-9B9C6A9C9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9933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6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customXml" Target="../ink/ink7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7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10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15095"/>
            <a:ext cx="9144000" cy="2268414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Bond Disorder in Non-Collinear Antiferromagnets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Santanu Dey</a:t>
            </a:r>
          </a:p>
          <a:p>
            <a:pPr algn="l"/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Technische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Universität Dresden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C655DA-9C82-4575-97A3-8057E2A71008}"/>
              </a:ext>
            </a:extLst>
          </p:cNvPr>
          <p:cNvCxnSpPr/>
          <p:nvPr/>
        </p:nvCxnSpPr>
        <p:spPr>
          <a:xfrm>
            <a:off x="1635368" y="3405431"/>
            <a:ext cx="8950569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914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Content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fields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Random fields and the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-Ma criterion.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Separate critical dimension for discrete and continuous symmetry.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couplings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Bond disorder in non-collinear antiferromagnet.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Rigid in-commensurability domains and lowered critical dimensionality.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 microscopic example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Disordered triangular lattice Heisenberg antiferromagnet.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143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absence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94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LID4096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442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long range order is destroyed if,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			       ,the critical dimension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</a:t>
                </a:r>
                <a:r>
                  <a:rPr lang="en-US" sz="20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      for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discrete symmetries.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 b="-25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6A4D84A-1A13-485C-9AE3-D0C4103BA756}"/>
              </a:ext>
            </a:extLst>
          </p:cNvPr>
          <p:cNvSpPr txBox="1"/>
          <p:nvPr/>
        </p:nvSpPr>
        <p:spPr>
          <a:xfrm>
            <a:off x="9429704" y="2611956"/>
            <a:ext cx="1493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Favoured</a:t>
            </a:r>
            <a:r>
              <a:rPr lang="en-US" sz="2400" dirty="0"/>
              <a:t>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040824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Heisenberg model for illustration,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So the critical dimension for 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                  continuous symmetries is,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                                      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2000" i="1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Imry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Ma,1975)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14:cNvPr>
              <p14:cNvContentPartPr/>
              <p14:nvPr/>
            </p14:nvContentPartPr>
            <p14:xfrm>
              <a:off x="7797290" y="2582352"/>
              <a:ext cx="3687840" cy="30826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88290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72" name="Arrow: Up 171">
            <a:extLst>
              <a:ext uri="{FF2B5EF4-FFF2-40B4-BE49-F238E27FC236}">
                <a16:creationId xmlns:a16="http://schemas.microsoft.com/office/drawing/2014/main" id="{7A00A1F6-B35F-490B-974A-FF114A009BD6}"/>
              </a:ext>
            </a:extLst>
          </p:cNvPr>
          <p:cNvSpPr/>
          <p:nvPr/>
        </p:nvSpPr>
        <p:spPr>
          <a:xfrm rot="20239931">
            <a:off x="8405180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3" name="Arrow: Up 172">
            <a:extLst>
              <a:ext uri="{FF2B5EF4-FFF2-40B4-BE49-F238E27FC236}">
                <a16:creationId xmlns:a16="http://schemas.microsoft.com/office/drawing/2014/main" id="{0289087C-749D-4E87-92D5-400745279345}"/>
              </a:ext>
            </a:extLst>
          </p:cNvPr>
          <p:cNvSpPr/>
          <p:nvPr/>
        </p:nvSpPr>
        <p:spPr>
          <a:xfrm>
            <a:off x="8697501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4" name="Arrow: Up 173">
            <a:extLst>
              <a:ext uri="{FF2B5EF4-FFF2-40B4-BE49-F238E27FC236}">
                <a16:creationId xmlns:a16="http://schemas.microsoft.com/office/drawing/2014/main" id="{259E5CF2-2A4F-4FA0-ABA0-1AAC41D4F7DC}"/>
              </a:ext>
            </a:extLst>
          </p:cNvPr>
          <p:cNvSpPr/>
          <p:nvPr/>
        </p:nvSpPr>
        <p:spPr>
          <a:xfrm rot="1652651">
            <a:off x="9013070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5" name="Arrow: Up 174">
            <a:extLst>
              <a:ext uri="{FF2B5EF4-FFF2-40B4-BE49-F238E27FC236}">
                <a16:creationId xmlns:a16="http://schemas.microsoft.com/office/drawing/2014/main" id="{9D1E1B25-A72B-42AF-B258-9F0F547CD69D}"/>
              </a:ext>
            </a:extLst>
          </p:cNvPr>
          <p:cNvSpPr/>
          <p:nvPr/>
        </p:nvSpPr>
        <p:spPr>
          <a:xfrm>
            <a:off x="8697501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6" name="Arrow: Up 175">
            <a:extLst>
              <a:ext uri="{FF2B5EF4-FFF2-40B4-BE49-F238E27FC236}">
                <a16:creationId xmlns:a16="http://schemas.microsoft.com/office/drawing/2014/main" id="{92F6E157-F5EB-4F99-B992-1147F818CA87}"/>
              </a:ext>
            </a:extLst>
          </p:cNvPr>
          <p:cNvSpPr/>
          <p:nvPr/>
        </p:nvSpPr>
        <p:spPr>
          <a:xfrm rot="18694737">
            <a:off x="8090205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7" name="Arrow: Up 176">
            <a:extLst>
              <a:ext uri="{FF2B5EF4-FFF2-40B4-BE49-F238E27FC236}">
                <a16:creationId xmlns:a16="http://schemas.microsoft.com/office/drawing/2014/main" id="{911E6645-1E13-4124-9E3B-80E28040FF88}"/>
              </a:ext>
            </a:extLst>
          </p:cNvPr>
          <p:cNvSpPr/>
          <p:nvPr/>
        </p:nvSpPr>
        <p:spPr>
          <a:xfrm rot="2948130">
            <a:off x="9282297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Arrow: Up 177">
            <a:extLst>
              <a:ext uri="{FF2B5EF4-FFF2-40B4-BE49-F238E27FC236}">
                <a16:creationId xmlns:a16="http://schemas.microsoft.com/office/drawing/2014/main" id="{A269CDDD-DC29-42D7-B184-43B8006FB27C}"/>
              </a:ext>
            </a:extLst>
          </p:cNvPr>
          <p:cNvSpPr/>
          <p:nvPr/>
        </p:nvSpPr>
        <p:spPr>
          <a:xfrm rot="4365331">
            <a:off x="9484019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9" name="Arrow: Up 178">
            <a:extLst>
              <a:ext uri="{FF2B5EF4-FFF2-40B4-BE49-F238E27FC236}">
                <a16:creationId xmlns:a16="http://schemas.microsoft.com/office/drawing/2014/main" id="{5B2F95B1-D347-45E9-9912-7C63250EBFE7}"/>
              </a:ext>
            </a:extLst>
          </p:cNvPr>
          <p:cNvSpPr/>
          <p:nvPr/>
        </p:nvSpPr>
        <p:spPr>
          <a:xfrm rot="2948130">
            <a:off x="9332733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0" name="Arrow: Up 179">
            <a:extLst>
              <a:ext uri="{FF2B5EF4-FFF2-40B4-BE49-F238E27FC236}">
                <a16:creationId xmlns:a16="http://schemas.microsoft.com/office/drawing/2014/main" id="{5F227862-E333-4ACE-8ED7-ADE19EDC4AC8}"/>
              </a:ext>
            </a:extLst>
          </p:cNvPr>
          <p:cNvSpPr/>
          <p:nvPr/>
        </p:nvSpPr>
        <p:spPr>
          <a:xfrm rot="1652651">
            <a:off x="8912220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1" name="Arrow: Up 180">
            <a:extLst>
              <a:ext uri="{FF2B5EF4-FFF2-40B4-BE49-F238E27FC236}">
                <a16:creationId xmlns:a16="http://schemas.microsoft.com/office/drawing/2014/main" id="{DBF7DE61-57CE-4F74-A362-957FCB3EA43B}"/>
              </a:ext>
            </a:extLst>
          </p:cNvPr>
          <p:cNvSpPr/>
          <p:nvPr/>
        </p:nvSpPr>
        <p:spPr>
          <a:xfrm rot="1652651">
            <a:off x="9058226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2" name="Arrow: Up 181">
            <a:extLst>
              <a:ext uri="{FF2B5EF4-FFF2-40B4-BE49-F238E27FC236}">
                <a16:creationId xmlns:a16="http://schemas.microsoft.com/office/drawing/2014/main" id="{EB1B1431-E8F7-46E3-9CF0-3290E5AC1232}"/>
              </a:ext>
            </a:extLst>
          </p:cNvPr>
          <p:cNvSpPr/>
          <p:nvPr/>
        </p:nvSpPr>
        <p:spPr>
          <a:xfrm rot="20239931">
            <a:off x="8383120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3" name="Arrow: Up 182">
            <a:extLst>
              <a:ext uri="{FF2B5EF4-FFF2-40B4-BE49-F238E27FC236}">
                <a16:creationId xmlns:a16="http://schemas.microsoft.com/office/drawing/2014/main" id="{92AABBCD-C636-4E6D-9C37-1825097A83F3}"/>
              </a:ext>
            </a:extLst>
          </p:cNvPr>
          <p:cNvSpPr/>
          <p:nvPr/>
        </p:nvSpPr>
        <p:spPr>
          <a:xfrm rot="18694737">
            <a:off x="8098595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4" name="Arrow: Up 183">
            <a:extLst>
              <a:ext uri="{FF2B5EF4-FFF2-40B4-BE49-F238E27FC236}">
                <a16:creationId xmlns:a16="http://schemas.microsoft.com/office/drawing/2014/main" id="{7A2C6282-5845-472C-9F5F-7D0DD61D346D}"/>
              </a:ext>
            </a:extLst>
          </p:cNvPr>
          <p:cNvSpPr/>
          <p:nvPr/>
        </p:nvSpPr>
        <p:spPr>
          <a:xfrm rot="6011006">
            <a:off x="9661235" y="326530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5" name="Arrow: Up 184">
            <a:extLst>
              <a:ext uri="{FF2B5EF4-FFF2-40B4-BE49-F238E27FC236}">
                <a16:creationId xmlns:a16="http://schemas.microsoft.com/office/drawing/2014/main" id="{6FA07B1D-1721-47BD-81D9-0FFEBE03BEF1}"/>
              </a:ext>
            </a:extLst>
          </p:cNvPr>
          <p:cNvSpPr/>
          <p:nvPr/>
        </p:nvSpPr>
        <p:spPr>
          <a:xfrm rot="7843539">
            <a:off x="9922426" y="397933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6" name="Arrow: Up 185">
            <a:extLst>
              <a:ext uri="{FF2B5EF4-FFF2-40B4-BE49-F238E27FC236}">
                <a16:creationId xmlns:a16="http://schemas.microsoft.com/office/drawing/2014/main" id="{77BD0DA4-03B1-495F-A296-7F7986879698}"/>
              </a:ext>
            </a:extLst>
          </p:cNvPr>
          <p:cNvSpPr/>
          <p:nvPr/>
        </p:nvSpPr>
        <p:spPr>
          <a:xfrm rot="9646719">
            <a:off x="9996375" y="278345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7" name="Arrow: Up 186">
            <a:extLst>
              <a:ext uri="{FF2B5EF4-FFF2-40B4-BE49-F238E27FC236}">
                <a16:creationId xmlns:a16="http://schemas.microsoft.com/office/drawing/2014/main" id="{DAFA45C3-3343-4B54-81AC-12260187CB24}"/>
              </a:ext>
            </a:extLst>
          </p:cNvPr>
          <p:cNvSpPr/>
          <p:nvPr/>
        </p:nvSpPr>
        <p:spPr>
          <a:xfrm rot="10553083">
            <a:off x="10280476" y="332238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8" name="Arrow: Up 187">
            <a:extLst>
              <a:ext uri="{FF2B5EF4-FFF2-40B4-BE49-F238E27FC236}">
                <a16:creationId xmlns:a16="http://schemas.microsoft.com/office/drawing/2014/main" id="{F7F94D42-128E-4AE7-B231-48227E63F211}"/>
              </a:ext>
            </a:extLst>
          </p:cNvPr>
          <p:cNvSpPr/>
          <p:nvPr/>
        </p:nvSpPr>
        <p:spPr>
          <a:xfrm rot="11394758">
            <a:off x="10405898" y="265552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9" name="Arrow: Up 188">
            <a:extLst>
              <a:ext uri="{FF2B5EF4-FFF2-40B4-BE49-F238E27FC236}">
                <a16:creationId xmlns:a16="http://schemas.microsoft.com/office/drawing/2014/main" id="{A2283F56-B981-404D-B543-7070EA478622}"/>
              </a:ext>
            </a:extLst>
          </p:cNvPr>
          <p:cNvSpPr/>
          <p:nvPr/>
        </p:nvSpPr>
        <p:spPr>
          <a:xfrm rot="10800000">
            <a:off x="10345064" y="401353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0" name="Arrow: Up 189">
            <a:extLst>
              <a:ext uri="{FF2B5EF4-FFF2-40B4-BE49-F238E27FC236}">
                <a16:creationId xmlns:a16="http://schemas.microsoft.com/office/drawing/2014/main" id="{6E856711-A68B-48DC-964C-F54C5BB5819B}"/>
              </a:ext>
            </a:extLst>
          </p:cNvPr>
          <p:cNvSpPr/>
          <p:nvPr/>
        </p:nvSpPr>
        <p:spPr>
          <a:xfrm rot="13764822">
            <a:off x="10814851" y="295861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1" name="Arrow: Up 190">
            <a:extLst>
              <a:ext uri="{FF2B5EF4-FFF2-40B4-BE49-F238E27FC236}">
                <a16:creationId xmlns:a16="http://schemas.microsoft.com/office/drawing/2014/main" id="{9A393E8D-667E-4EAC-AACB-2B7CE24DA815}"/>
              </a:ext>
            </a:extLst>
          </p:cNvPr>
          <p:cNvSpPr/>
          <p:nvPr/>
        </p:nvSpPr>
        <p:spPr>
          <a:xfrm rot="11394758">
            <a:off x="10496210" y="48105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Arrow: Up 191">
            <a:extLst>
              <a:ext uri="{FF2B5EF4-FFF2-40B4-BE49-F238E27FC236}">
                <a16:creationId xmlns:a16="http://schemas.microsoft.com/office/drawing/2014/main" id="{1531D620-67C2-4769-BD11-53BE298A1820}"/>
              </a:ext>
            </a:extLst>
          </p:cNvPr>
          <p:cNvSpPr/>
          <p:nvPr/>
        </p:nvSpPr>
        <p:spPr>
          <a:xfrm rot="6011006">
            <a:off x="9832637" y="480645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3" name="Arrow: Up 192">
            <a:extLst>
              <a:ext uri="{FF2B5EF4-FFF2-40B4-BE49-F238E27FC236}">
                <a16:creationId xmlns:a16="http://schemas.microsoft.com/office/drawing/2014/main" id="{F77AB458-D97B-41D3-8E41-B40D13576495}"/>
              </a:ext>
            </a:extLst>
          </p:cNvPr>
          <p:cNvSpPr/>
          <p:nvPr/>
        </p:nvSpPr>
        <p:spPr>
          <a:xfrm rot="12863447">
            <a:off x="10786110" y="359792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4" name="Arrow: Up 193">
            <a:extLst>
              <a:ext uri="{FF2B5EF4-FFF2-40B4-BE49-F238E27FC236}">
                <a16:creationId xmlns:a16="http://schemas.microsoft.com/office/drawing/2014/main" id="{4C6194F1-8CFA-4F87-A5F3-EA7A243E2770}"/>
              </a:ext>
            </a:extLst>
          </p:cNvPr>
          <p:cNvSpPr/>
          <p:nvPr/>
        </p:nvSpPr>
        <p:spPr>
          <a:xfrm rot="15129603">
            <a:off x="11191398" y="343643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5" name="Arrow: Up 194">
            <a:extLst>
              <a:ext uri="{FF2B5EF4-FFF2-40B4-BE49-F238E27FC236}">
                <a16:creationId xmlns:a16="http://schemas.microsoft.com/office/drawing/2014/main" id="{757981A6-A11C-4FF4-9B5C-2836AE1BC0FF}"/>
              </a:ext>
            </a:extLst>
          </p:cNvPr>
          <p:cNvSpPr/>
          <p:nvPr/>
        </p:nvSpPr>
        <p:spPr>
          <a:xfrm rot="14337860">
            <a:off x="11048816" y="411005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6" name="Arrow: Up 195">
            <a:extLst>
              <a:ext uri="{FF2B5EF4-FFF2-40B4-BE49-F238E27FC236}">
                <a16:creationId xmlns:a16="http://schemas.microsoft.com/office/drawing/2014/main" id="{F42E860F-F24F-466C-81B6-C04A97AF7C5D}"/>
              </a:ext>
            </a:extLst>
          </p:cNvPr>
          <p:cNvSpPr/>
          <p:nvPr/>
        </p:nvSpPr>
        <p:spPr>
          <a:xfrm rot="12136792">
            <a:off x="10702814" y="439494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7" name="Arrow: Up 196">
            <a:extLst>
              <a:ext uri="{FF2B5EF4-FFF2-40B4-BE49-F238E27FC236}">
                <a16:creationId xmlns:a16="http://schemas.microsoft.com/office/drawing/2014/main" id="{D8889211-0877-4217-BE9C-EC08EF134009}"/>
              </a:ext>
            </a:extLst>
          </p:cNvPr>
          <p:cNvSpPr/>
          <p:nvPr/>
        </p:nvSpPr>
        <p:spPr>
          <a:xfrm rot="9646719">
            <a:off x="10131391" y="46650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14:cNvPr>
              <p14:cNvContentPartPr/>
              <p14:nvPr/>
            </p14:nvContentPartPr>
            <p14:xfrm>
              <a:off x="792529" y="2582352"/>
              <a:ext cx="3687840" cy="30826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29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99" name="Arrow: Up 198">
            <a:extLst>
              <a:ext uri="{FF2B5EF4-FFF2-40B4-BE49-F238E27FC236}">
                <a16:creationId xmlns:a16="http://schemas.microsoft.com/office/drawing/2014/main" id="{19835440-CE7F-4A43-96E0-50C503A9911B}"/>
              </a:ext>
            </a:extLst>
          </p:cNvPr>
          <p:cNvSpPr/>
          <p:nvPr/>
        </p:nvSpPr>
        <p:spPr>
          <a:xfrm>
            <a:off x="1400419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0" name="Arrow: Up 199">
            <a:extLst>
              <a:ext uri="{FF2B5EF4-FFF2-40B4-BE49-F238E27FC236}">
                <a16:creationId xmlns:a16="http://schemas.microsoft.com/office/drawing/2014/main" id="{E43BCAEB-A3A1-4833-BE53-3E8ABB160FBF}"/>
              </a:ext>
            </a:extLst>
          </p:cNvPr>
          <p:cNvSpPr/>
          <p:nvPr/>
        </p:nvSpPr>
        <p:spPr>
          <a:xfrm>
            <a:off x="1692740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1" name="Arrow: Up 200">
            <a:extLst>
              <a:ext uri="{FF2B5EF4-FFF2-40B4-BE49-F238E27FC236}">
                <a16:creationId xmlns:a16="http://schemas.microsoft.com/office/drawing/2014/main" id="{4D0E0FFC-5269-49F3-BB2B-3D56C4435E16}"/>
              </a:ext>
            </a:extLst>
          </p:cNvPr>
          <p:cNvSpPr/>
          <p:nvPr/>
        </p:nvSpPr>
        <p:spPr>
          <a:xfrm>
            <a:off x="2008309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2" name="Arrow: Up 201">
            <a:extLst>
              <a:ext uri="{FF2B5EF4-FFF2-40B4-BE49-F238E27FC236}">
                <a16:creationId xmlns:a16="http://schemas.microsoft.com/office/drawing/2014/main" id="{24B16612-2F22-460A-8FDB-B6624BD6B5C8}"/>
              </a:ext>
            </a:extLst>
          </p:cNvPr>
          <p:cNvSpPr/>
          <p:nvPr/>
        </p:nvSpPr>
        <p:spPr>
          <a:xfrm>
            <a:off x="1692740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3" name="Arrow: Up 202">
            <a:extLst>
              <a:ext uri="{FF2B5EF4-FFF2-40B4-BE49-F238E27FC236}">
                <a16:creationId xmlns:a16="http://schemas.microsoft.com/office/drawing/2014/main" id="{0D150634-6EF1-4387-BD6E-A6B12C6F4882}"/>
              </a:ext>
            </a:extLst>
          </p:cNvPr>
          <p:cNvSpPr/>
          <p:nvPr/>
        </p:nvSpPr>
        <p:spPr>
          <a:xfrm>
            <a:off x="1085444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4" name="Arrow: Up 203">
            <a:extLst>
              <a:ext uri="{FF2B5EF4-FFF2-40B4-BE49-F238E27FC236}">
                <a16:creationId xmlns:a16="http://schemas.microsoft.com/office/drawing/2014/main" id="{DD881C27-3161-4D08-8A2D-C0E807CAEF93}"/>
              </a:ext>
            </a:extLst>
          </p:cNvPr>
          <p:cNvSpPr/>
          <p:nvPr/>
        </p:nvSpPr>
        <p:spPr>
          <a:xfrm>
            <a:off x="2277536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5" name="Arrow: Up 204">
            <a:extLst>
              <a:ext uri="{FF2B5EF4-FFF2-40B4-BE49-F238E27FC236}">
                <a16:creationId xmlns:a16="http://schemas.microsoft.com/office/drawing/2014/main" id="{70B64ED2-7F2C-4EB7-8C75-B3090B1E5919}"/>
              </a:ext>
            </a:extLst>
          </p:cNvPr>
          <p:cNvSpPr/>
          <p:nvPr/>
        </p:nvSpPr>
        <p:spPr>
          <a:xfrm>
            <a:off x="2479258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6" name="Arrow: Up 205">
            <a:extLst>
              <a:ext uri="{FF2B5EF4-FFF2-40B4-BE49-F238E27FC236}">
                <a16:creationId xmlns:a16="http://schemas.microsoft.com/office/drawing/2014/main" id="{6C8D7482-313B-425A-B2BD-3F9793F0FF90}"/>
              </a:ext>
            </a:extLst>
          </p:cNvPr>
          <p:cNvSpPr/>
          <p:nvPr/>
        </p:nvSpPr>
        <p:spPr>
          <a:xfrm>
            <a:off x="2327972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7" name="Arrow: Up 206">
            <a:extLst>
              <a:ext uri="{FF2B5EF4-FFF2-40B4-BE49-F238E27FC236}">
                <a16:creationId xmlns:a16="http://schemas.microsoft.com/office/drawing/2014/main" id="{4DF9A63B-F05F-4FB9-83CA-DA393222D4A7}"/>
              </a:ext>
            </a:extLst>
          </p:cNvPr>
          <p:cNvSpPr/>
          <p:nvPr/>
        </p:nvSpPr>
        <p:spPr>
          <a:xfrm>
            <a:off x="1907459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8" name="Arrow: Up 207">
            <a:extLst>
              <a:ext uri="{FF2B5EF4-FFF2-40B4-BE49-F238E27FC236}">
                <a16:creationId xmlns:a16="http://schemas.microsoft.com/office/drawing/2014/main" id="{E15D1B4C-3D5F-47A1-ACB1-4E0ACCE7B480}"/>
              </a:ext>
            </a:extLst>
          </p:cNvPr>
          <p:cNvSpPr/>
          <p:nvPr/>
        </p:nvSpPr>
        <p:spPr>
          <a:xfrm>
            <a:off x="2053465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9" name="Arrow: Up 208">
            <a:extLst>
              <a:ext uri="{FF2B5EF4-FFF2-40B4-BE49-F238E27FC236}">
                <a16:creationId xmlns:a16="http://schemas.microsoft.com/office/drawing/2014/main" id="{61C25AD1-9510-40EB-88E6-E5C87112BC93}"/>
              </a:ext>
            </a:extLst>
          </p:cNvPr>
          <p:cNvSpPr/>
          <p:nvPr/>
        </p:nvSpPr>
        <p:spPr>
          <a:xfrm>
            <a:off x="1378359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0" name="Arrow: Up 209">
            <a:extLst>
              <a:ext uri="{FF2B5EF4-FFF2-40B4-BE49-F238E27FC236}">
                <a16:creationId xmlns:a16="http://schemas.microsoft.com/office/drawing/2014/main" id="{23E72D7E-838C-458F-815E-B60505B886B0}"/>
              </a:ext>
            </a:extLst>
          </p:cNvPr>
          <p:cNvSpPr/>
          <p:nvPr/>
        </p:nvSpPr>
        <p:spPr>
          <a:xfrm>
            <a:off x="1093834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1" name="Arrow: Up 210">
            <a:extLst>
              <a:ext uri="{FF2B5EF4-FFF2-40B4-BE49-F238E27FC236}">
                <a16:creationId xmlns:a16="http://schemas.microsoft.com/office/drawing/2014/main" id="{493A5FDA-B1E5-4BE6-A1A3-95FE5C293407}"/>
              </a:ext>
            </a:extLst>
          </p:cNvPr>
          <p:cNvSpPr/>
          <p:nvPr/>
        </p:nvSpPr>
        <p:spPr>
          <a:xfrm>
            <a:off x="2656474" y="32653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2" name="Arrow: Up 211">
            <a:extLst>
              <a:ext uri="{FF2B5EF4-FFF2-40B4-BE49-F238E27FC236}">
                <a16:creationId xmlns:a16="http://schemas.microsoft.com/office/drawing/2014/main" id="{1D733A14-60A1-43AF-A297-3E4FC36FF3CC}"/>
              </a:ext>
            </a:extLst>
          </p:cNvPr>
          <p:cNvSpPr/>
          <p:nvPr/>
        </p:nvSpPr>
        <p:spPr>
          <a:xfrm>
            <a:off x="2917665" y="39793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3" name="Arrow: Up 212">
            <a:extLst>
              <a:ext uri="{FF2B5EF4-FFF2-40B4-BE49-F238E27FC236}">
                <a16:creationId xmlns:a16="http://schemas.microsoft.com/office/drawing/2014/main" id="{3FEA922B-A864-4E48-94A0-A5715F9C2B50}"/>
              </a:ext>
            </a:extLst>
          </p:cNvPr>
          <p:cNvSpPr/>
          <p:nvPr/>
        </p:nvSpPr>
        <p:spPr>
          <a:xfrm>
            <a:off x="2991614" y="27834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4" name="Arrow: Up 213">
            <a:extLst>
              <a:ext uri="{FF2B5EF4-FFF2-40B4-BE49-F238E27FC236}">
                <a16:creationId xmlns:a16="http://schemas.microsoft.com/office/drawing/2014/main" id="{4DA60DA5-D6C9-4621-80ED-5F0CB99AE5C5}"/>
              </a:ext>
            </a:extLst>
          </p:cNvPr>
          <p:cNvSpPr/>
          <p:nvPr/>
        </p:nvSpPr>
        <p:spPr>
          <a:xfrm>
            <a:off x="3275715" y="332238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5" name="Arrow: Up 214">
            <a:extLst>
              <a:ext uri="{FF2B5EF4-FFF2-40B4-BE49-F238E27FC236}">
                <a16:creationId xmlns:a16="http://schemas.microsoft.com/office/drawing/2014/main" id="{551F37B9-FD7B-4D13-B2B4-495FEBDFC3D4}"/>
              </a:ext>
            </a:extLst>
          </p:cNvPr>
          <p:cNvSpPr/>
          <p:nvPr/>
        </p:nvSpPr>
        <p:spPr>
          <a:xfrm>
            <a:off x="3401137" y="26555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6" name="Arrow: Up 215">
            <a:extLst>
              <a:ext uri="{FF2B5EF4-FFF2-40B4-BE49-F238E27FC236}">
                <a16:creationId xmlns:a16="http://schemas.microsoft.com/office/drawing/2014/main" id="{29DCDF69-031D-4E2E-A893-35B0DD306366}"/>
              </a:ext>
            </a:extLst>
          </p:cNvPr>
          <p:cNvSpPr/>
          <p:nvPr/>
        </p:nvSpPr>
        <p:spPr>
          <a:xfrm>
            <a:off x="3340303" y="401353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7" name="Arrow: Up 216">
            <a:extLst>
              <a:ext uri="{FF2B5EF4-FFF2-40B4-BE49-F238E27FC236}">
                <a16:creationId xmlns:a16="http://schemas.microsoft.com/office/drawing/2014/main" id="{398DDBA0-B5E7-4F78-A700-312C936BC3A0}"/>
              </a:ext>
            </a:extLst>
          </p:cNvPr>
          <p:cNvSpPr/>
          <p:nvPr/>
        </p:nvSpPr>
        <p:spPr>
          <a:xfrm>
            <a:off x="3810090" y="2958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8" name="Arrow: Up 217">
            <a:extLst>
              <a:ext uri="{FF2B5EF4-FFF2-40B4-BE49-F238E27FC236}">
                <a16:creationId xmlns:a16="http://schemas.microsoft.com/office/drawing/2014/main" id="{97D0202C-20F9-4288-A2BC-6C7A541E7E1B}"/>
              </a:ext>
            </a:extLst>
          </p:cNvPr>
          <p:cNvSpPr/>
          <p:nvPr/>
        </p:nvSpPr>
        <p:spPr>
          <a:xfrm>
            <a:off x="3491449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9" name="Arrow: Up 218">
            <a:extLst>
              <a:ext uri="{FF2B5EF4-FFF2-40B4-BE49-F238E27FC236}">
                <a16:creationId xmlns:a16="http://schemas.microsoft.com/office/drawing/2014/main" id="{5D07C02D-D5DA-4AC4-97FC-80D6A35869E3}"/>
              </a:ext>
            </a:extLst>
          </p:cNvPr>
          <p:cNvSpPr/>
          <p:nvPr/>
        </p:nvSpPr>
        <p:spPr>
          <a:xfrm>
            <a:off x="2827876" y="48064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0" name="Arrow: Up 219">
            <a:extLst>
              <a:ext uri="{FF2B5EF4-FFF2-40B4-BE49-F238E27FC236}">
                <a16:creationId xmlns:a16="http://schemas.microsoft.com/office/drawing/2014/main" id="{204B3FDE-0C28-404D-9CC8-8B65FE8E3998}"/>
              </a:ext>
            </a:extLst>
          </p:cNvPr>
          <p:cNvSpPr/>
          <p:nvPr/>
        </p:nvSpPr>
        <p:spPr>
          <a:xfrm>
            <a:off x="3781349" y="35979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1" name="Arrow: Up 220">
            <a:extLst>
              <a:ext uri="{FF2B5EF4-FFF2-40B4-BE49-F238E27FC236}">
                <a16:creationId xmlns:a16="http://schemas.microsoft.com/office/drawing/2014/main" id="{984A964A-C1F3-4789-9E24-EAB591445624}"/>
              </a:ext>
            </a:extLst>
          </p:cNvPr>
          <p:cNvSpPr/>
          <p:nvPr/>
        </p:nvSpPr>
        <p:spPr>
          <a:xfrm>
            <a:off x="4186637" y="34364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2" name="Arrow: Up 221">
            <a:extLst>
              <a:ext uri="{FF2B5EF4-FFF2-40B4-BE49-F238E27FC236}">
                <a16:creationId xmlns:a16="http://schemas.microsoft.com/office/drawing/2014/main" id="{B17D7CEB-8BD6-42CA-B5D6-B0E33B362D70}"/>
              </a:ext>
            </a:extLst>
          </p:cNvPr>
          <p:cNvSpPr/>
          <p:nvPr/>
        </p:nvSpPr>
        <p:spPr>
          <a:xfrm>
            <a:off x="4044055" y="4110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3" name="Arrow: Up 222">
            <a:extLst>
              <a:ext uri="{FF2B5EF4-FFF2-40B4-BE49-F238E27FC236}">
                <a16:creationId xmlns:a16="http://schemas.microsoft.com/office/drawing/2014/main" id="{D0B3E02F-00B5-4551-89C6-AC904FE99C63}"/>
              </a:ext>
            </a:extLst>
          </p:cNvPr>
          <p:cNvSpPr/>
          <p:nvPr/>
        </p:nvSpPr>
        <p:spPr>
          <a:xfrm>
            <a:off x="3698053" y="43949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4" name="Arrow: Up 223">
            <a:extLst>
              <a:ext uri="{FF2B5EF4-FFF2-40B4-BE49-F238E27FC236}">
                <a16:creationId xmlns:a16="http://schemas.microsoft.com/office/drawing/2014/main" id="{60959F67-A618-4FC4-853A-48B973C2029C}"/>
              </a:ext>
            </a:extLst>
          </p:cNvPr>
          <p:cNvSpPr/>
          <p:nvPr/>
        </p:nvSpPr>
        <p:spPr>
          <a:xfrm>
            <a:off x="3126630" y="466506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963B5C6-0A5C-470F-B72B-AB4E772820FD}"/>
              </a:ext>
            </a:extLst>
          </p:cNvPr>
          <p:cNvCxnSpPr/>
          <p:nvPr/>
        </p:nvCxnSpPr>
        <p:spPr>
          <a:xfrm>
            <a:off x="8787813" y="5874327"/>
            <a:ext cx="1743496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/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/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/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blipFill>
                <a:blip r:embed="rId10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424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generic action couples the goldstone modes with the random fields. 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nary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en-US" sz="1800" dirty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correlation function has a divergent contribution for even infinitesimal random field disorder,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acc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</a:t>
                </a: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acc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p>
                        </m:sSup>
                      </m:e>
                    </m:nary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sSup>
                      <m:sSup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infrared divergence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CD19D01-67A3-4F12-BF16-8565326A2AC0}"/>
              </a:ext>
            </a:extLst>
          </p:cNvPr>
          <p:cNvSpPr/>
          <p:nvPr/>
        </p:nvSpPr>
        <p:spPr>
          <a:xfrm>
            <a:off x="6931428" y="3994536"/>
            <a:ext cx="1806633" cy="853442"/>
          </a:xfrm>
          <a:prstGeom prst="ellipse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867855E2-1CF7-424A-AABB-916E2E505E50}"/>
              </a:ext>
            </a:extLst>
          </p:cNvPr>
          <p:cNvCxnSpPr>
            <a:cxnSpLocks/>
            <a:stCxn id="6" idx="3"/>
            <a:endCxn id="242" idx="3"/>
          </p:cNvCxnSpPr>
          <p:nvPr/>
        </p:nvCxnSpPr>
        <p:spPr>
          <a:xfrm rot="5400000">
            <a:off x="5649353" y="3861772"/>
            <a:ext cx="685428" cy="2407872"/>
          </a:xfrm>
          <a:prstGeom prst="curvedConnector2">
            <a:avLst/>
          </a:prstGeom>
          <a:ln w="127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/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Bare expectation value,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infrared divergent 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blipFill>
                <a:blip r:embed="rId3"/>
                <a:stretch>
                  <a:fillRect l="-1869" t="-3279" b="-765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Hence, the lower critical dimension for random field systems with continuous symmetry is,</a:t>
                </a:r>
              </a:p>
              <a:p>
                <a:endParaRPr lang="en-US" b="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blipFill>
                <a:blip r:embed="rId4"/>
                <a:stretch>
                  <a:fillRect l="-1677" t="-17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9241879" y="6208750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372EAF64-5587-4A13-A714-4DF5609989B8}"/>
              </a:ext>
            </a:extLst>
          </p:cNvPr>
          <p:cNvSpPr txBox="1"/>
          <p:nvPr/>
        </p:nvSpPr>
        <p:spPr>
          <a:xfrm>
            <a:off x="1662546" y="5952214"/>
            <a:ext cx="353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Ma,1975;Aharony,1978)</a:t>
            </a:r>
            <a:endParaRPr lang="LID4096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559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absence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029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327</Words>
  <Application>Microsoft Office PowerPoint</Application>
  <PresentationFormat>Widescreen</PresentationFormat>
  <Paragraphs>90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Quenched Bond Disorder in Non-Collinear Antiferromagnets</vt:lpstr>
      <vt:lpstr>Content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couplings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Quenched Bond Disorder in Non-Collinear Magnets</dc:title>
  <dc:creator>Santanu Dey</dc:creator>
  <cp:lastModifiedBy>Santanu Dey</cp:lastModifiedBy>
  <cp:revision>42</cp:revision>
  <dcterms:created xsi:type="dcterms:W3CDTF">2017-12-30T15:09:56Z</dcterms:created>
  <dcterms:modified xsi:type="dcterms:W3CDTF">2017-12-31T01:05:35Z</dcterms:modified>
</cp:coreProperties>
</file>